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Intro: 今天汇报的这篇工作来自 Khalifa University 和浙江大学合作，发表在 arXiv 上</a:t>
            </a:r>
          </a:p>
          <a:p>
            <a:r>
              <a:rPr lang="zh-CN" dirty="0"/>
              <a:t>• Hook: 大模型能看文字、看图片、听声音，但还不能"看"无线电波。这篇工作填补了这个空白</a:t>
            </a:r>
          </a:p>
          <a:p>
            <a:r>
              <a:rPr lang="zh-CN" dirty="0"/>
              <a:t>• Transition: 先来看看为什么要做这件事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Overview: 整个汇报分为六个部分，从背景、方法、数据、实验到展望</a:t>
            </a:r>
          </a:p>
          <a:p>
            <a:r>
              <a:rPr lang="zh-CN" dirty="0"/>
              <a:t>• Timing: 大约 20 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Key point: LLM 在文本领域取得了巨大成功，VLM 扩展到了视觉，Whisper 扩展到了音频</a:t>
            </a:r>
          </a:p>
          <a:p>
            <a:r>
              <a:rPr lang="zh-CN" dirty="0"/>
              <a:t>• Problem: 但无线通信的物理层信号——RF——还没有被任何主流大模型支持</a:t>
            </a:r>
          </a:p>
          <a:p>
            <a:r>
              <a:rPr lang="zh-CN" dirty="0"/>
              <a:t>• Question: 有人可能会问，那传统的 RF 机器学习方法不行吗？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Four problems: 这四重困境概括了传统方法的根本问题</a:t>
            </a:r>
          </a:p>
          <a:p>
            <a:r>
              <a:rPr lang="zh-CN" dirty="0"/>
              <a:t>• Emphasize: 尤其"每任务一个模型"和"没有交互界面"这两点，是促使这篇工作诞生的核心驱动力</a:t>
            </a:r>
          </a:p>
          <a:p>
            <a:r>
              <a:rPr lang="zh-CN" dirty="0"/>
              <a:t>• Transition: RF-GPT 就是为了解决这些问题提出的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Walk through: 从 IQ 信号到频谱图，视觉编码器提取特征，线性投影到 LLM 空间，最后语言模型输出</a:t>
            </a:r>
          </a:p>
          <a:p>
            <a:r>
              <a:rPr lang="zh-CN" dirty="0"/>
              <a:t>• Analogy: 医生看心电图这个类比可以帮助非 RF 专业的听众理解</a:t>
            </a:r>
          </a:p>
          <a:p>
            <a:r>
              <a:rPr lang="zh-CN" dirty="0"/>
              <a:t>• Key insight: 核心创新点在于"复用"——不重新训练视觉编码器，而是用现成的 VLM 底座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Three reasons: 计算可行、天然时频表示、复用预训练</a:t>
            </a:r>
          </a:p>
          <a:p>
            <a:r>
              <a:rPr lang="zh-CN" dirty="0"/>
              <a:t>• Note limitation: 丢失相位信息——但本文的感知任务不依赖相位</a:t>
            </a:r>
          </a:p>
          <a:p>
            <a:r>
              <a:rPr lang="zh-CN" dirty="0"/>
              <a:t>• Show gallery: 这六种技术各有不同的频谱图特征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Emphasize: 关键数字——12K 场景、625K 指令对、零人工标注</a:t>
            </a:r>
          </a:p>
          <a:p>
            <a:r>
              <a:rPr lang="zh-CN" dirty="0"/>
              <a:t>• Why synthetic: 真实数据太贵、太不平衡、标注太难</a:t>
            </a:r>
          </a:p>
          <a:p>
            <a:r>
              <a:rPr lang="zh-CN" dirty="0"/>
              <a:t>• Transition: 有了数据，怎么变成训练用的指令？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Pipeline walkthrough: 波形生成 → 元数据 → 描述 → 指令对</a:t>
            </a:r>
          </a:p>
          <a:p>
            <a:r>
              <a:rPr lang="zh-CN" dirty="0"/>
              <a:t>• 5 levels: 注意他们设计了 5 个信息层级，当前只用了前 3 个</a:t>
            </a:r>
          </a:p>
          <a:p>
            <a:r>
              <a:rPr lang="zh-CN" dirty="0"/>
              <a:t>• Key point: 整个流程不需要人工介入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Comparison read: 直接读这两个回答——左边 Qwen 的回答多么笼统，右边 RF-GPT 多么精确</a:t>
            </a:r>
          </a:p>
          <a:p>
            <a:r>
              <a:rPr lang="zh-CN" dirty="0"/>
              <a:t>• Key finding: 通用 VLM 在 RF 任务上≈随机猜测</a:t>
            </a:r>
          </a:p>
          <a:p>
            <a:r>
              <a:rPr lang="zh-CN" dirty="0"/>
              <a:t>• Five benchmarks: 然后进入正式评测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Read the numbers: 通用 VLM 个位数，RF-GPT 70-90%</a:t>
            </a:r>
          </a:p>
          <a:p>
            <a:r>
              <a:rPr lang="zh-CN" dirty="0"/>
              <a:t>• Emphasize: 尤其是信号数量识别 98% vs &lt;5%，说明 RF grounding 确实学到了时频结构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WTR: 99.64%——几乎完美</a:t>
            </a:r>
          </a:p>
          <a:p>
            <a:r>
              <a:rPr lang="zh-CN" dirty="0"/>
              <a:t>• WNUC: 11be 优于 11ax 的原因很有意思——MU-MIMO 造成视觉重叠</a:t>
            </a:r>
          </a:p>
          <a:p>
            <a:r>
              <a:rPr lang="zh-CN" dirty="0"/>
              <a:t>• NRIE: SCS 和 SSB 接近完美，计数类任务还有提升空间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Robustness: IQ 不平衡最有破坏性——它产生镜像频率</a:t>
            </a:r>
          </a:p>
          <a:p>
            <a:r>
              <a:rPr lang="zh-CN" dirty="0"/>
              <a:t>• vs CNN/Transformer: RF-GPT 3 epoch 超越 ViT-H 30 epoch——数据效率是亮点</a:t>
            </a:r>
          </a:p>
          <a:p>
            <a:r>
              <a:rPr lang="zh-CN" dirty="0"/>
              <a:t>• Resolution: 512 最佳但有成本权衡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RF foundation models: 都需要任务特定输出头</a:t>
            </a:r>
          </a:p>
          <a:p>
            <a:r>
              <a:rPr lang="zh-CN" dirty="0"/>
              <a:t>• Telecom LLMs: 文本中心，看不到物理层</a:t>
            </a:r>
          </a:p>
          <a:p>
            <a:r>
              <a:rPr lang="zh-CN" dirty="0"/>
              <a:t>• VLA parallels: 思想一脉相承——VLM + 适配器 + 新模态</a:t>
            </a:r>
          </a:p>
          <a:p>
            <a:r>
              <a:rPr lang="zh-CN" dirty="0"/>
              <a:t>• Table: RF-GPT 是唯一同时具备 RF感知 + 语言交互 + 统一架构 + 多任务的方案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Contributions: 三个核心贡献概括</a:t>
            </a:r>
          </a:p>
          <a:p>
            <a:r>
              <a:rPr lang="zh-CN" dirty="0"/>
              <a:t>• Limitations: 坦诚地说——合成数据、单输入、粗粒度</a:t>
            </a:r>
          </a:p>
          <a:p>
            <a:r>
              <a:rPr lang="zh-CN" dirty="0"/>
              <a:t>• Future: 真实数据、MIMO、6G 集成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Open floor: 欢迎提问</a:t>
            </a:r>
          </a:p>
          <a:p>
            <a:r>
              <a:rPr lang="zh-CN" dirty="0"/>
              <a:t>• Paper reference: 论文在 arXiv 上可查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47A1"/>
              </a:gs>
              <a:gs pos="50000">
                <a:srgbClr val="1565C0"/>
              </a:gs>
              <a:gs pos="100000">
                <a:srgbClr val="1976D2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42A5F5">
                  <a:alpha val="15000"/>
                </a:srgbClr>
              </a:gs>
              <a:gs pos="100000">
                <a:srgbClr val="0D47A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0" y="5524500"/>
            <a:ext cx="12192000" cy="762000"/>
          </a:xfrm>
          <a:custGeom>
            <a:avLst/>
            <a:gdLst/>
            <a:ahLst/>
            <a:cxnLst/>
            <a:rect l="l" t="t" r="r" b="b"/>
            <a:pathLst>
              <a:path w="12192000" h="762000">
                <a:moveTo>
                  <a:pt x="0" y="381000"/>
                </a:moveTo>
                <a:cubicBezTo>
                  <a:pt x="2032000" y="0"/>
                  <a:pt x="4064000" y="0"/>
                  <a:pt x="6096000" y="381000"/>
                </a:cubicBezTo>
                <a:cubicBezTo>
                  <a:pt x="8128000" y="762000"/>
                  <a:pt x="10160000" y="762000"/>
                  <a:pt x="12192000" y="381000"/>
                </a:cubicBezTo>
              </a:path>
            </a:pathLst>
          </a:custGeom>
          <a:noFill/>
          <a:ln w="19050">
            <a:solidFill>
              <a:srgbClr val="FFFFFF">
                <a:alpha val="5000"/>
              </a:srgbClr>
            </a:solidFill>
          </a:ln>
        </p:spPr>
      </p:sp>
      <p:sp>
        <p:nvSpPr>
          <p:cNvPr id="6" name="Freeform 6"/>
          <p:cNvSpPr/>
          <p:nvPr/>
        </p:nvSpPr>
        <p:spPr>
          <a:xfrm>
            <a:off x="0" y="5873750"/>
            <a:ext cx="12192000" cy="793750"/>
          </a:xfrm>
          <a:custGeom>
            <a:avLst/>
            <a:gdLst/>
            <a:ahLst/>
            <a:cxnLst/>
            <a:rect l="l" t="t" r="r" b="b"/>
            <a:pathLst>
              <a:path w="12192000" h="793750">
                <a:moveTo>
                  <a:pt x="0" y="317500"/>
                </a:moveTo>
                <a:cubicBezTo>
                  <a:pt x="2032000" y="0"/>
                  <a:pt x="4064000" y="31750"/>
                  <a:pt x="6096000" y="412750"/>
                </a:cubicBezTo>
                <a:cubicBezTo>
                  <a:pt x="8128000" y="793750"/>
                  <a:pt x="10160000" y="730250"/>
                  <a:pt x="12192000" y="222250"/>
                </a:cubicBezTo>
              </a:path>
            </a:pathLst>
          </a:custGeom>
          <a:noFill/>
          <a:ln w="14288">
            <a:solidFill>
              <a:srgbClr val="FFFFFF">
                <a:alpha val="4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0" y="6223000"/>
            <a:ext cx="12192000" cy="666750"/>
          </a:xfrm>
          <a:custGeom>
            <a:avLst/>
            <a:gdLst/>
            <a:ahLst/>
            <a:cxnLst/>
            <a:rect l="l" t="t" r="r" b="b"/>
            <a:pathLst>
              <a:path w="12192000" h="666750">
                <a:moveTo>
                  <a:pt x="0" y="254000"/>
                </a:moveTo>
                <a:cubicBezTo>
                  <a:pt x="2032000" y="0"/>
                  <a:pt x="4064000" y="31750"/>
                  <a:pt x="6096000" y="349250"/>
                </a:cubicBezTo>
                <a:cubicBezTo>
                  <a:pt x="8128000" y="666750"/>
                  <a:pt x="10160000" y="603250"/>
                  <a:pt x="12192000" y="158750"/>
                </a:cubicBezTo>
              </a:path>
            </a:pathLst>
          </a:custGeom>
          <a:noFill/>
          <a:ln w="9525">
            <a:solidFill>
              <a:srgbClr val="FFFFFF">
                <a:alpha val="3000"/>
              </a:srgbClr>
            </a:solidFill>
          </a:ln>
        </p:spPr>
      </p:sp>
      <p:sp>
        <p:nvSpPr>
          <p:cNvPr id="8" name="Ellipse 8"/>
          <p:cNvSpPr/>
          <p:nvPr/>
        </p:nvSpPr>
        <p:spPr>
          <a:xfrm>
            <a:off x="8763000" y="-571500"/>
            <a:ext cx="3429000" cy="3429000"/>
          </a:xfrm>
          <a:prstGeom prst="ellipse">
            <a:avLst/>
          </a:prstGeom>
          <a:noFill/>
          <a:ln w="9525">
            <a:solidFill>
              <a:srgbClr val="FFFFFF">
                <a:alpha val="4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334500" y="0"/>
            <a:ext cx="2286000" cy="2286000"/>
          </a:xfrm>
          <a:prstGeom prst="ellipse">
            <a:avLst/>
          </a:prstGeom>
          <a:noFill/>
          <a:ln w="9525">
            <a:solidFill>
              <a:srgbClr val="FFFFFF">
                <a:alpha val="6000"/>
              </a:srgbClr>
            </a:solidFill>
          </a:ln>
        </p:spPr>
      </p:sp>
      <p:sp>
        <p:nvSpPr>
          <p:cNvPr id="10" name="Ellipse 10"/>
          <p:cNvSpPr/>
          <p:nvPr/>
        </p:nvSpPr>
        <p:spPr>
          <a:xfrm>
            <a:off x="952500" y="4572000"/>
            <a:ext cx="1905000" cy="1905000"/>
          </a:xfrm>
          <a:prstGeom prst="ellipse">
            <a:avLst/>
          </a:prstGeom>
          <a:noFill/>
          <a:ln w="9525">
            <a:solidFill>
              <a:srgbClr val="FFFFFF">
                <a:alpha val="4000"/>
              </a:srgbClr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54749" y="2329339"/>
            <a:ext cx="11482502" cy="1173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7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RF-GPT: Teaching AI to See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15269" y="3138964"/>
            <a:ext cx="8161462" cy="1173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7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the Wireless World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143500" y="4095750"/>
            <a:ext cx="1905000" cy="28575"/>
          </a:xfrm>
          <a:prstGeom prst="rect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741527" y="4241959"/>
            <a:ext cx="4708946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75" dirty="0">
                <a:solidFill>
                  <a:srgbClr val="BBDEFB"/>
                </a:solidFill>
                <a:latin typeface="Arial"/>
                <a:ea typeface="Microsoft YaHei"/>
                <a:cs typeface="Arial"/>
              </a:rPr>
              <a:t>射频大模型 —— 让AI"看懂"无线电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30631" y="5569268"/>
            <a:ext cx="93307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90CAF9"/>
                </a:solidFill>
                <a:latin typeface="Arial"/>
                <a:ea typeface="Microsoft YaHei"/>
                <a:cs typeface="Arial"/>
              </a:rPr>
              <a:t>Hang Zou, Yu Tian, Bohao Wang, Lina Bariah, Samson Lasaulce, Chongwen Huang, Merouane Debbah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558034" y="5918835"/>
            <a:ext cx="70759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B5F6"/>
                </a:solidFill>
                <a:latin typeface="Arial"/>
                <a:ea typeface="Microsoft YaHei"/>
                <a:cs typeface="Arial"/>
              </a:rPr>
              <a:t>arXiv:2602.14833 | Khalifa University / Zhejiang University / Universite de Lorraine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887974" y="625221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B5F6"/>
                </a:solidFill>
                <a:latin typeface="Arial"/>
                <a:ea typeface="Microsoft YaHei"/>
                <a:cs typeface="Arial"/>
              </a:rPr>
              <a:t>2026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23900" y="419100"/>
            <a:ext cx="191643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汇报提纲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6760" y="822960"/>
            <a:ext cx="69646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OUTLINE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571500" y="133350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571500" y="133350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71525" y="1390650"/>
            <a:ext cx="467249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8670" y="1869758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背景与动机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2480" y="2187892"/>
            <a:ext cx="22031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大模型的成功与射频缺席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2480" y="2426018"/>
            <a:ext cx="22031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传统射频智能的四重困境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2480" y="2664142"/>
            <a:ext cx="9018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RFLM愿景</a:t>
            </a:r>
          </a:p>
        </p:txBody>
      </p:sp>
      <p:sp>
        <p:nvSpPr>
          <p:cNvPr id="16" name="Freeform 16"/>
          <p:cNvSpPr/>
          <p:nvPr/>
        </p:nvSpPr>
        <p:spPr>
          <a:xfrm>
            <a:off x="4381500" y="133350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7" name="Freeform 17"/>
          <p:cNvSpPr/>
          <p:nvPr/>
        </p:nvSpPr>
        <p:spPr>
          <a:xfrm>
            <a:off x="4381500" y="133350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581525" y="139065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98670" y="1869758"/>
            <a:ext cx="196495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RF-GPT 核心思路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02480" y="2187892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三大组件架构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02480" y="2426018"/>
            <a:ext cx="14144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为何选择频谱图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02480" y="2664142"/>
            <a:ext cx="16313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类比：RF全科医生</a:t>
            </a:r>
          </a:p>
        </p:txBody>
      </p:sp>
      <p:sp>
        <p:nvSpPr>
          <p:cNvPr id="23" name="Freeform 23"/>
          <p:cNvSpPr/>
          <p:nvPr/>
        </p:nvSpPr>
        <p:spPr>
          <a:xfrm>
            <a:off x="8191500" y="133350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4" name="Freeform 24"/>
          <p:cNvSpPr/>
          <p:nvPr/>
        </p:nvSpPr>
        <p:spPr>
          <a:xfrm>
            <a:off x="8191500" y="133350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391525" y="139065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08670" y="1869758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数据合成管线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12480" y="2187892"/>
            <a:ext cx="20059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六种无线技术波形生成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12480" y="2426018"/>
            <a:ext cx="20059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自动化标注与指令合成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12480" y="2664142"/>
            <a:ext cx="243973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零人工标注：62.5万指令对</a:t>
            </a:r>
          </a:p>
        </p:txBody>
      </p:sp>
      <p:sp>
        <p:nvSpPr>
          <p:cNvPr id="30" name="Freeform 30"/>
          <p:cNvSpPr/>
          <p:nvPr/>
        </p:nvSpPr>
        <p:spPr>
          <a:xfrm>
            <a:off x="571500" y="390525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1" name="Freeform 31"/>
          <p:cNvSpPr/>
          <p:nvPr/>
        </p:nvSpPr>
        <p:spPr>
          <a:xfrm>
            <a:off x="571500" y="390525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71525" y="396240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88670" y="444150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实验评估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2480" y="4759642"/>
            <a:ext cx="20059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五大基准任务全面评测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2480" y="4997768"/>
            <a:ext cx="21735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通用VLM vs RF-GPT对比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2480" y="5235892"/>
            <a:ext cx="16116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消融与鲁棒性分析</a:t>
            </a:r>
          </a:p>
        </p:txBody>
      </p:sp>
      <p:sp>
        <p:nvSpPr>
          <p:cNvPr id="37" name="Freeform 37"/>
          <p:cNvSpPr/>
          <p:nvPr/>
        </p:nvSpPr>
        <p:spPr>
          <a:xfrm>
            <a:off x="4381500" y="390525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8" name="Freeform 38"/>
          <p:cNvSpPr/>
          <p:nvPr/>
        </p:nvSpPr>
        <p:spPr>
          <a:xfrm>
            <a:off x="4381500" y="390525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581525" y="396240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598670" y="4441508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相关工作对比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602480" y="4759642"/>
            <a:ext cx="14341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RF基础模型对比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602480" y="4997768"/>
            <a:ext cx="171021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Telecom LLMs对比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602480" y="5235892"/>
            <a:ext cx="154262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与VLA模型的联系</a:t>
            </a:r>
          </a:p>
        </p:txBody>
      </p:sp>
      <p:sp>
        <p:nvSpPr>
          <p:cNvPr id="44" name="Freeform 44"/>
          <p:cNvSpPr/>
          <p:nvPr/>
        </p:nvSpPr>
        <p:spPr>
          <a:xfrm>
            <a:off x="8191500" y="390525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5" name="Freeform 45"/>
          <p:cNvSpPr/>
          <p:nvPr/>
        </p:nvSpPr>
        <p:spPr>
          <a:xfrm>
            <a:off x="8191500" y="390525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391525" y="396240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408670" y="4441508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总结与展望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412480" y="4759642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三大贡献总结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412480" y="49977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当前局限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412480" y="523589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未来方向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RF-GPT Presentation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02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565C0">
                  <a:alpha val="8000"/>
                </a:srgbClr>
              </a:gs>
              <a:gs pos="100000">
                <a:srgbClr val="1565C0">
                  <a:alpha val="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23900" y="419100"/>
            <a:ext cx="559689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大模型的成功与缺失的一环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428750"/>
            <a:ext cx="3429000" cy="4286250"/>
          </a:xfrm>
          <a:custGeom>
            <a:avLst/>
            <a:gdLst/>
            <a:ahLst/>
            <a:cxnLst/>
            <a:rect l="l" t="t" r="r" b="b"/>
            <a:pathLst>
              <a:path w="3429000" h="428625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4191000"/>
                </a:lnTo>
                <a:cubicBezTo>
                  <a:pt x="3429000" y="4243605"/>
                  <a:pt x="3386355" y="4286250"/>
                  <a:pt x="3333750" y="4286250"/>
                </a:cubicBezTo>
                <a:lnTo>
                  <a:pt x="95250" y="4286250"/>
                </a:lnTo>
                <a:cubicBezTo>
                  <a:pt x="42645" y="4286250"/>
                  <a:pt x="0" y="4243605"/>
                  <a:pt x="0" y="419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571500" y="1428750"/>
            <a:ext cx="3429000" cy="1714500"/>
          </a:xfrm>
          <a:custGeom>
            <a:avLst/>
            <a:gdLst/>
            <a:ahLst/>
            <a:cxnLst/>
            <a:rect l="l" t="t" r="r" b="b"/>
            <a:pathLst>
              <a:path w="3429000" h="17145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1619250"/>
                </a:lnTo>
                <a:cubicBezTo>
                  <a:pt x="3429000" y="1671855"/>
                  <a:pt x="3386355" y="1714500"/>
                  <a:pt x="333375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3048000"/>
            <a:ext cx="3429000" cy="952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648477" y="1554956"/>
            <a:ext cx="1275046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LLM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79434" y="2584132"/>
            <a:ext cx="181313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大规模语言模型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9622" y="3354229"/>
            <a:ext cx="2627828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GPT-4o、Gemini、LLaMA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9622" y="3639979"/>
            <a:ext cx="2110264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文本生成、代码合成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89622" y="3925729"/>
            <a:ext cx="2110264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多步推理、工具使用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9622" y="4306729"/>
            <a:ext cx="188023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自然语言交互界面</a:t>
            </a:r>
          </a:p>
        </p:txBody>
      </p:sp>
      <p:sp>
        <p:nvSpPr>
          <p:cNvPr id="17" name="Freeform 17"/>
          <p:cNvSpPr/>
          <p:nvPr/>
        </p:nvSpPr>
        <p:spPr>
          <a:xfrm>
            <a:off x="4381500" y="1428750"/>
            <a:ext cx="3429000" cy="4286250"/>
          </a:xfrm>
          <a:custGeom>
            <a:avLst/>
            <a:gdLst/>
            <a:ahLst/>
            <a:cxnLst/>
            <a:rect l="l" t="t" r="r" b="b"/>
            <a:pathLst>
              <a:path w="3429000" h="428625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4191000"/>
                </a:lnTo>
                <a:cubicBezTo>
                  <a:pt x="3429000" y="4243605"/>
                  <a:pt x="3386355" y="4286250"/>
                  <a:pt x="3333750" y="4286250"/>
                </a:cubicBezTo>
                <a:lnTo>
                  <a:pt x="95250" y="4286250"/>
                </a:lnTo>
                <a:cubicBezTo>
                  <a:pt x="42645" y="4286250"/>
                  <a:pt x="0" y="4243605"/>
                  <a:pt x="0" y="419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4381500" y="1428750"/>
            <a:ext cx="3429000" cy="1714500"/>
          </a:xfrm>
          <a:custGeom>
            <a:avLst/>
            <a:gdLst/>
            <a:ahLst/>
            <a:cxnLst/>
            <a:rect l="l" t="t" r="r" b="b"/>
            <a:pathLst>
              <a:path w="3429000" h="17145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1619250"/>
                </a:lnTo>
                <a:cubicBezTo>
                  <a:pt x="3429000" y="1671855"/>
                  <a:pt x="3386355" y="1714500"/>
                  <a:pt x="333375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D47A1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4381500" y="3048000"/>
            <a:ext cx="3429000" cy="95250"/>
          </a:xfrm>
          <a:prstGeom prst="rect">
            <a:avLst/>
          </a:prstGeom>
          <a:solidFill>
            <a:srgbClr val="0D47A1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458477" y="1554956"/>
            <a:ext cx="1275046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VLM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315950" y="258413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视觉语言模型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99622" y="3354229"/>
            <a:ext cx="2581823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Qwen2.5-VL、InternVL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99622" y="3639979"/>
            <a:ext cx="1903238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"看懂"图像与视频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99622" y="3925729"/>
            <a:ext cx="2087261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Whisper"听懂"音频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99622" y="4306729"/>
            <a:ext cx="165020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多模态推理能力</a:t>
            </a:r>
          </a:p>
        </p:txBody>
      </p:sp>
      <p:sp>
        <p:nvSpPr>
          <p:cNvPr id="26" name="Freeform 26"/>
          <p:cNvSpPr/>
          <p:nvPr/>
        </p:nvSpPr>
        <p:spPr>
          <a:xfrm>
            <a:off x="8191500" y="1428750"/>
            <a:ext cx="3429000" cy="4286250"/>
          </a:xfrm>
          <a:custGeom>
            <a:avLst/>
            <a:gdLst/>
            <a:ahLst/>
            <a:cxnLst/>
            <a:rect l="l" t="t" r="r" b="b"/>
            <a:pathLst>
              <a:path w="3429000" h="428625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4191000"/>
                </a:lnTo>
                <a:cubicBezTo>
                  <a:pt x="3429000" y="4243605"/>
                  <a:pt x="3386355" y="4286250"/>
                  <a:pt x="3333750" y="4286250"/>
                </a:cubicBezTo>
                <a:lnTo>
                  <a:pt x="95250" y="4286250"/>
                </a:lnTo>
                <a:cubicBezTo>
                  <a:pt x="42645" y="4286250"/>
                  <a:pt x="0" y="4243605"/>
                  <a:pt x="0" y="419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8191500" y="1428750"/>
            <a:ext cx="3429000" cy="1714500"/>
          </a:xfrm>
          <a:custGeom>
            <a:avLst/>
            <a:gdLst/>
            <a:ahLst/>
            <a:cxnLst/>
            <a:rect l="l" t="t" r="r" b="b"/>
            <a:pathLst>
              <a:path w="3429000" h="17145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1619250"/>
                </a:lnTo>
                <a:cubicBezTo>
                  <a:pt x="3429000" y="1671855"/>
                  <a:pt x="3386355" y="1714500"/>
                  <a:pt x="333375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8191500" y="3048000"/>
            <a:ext cx="3429000" cy="95250"/>
          </a:xfrm>
          <a:prstGeom prst="rect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505694" y="1554956"/>
            <a:ext cx="800612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RF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125950" y="258413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射频信号缺席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09622" y="3354229"/>
            <a:ext cx="2110264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无线通信物理层信号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09622" y="3639979"/>
            <a:ext cx="2340292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尚未被大模型原生支持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412480" y="4045268"/>
            <a:ext cx="10201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现有方法：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412480" y="4283392"/>
            <a:ext cx="22327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任务特定 + 领域专用模型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12480" y="4521518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缺少统一框架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RF-GPT Presentation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03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565C0">
                  <a:alpha val="6000"/>
                </a:srgbClr>
              </a:gs>
              <a:gs pos="100000">
                <a:srgbClr val="1565C0">
                  <a:alpha val="0"/>
                </a:srgbClr>
              </a:gs>
            </a:gsLst>
            <a:lin ang="6742808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23900" y="419100"/>
            <a:ext cx="421671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传统射频智能的困境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762000" y="1428750"/>
            <a:ext cx="5048250" cy="2143125"/>
          </a:xfrm>
          <a:custGeom>
            <a:avLst/>
            <a:gdLst/>
            <a:ahLst/>
            <a:cxnLst/>
            <a:rect l="l" t="t" r="r" b="b"/>
            <a:pathLst>
              <a:path w="5048250" h="2143125">
                <a:moveTo>
                  <a:pt x="95250" y="0"/>
                </a:moveTo>
                <a:lnTo>
                  <a:pt x="4953000" y="0"/>
                </a:lnTo>
                <a:cubicBezTo>
                  <a:pt x="5005605" y="0"/>
                  <a:pt x="5048250" y="42645"/>
                  <a:pt x="5048250" y="95250"/>
                </a:cubicBezTo>
                <a:lnTo>
                  <a:pt x="5048250" y="2047875"/>
                </a:lnTo>
                <a:cubicBezTo>
                  <a:pt x="5048250" y="2100480"/>
                  <a:pt x="5005605" y="2143125"/>
                  <a:pt x="4953000" y="2143125"/>
                </a:cubicBezTo>
                <a:lnTo>
                  <a:pt x="95250" y="2143125"/>
                </a:lnTo>
                <a:cubicBezTo>
                  <a:pt x="42645" y="2143125"/>
                  <a:pt x="0" y="2100480"/>
                  <a:pt x="0" y="20478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0E0E0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762000" y="1428750"/>
            <a:ext cx="5048250" cy="47625"/>
          </a:xfrm>
          <a:custGeom>
            <a:avLst/>
            <a:gdLst/>
            <a:ahLst/>
            <a:cxnLst/>
            <a:rect l="l" t="t" r="r" b="b"/>
            <a:pathLst>
              <a:path w="5048250" h="47625">
                <a:moveTo>
                  <a:pt x="23812" y="0"/>
                </a:moveTo>
                <a:lnTo>
                  <a:pt x="5024438" y="0"/>
                </a:lnTo>
                <a:cubicBezTo>
                  <a:pt x="5037589" y="0"/>
                  <a:pt x="5048250" y="10661"/>
                  <a:pt x="5048250" y="23812"/>
                </a:cubicBezTo>
                <a:lnTo>
                  <a:pt x="5048250" y="23812"/>
                </a:lnTo>
                <a:cubicBezTo>
                  <a:pt x="5048250" y="36964"/>
                  <a:pt x="5037589" y="47625"/>
                  <a:pt x="5024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020128" y="1670209"/>
            <a:ext cx="338755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01140" y="171069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任务特定模型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076450"/>
            <a:ext cx="48796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每种RF任务各自独立架构、独立数据集、独立训练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362200"/>
            <a:ext cx="44196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调制识别、信道估计、波束选择各需不同模型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2647950"/>
            <a:ext cx="3543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跨任务复用几乎为零，重复建设严重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2510" y="3108960"/>
            <a:ext cx="2133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代码复用率低，维护成本高</a:t>
            </a:r>
          </a:p>
        </p:txBody>
      </p:sp>
      <p:sp>
        <p:nvSpPr>
          <p:cNvPr id="16" name="Freeform 16"/>
          <p:cNvSpPr/>
          <p:nvPr/>
        </p:nvSpPr>
        <p:spPr>
          <a:xfrm>
            <a:off x="6381750" y="1428750"/>
            <a:ext cx="5048250" cy="2143125"/>
          </a:xfrm>
          <a:custGeom>
            <a:avLst/>
            <a:gdLst/>
            <a:ahLst/>
            <a:cxnLst/>
            <a:rect l="l" t="t" r="r" b="b"/>
            <a:pathLst>
              <a:path w="5048250" h="2143125">
                <a:moveTo>
                  <a:pt x="95250" y="0"/>
                </a:moveTo>
                <a:lnTo>
                  <a:pt x="4953000" y="0"/>
                </a:lnTo>
                <a:cubicBezTo>
                  <a:pt x="5005605" y="0"/>
                  <a:pt x="5048250" y="42645"/>
                  <a:pt x="5048250" y="95250"/>
                </a:cubicBezTo>
                <a:lnTo>
                  <a:pt x="5048250" y="2047875"/>
                </a:lnTo>
                <a:cubicBezTo>
                  <a:pt x="5048250" y="2100480"/>
                  <a:pt x="5005605" y="2143125"/>
                  <a:pt x="4953000" y="2143125"/>
                </a:cubicBezTo>
                <a:lnTo>
                  <a:pt x="95250" y="2143125"/>
                </a:lnTo>
                <a:cubicBezTo>
                  <a:pt x="42645" y="2143125"/>
                  <a:pt x="0" y="2100480"/>
                  <a:pt x="0" y="20478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0E0E0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6381750" y="1428750"/>
            <a:ext cx="5048250" cy="47625"/>
          </a:xfrm>
          <a:custGeom>
            <a:avLst/>
            <a:gdLst/>
            <a:ahLst/>
            <a:cxnLst/>
            <a:rect l="l" t="t" r="r" b="b"/>
            <a:pathLst>
              <a:path w="5048250" h="47625">
                <a:moveTo>
                  <a:pt x="23812" y="0"/>
                </a:moveTo>
                <a:lnTo>
                  <a:pt x="5024438" y="0"/>
                </a:lnTo>
                <a:cubicBezTo>
                  <a:pt x="5037589" y="0"/>
                  <a:pt x="5048250" y="10661"/>
                  <a:pt x="5048250" y="23812"/>
                </a:cubicBezTo>
                <a:lnTo>
                  <a:pt x="5048250" y="23812"/>
                </a:lnTo>
                <a:cubicBezTo>
                  <a:pt x="5048250" y="36964"/>
                  <a:pt x="5037589" y="47625"/>
                  <a:pt x="5024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639878" y="1670209"/>
            <a:ext cx="422141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120890" y="171069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数据标注昂贵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48450" y="2076450"/>
            <a:ext cx="45072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RF数据集需专家标注 + 专用硬件 + 长时间采集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648450" y="2362200"/>
            <a:ext cx="24479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真实环境类别高度不平衡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48450" y="2647950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罕见干扰模式几乎无法采集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52260" y="3108960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大规模监督学习难以实现</a:t>
            </a:r>
          </a:p>
        </p:txBody>
      </p:sp>
      <p:sp>
        <p:nvSpPr>
          <p:cNvPr id="24" name="Freeform 24"/>
          <p:cNvSpPr/>
          <p:nvPr/>
        </p:nvSpPr>
        <p:spPr>
          <a:xfrm>
            <a:off x="762000" y="3905250"/>
            <a:ext cx="5048250" cy="2143125"/>
          </a:xfrm>
          <a:custGeom>
            <a:avLst/>
            <a:gdLst/>
            <a:ahLst/>
            <a:cxnLst/>
            <a:rect l="l" t="t" r="r" b="b"/>
            <a:pathLst>
              <a:path w="5048250" h="2143125">
                <a:moveTo>
                  <a:pt x="95250" y="0"/>
                </a:moveTo>
                <a:lnTo>
                  <a:pt x="4953000" y="0"/>
                </a:lnTo>
                <a:cubicBezTo>
                  <a:pt x="5005605" y="0"/>
                  <a:pt x="5048250" y="42645"/>
                  <a:pt x="5048250" y="95250"/>
                </a:cubicBezTo>
                <a:lnTo>
                  <a:pt x="5048250" y="2047875"/>
                </a:lnTo>
                <a:cubicBezTo>
                  <a:pt x="5048250" y="2100480"/>
                  <a:pt x="5005605" y="2143125"/>
                  <a:pt x="4953000" y="2143125"/>
                </a:cubicBezTo>
                <a:lnTo>
                  <a:pt x="95250" y="2143125"/>
                </a:lnTo>
                <a:cubicBezTo>
                  <a:pt x="42645" y="2143125"/>
                  <a:pt x="0" y="2100480"/>
                  <a:pt x="0" y="20478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0E0E0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762000" y="3905250"/>
            <a:ext cx="5048250" cy="47625"/>
          </a:xfrm>
          <a:custGeom>
            <a:avLst/>
            <a:gdLst/>
            <a:ahLst/>
            <a:cxnLst/>
            <a:rect l="l" t="t" r="r" b="b"/>
            <a:pathLst>
              <a:path w="5048250" h="47625">
                <a:moveTo>
                  <a:pt x="23812" y="0"/>
                </a:moveTo>
                <a:lnTo>
                  <a:pt x="5024438" y="0"/>
                </a:lnTo>
                <a:cubicBezTo>
                  <a:pt x="5037589" y="0"/>
                  <a:pt x="5048250" y="10661"/>
                  <a:pt x="5048250" y="23812"/>
                </a:cubicBezTo>
                <a:lnTo>
                  <a:pt x="5048250" y="23812"/>
                </a:lnTo>
                <a:cubicBezTo>
                  <a:pt x="5048250" y="36964"/>
                  <a:pt x="5037589" y="47625"/>
                  <a:pt x="5024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20128" y="4146709"/>
            <a:ext cx="422141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01140" y="418719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缺乏泛化能力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8700" y="4552950"/>
            <a:ext cx="44634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一种SNR/信道条件下训练，换环境就性能骤降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28700" y="4838700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硬件差异、信道变化直接影响模型准确率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8700" y="5124450"/>
            <a:ext cx="24479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实际部署需反复重新训练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2510" y="5585460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换场景即失效，鲁棒性差</a:t>
            </a:r>
          </a:p>
        </p:txBody>
      </p:sp>
      <p:sp>
        <p:nvSpPr>
          <p:cNvPr id="32" name="Freeform 32"/>
          <p:cNvSpPr/>
          <p:nvPr/>
        </p:nvSpPr>
        <p:spPr>
          <a:xfrm>
            <a:off x="6381750" y="3905250"/>
            <a:ext cx="5048250" cy="2143125"/>
          </a:xfrm>
          <a:custGeom>
            <a:avLst/>
            <a:gdLst/>
            <a:ahLst/>
            <a:cxnLst/>
            <a:rect l="l" t="t" r="r" b="b"/>
            <a:pathLst>
              <a:path w="5048250" h="2143125">
                <a:moveTo>
                  <a:pt x="95250" y="0"/>
                </a:moveTo>
                <a:lnTo>
                  <a:pt x="4953000" y="0"/>
                </a:lnTo>
                <a:cubicBezTo>
                  <a:pt x="5005605" y="0"/>
                  <a:pt x="5048250" y="42645"/>
                  <a:pt x="5048250" y="95250"/>
                </a:cubicBezTo>
                <a:lnTo>
                  <a:pt x="5048250" y="2047875"/>
                </a:lnTo>
                <a:cubicBezTo>
                  <a:pt x="5048250" y="2100480"/>
                  <a:pt x="5005605" y="2143125"/>
                  <a:pt x="4953000" y="2143125"/>
                </a:cubicBezTo>
                <a:lnTo>
                  <a:pt x="95250" y="2143125"/>
                </a:lnTo>
                <a:cubicBezTo>
                  <a:pt x="42645" y="2143125"/>
                  <a:pt x="0" y="2100480"/>
                  <a:pt x="0" y="20478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E0E0E0"/>
            </a:solidFill>
          </a:ln>
        </p:spPr>
      </p:sp>
      <p:sp>
        <p:nvSpPr>
          <p:cNvPr id="33" name="Freeform 33"/>
          <p:cNvSpPr/>
          <p:nvPr/>
        </p:nvSpPr>
        <p:spPr>
          <a:xfrm>
            <a:off x="6381750" y="3905250"/>
            <a:ext cx="5048250" cy="47625"/>
          </a:xfrm>
          <a:custGeom>
            <a:avLst/>
            <a:gdLst/>
            <a:ahLst/>
            <a:cxnLst/>
            <a:rect l="l" t="t" r="r" b="b"/>
            <a:pathLst>
              <a:path w="5048250" h="47625">
                <a:moveTo>
                  <a:pt x="23812" y="0"/>
                </a:moveTo>
                <a:lnTo>
                  <a:pt x="5024438" y="0"/>
                </a:lnTo>
                <a:cubicBezTo>
                  <a:pt x="5037589" y="0"/>
                  <a:pt x="5048250" y="10661"/>
                  <a:pt x="5048250" y="23812"/>
                </a:cubicBezTo>
                <a:lnTo>
                  <a:pt x="5048250" y="23812"/>
                </a:lnTo>
                <a:cubicBezTo>
                  <a:pt x="5048250" y="36964"/>
                  <a:pt x="5037589" y="47625"/>
                  <a:pt x="5024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639878" y="4146709"/>
            <a:ext cx="422141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120890" y="418719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缺乏交互界面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48450" y="4552950"/>
            <a:ext cx="29079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传统RF模型只输出标签或数值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48450" y="4838700"/>
            <a:ext cx="181260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无法解释"为什么"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648450" y="5124450"/>
            <a:ext cx="17907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无法回答后续问题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652260" y="558546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人机交互体验差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RF-GPT Presentation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04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565C0">
                  <a:alpha val="6000"/>
                </a:srgbClr>
              </a:gs>
              <a:gs pos="100000">
                <a:srgbClr val="1565C0">
                  <a:alpha val="0"/>
                </a:srgbClr>
              </a:gs>
            </a:gsLst>
            <a:lin ang="6742808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23900" y="419100"/>
            <a:ext cx="3572637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RF-GPT 核心架构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762000" y="1524000"/>
            <a:ext cx="2667000" cy="1714500"/>
          </a:xfrm>
          <a:custGeom>
            <a:avLst/>
            <a:gdLst/>
            <a:ahLst/>
            <a:cxnLst/>
            <a:rect l="l" t="t" r="r" b="b"/>
            <a:pathLst>
              <a:path w="2667000" h="1714500">
                <a:moveTo>
                  <a:pt x="95250" y="0"/>
                </a:moveTo>
                <a:lnTo>
                  <a:pt x="2571750" y="0"/>
                </a:lnTo>
                <a:cubicBezTo>
                  <a:pt x="2624355" y="0"/>
                  <a:pt x="2667000" y="42645"/>
                  <a:pt x="2667000" y="95250"/>
                </a:cubicBezTo>
                <a:lnTo>
                  <a:pt x="2667000" y="1619250"/>
                </a:lnTo>
                <a:cubicBezTo>
                  <a:pt x="2667000" y="1671855"/>
                  <a:pt x="2624355" y="1714500"/>
                  <a:pt x="257175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762000" y="1524000"/>
            <a:ext cx="2667000" cy="47625"/>
          </a:xfrm>
          <a:custGeom>
            <a:avLst/>
            <a:gdLst/>
            <a:ahLst/>
            <a:cxnLst/>
            <a:rect l="l" t="t" r="r" b="b"/>
            <a:pathLst>
              <a:path w="2667000" h="47625">
                <a:moveTo>
                  <a:pt x="23812" y="0"/>
                </a:moveTo>
                <a:lnTo>
                  <a:pt x="2643188" y="0"/>
                </a:lnTo>
                <a:cubicBezTo>
                  <a:pt x="2656339" y="0"/>
                  <a:pt x="2667000" y="10661"/>
                  <a:pt x="2667000" y="23812"/>
                </a:cubicBezTo>
                <a:lnTo>
                  <a:pt x="2667000" y="23812"/>
                </a:lnTo>
                <a:cubicBezTo>
                  <a:pt x="2667000" y="36964"/>
                  <a:pt x="2656339" y="47625"/>
                  <a:pt x="2643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465364" y="1758315"/>
            <a:ext cx="126027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RF 编码器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38977" y="2092642"/>
            <a:ext cx="151304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IQ 信号 → 频谱图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24134" y="2330768"/>
            <a:ext cx="1427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09402" y="2568892"/>
            <a:ext cx="15721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视觉编码器 (ViT)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2723" y="2823210"/>
            <a:ext cx="17655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→ RF Tokens (1369个)</a:t>
            </a:r>
          </a:p>
        </p:txBody>
      </p:sp>
      <p:sp>
        <p:nvSpPr>
          <p:cNvPr id="15" name="Line 15"/>
          <p:cNvSpPr/>
          <p:nvPr/>
        </p:nvSpPr>
        <p:spPr>
          <a:xfrm>
            <a:off x="3429000" y="2381250"/>
            <a:ext cx="666750" cy="9525"/>
          </a:xfrm>
          <a:custGeom>
            <a:avLst/>
            <a:gdLst/>
            <a:ahLst/>
            <a:cxnLst/>
            <a:rect l="l" t="t" r="r" b="b"/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28575">
            <a:solidFill>
              <a:srgbClr val="1565C0"/>
            </a:solidFill>
          </a:ln>
        </p:spPr>
      </p:sp>
      <p:sp>
        <p:nvSpPr>
          <p:cNvPr id="16" name="Polygon 16"/>
          <p:cNvSpPr/>
          <p:nvPr/>
        </p:nvSpPr>
        <p:spPr>
          <a:xfrm>
            <a:off x="4095750" y="23050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0" y="0"/>
                </a:moveTo>
                <a:lnTo>
                  <a:pt x="171450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7" name="Freeform 17"/>
          <p:cNvSpPr/>
          <p:nvPr/>
        </p:nvSpPr>
        <p:spPr>
          <a:xfrm>
            <a:off x="4286250" y="1524000"/>
            <a:ext cx="2667000" cy="1714500"/>
          </a:xfrm>
          <a:custGeom>
            <a:avLst/>
            <a:gdLst/>
            <a:ahLst/>
            <a:cxnLst/>
            <a:rect l="l" t="t" r="r" b="b"/>
            <a:pathLst>
              <a:path w="2667000" h="1714500">
                <a:moveTo>
                  <a:pt x="95250" y="0"/>
                </a:moveTo>
                <a:lnTo>
                  <a:pt x="2571750" y="0"/>
                </a:lnTo>
                <a:cubicBezTo>
                  <a:pt x="2624355" y="0"/>
                  <a:pt x="2667000" y="42645"/>
                  <a:pt x="2667000" y="95250"/>
                </a:cubicBezTo>
                <a:lnTo>
                  <a:pt x="2667000" y="1619250"/>
                </a:lnTo>
                <a:cubicBezTo>
                  <a:pt x="2667000" y="1671855"/>
                  <a:pt x="2624355" y="1714500"/>
                  <a:pt x="257175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4286250" y="1524000"/>
            <a:ext cx="2667000" cy="47625"/>
          </a:xfrm>
          <a:custGeom>
            <a:avLst/>
            <a:gdLst/>
            <a:ahLst/>
            <a:cxnLst/>
            <a:rect l="l" t="t" r="r" b="b"/>
            <a:pathLst>
              <a:path w="2667000" h="47625">
                <a:moveTo>
                  <a:pt x="23812" y="0"/>
                </a:moveTo>
                <a:lnTo>
                  <a:pt x="2643188" y="0"/>
                </a:lnTo>
                <a:cubicBezTo>
                  <a:pt x="2656339" y="0"/>
                  <a:pt x="2667000" y="10661"/>
                  <a:pt x="2667000" y="23812"/>
                </a:cubicBezTo>
                <a:lnTo>
                  <a:pt x="2667000" y="23812"/>
                </a:lnTo>
                <a:cubicBezTo>
                  <a:pt x="2667000" y="36964"/>
                  <a:pt x="2656339" y="47625"/>
                  <a:pt x="2643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2E7D3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989614" y="1758315"/>
            <a:ext cx="126027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RF 适配器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109686" y="2140268"/>
            <a:ext cx="10201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线性投影层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828723" y="2426018"/>
            <a:ext cx="15820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d → dLM 维度映射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785170" y="2823210"/>
            <a:ext cx="16691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类似 LLaVA 投影模块</a:t>
            </a:r>
          </a:p>
        </p:txBody>
      </p:sp>
      <p:sp>
        <p:nvSpPr>
          <p:cNvPr id="23" name="Line 23"/>
          <p:cNvSpPr/>
          <p:nvPr/>
        </p:nvSpPr>
        <p:spPr>
          <a:xfrm>
            <a:off x="6953250" y="2381250"/>
            <a:ext cx="666750" cy="9525"/>
          </a:xfrm>
          <a:custGeom>
            <a:avLst/>
            <a:gdLst/>
            <a:ahLst/>
            <a:cxnLst/>
            <a:rect l="l" t="t" r="r" b="b"/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28575">
            <a:solidFill>
              <a:srgbClr val="1565C0"/>
            </a:solidFill>
          </a:ln>
        </p:spPr>
      </p:sp>
      <p:sp>
        <p:nvSpPr>
          <p:cNvPr id="24" name="Polygon 24"/>
          <p:cNvSpPr/>
          <p:nvPr/>
        </p:nvSpPr>
        <p:spPr>
          <a:xfrm>
            <a:off x="7620000" y="23050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0" y="0"/>
                </a:moveTo>
                <a:lnTo>
                  <a:pt x="171450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25" name="Freeform 25"/>
          <p:cNvSpPr/>
          <p:nvPr/>
        </p:nvSpPr>
        <p:spPr>
          <a:xfrm>
            <a:off x="7810500" y="1524000"/>
            <a:ext cx="3429000" cy="1714500"/>
          </a:xfrm>
          <a:custGeom>
            <a:avLst/>
            <a:gdLst/>
            <a:ahLst/>
            <a:cxnLst/>
            <a:rect l="l" t="t" r="r" b="b"/>
            <a:pathLst>
              <a:path w="3429000" h="17145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1619250"/>
                </a:lnTo>
                <a:cubicBezTo>
                  <a:pt x="3429000" y="1671855"/>
                  <a:pt x="3386355" y="1714500"/>
                  <a:pt x="333375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26" name="Freeform 26"/>
          <p:cNvSpPr/>
          <p:nvPr/>
        </p:nvSpPr>
        <p:spPr>
          <a:xfrm>
            <a:off x="7810500" y="1524000"/>
            <a:ext cx="3429000" cy="47625"/>
          </a:xfrm>
          <a:custGeom>
            <a:avLst/>
            <a:gdLst/>
            <a:ahLst/>
            <a:cxnLst/>
            <a:rect l="l" t="t" r="r" b="b"/>
            <a:pathLst>
              <a:path w="3429000" h="47625">
                <a:moveTo>
                  <a:pt x="23812" y="0"/>
                </a:moveTo>
                <a:lnTo>
                  <a:pt x="3405188" y="0"/>
                </a:lnTo>
                <a:cubicBezTo>
                  <a:pt x="3418339" y="0"/>
                  <a:pt x="3429000" y="10661"/>
                  <a:pt x="3429000" y="23812"/>
                </a:cubicBezTo>
                <a:lnTo>
                  <a:pt x="3429000" y="23812"/>
                </a:lnTo>
                <a:cubicBezTo>
                  <a:pt x="3429000" y="36964"/>
                  <a:pt x="3418339" y="47625"/>
                  <a:pt x="3405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328993" y="1758315"/>
            <a:ext cx="239201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Decoder-only LLM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620601" y="2140268"/>
            <a:ext cx="18087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RF Tokens 作为前缀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029724" y="2378392"/>
            <a:ext cx="9905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+ 文本指令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403717" y="2616518"/>
            <a:ext cx="224256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→ RF-grounded 文本输出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576500" y="2870835"/>
            <a:ext cx="189699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Qwen2.5-VL (3B / 7B)</a:t>
            </a:r>
          </a:p>
        </p:txBody>
      </p:sp>
      <p:sp>
        <p:nvSpPr>
          <p:cNvPr id="32" name="Freeform 32"/>
          <p:cNvSpPr/>
          <p:nvPr/>
        </p:nvSpPr>
        <p:spPr>
          <a:xfrm>
            <a:off x="762000" y="3619500"/>
            <a:ext cx="10668000" cy="952500"/>
          </a:xfrm>
          <a:custGeom>
            <a:avLst/>
            <a:gdLst/>
            <a:ahLst/>
            <a:cxnLst/>
            <a:rect l="l" t="t" r="r" b="b"/>
            <a:pathLst>
              <a:path w="10668000" h="952500">
                <a:moveTo>
                  <a:pt x="95250" y="0"/>
                </a:moveTo>
                <a:lnTo>
                  <a:pt x="10572750" y="0"/>
                </a:lnTo>
                <a:cubicBezTo>
                  <a:pt x="10625355" y="0"/>
                  <a:pt x="10668000" y="42645"/>
                  <a:pt x="10668000" y="95250"/>
                </a:cubicBezTo>
                <a:lnTo>
                  <a:pt x="10668000" y="857250"/>
                </a:lnTo>
                <a:cubicBezTo>
                  <a:pt x="10668000" y="909855"/>
                  <a:pt x="10625355" y="952500"/>
                  <a:pt x="10572750" y="952500"/>
                </a:cubicBezTo>
                <a:lnTo>
                  <a:pt x="95250" y="952500"/>
                </a:lnTo>
                <a:cubicBezTo>
                  <a:pt x="42645" y="952500"/>
                  <a:pt x="0" y="909855"/>
                  <a:pt x="0" y="85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1565C0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26795" y="38223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关键洞察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8700" y="4143375"/>
            <a:ext cx="690610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RF信号 → 频谱图(图像) → 复用VLM视觉编码能力 → 轻量适配器注入LLM</a:t>
            </a:r>
          </a:p>
        </p:txBody>
      </p:sp>
      <p:sp>
        <p:nvSpPr>
          <p:cNvPr id="35" name="Freeform 35"/>
          <p:cNvSpPr/>
          <p:nvPr/>
        </p:nvSpPr>
        <p:spPr>
          <a:xfrm>
            <a:off x="762000" y="4857750"/>
            <a:ext cx="10668000" cy="1143000"/>
          </a:xfrm>
          <a:custGeom>
            <a:avLst/>
            <a:gdLst/>
            <a:ahLst/>
            <a:cxnLst/>
            <a:rect l="l" t="t" r="r" b="b"/>
            <a:pathLst>
              <a:path w="10668000" h="1143000">
                <a:moveTo>
                  <a:pt x="95250" y="0"/>
                </a:moveTo>
                <a:lnTo>
                  <a:pt x="10572750" y="0"/>
                </a:lnTo>
                <a:cubicBezTo>
                  <a:pt x="10625355" y="0"/>
                  <a:pt x="10668000" y="42645"/>
                  <a:pt x="10668000" y="95250"/>
                </a:cubicBezTo>
                <a:lnTo>
                  <a:pt x="10668000" y="1047750"/>
                </a:lnTo>
                <a:cubicBezTo>
                  <a:pt x="10668000" y="1100355"/>
                  <a:pt x="10625355" y="1143000"/>
                  <a:pt x="10572750" y="1143000"/>
                </a:cubicBezTo>
                <a:lnTo>
                  <a:pt x="95250" y="1143000"/>
                </a:lnTo>
                <a:cubicBezTo>
                  <a:pt x="42645" y="1143000"/>
                  <a:pt x="0" y="1100355"/>
                  <a:pt x="0" y="104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8E1"/>
          </a:solidFill>
          <a:ln w="9525">
            <a:solidFill>
              <a:srgbClr val="FF6F00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1026795" y="50415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类比理解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28700" y="5362575"/>
            <a:ext cx="827532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就像医生看心电图（将心脏电信号转为二维图）来诊断病情，RF-GPT 将无线电波转为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28700" y="5629275"/>
            <a:ext cx="72894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频谱图来"诊断"无线环境。传统方法好比每个病都要重新学一套诊断工具。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RF-GPT Presentation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05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607995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为什么选频谱图而非原始IQ？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333500"/>
            <a:ext cx="5334000" cy="857250"/>
          </a:xfrm>
          <a:custGeom>
            <a:avLst/>
            <a:gdLst/>
            <a:ahLst/>
            <a:cxnLst/>
            <a:rect l="l" t="t" r="r" b="b"/>
            <a:pathLst>
              <a:path w="5334000" h="8572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762000"/>
                </a:lnTo>
                <a:cubicBezTo>
                  <a:pt x="5334000" y="814605"/>
                  <a:pt x="5291355" y="857250"/>
                  <a:pt x="5238750" y="857250"/>
                </a:cubicBezTo>
                <a:lnTo>
                  <a:pt x="95250" y="857250"/>
                </a:lnTo>
                <a:cubicBezTo>
                  <a:pt x="42645" y="857250"/>
                  <a:pt x="0" y="814605"/>
                  <a:pt x="0" y="762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685800" y="1590675"/>
            <a:ext cx="342900" cy="3429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09051" y="1664018"/>
            <a:ext cx="963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0622" y="1544479"/>
            <a:ext cx="124765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计算可行性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3480" y="1854518"/>
            <a:ext cx="44311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IQ采样率过高，直接输入Transformer计算不可行</a:t>
            </a:r>
          </a:p>
        </p:txBody>
      </p:sp>
      <p:sp>
        <p:nvSpPr>
          <p:cNvPr id="12" name="Freeform 12"/>
          <p:cNvSpPr/>
          <p:nvPr/>
        </p:nvSpPr>
        <p:spPr>
          <a:xfrm>
            <a:off x="571500" y="2333625"/>
            <a:ext cx="5334000" cy="857250"/>
          </a:xfrm>
          <a:custGeom>
            <a:avLst/>
            <a:gdLst/>
            <a:ahLst/>
            <a:cxnLst/>
            <a:rect l="l" t="t" r="r" b="b"/>
            <a:pathLst>
              <a:path w="5334000" h="8572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762000"/>
                </a:lnTo>
                <a:cubicBezTo>
                  <a:pt x="5334000" y="814605"/>
                  <a:pt x="5291355" y="857250"/>
                  <a:pt x="5238750" y="857250"/>
                </a:cubicBezTo>
                <a:lnTo>
                  <a:pt x="95250" y="857250"/>
                </a:lnTo>
                <a:cubicBezTo>
                  <a:pt x="42645" y="857250"/>
                  <a:pt x="0" y="814605"/>
                  <a:pt x="0" y="762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685800" y="2590800"/>
            <a:ext cx="342900" cy="3429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83173" y="2664142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70622" y="2544604"/>
            <a:ext cx="148918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天然时频表示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3480" y="2854642"/>
            <a:ext cx="33861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调制方式、带宽、重叠呈现为几何特征</a:t>
            </a:r>
          </a:p>
        </p:txBody>
      </p:sp>
      <p:sp>
        <p:nvSpPr>
          <p:cNvPr id="17" name="Freeform 17"/>
          <p:cNvSpPr/>
          <p:nvPr/>
        </p:nvSpPr>
        <p:spPr>
          <a:xfrm>
            <a:off x="571500" y="3333750"/>
            <a:ext cx="5334000" cy="857250"/>
          </a:xfrm>
          <a:custGeom>
            <a:avLst/>
            <a:gdLst/>
            <a:ahLst/>
            <a:cxnLst/>
            <a:rect l="l" t="t" r="r" b="b"/>
            <a:pathLst>
              <a:path w="5334000" h="8572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762000"/>
                </a:lnTo>
                <a:cubicBezTo>
                  <a:pt x="5334000" y="814605"/>
                  <a:pt x="5291355" y="857250"/>
                  <a:pt x="5238750" y="857250"/>
                </a:cubicBezTo>
                <a:lnTo>
                  <a:pt x="95250" y="857250"/>
                </a:lnTo>
                <a:cubicBezTo>
                  <a:pt x="42645" y="857250"/>
                  <a:pt x="0" y="814605"/>
                  <a:pt x="0" y="762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685800" y="3590925"/>
            <a:ext cx="342900" cy="3429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83173" y="3664268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70622" y="3544729"/>
            <a:ext cx="173071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复用预训练能力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73480" y="3854768"/>
            <a:ext cx="35833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视觉编码器可提取频谱图的通用语义结构</a:t>
            </a:r>
          </a:p>
        </p:txBody>
      </p:sp>
      <p:sp>
        <p:nvSpPr>
          <p:cNvPr id="22" name="Freeform 22"/>
          <p:cNvSpPr/>
          <p:nvPr/>
        </p:nvSpPr>
        <p:spPr>
          <a:xfrm>
            <a:off x="571500" y="4429125"/>
            <a:ext cx="5334000" cy="762000"/>
          </a:xfrm>
          <a:custGeom>
            <a:avLst/>
            <a:gdLst/>
            <a:ahLst/>
            <a:cxnLst/>
            <a:rect l="l" t="t" r="r" b="b"/>
            <a:pathLst>
              <a:path w="5334000" h="7620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666750"/>
                </a:lnTo>
                <a:cubicBezTo>
                  <a:pt x="5334000" y="719355"/>
                  <a:pt x="5291355" y="762000"/>
                  <a:pt x="5238750" y="762000"/>
                </a:cubicBezTo>
                <a:lnTo>
                  <a:pt x="95250" y="762000"/>
                </a:lnTo>
                <a:cubicBezTo>
                  <a:pt x="42645" y="762000"/>
                  <a:pt x="0" y="719355"/>
                  <a:pt x="0" y="666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3E0"/>
          </a:solidFill>
          <a:ln w="9525">
            <a:solidFill>
              <a:srgbClr val="FF6F0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40105" y="4569142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局限性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2010" y="4842510"/>
            <a:ext cx="3535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丢失绝对相位信息；本文感知任务不依赖相位</a:t>
            </a:r>
          </a:p>
        </p:txBody>
      </p:sp>
      <p:sp>
        <p:nvSpPr>
          <p:cNvPr id="25" name="Freeform 25"/>
          <p:cNvSpPr/>
          <p:nvPr/>
        </p:nvSpPr>
        <p:spPr>
          <a:xfrm>
            <a:off x="6286500" y="1333500"/>
            <a:ext cx="5334000" cy="4667250"/>
          </a:xfrm>
          <a:custGeom>
            <a:avLst/>
            <a:gdLst/>
            <a:ahLst/>
            <a:cxnLst/>
            <a:rect l="l" t="t" r="r" b="b"/>
            <a:pathLst>
              <a:path w="5334000" h="46672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4572000"/>
                </a:lnTo>
                <a:cubicBezTo>
                  <a:pt x="5334000" y="4624605"/>
                  <a:pt x="5291355" y="4667250"/>
                  <a:pt x="5238750" y="4667250"/>
                </a:cubicBezTo>
                <a:lnTo>
                  <a:pt x="95250" y="4667250"/>
                </a:lnTo>
                <a:cubicBezTo>
                  <a:pt x="42645" y="4667250"/>
                  <a:pt x="0" y="4624605"/>
                  <a:pt x="0" y="4572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793903" y="1517332"/>
            <a:ext cx="23191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六种无线技术频谱图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286500" y="1809750"/>
            <a:ext cx="5334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6572250" y="2000250"/>
            <a:ext cx="2286000" cy="762000"/>
          </a:xfrm>
          <a:custGeom>
            <a:avLst/>
            <a:gdLst/>
            <a:ahLst/>
            <a:cxnLst/>
            <a:rect l="l" t="t" r="r" b="b"/>
            <a:pathLst>
              <a:path w="2286000" h="76200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685800"/>
                </a:lnTo>
                <a:cubicBezTo>
                  <a:pt x="2286000" y="727884"/>
                  <a:pt x="2251884" y="762000"/>
                  <a:pt x="2209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408664" y="2295525"/>
            <a:ext cx="6131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5G NR</a:t>
            </a:r>
          </a:p>
        </p:txBody>
      </p:sp>
      <p:sp>
        <p:nvSpPr>
          <p:cNvPr id="30" name="Freeform 30"/>
          <p:cNvSpPr/>
          <p:nvPr/>
        </p:nvSpPr>
        <p:spPr>
          <a:xfrm>
            <a:off x="9048750" y="2000250"/>
            <a:ext cx="2286000" cy="762000"/>
          </a:xfrm>
          <a:custGeom>
            <a:avLst/>
            <a:gdLst/>
            <a:ahLst/>
            <a:cxnLst/>
            <a:rect l="l" t="t" r="r" b="b"/>
            <a:pathLst>
              <a:path w="2286000" h="76200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685800"/>
                </a:lnTo>
                <a:cubicBezTo>
                  <a:pt x="2286000" y="727884"/>
                  <a:pt x="2251884" y="762000"/>
                  <a:pt x="2209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982926" y="2295525"/>
            <a:ext cx="41764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LTE</a:t>
            </a:r>
          </a:p>
        </p:txBody>
      </p:sp>
      <p:sp>
        <p:nvSpPr>
          <p:cNvPr id="32" name="Freeform 32"/>
          <p:cNvSpPr/>
          <p:nvPr/>
        </p:nvSpPr>
        <p:spPr>
          <a:xfrm>
            <a:off x="6572250" y="2952750"/>
            <a:ext cx="2286000" cy="762000"/>
          </a:xfrm>
          <a:custGeom>
            <a:avLst/>
            <a:gdLst/>
            <a:ahLst/>
            <a:cxnLst/>
            <a:rect l="l" t="t" r="r" b="b"/>
            <a:pathLst>
              <a:path w="2286000" h="76200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685800"/>
                </a:lnTo>
                <a:cubicBezTo>
                  <a:pt x="2286000" y="727884"/>
                  <a:pt x="2251884" y="762000"/>
                  <a:pt x="2209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420166" y="3248025"/>
            <a:ext cx="59016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UMTS</a:t>
            </a:r>
          </a:p>
        </p:txBody>
      </p:sp>
      <p:sp>
        <p:nvSpPr>
          <p:cNvPr id="34" name="Freeform 34"/>
          <p:cNvSpPr/>
          <p:nvPr/>
        </p:nvSpPr>
        <p:spPr>
          <a:xfrm>
            <a:off x="9048750" y="2952750"/>
            <a:ext cx="2286000" cy="762000"/>
          </a:xfrm>
          <a:custGeom>
            <a:avLst/>
            <a:gdLst/>
            <a:ahLst/>
            <a:cxnLst/>
            <a:rect l="l" t="t" r="r" b="b"/>
            <a:pathLst>
              <a:path w="2286000" h="76200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685800"/>
                </a:lnTo>
                <a:cubicBezTo>
                  <a:pt x="2286000" y="727884"/>
                  <a:pt x="2251884" y="762000"/>
                  <a:pt x="2209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896666" y="3248025"/>
            <a:ext cx="59016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WLAN</a:t>
            </a:r>
          </a:p>
        </p:txBody>
      </p:sp>
      <p:sp>
        <p:nvSpPr>
          <p:cNvPr id="36" name="Freeform 36"/>
          <p:cNvSpPr/>
          <p:nvPr/>
        </p:nvSpPr>
        <p:spPr>
          <a:xfrm>
            <a:off x="6572250" y="3905250"/>
            <a:ext cx="2286000" cy="762000"/>
          </a:xfrm>
          <a:custGeom>
            <a:avLst/>
            <a:gdLst/>
            <a:ahLst/>
            <a:cxnLst/>
            <a:rect l="l" t="t" r="r" b="b"/>
            <a:pathLst>
              <a:path w="2286000" h="76200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685800"/>
                </a:lnTo>
                <a:cubicBezTo>
                  <a:pt x="2286000" y="727884"/>
                  <a:pt x="2251884" y="762000"/>
                  <a:pt x="2209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316653" y="4200525"/>
            <a:ext cx="79719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DVB-S2</a:t>
            </a:r>
          </a:p>
        </p:txBody>
      </p:sp>
      <p:sp>
        <p:nvSpPr>
          <p:cNvPr id="38" name="Freeform 38"/>
          <p:cNvSpPr/>
          <p:nvPr/>
        </p:nvSpPr>
        <p:spPr>
          <a:xfrm>
            <a:off x="9048750" y="3905250"/>
            <a:ext cx="2286000" cy="762000"/>
          </a:xfrm>
          <a:custGeom>
            <a:avLst/>
            <a:gdLst/>
            <a:ahLst/>
            <a:cxnLst/>
            <a:rect l="l" t="t" r="r" b="b"/>
            <a:pathLst>
              <a:path w="2286000" h="76200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685800"/>
                </a:lnTo>
                <a:cubicBezTo>
                  <a:pt x="2286000" y="727884"/>
                  <a:pt x="2251884" y="762000"/>
                  <a:pt x="2209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632132" y="4200525"/>
            <a:ext cx="111923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Bluetooth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277671" y="5109210"/>
            <a:ext cx="33516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STFT变换 → 512×512像素 → 1369个RF token</a:t>
            </a:r>
          </a:p>
        </p:txBody>
      </p:sp>
      <p:sp>
        <p:nvSpPr>
          <p:cNvPr id="41" name="Rectangle 41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RF-GPT Presentation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06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513683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合成数据：六种无线技术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333500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965722" y="1520190"/>
            <a:ext cx="73580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5G NR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28940" y="1870710"/>
            <a:ext cx="18093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蜂窝通信 · 子载波间隔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59611" y="2108835"/>
            <a:ext cx="17480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资源块分配 · SSB模式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63993" y="2346960"/>
            <a:ext cx="173926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CSI-RS / SRS / PDCCH</a:t>
            </a:r>
          </a:p>
        </p:txBody>
      </p:sp>
      <p:sp>
        <p:nvSpPr>
          <p:cNvPr id="12" name="Freeform 12"/>
          <p:cNvSpPr/>
          <p:nvPr/>
        </p:nvSpPr>
        <p:spPr>
          <a:xfrm>
            <a:off x="4333875" y="1333500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5845412" y="1520190"/>
            <a:ext cx="50117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LTE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31524" y="1870710"/>
            <a:ext cx="15289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4G 蜂窝 · 带宽配置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66576" y="2108835"/>
            <a:ext cx="14588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帧结构 · 参考信号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67350" y="234696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物理层完整实现</a:t>
            </a:r>
          </a:p>
        </p:txBody>
      </p:sp>
      <p:sp>
        <p:nvSpPr>
          <p:cNvPr id="17" name="Freeform 17"/>
          <p:cNvSpPr/>
          <p:nvPr/>
        </p:nvSpPr>
        <p:spPr>
          <a:xfrm>
            <a:off x="8096250" y="1333500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504274" y="1520190"/>
            <a:ext cx="70820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UMTS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093898" y="1870710"/>
            <a:ext cx="15289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3G 蜂窝 · 码分多址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65552" y="2108835"/>
            <a:ext cx="9856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WCDMA 配置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73540" y="2346960"/>
            <a:ext cx="116967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3GPP 标准符合</a:t>
            </a:r>
          </a:p>
        </p:txBody>
      </p:sp>
      <p:sp>
        <p:nvSpPr>
          <p:cNvPr id="22" name="Freeform 22"/>
          <p:cNvSpPr/>
          <p:nvPr/>
        </p:nvSpPr>
        <p:spPr>
          <a:xfrm>
            <a:off x="571500" y="3000375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979524" y="3187065"/>
            <a:ext cx="70820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WLAN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34097" y="3537585"/>
            <a:ext cx="15990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802.11ax / 802.11be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65542" y="3775710"/>
            <a:ext cx="133616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OFDMA 资源单元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31264" y="4013835"/>
            <a:ext cx="12047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MU-MIMO 配置</a:t>
            </a:r>
          </a:p>
        </p:txBody>
      </p:sp>
      <p:sp>
        <p:nvSpPr>
          <p:cNvPr id="27" name="Freeform 27"/>
          <p:cNvSpPr/>
          <p:nvPr/>
        </p:nvSpPr>
        <p:spPr>
          <a:xfrm>
            <a:off x="4333875" y="3000375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617683" y="3187065"/>
            <a:ext cx="95663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DVB-S2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730240" y="3537585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卫星通信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379720" y="377571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调制编码方案配置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541835" y="4013835"/>
            <a:ext cx="11083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DVB-S2X 标准</a:t>
            </a:r>
          </a:p>
        </p:txBody>
      </p:sp>
      <p:sp>
        <p:nvSpPr>
          <p:cNvPr id="32" name="Freeform 32"/>
          <p:cNvSpPr/>
          <p:nvPr/>
        </p:nvSpPr>
        <p:spPr>
          <a:xfrm>
            <a:off x="8096250" y="3000375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186834" y="3187065"/>
            <a:ext cx="134308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Bluetooth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404985" y="3537585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短距离通信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492615" y="377571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跳频模式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317355" y="4013835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BR/EDR 与 LE</a:t>
            </a:r>
          </a:p>
        </p:txBody>
      </p:sp>
      <p:sp>
        <p:nvSpPr>
          <p:cNvPr id="37" name="Freeform 37"/>
          <p:cNvSpPr/>
          <p:nvPr/>
        </p:nvSpPr>
        <p:spPr>
          <a:xfrm>
            <a:off x="571500" y="476250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857250"/>
                </a:lnTo>
                <a:cubicBezTo>
                  <a:pt x="11049000" y="909855"/>
                  <a:pt x="11006355" y="952500"/>
                  <a:pt x="10953750" y="952500"/>
                </a:cubicBezTo>
                <a:lnTo>
                  <a:pt x="95250" y="952500"/>
                </a:lnTo>
                <a:cubicBezTo>
                  <a:pt x="42645" y="952500"/>
                  <a:pt x="0" y="909855"/>
                  <a:pt x="0" y="85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4904970" y="4679156"/>
            <a:ext cx="2382060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~12,000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645087" y="5378768"/>
            <a:ext cx="9018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BBDEFB"/>
                </a:solidFill>
                <a:latin typeface="Arial"/>
                <a:ea typeface="Microsoft YaHei"/>
                <a:cs typeface="Arial"/>
              </a:rPr>
              <a:t>RF 场景数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651939" y="4679156"/>
            <a:ext cx="2888123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~625,000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198715" y="5378768"/>
            <a:ext cx="11285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BBDEFB"/>
                </a:solidFill>
                <a:latin typeface="Arial"/>
                <a:ea typeface="Microsoft YaHei"/>
                <a:cs typeface="Arial"/>
              </a:rPr>
              <a:t>指令-答案对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869653" y="4679156"/>
            <a:ext cx="452693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017520" y="53787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BBDEFB"/>
                </a:solidFill>
                <a:latin typeface="Arial"/>
                <a:ea typeface="Microsoft YaHei"/>
                <a:cs typeface="Arial"/>
              </a:rPr>
              <a:t>人工标注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RF-GPT Presentation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07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559689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自动化标注与指令合成管线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333500"/>
            <a:ext cx="2095500" cy="1143000"/>
          </a:xfrm>
          <a:custGeom>
            <a:avLst/>
            <a:gdLst/>
            <a:ahLst/>
            <a:cxnLst/>
            <a:rect l="l" t="t" r="r" b="b"/>
            <a:pathLst>
              <a:path w="2095500" h="1143000">
                <a:moveTo>
                  <a:pt x="95250" y="0"/>
                </a:moveTo>
                <a:lnTo>
                  <a:pt x="2000250" y="0"/>
                </a:lnTo>
                <a:cubicBezTo>
                  <a:pt x="2052855" y="0"/>
                  <a:pt x="2095500" y="42645"/>
                  <a:pt x="2095500" y="95250"/>
                </a:cubicBezTo>
                <a:lnTo>
                  <a:pt x="2095500" y="1047750"/>
                </a:lnTo>
                <a:cubicBezTo>
                  <a:pt x="2095500" y="1100355"/>
                  <a:pt x="2052855" y="1143000"/>
                  <a:pt x="2000250" y="1143000"/>
                </a:cubicBezTo>
                <a:lnTo>
                  <a:pt x="95250" y="1143000"/>
                </a:lnTo>
                <a:cubicBezTo>
                  <a:pt x="42645" y="1143000"/>
                  <a:pt x="0" y="1100355"/>
                  <a:pt x="0" y="104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188053" y="1521142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波形生成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8511" y="1791652"/>
            <a:ext cx="116147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MATLAB Toolbox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0362" y="1982152"/>
            <a:ext cx="8777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6种无线技术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5858" y="21726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标准符合验证</a:t>
            </a:r>
          </a:p>
        </p:txBody>
      </p:sp>
      <p:sp>
        <p:nvSpPr>
          <p:cNvPr id="12" name="Line 12"/>
          <p:cNvSpPr/>
          <p:nvPr/>
        </p:nvSpPr>
        <p:spPr>
          <a:xfrm>
            <a:off x="2667000" y="1905000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19050">
            <a:solidFill>
              <a:srgbClr val="1565C0"/>
            </a:solidFill>
          </a:ln>
        </p:spPr>
      </p:sp>
      <p:sp>
        <p:nvSpPr>
          <p:cNvPr id="13" name="Polygon 13"/>
          <p:cNvSpPr/>
          <p:nvPr/>
        </p:nvSpPr>
        <p:spPr>
          <a:xfrm>
            <a:off x="3143250" y="18478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4" name="Freeform 14"/>
          <p:cNvSpPr/>
          <p:nvPr/>
        </p:nvSpPr>
        <p:spPr>
          <a:xfrm>
            <a:off x="3286125" y="1333500"/>
            <a:ext cx="2095500" cy="1143000"/>
          </a:xfrm>
          <a:custGeom>
            <a:avLst/>
            <a:gdLst/>
            <a:ahLst/>
            <a:cxnLst/>
            <a:rect l="l" t="t" r="r" b="b"/>
            <a:pathLst>
              <a:path w="2095500" h="1143000">
                <a:moveTo>
                  <a:pt x="95250" y="0"/>
                </a:moveTo>
                <a:lnTo>
                  <a:pt x="2000250" y="0"/>
                </a:lnTo>
                <a:cubicBezTo>
                  <a:pt x="2052855" y="0"/>
                  <a:pt x="2095500" y="42645"/>
                  <a:pt x="2095500" y="95250"/>
                </a:cubicBezTo>
                <a:lnTo>
                  <a:pt x="2095500" y="1047750"/>
                </a:lnTo>
                <a:cubicBezTo>
                  <a:pt x="2095500" y="1100355"/>
                  <a:pt x="2052855" y="1143000"/>
                  <a:pt x="2000250" y="1143000"/>
                </a:cubicBezTo>
                <a:lnTo>
                  <a:pt x="95250" y="1143000"/>
                </a:lnTo>
                <a:cubicBezTo>
                  <a:pt x="42645" y="1143000"/>
                  <a:pt x="0" y="1100355"/>
                  <a:pt x="0" y="104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799165" y="1521142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确定性标注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37159" y="179165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元数据提取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10964" y="1982152"/>
            <a:ext cx="12458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SNR / 带宽 / 调制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657290" y="2172652"/>
            <a:ext cx="13531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完美 ground truth</a:t>
            </a:r>
          </a:p>
        </p:txBody>
      </p:sp>
      <p:sp>
        <p:nvSpPr>
          <p:cNvPr id="19" name="Line 19"/>
          <p:cNvSpPr/>
          <p:nvPr/>
        </p:nvSpPr>
        <p:spPr>
          <a:xfrm>
            <a:off x="5381625" y="1905000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19050">
            <a:solidFill>
              <a:srgbClr val="1565C0"/>
            </a:solidFill>
          </a:ln>
        </p:spPr>
      </p:sp>
      <p:sp>
        <p:nvSpPr>
          <p:cNvPr id="20" name="Polygon 20"/>
          <p:cNvSpPr/>
          <p:nvPr/>
        </p:nvSpPr>
        <p:spPr>
          <a:xfrm>
            <a:off x="5857875" y="18478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21" name="Freeform 21"/>
          <p:cNvSpPr/>
          <p:nvPr/>
        </p:nvSpPr>
        <p:spPr>
          <a:xfrm>
            <a:off x="6000750" y="1333500"/>
            <a:ext cx="2095500" cy="1143000"/>
          </a:xfrm>
          <a:custGeom>
            <a:avLst/>
            <a:gdLst/>
            <a:ahLst/>
            <a:cxnLst/>
            <a:rect l="l" t="t" r="r" b="b"/>
            <a:pathLst>
              <a:path w="2095500" h="1143000">
                <a:moveTo>
                  <a:pt x="95250" y="0"/>
                </a:moveTo>
                <a:lnTo>
                  <a:pt x="2000250" y="0"/>
                </a:lnTo>
                <a:cubicBezTo>
                  <a:pt x="2052855" y="0"/>
                  <a:pt x="2095500" y="42645"/>
                  <a:pt x="2095500" y="95250"/>
                </a:cubicBezTo>
                <a:lnTo>
                  <a:pt x="2095500" y="1047750"/>
                </a:lnTo>
                <a:cubicBezTo>
                  <a:pt x="2095500" y="1100355"/>
                  <a:pt x="2052855" y="1143000"/>
                  <a:pt x="2000250" y="1143000"/>
                </a:cubicBezTo>
                <a:lnTo>
                  <a:pt x="95250" y="1143000"/>
                </a:lnTo>
                <a:cubicBezTo>
                  <a:pt x="42645" y="1143000"/>
                  <a:pt x="0" y="1100355"/>
                  <a:pt x="0" y="104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513790" y="1521142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结构化描述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09612" y="1791652"/>
            <a:ext cx="8777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5个信息层级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322076" y="1982152"/>
            <a:ext cx="14528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摘要 / 视觉 / 上下文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75108" y="21726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密集技术描述</a:t>
            </a:r>
          </a:p>
        </p:txBody>
      </p:sp>
      <p:sp>
        <p:nvSpPr>
          <p:cNvPr id="26" name="Line 26"/>
          <p:cNvSpPr/>
          <p:nvPr/>
        </p:nvSpPr>
        <p:spPr>
          <a:xfrm>
            <a:off x="8096250" y="1905000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19050">
            <a:solidFill>
              <a:srgbClr val="1565C0"/>
            </a:solidFill>
          </a:ln>
        </p:spPr>
      </p:sp>
      <p:sp>
        <p:nvSpPr>
          <p:cNvPr id="27" name="Polygon 27"/>
          <p:cNvSpPr/>
          <p:nvPr/>
        </p:nvSpPr>
        <p:spPr>
          <a:xfrm>
            <a:off x="8572500" y="18478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8715375" y="1333500"/>
            <a:ext cx="2286000" cy="1143000"/>
          </a:xfrm>
          <a:custGeom>
            <a:avLst/>
            <a:gdLst/>
            <a:ahLst/>
            <a:cxnLst/>
            <a:rect l="l" t="t" r="r" b="b"/>
            <a:pathLst>
              <a:path w="2286000" h="1143000">
                <a:moveTo>
                  <a:pt x="95250" y="0"/>
                </a:moveTo>
                <a:lnTo>
                  <a:pt x="2190750" y="0"/>
                </a:lnTo>
                <a:cubicBezTo>
                  <a:pt x="2243355" y="0"/>
                  <a:pt x="2286000" y="42645"/>
                  <a:pt x="2286000" y="95250"/>
                </a:cubicBezTo>
                <a:lnTo>
                  <a:pt x="2286000" y="1047750"/>
                </a:lnTo>
                <a:cubicBezTo>
                  <a:pt x="2286000" y="1100355"/>
                  <a:pt x="2243355" y="1143000"/>
                  <a:pt x="2190750" y="1143000"/>
                </a:cubicBezTo>
                <a:lnTo>
                  <a:pt x="95250" y="1143000"/>
                </a:lnTo>
                <a:cubicBezTo>
                  <a:pt x="42645" y="1143000"/>
                  <a:pt x="0" y="1100355"/>
                  <a:pt x="0" y="104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204625" y="1521142"/>
            <a:ext cx="13074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LLM 指令合成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42811" y="1791652"/>
            <a:ext cx="10311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GPT-OSS-120B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392650" y="1982152"/>
            <a:ext cx="9314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多样化 QA 对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074444" y="2172652"/>
            <a:ext cx="1567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计数/分类/重叠/JSON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41045" y="2774632"/>
            <a:ext cx="152214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5 个信息层级</a:t>
            </a:r>
          </a:p>
        </p:txBody>
      </p:sp>
      <p:sp>
        <p:nvSpPr>
          <p:cNvPr id="34" name="Freeform 34"/>
          <p:cNvSpPr/>
          <p:nvPr/>
        </p:nvSpPr>
        <p:spPr>
          <a:xfrm>
            <a:off x="571500" y="3143250"/>
            <a:ext cx="2095500" cy="952500"/>
          </a:xfrm>
          <a:custGeom>
            <a:avLst/>
            <a:gdLst/>
            <a:ahLst/>
            <a:cxnLst/>
            <a:rect l="l" t="t" r="r" b="b"/>
            <a:pathLst>
              <a:path w="2095500" h="95250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876300"/>
                </a:lnTo>
                <a:cubicBezTo>
                  <a:pt x="2095500" y="918384"/>
                  <a:pt x="2061384" y="952500"/>
                  <a:pt x="20193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370171" y="3267075"/>
            <a:ext cx="4981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摘要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69181" y="3553778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场景级高层描述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81004" y="3744278"/>
            <a:ext cx="12764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"5G NR下行链路…"</a:t>
            </a:r>
          </a:p>
        </p:txBody>
      </p:sp>
      <p:sp>
        <p:nvSpPr>
          <p:cNvPr id="38" name="Freeform 38"/>
          <p:cNvSpPr/>
          <p:nvPr/>
        </p:nvSpPr>
        <p:spPr>
          <a:xfrm>
            <a:off x="2809875" y="3143250"/>
            <a:ext cx="2095500" cy="952500"/>
          </a:xfrm>
          <a:custGeom>
            <a:avLst/>
            <a:gdLst/>
            <a:ahLst/>
            <a:cxnLst/>
            <a:rect l="l" t="t" r="r" b="b"/>
            <a:pathLst>
              <a:path w="2095500" h="95250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876300"/>
                </a:lnTo>
                <a:cubicBezTo>
                  <a:pt x="2095500" y="918384"/>
                  <a:pt x="2061384" y="952500"/>
                  <a:pt x="20193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378518" y="326707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全局视觉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154204" y="3553778"/>
            <a:ext cx="14068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SSB / CSI-RS / 占用</a:t>
            </a:r>
          </a:p>
        </p:txBody>
      </p:sp>
      <p:sp>
        <p:nvSpPr>
          <p:cNvPr id="41" name="Freeform 41"/>
          <p:cNvSpPr/>
          <p:nvPr/>
        </p:nvSpPr>
        <p:spPr>
          <a:xfrm>
            <a:off x="5048250" y="3143250"/>
            <a:ext cx="2095500" cy="952500"/>
          </a:xfrm>
          <a:custGeom>
            <a:avLst/>
            <a:gdLst/>
            <a:ahLst/>
            <a:cxnLst/>
            <a:rect l="l" t="t" r="r" b="b"/>
            <a:pathLst>
              <a:path w="2095500" h="95250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876300"/>
                </a:lnTo>
                <a:cubicBezTo>
                  <a:pt x="2095500" y="918384"/>
                  <a:pt x="2061384" y="952500"/>
                  <a:pt x="20193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5501878" y="3267075"/>
            <a:ext cx="11882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全局上下文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473089" y="3553778"/>
            <a:ext cx="12458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带宽 / SCS / 时长</a:t>
            </a:r>
          </a:p>
        </p:txBody>
      </p:sp>
      <p:sp>
        <p:nvSpPr>
          <p:cNvPr id="44" name="Freeform 44"/>
          <p:cNvSpPr/>
          <p:nvPr/>
        </p:nvSpPr>
        <p:spPr>
          <a:xfrm>
            <a:off x="7286625" y="3143250"/>
            <a:ext cx="2095500" cy="952500"/>
          </a:xfrm>
          <a:custGeom>
            <a:avLst/>
            <a:gdLst/>
            <a:ahLst/>
            <a:cxnLst/>
            <a:rect l="l" t="t" r="r" b="b"/>
            <a:pathLst>
              <a:path w="2095500" h="95250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876300"/>
                </a:lnTo>
                <a:cubicBezTo>
                  <a:pt x="2095500" y="918384"/>
                  <a:pt x="2061384" y="952500"/>
                  <a:pt x="20193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7855268" y="326707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信号视觉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799642" y="3553778"/>
            <a:ext cx="106946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SNR / 时频占用</a:t>
            </a:r>
          </a:p>
        </p:txBody>
      </p:sp>
      <p:sp>
        <p:nvSpPr>
          <p:cNvPr id="47" name="Freeform 47"/>
          <p:cNvSpPr/>
          <p:nvPr/>
        </p:nvSpPr>
        <p:spPr>
          <a:xfrm>
            <a:off x="9525000" y="3143250"/>
            <a:ext cx="2095500" cy="952500"/>
          </a:xfrm>
          <a:custGeom>
            <a:avLst/>
            <a:gdLst/>
            <a:ahLst/>
            <a:cxnLst/>
            <a:rect l="l" t="t" r="r" b="b"/>
            <a:pathLst>
              <a:path w="2095500" h="95250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876300"/>
                </a:lnTo>
                <a:cubicBezTo>
                  <a:pt x="2095500" y="918384"/>
                  <a:pt x="2061384" y="952500"/>
                  <a:pt x="20193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9978628" y="3267075"/>
            <a:ext cx="11882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信号上下文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976675" y="3553778"/>
            <a:ext cx="11921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DM-RS / PTRS 等</a:t>
            </a:r>
          </a:p>
        </p:txBody>
      </p:sp>
      <p:sp>
        <p:nvSpPr>
          <p:cNvPr id="50" name="Freeform 50"/>
          <p:cNvSpPr/>
          <p:nvPr/>
        </p:nvSpPr>
        <p:spPr>
          <a:xfrm>
            <a:off x="571500" y="438150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400050"/>
                </a:lnTo>
                <a:cubicBezTo>
                  <a:pt x="11049000" y="442134"/>
                  <a:pt x="11014884" y="476250"/>
                  <a:pt x="10972800" y="476250"/>
                </a:cubicBezTo>
                <a:lnTo>
                  <a:pt x="76200" y="476250"/>
                </a:lnTo>
                <a:cubicBezTo>
                  <a:pt x="34116" y="476250"/>
                  <a:pt x="0" y="442134"/>
                  <a:pt x="0" y="40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744855" y="4521518"/>
            <a:ext cx="99222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* 本文主要使用摘要、全局视觉、信号视觉三个层级；细粒度信号上下文（DM-RS/PTRS/CORESET）留待未来工作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RF-GPT Presentation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08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419371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通用VLM毫无RF先验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285875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1809750"/>
                </a:lnTo>
                <a:cubicBezTo>
                  <a:pt x="5334000" y="1862355"/>
                  <a:pt x="5291355" y="1905000"/>
                  <a:pt x="5238750" y="1905000"/>
                </a:cubicBezTo>
                <a:lnTo>
                  <a:pt x="95250" y="1905000"/>
                </a:lnTo>
                <a:cubicBezTo>
                  <a:pt x="42645" y="1905000"/>
                  <a:pt x="0" y="1862355"/>
                  <a:pt x="0" y="1809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285875"/>
            <a:ext cx="5334000" cy="47625"/>
          </a:xfrm>
          <a:custGeom>
            <a:avLst/>
            <a:gdLst/>
            <a:ahLst/>
            <a:cxnLst/>
            <a:rect l="l" t="t" r="r" b="b"/>
            <a:pathLst>
              <a:path w="5334000" h="47625">
                <a:moveTo>
                  <a:pt x="23812" y="0"/>
                </a:moveTo>
                <a:lnTo>
                  <a:pt x="5310188" y="0"/>
                </a:lnTo>
                <a:cubicBezTo>
                  <a:pt x="5323339" y="0"/>
                  <a:pt x="5334000" y="10661"/>
                  <a:pt x="5334000" y="23812"/>
                </a:cubicBezTo>
                <a:lnTo>
                  <a:pt x="5334000" y="23812"/>
                </a:lnTo>
                <a:cubicBezTo>
                  <a:pt x="5334000" y="36964"/>
                  <a:pt x="5323339" y="47625"/>
                  <a:pt x="5310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678257" y="1504950"/>
            <a:ext cx="312048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Qwen2.5-VL-7B（通用VLM）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6760" y="1823085"/>
            <a:ext cx="45083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"这个频谱图显示了多种射频信号。中央区域有几条突出的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6760" y="2013585"/>
            <a:ext cx="42542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垂直线…可能是业余电台或雷达系统的窄带传输…右侧有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6760" y="2204085"/>
            <a:ext cx="14500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较弱的弥散线条…"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4855" y="2521268"/>
            <a:ext cx="250824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→ 输出笼统、无RF具体信息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37330" y="2003584"/>
            <a:ext cx="422141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75" b="1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vs</a:t>
            </a:r>
          </a:p>
        </p:txBody>
      </p:sp>
      <p:sp>
        <p:nvSpPr>
          <p:cNvPr id="15" name="Freeform 15"/>
          <p:cNvSpPr/>
          <p:nvPr/>
        </p:nvSpPr>
        <p:spPr>
          <a:xfrm>
            <a:off x="6286500" y="1285875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1809750"/>
                </a:lnTo>
                <a:cubicBezTo>
                  <a:pt x="5334000" y="1862355"/>
                  <a:pt x="5291355" y="1905000"/>
                  <a:pt x="5238750" y="1905000"/>
                </a:cubicBezTo>
                <a:lnTo>
                  <a:pt x="95250" y="1905000"/>
                </a:lnTo>
                <a:cubicBezTo>
                  <a:pt x="42645" y="1905000"/>
                  <a:pt x="0" y="1862355"/>
                  <a:pt x="0" y="1809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16" name="Freeform 16"/>
          <p:cNvSpPr/>
          <p:nvPr/>
        </p:nvSpPr>
        <p:spPr>
          <a:xfrm>
            <a:off x="6286500" y="1285875"/>
            <a:ext cx="5334000" cy="47625"/>
          </a:xfrm>
          <a:custGeom>
            <a:avLst/>
            <a:gdLst/>
            <a:ahLst/>
            <a:cxnLst/>
            <a:rect l="l" t="t" r="r" b="b"/>
            <a:pathLst>
              <a:path w="5334000" h="47625">
                <a:moveTo>
                  <a:pt x="23812" y="0"/>
                </a:moveTo>
                <a:lnTo>
                  <a:pt x="5310188" y="0"/>
                </a:lnTo>
                <a:cubicBezTo>
                  <a:pt x="5323339" y="0"/>
                  <a:pt x="5334000" y="10661"/>
                  <a:pt x="5334000" y="23812"/>
                </a:cubicBezTo>
                <a:lnTo>
                  <a:pt x="5334000" y="23812"/>
                </a:lnTo>
                <a:cubicBezTo>
                  <a:pt x="5334000" y="36964"/>
                  <a:pt x="5323339" y="47625"/>
                  <a:pt x="5310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2E7D3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365129" y="1504950"/>
            <a:ext cx="117674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RF-GPT-7B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61760" y="1823085"/>
            <a:ext cx="430682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"该频谱图为5G NR下行链路，FR2频段。SSB采用Case 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1760" y="2013585"/>
            <a:ext cx="43769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传输模式，PDCCH活跃。未检测到CSI-RS。数据载荷占用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61760" y="2204085"/>
            <a:ext cx="29660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一个连续的PRB块，占用的带宽中等…"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59855" y="2521268"/>
            <a:ext cx="24978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→ 准确的RF-grounded回答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1045" y="3441382"/>
            <a:ext cx="206616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五大基准任务概览</a:t>
            </a:r>
          </a:p>
        </p:txBody>
      </p:sp>
      <p:sp>
        <p:nvSpPr>
          <p:cNvPr id="23" name="Freeform 23"/>
          <p:cNvSpPr/>
          <p:nvPr/>
        </p:nvSpPr>
        <p:spPr>
          <a:xfrm>
            <a:off x="571500" y="3810000"/>
            <a:ext cx="3524250" cy="857250"/>
          </a:xfrm>
          <a:custGeom>
            <a:avLst/>
            <a:gdLst/>
            <a:ahLst/>
            <a:cxnLst/>
            <a:rect l="l" t="t" r="r" b="b"/>
            <a:pathLst>
              <a:path w="3524250" h="8572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781050"/>
                </a:lnTo>
                <a:cubicBezTo>
                  <a:pt x="3524250" y="823134"/>
                  <a:pt x="3490134" y="857250"/>
                  <a:pt x="3448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704850" y="4086225"/>
            <a:ext cx="304800" cy="3048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14407" y="4156710"/>
            <a:ext cx="856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25855" y="3950018"/>
            <a:ext cx="5725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WBMC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9665" y="4220528"/>
            <a:ext cx="26259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宽带调制分类（Easy/Medium/Hard）</a:t>
            </a:r>
          </a:p>
        </p:txBody>
      </p:sp>
      <p:sp>
        <p:nvSpPr>
          <p:cNvPr id="28" name="Freeform 28"/>
          <p:cNvSpPr/>
          <p:nvPr/>
        </p:nvSpPr>
        <p:spPr>
          <a:xfrm>
            <a:off x="4333875" y="3810000"/>
            <a:ext cx="3524250" cy="857250"/>
          </a:xfrm>
          <a:custGeom>
            <a:avLst/>
            <a:gdLst/>
            <a:ahLst/>
            <a:cxnLst/>
            <a:rect l="l" t="t" r="r" b="b"/>
            <a:pathLst>
              <a:path w="3524250" h="8572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781050"/>
                </a:lnTo>
                <a:cubicBezTo>
                  <a:pt x="3524250" y="823134"/>
                  <a:pt x="3490134" y="857250"/>
                  <a:pt x="3448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4467225" y="4086225"/>
            <a:ext cx="304800" cy="3048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553779" y="4156710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888230" y="3950018"/>
            <a:ext cx="5725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WBOD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892040" y="4220528"/>
            <a:ext cx="19512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宽带重叠检测（时域/频域）</a:t>
            </a:r>
          </a:p>
        </p:txBody>
      </p:sp>
      <p:sp>
        <p:nvSpPr>
          <p:cNvPr id="33" name="Freeform 33"/>
          <p:cNvSpPr/>
          <p:nvPr/>
        </p:nvSpPr>
        <p:spPr>
          <a:xfrm>
            <a:off x="8096250" y="3810000"/>
            <a:ext cx="3524250" cy="857250"/>
          </a:xfrm>
          <a:custGeom>
            <a:avLst/>
            <a:gdLst/>
            <a:ahLst/>
            <a:cxnLst/>
            <a:rect l="l" t="t" r="r" b="b"/>
            <a:pathLst>
              <a:path w="3524250" h="8572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781050"/>
                </a:lnTo>
                <a:cubicBezTo>
                  <a:pt x="3524250" y="823134"/>
                  <a:pt x="3490134" y="857250"/>
                  <a:pt x="3448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4" name="Ellipse 34"/>
          <p:cNvSpPr/>
          <p:nvPr/>
        </p:nvSpPr>
        <p:spPr>
          <a:xfrm>
            <a:off x="8229600" y="4086225"/>
            <a:ext cx="304800" cy="3048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316154" y="4156710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650605" y="3950018"/>
            <a:ext cx="4172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WTR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654415" y="4220528"/>
            <a:ext cx="17978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无线技术识别（6种技术）</a:t>
            </a:r>
          </a:p>
        </p:txBody>
      </p:sp>
      <p:sp>
        <p:nvSpPr>
          <p:cNvPr id="38" name="Freeform 38"/>
          <p:cNvSpPr/>
          <p:nvPr/>
        </p:nvSpPr>
        <p:spPr>
          <a:xfrm>
            <a:off x="571500" y="4857750"/>
            <a:ext cx="3524250" cy="857250"/>
          </a:xfrm>
          <a:custGeom>
            <a:avLst/>
            <a:gdLst/>
            <a:ahLst/>
            <a:cxnLst/>
            <a:rect l="l" t="t" r="r" b="b"/>
            <a:pathLst>
              <a:path w="3524250" h="8572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781050"/>
                </a:lnTo>
                <a:cubicBezTo>
                  <a:pt x="3524250" y="823134"/>
                  <a:pt x="3490134" y="857250"/>
                  <a:pt x="3448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9" name="Ellipse 39"/>
          <p:cNvSpPr/>
          <p:nvPr/>
        </p:nvSpPr>
        <p:spPr>
          <a:xfrm>
            <a:off x="704850" y="5133975"/>
            <a:ext cx="304800" cy="3048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91404" y="5204460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25855" y="4997768"/>
            <a:ext cx="5311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WNUC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29665" y="5268278"/>
            <a:ext cx="11614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WLAN用户数估计</a:t>
            </a:r>
          </a:p>
        </p:txBody>
      </p:sp>
      <p:sp>
        <p:nvSpPr>
          <p:cNvPr id="43" name="Freeform 43"/>
          <p:cNvSpPr/>
          <p:nvPr/>
        </p:nvSpPr>
        <p:spPr>
          <a:xfrm>
            <a:off x="4333875" y="4857750"/>
            <a:ext cx="3524250" cy="857250"/>
          </a:xfrm>
          <a:custGeom>
            <a:avLst/>
            <a:gdLst/>
            <a:ahLst/>
            <a:cxnLst/>
            <a:rect l="l" t="t" r="r" b="b"/>
            <a:pathLst>
              <a:path w="3524250" h="8572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781050"/>
                </a:lnTo>
                <a:cubicBezTo>
                  <a:pt x="3524250" y="823134"/>
                  <a:pt x="3490134" y="857250"/>
                  <a:pt x="3448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4" name="Ellipse 44"/>
          <p:cNvSpPr/>
          <p:nvPr/>
        </p:nvSpPr>
        <p:spPr>
          <a:xfrm>
            <a:off x="4467225" y="5133975"/>
            <a:ext cx="304800" cy="3048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4553779" y="5204460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888230" y="4997768"/>
            <a:ext cx="43799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NRIE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892040" y="5268278"/>
            <a:ext cx="102346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5G NR信息提取</a:t>
            </a:r>
          </a:p>
        </p:txBody>
      </p:sp>
      <p:sp>
        <p:nvSpPr>
          <p:cNvPr id="48" name="Freeform 48"/>
          <p:cNvSpPr/>
          <p:nvPr/>
        </p:nvSpPr>
        <p:spPr>
          <a:xfrm>
            <a:off x="8096250" y="4857750"/>
            <a:ext cx="3524250" cy="857250"/>
          </a:xfrm>
          <a:custGeom>
            <a:avLst/>
            <a:gdLst/>
            <a:ahLst/>
            <a:cxnLst/>
            <a:rect l="l" t="t" r="r" b="b"/>
            <a:pathLst>
              <a:path w="3524250" h="8572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781050"/>
                </a:lnTo>
                <a:cubicBezTo>
                  <a:pt x="3524250" y="823134"/>
                  <a:pt x="3490134" y="857250"/>
                  <a:pt x="3448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3E0"/>
          </a:solidFill>
          <a:ln w="9525">
            <a:solidFill>
              <a:srgbClr val="FF6F00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9235679" y="5045392"/>
            <a:ext cx="124539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通用VLM表现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795956" y="5347335"/>
            <a:ext cx="21248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全部接近随机猜测（&lt;10%）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RF-GPT Presentation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09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513683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调制分类与重叠检测结果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39140" y="1282065"/>
            <a:ext cx="273705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WBMC — 宽带调制分类</a:t>
            </a:r>
          </a:p>
        </p:txBody>
      </p:sp>
      <p:sp>
        <p:nvSpPr>
          <p:cNvPr id="8" name="Freeform 8"/>
          <p:cNvSpPr/>
          <p:nvPr/>
        </p:nvSpPr>
        <p:spPr>
          <a:xfrm>
            <a:off x="571500" y="166687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014329" y="1778318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任务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156330" y="1778318"/>
            <a:ext cx="831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通用VLM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994966" y="1778318"/>
            <a:ext cx="10590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RF-GPT-7B</a:t>
            </a:r>
          </a:p>
        </p:txBody>
      </p:sp>
      <p:sp>
        <p:nvSpPr>
          <p:cNvPr id="12" name="Freeform 12"/>
          <p:cNvSpPr/>
          <p:nvPr/>
        </p:nvSpPr>
        <p:spPr>
          <a:xfrm>
            <a:off x="571500" y="206692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316355" y="2178368"/>
            <a:ext cx="18482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Easy（识别调制族）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37971" y="2178368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7.0%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222694" y="2178368"/>
            <a:ext cx="6036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82.4%</a:t>
            </a:r>
          </a:p>
        </p:txBody>
      </p:sp>
      <p:sp>
        <p:nvSpPr>
          <p:cNvPr id="16" name="Freeform 16"/>
          <p:cNvSpPr/>
          <p:nvPr/>
        </p:nvSpPr>
        <p:spPr>
          <a:xfrm>
            <a:off x="571500" y="246697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316355" y="2578418"/>
            <a:ext cx="209469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Medium（精确调制类）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37971" y="2578418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5.3%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222694" y="2578418"/>
            <a:ext cx="6036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74.2%</a:t>
            </a:r>
          </a:p>
        </p:txBody>
      </p:sp>
      <p:sp>
        <p:nvSpPr>
          <p:cNvPr id="20" name="Freeform 20"/>
          <p:cNvSpPr/>
          <p:nvPr/>
        </p:nvSpPr>
        <p:spPr>
          <a:xfrm>
            <a:off x="571500" y="286702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316355" y="2978468"/>
            <a:ext cx="18482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Hard（全列表识别）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337971" y="2978468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3.0%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222694" y="2978468"/>
            <a:ext cx="6036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47.8%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8665" y="3363278"/>
            <a:ext cx="400616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RF-GPT识别信号数量准确率 ≈ 98%，通用VLM几乎全部失败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096000" y="1333500"/>
            <a:ext cx="9525" cy="4857750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454140" y="1282065"/>
            <a:ext cx="273705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WBOD — 宽带重叠检测</a:t>
            </a:r>
          </a:p>
        </p:txBody>
      </p:sp>
      <p:sp>
        <p:nvSpPr>
          <p:cNvPr id="27" name="Freeform 27"/>
          <p:cNvSpPr/>
          <p:nvPr/>
        </p:nvSpPr>
        <p:spPr>
          <a:xfrm>
            <a:off x="6286500" y="166687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729329" y="1778318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任务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871330" y="1778318"/>
            <a:ext cx="831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通用VLM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709966" y="1778318"/>
            <a:ext cx="10590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RF-GPT-7B</a:t>
            </a:r>
          </a:p>
        </p:txBody>
      </p:sp>
      <p:sp>
        <p:nvSpPr>
          <p:cNvPr id="31" name="Freeform 31"/>
          <p:cNvSpPr/>
          <p:nvPr/>
        </p:nvSpPr>
        <p:spPr>
          <a:xfrm>
            <a:off x="6286500" y="206692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031355" y="2178368"/>
            <a:ext cx="20453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Easy（全局重叠类别）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052971" y="2178368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~25%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963573" y="2178368"/>
            <a:ext cx="5518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91.5%</a:t>
            </a:r>
          </a:p>
        </p:txBody>
      </p:sp>
      <p:sp>
        <p:nvSpPr>
          <p:cNvPr id="35" name="Freeform 35"/>
          <p:cNvSpPr/>
          <p:nvPr/>
        </p:nvSpPr>
        <p:spPr>
          <a:xfrm>
            <a:off x="6286500" y="246697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7031355" y="2578418"/>
            <a:ext cx="22918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Medium（成对重叠类别）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052971" y="2578418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~30%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937694" y="2578418"/>
            <a:ext cx="6036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87.6%</a:t>
            </a:r>
          </a:p>
        </p:txBody>
      </p:sp>
      <p:sp>
        <p:nvSpPr>
          <p:cNvPr id="39" name="Freeform 39"/>
          <p:cNvSpPr/>
          <p:nvPr/>
        </p:nvSpPr>
        <p:spPr>
          <a:xfrm>
            <a:off x="6286500" y="286702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031355" y="2978468"/>
            <a:ext cx="20453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Hard（重叠程度量化）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077617" y="2978468"/>
            <a:ext cx="4187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~12%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963573" y="2978468"/>
            <a:ext cx="5518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71.7%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463665" y="3363278"/>
            <a:ext cx="29327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通用VLM倾向于预测"无重叠"造成偏低分数</a:t>
            </a:r>
          </a:p>
        </p:txBody>
      </p:sp>
      <p:sp>
        <p:nvSpPr>
          <p:cNvPr id="44" name="Freeform 44"/>
          <p:cNvSpPr/>
          <p:nvPr/>
        </p:nvSpPr>
        <p:spPr>
          <a:xfrm>
            <a:off x="571500" y="5715000"/>
            <a:ext cx="11049000" cy="571500"/>
          </a:xfrm>
          <a:custGeom>
            <a:avLst/>
            <a:gdLst/>
            <a:ahLst/>
            <a:cxnLst/>
            <a:rect l="l" t="t" r="r" b="b"/>
            <a:pathLst>
              <a:path w="11049000" h="571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495300"/>
                </a:lnTo>
                <a:cubicBezTo>
                  <a:pt x="11049000" y="537384"/>
                  <a:pt x="11014884" y="571500"/>
                  <a:pt x="109728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2599134" y="5886450"/>
            <a:ext cx="69937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RF-GPT 在两大基准上全面超越通用 VLM，且在信号数量识别上近乎完美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RF-GPT Presentation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615452" y="67036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10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7161086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技术识别 / 用户计数 / NR信息提取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285875"/>
            <a:ext cx="3524250" cy="4953000"/>
          </a:xfrm>
          <a:custGeom>
            <a:avLst/>
            <a:gdLst/>
            <a:ahLst/>
            <a:cxnLst/>
            <a:rect l="l" t="t" r="r" b="b"/>
            <a:pathLst>
              <a:path w="3524250" h="4953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857750"/>
                </a:lnTo>
                <a:cubicBezTo>
                  <a:pt x="3524250" y="4910355"/>
                  <a:pt x="3481605" y="4953000"/>
                  <a:pt x="3429000" y="4953000"/>
                </a:cubicBezTo>
                <a:lnTo>
                  <a:pt x="95250" y="4953000"/>
                </a:lnTo>
                <a:cubicBezTo>
                  <a:pt x="42645" y="4953000"/>
                  <a:pt x="0" y="4910355"/>
                  <a:pt x="0" y="485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285875"/>
            <a:ext cx="3524250" cy="1714500"/>
          </a:xfrm>
          <a:custGeom>
            <a:avLst/>
            <a:gdLst/>
            <a:ahLst/>
            <a:cxnLst/>
            <a:rect l="l" t="t" r="r" b="b"/>
            <a:pathLst>
              <a:path w="3524250" h="17145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619250"/>
                </a:lnTo>
                <a:cubicBezTo>
                  <a:pt x="3524250" y="1671855"/>
                  <a:pt x="3481605" y="1714500"/>
                  <a:pt x="342900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2905125"/>
            <a:ext cx="3524250" cy="95250"/>
          </a:xfrm>
          <a:prstGeom prst="rect">
            <a:avLst/>
          </a:prstGeom>
          <a:solidFill>
            <a:srgbClr val="E3F2FD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055433" y="1663065"/>
            <a:ext cx="55638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WTR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24978" y="1997392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无线技术识别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37482" y="2221706"/>
            <a:ext cx="2192286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99.64%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2480" y="3140392"/>
            <a:ext cx="16283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6种技术 + 上下行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385" y="3442335"/>
            <a:ext cx="15815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5G NR / LTE / UMTS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4385" y="3661410"/>
            <a:ext cx="225628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WLAN / DVB-S2 / Bluetooth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4385" y="4013835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混淆矩阵近乎完美对角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4385" y="4232910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各类别间几乎无混淆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6290" y="4601528"/>
            <a:ext cx="1705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通用VLM: 仅 ~5% 准确率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6290" y="4792028"/>
            <a:ext cx="18132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（严重偏向 LTE DL 预测）</a:t>
            </a:r>
          </a:p>
        </p:txBody>
      </p:sp>
      <p:sp>
        <p:nvSpPr>
          <p:cNvPr id="20" name="Freeform 20"/>
          <p:cNvSpPr/>
          <p:nvPr/>
        </p:nvSpPr>
        <p:spPr>
          <a:xfrm>
            <a:off x="4333875" y="1285875"/>
            <a:ext cx="3524250" cy="4953000"/>
          </a:xfrm>
          <a:custGeom>
            <a:avLst/>
            <a:gdLst/>
            <a:ahLst/>
            <a:cxnLst/>
            <a:rect l="l" t="t" r="r" b="b"/>
            <a:pathLst>
              <a:path w="3524250" h="4953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857750"/>
                </a:lnTo>
                <a:cubicBezTo>
                  <a:pt x="3524250" y="4910355"/>
                  <a:pt x="3481605" y="4953000"/>
                  <a:pt x="3429000" y="4953000"/>
                </a:cubicBezTo>
                <a:lnTo>
                  <a:pt x="95250" y="4953000"/>
                </a:lnTo>
                <a:cubicBezTo>
                  <a:pt x="42645" y="4953000"/>
                  <a:pt x="0" y="4910355"/>
                  <a:pt x="0" y="485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1" name="Freeform 21"/>
          <p:cNvSpPr/>
          <p:nvPr/>
        </p:nvSpPr>
        <p:spPr>
          <a:xfrm>
            <a:off x="4333875" y="1285875"/>
            <a:ext cx="3524250" cy="1714500"/>
          </a:xfrm>
          <a:custGeom>
            <a:avLst/>
            <a:gdLst/>
            <a:ahLst/>
            <a:cxnLst/>
            <a:rect l="l" t="t" r="r" b="b"/>
            <a:pathLst>
              <a:path w="3524250" h="17145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619250"/>
                </a:lnTo>
                <a:cubicBezTo>
                  <a:pt x="3524250" y="1671855"/>
                  <a:pt x="3481605" y="1714500"/>
                  <a:pt x="342900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4333875" y="2905125"/>
            <a:ext cx="3524250" cy="95250"/>
          </a:xfrm>
          <a:prstGeom prst="rect">
            <a:avLst/>
          </a:prstGeom>
          <a:solidFill>
            <a:srgbClr val="FFF3E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741899" y="1663065"/>
            <a:ext cx="70820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WNUC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349335" y="1997392"/>
            <a:ext cx="14933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WLAN用户数估计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078929" y="2221706"/>
            <a:ext cx="2034141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70.17%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54855" y="3140392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11be 优于 11ax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56760" y="3442335"/>
            <a:ext cx="155524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11ax 使用 MU-MIMO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56760" y="366141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用户视觉重叠严重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56760" y="4013835"/>
            <a:ext cx="15464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Easy: 88.1% (11be)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56760" y="4232910"/>
            <a:ext cx="159029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Hard: 74.3% (11be)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558665" y="4601528"/>
            <a:ext cx="128416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通用VLM: 仅 ~23%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558665" y="4792028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（依赖简单启发式）</a:t>
            </a:r>
          </a:p>
        </p:txBody>
      </p:sp>
      <p:sp>
        <p:nvSpPr>
          <p:cNvPr id="33" name="Freeform 33"/>
          <p:cNvSpPr/>
          <p:nvPr/>
        </p:nvSpPr>
        <p:spPr>
          <a:xfrm>
            <a:off x="8096250" y="1285875"/>
            <a:ext cx="3524250" cy="4953000"/>
          </a:xfrm>
          <a:custGeom>
            <a:avLst/>
            <a:gdLst/>
            <a:ahLst/>
            <a:cxnLst/>
            <a:rect l="l" t="t" r="r" b="b"/>
            <a:pathLst>
              <a:path w="3524250" h="4953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857750"/>
                </a:lnTo>
                <a:cubicBezTo>
                  <a:pt x="3524250" y="4910355"/>
                  <a:pt x="3481605" y="4953000"/>
                  <a:pt x="3429000" y="4953000"/>
                </a:cubicBezTo>
                <a:lnTo>
                  <a:pt x="95250" y="4953000"/>
                </a:lnTo>
                <a:cubicBezTo>
                  <a:pt x="42645" y="4953000"/>
                  <a:pt x="0" y="4910355"/>
                  <a:pt x="0" y="485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4" name="Freeform 34"/>
          <p:cNvSpPr/>
          <p:nvPr/>
        </p:nvSpPr>
        <p:spPr>
          <a:xfrm>
            <a:off x="8096250" y="1285875"/>
            <a:ext cx="3524250" cy="1714500"/>
          </a:xfrm>
          <a:custGeom>
            <a:avLst/>
            <a:gdLst/>
            <a:ahLst/>
            <a:cxnLst/>
            <a:rect l="l" t="t" r="r" b="b"/>
            <a:pathLst>
              <a:path w="3524250" h="17145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619250"/>
                </a:lnTo>
                <a:cubicBezTo>
                  <a:pt x="3524250" y="1671855"/>
                  <a:pt x="3481605" y="1714500"/>
                  <a:pt x="342900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8096250" y="2905125"/>
            <a:ext cx="3524250" cy="95250"/>
          </a:xfrm>
          <a:prstGeom prst="rect">
            <a:avLst/>
          </a:prstGeom>
          <a:solidFill>
            <a:srgbClr val="E8F5E9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9566381" y="1663065"/>
            <a:ext cx="58398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NRIE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200436" y="1997392"/>
            <a:ext cx="13158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5G NR信息提取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317230" y="3140392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关键指标</a:t>
            </a:r>
          </a:p>
        </p:txBody>
      </p:sp>
      <p:sp>
        <p:nvSpPr>
          <p:cNvPr id="39" name="Freeform 39"/>
          <p:cNvSpPr/>
          <p:nvPr/>
        </p:nvSpPr>
        <p:spPr>
          <a:xfrm>
            <a:off x="8334375" y="3429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462010" y="3528060"/>
            <a:ext cx="7227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SCS 识别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514290" y="3511868"/>
            <a:ext cx="5518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99.1%</a:t>
            </a:r>
          </a:p>
        </p:txBody>
      </p:sp>
      <p:sp>
        <p:nvSpPr>
          <p:cNvPr id="42" name="Freeform 42"/>
          <p:cNvSpPr/>
          <p:nvPr/>
        </p:nvSpPr>
        <p:spPr>
          <a:xfrm>
            <a:off x="8334375" y="3810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462010" y="3909060"/>
            <a:ext cx="107327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SSB 模式识别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462534" y="3892868"/>
            <a:ext cx="6036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98.2%</a:t>
            </a:r>
          </a:p>
        </p:txBody>
      </p:sp>
      <p:sp>
        <p:nvSpPr>
          <p:cNvPr id="45" name="Freeform 45"/>
          <p:cNvSpPr/>
          <p:nvPr/>
        </p:nvSpPr>
        <p:spPr>
          <a:xfrm>
            <a:off x="8334375" y="4191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462010" y="4290060"/>
            <a:ext cx="6263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UE 计数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538936" y="4273868"/>
            <a:ext cx="5272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69.1%</a:t>
            </a:r>
          </a:p>
        </p:txBody>
      </p:sp>
      <p:sp>
        <p:nvSpPr>
          <p:cNvPr id="48" name="Freeform 48"/>
          <p:cNvSpPr/>
          <p:nvPr/>
        </p:nvSpPr>
        <p:spPr>
          <a:xfrm>
            <a:off x="8334375" y="4572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8462010" y="4671060"/>
            <a:ext cx="96812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CSI-RS 计数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489644" y="4654868"/>
            <a:ext cx="5765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57.2%</a:t>
            </a:r>
          </a:p>
        </p:txBody>
      </p:sp>
      <p:sp>
        <p:nvSpPr>
          <p:cNvPr id="51" name="Freeform 51"/>
          <p:cNvSpPr/>
          <p:nvPr/>
        </p:nvSpPr>
        <p:spPr>
          <a:xfrm>
            <a:off x="8334375" y="4953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8462010" y="5052060"/>
            <a:ext cx="7227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SRS 计数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489644" y="5035868"/>
            <a:ext cx="5765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59.2%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321040" y="5458778"/>
            <a:ext cx="14375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通用VLM: 平均 ~20%</a:t>
            </a:r>
          </a:p>
        </p:txBody>
      </p:sp>
      <p:sp>
        <p:nvSpPr>
          <p:cNvPr id="55" name="Rectangle 55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RF-GPT Presentation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648313" y="6703695"/>
            <a:ext cx="3646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11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283654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消融实验要点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285875"/>
            <a:ext cx="3524250" cy="4953000"/>
          </a:xfrm>
          <a:custGeom>
            <a:avLst/>
            <a:gdLst/>
            <a:ahLst/>
            <a:cxnLst/>
            <a:rect l="l" t="t" r="r" b="b"/>
            <a:pathLst>
              <a:path w="3524250" h="4953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857750"/>
                </a:lnTo>
                <a:cubicBezTo>
                  <a:pt x="3524250" y="4910355"/>
                  <a:pt x="3481605" y="4953000"/>
                  <a:pt x="3429000" y="4953000"/>
                </a:cubicBezTo>
                <a:lnTo>
                  <a:pt x="95250" y="4953000"/>
                </a:lnTo>
                <a:cubicBezTo>
                  <a:pt x="42645" y="4953000"/>
                  <a:pt x="0" y="4910355"/>
                  <a:pt x="0" y="485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285875"/>
            <a:ext cx="3524250" cy="1238250"/>
          </a:xfrm>
          <a:custGeom>
            <a:avLst/>
            <a:gdLst/>
            <a:ahLst/>
            <a:cxnLst/>
            <a:rect l="l" t="t" r="r" b="b"/>
            <a:pathLst>
              <a:path w="3524250" h="12382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143000"/>
                </a:lnTo>
                <a:cubicBezTo>
                  <a:pt x="3524250" y="1195605"/>
                  <a:pt x="3481605" y="1238250"/>
                  <a:pt x="342900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2428875"/>
            <a:ext cx="3524250" cy="952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620679" y="1567815"/>
            <a:ext cx="14258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鲁棒性分析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33322" y="1946910"/>
            <a:ext cx="1800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BBDEFB"/>
                </a:solidFill>
                <a:latin typeface="Arial"/>
                <a:ea typeface="Microsoft YaHei"/>
                <a:cs typeface="Arial"/>
              </a:rPr>
              <a:t>对常见RF损伤的抵抗力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2480" y="2664142"/>
            <a:ext cx="172155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测试 4 种损伤类型</a:t>
            </a:r>
          </a:p>
        </p:txBody>
      </p:sp>
      <p:sp>
        <p:nvSpPr>
          <p:cNvPr id="13" name="Freeform 13"/>
          <p:cNvSpPr/>
          <p:nvPr/>
        </p:nvSpPr>
        <p:spPr>
          <a:xfrm>
            <a:off x="809625" y="3048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37260" y="3147060"/>
            <a:ext cx="14062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CFO（载波频偏）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27960" y="3147060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几乎无影响</a:t>
            </a:r>
          </a:p>
        </p:txBody>
      </p:sp>
      <p:sp>
        <p:nvSpPr>
          <p:cNvPr id="16" name="Freeform 16"/>
          <p:cNvSpPr/>
          <p:nvPr/>
        </p:nvSpPr>
        <p:spPr>
          <a:xfrm>
            <a:off x="809625" y="3429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37260" y="3528060"/>
            <a:ext cx="14500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PA（功放非线性）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253740" y="3528060"/>
            <a:ext cx="3810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微降</a:t>
            </a:r>
          </a:p>
        </p:txBody>
      </p:sp>
      <p:sp>
        <p:nvSpPr>
          <p:cNvPr id="19" name="Freeform 19"/>
          <p:cNvSpPr/>
          <p:nvPr/>
        </p:nvSpPr>
        <p:spPr>
          <a:xfrm>
            <a:off x="809625" y="3810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37260" y="3909060"/>
            <a:ext cx="137121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TDL（多径信道）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903220" y="39090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中等下降</a:t>
            </a:r>
          </a:p>
        </p:txBody>
      </p:sp>
      <p:sp>
        <p:nvSpPr>
          <p:cNvPr id="22" name="Freeform 22"/>
          <p:cNvSpPr/>
          <p:nvPr/>
        </p:nvSpPr>
        <p:spPr>
          <a:xfrm>
            <a:off x="809625" y="4191000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38100" y="0"/>
                </a:moveTo>
                <a:lnTo>
                  <a:pt x="3009900" y="0"/>
                </a:lnTo>
                <a:cubicBezTo>
                  <a:pt x="3030942" y="0"/>
                  <a:pt x="3048000" y="17058"/>
                  <a:pt x="3048000" y="38100"/>
                </a:cubicBezTo>
                <a:lnTo>
                  <a:pt x="3048000" y="295275"/>
                </a:lnTo>
                <a:cubicBezTo>
                  <a:pt x="3048000" y="316317"/>
                  <a:pt x="3030942" y="333375"/>
                  <a:pt x="3009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37260" y="4290060"/>
            <a:ext cx="7928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IQ 不平衡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447544" y="4290060"/>
            <a:ext cx="11871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最严重 (-6pp)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6290" y="4744402"/>
            <a:ext cx="23346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IQ不平衡产生镜像频率成分，直接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96290" y="491585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干扰视觉结构计数能力</a:t>
            </a:r>
          </a:p>
        </p:txBody>
      </p:sp>
      <p:sp>
        <p:nvSpPr>
          <p:cNvPr id="27" name="Freeform 27"/>
          <p:cNvSpPr/>
          <p:nvPr/>
        </p:nvSpPr>
        <p:spPr>
          <a:xfrm>
            <a:off x="4333875" y="1285875"/>
            <a:ext cx="3524250" cy="4953000"/>
          </a:xfrm>
          <a:custGeom>
            <a:avLst/>
            <a:gdLst/>
            <a:ahLst/>
            <a:cxnLst/>
            <a:rect l="l" t="t" r="r" b="b"/>
            <a:pathLst>
              <a:path w="3524250" h="4953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857750"/>
                </a:lnTo>
                <a:cubicBezTo>
                  <a:pt x="3524250" y="4910355"/>
                  <a:pt x="3481605" y="4953000"/>
                  <a:pt x="3429000" y="4953000"/>
                </a:cubicBezTo>
                <a:lnTo>
                  <a:pt x="95250" y="4953000"/>
                </a:lnTo>
                <a:cubicBezTo>
                  <a:pt x="42645" y="4953000"/>
                  <a:pt x="0" y="4910355"/>
                  <a:pt x="0" y="485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4333875" y="1285875"/>
            <a:ext cx="3524250" cy="1238250"/>
          </a:xfrm>
          <a:custGeom>
            <a:avLst/>
            <a:gdLst/>
            <a:ahLst/>
            <a:cxnLst/>
            <a:rect l="l" t="t" r="r" b="b"/>
            <a:pathLst>
              <a:path w="3524250" h="12382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143000"/>
                </a:lnTo>
                <a:cubicBezTo>
                  <a:pt x="3524250" y="1195605"/>
                  <a:pt x="3481605" y="1238250"/>
                  <a:pt x="342900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D47A1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4333875" y="2428875"/>
            <a:ext cx="3524250" cy="95250"/>
          </a:xfrm>
          <a:prstGeom prst="rect">
            <a:avLst/>
          </a:prstGeom>
          <a:solidFill>
            <a:srgbClr val="0D47A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713670" y="1567815"/>
            <a:ext cx="276466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vs CNN/Transformer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305234" y="1946910"/>
            <a:ext cx="15815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BBDEFB"/>
                </a:solidFill>
                <a:latin typeface="Arial"/>
                <a:ea typeface="Microsoft YaHei"/>
                <a:cs typeface="Arial"/>
              </a:rPr>
              <a:t>与非LLM基线的对比</a:t>
            </a:r>
          </a:p>
        </p:txBody>
      </p:sp>
      <p:sp>
        <p:nvSpPr>
          <p:cNvPr id="32" name="Freeform 32"/>
          <p:cNvSpPr/>
          <p:nvPr/>
        </p:nvSpPr>
        <p:spPr>
          <a:xfrm>
            <a:off x="4572000" y="2667000"/>
            <a:ext cx="3048000" cy="476250"/>
          </a:xfrm>
          <a:custGeom>
            <a:avLst/>
            <a:gdLst/>
            <a:ahLst/>
            <a:cxnLst/>
            <a:rect l="l" t="t" r="r" b="b"/>
            <a:pathLst>
              <a:path w="3048000" h="476250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419100"/>
                </a:lnTo>
                <a:cubicBezTo>
                  <a:pt x="3048000" y="450663"/>
                  <a:pt x="3022413" y="476250"/>
                  <a:pt x="2990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932557" y="2771775"/>
            <a:ext cx="23268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RF-GPT-7B (3 epoch)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504358" y="3073718"/>
            <a:ext cx="11832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76.96% NRIE</a:t>
            </a:r>
          </a:p>
        </p:txBody>
      </p:sp>
      <p:sp>
        <p:nvSpPr>
          <p:cNvPr id="35" name="Freeform 35"/>
          <p:cNvSpPr/>
          <p:nvPr/>
        </p:nvSpPr>
        <p:spPr>
          <a:xfrm>
            <a:off x="4572000" y="3476625"/>
            <a:ext cx="3048000" cy="476250"/>
          </a:xfrm>
          <a:custGeom>
            <a:avLst/>
            <a:gdLst/>
            <a:ahLst/>
            <a:cxnLst/>
            <a:rect l="l" t="t" r="r" b="b"/>
            <a:pathLst>
              <a:path w="3048000" h="476250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419100"/>
                </a:lnTo>
                <a:cubicBezTo>
                  <a:pt x="3048000" y="450663"/>
                  <a:pt x="3022413" y="476250"/>
                  <a:pt x="2990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B0BEC5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5285256" y="3597592"/>
            <a:ext cx="16214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ViT-H (30 epoch)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753529" y="3788092"/>
            <a:ext cx="68494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76.39%</a:t>
            </a:r>
          </a:p>
        </p:txBody>
      </p:sp>
      <p:sp>
        <p:nvSpPr>
          <p:cNvPr id="38" name="Freeform 38"/>
          <p:cNvSpPr/>
          <p:nvPr/>
        </p:nvSpPr>
        <p:spPr>
          <a:xfrm>
            <a:off x="4572000" y="4048125"/>
            <a:ext cx="3048000" cy="476250"/>
          </a:xfrm>
          <a:custGeom>
            <a:avLst/>
            <a:gdLst/>
            <a:ahLst/>
            <a:cxnLst/>
            <a:rect l="l" t="t" r="r" b="b"/>
            <a:pathLst>
              <a:path w="3048000" h="476250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419100"/>
                </a:lnTo>
                <a:cubicBezTo>
                  <a:pt x="3048000" y="450663"/>
                  <a:pt x="3022413" y="476250"/>
                  <a:pt x="2990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B0BEC5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5285256" y="4169092"/>
            <a:ext cx="16214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ViT-B (30 epoch)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753529" y="4359592"/>
            <a:ext cx="68494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72.34%</a:t>
            </a:r>
          </a:p>
        </p:txBody>
      </p:sp>
      <p:sp>
        <p:nvSpPr>
          <p:cNvPr id="41" name="Freeform 41"/>
          <p:cNvSpPr/>
          <p:nvPr/>
        </p:nvSpPr>
        <p:spPr>
          <a:xfrm>
            <a:off x="4572000" y="4619625"/>
            <a:ext cx="3048000" cy="476250"/>
          </a:xfrm>
          <a:custGeom>
            <a:avLst/>
            <a:gdLst/>
            <a:ahLst/>
            <a:cxnLst/>
            <a:rect l="l" t="t" r="r" b="b"/>
            <a:pathLst>
              <a:path w="3048000" h="476250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419100"/>
                </a:lnTo>
                <a:cubicBezTo>
                  <a:pt x="3048000" y="450663"/>
                  <a:pt x="3022413" y="476250"/>
                  <a:pt x="2990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B0BEC5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4930354" y="4740592"/>
            <a:ext cx="233129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EfficientNet (30 epoch)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753529" y="4931092"/>
            <a:ext cx="68494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70.85%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558665" y="5411152"/>
            <a:ext cx="22426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RF-GPT-7B 仅用 3 epoch 即超越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558665" y="5582602"/>
            <a:ext cx="21659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ViT-H 30 epoch，数据效率极高</a:t>
            </a:r>
          </a:p>
        </p:txBody>
      </p:sp>
      <p:sp>
        <p:nvSpPr>
          <p:cNvPr id="46" name="Freeform 46"/>
          <p:cNvSpPr/>
          <p:nvPr/>
        </p:nvSpPr>
        <p:spPr>
          <a:xfrm>
            <a:off x="8096250" y="1285875"/>
            <a:ext cx="3524250" cy="4953000"/>
          </a:xfrm>
          <a:custGeom>
            <a:avLst/>
            <a:gdLst/>
            <a:ahLst/>
            <a:cxnLst/>
            <a:rect l="l" t="t" r="r" b="b"/>
            <a:pathLst>
              <a:path w="3524250" h="4953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857750"/>
                </a:lnTo>
                <a:cubicBezTo>
                  <a:pt x="3524250" y="4910355"/>
                  <a:pt x="3481605" y="4953000"/>
                  <a:pt x="3429000" y="4953000"/>
                </a:cubicBezTo>
                <a:lnTo>
                  <a:pt x="95250" y="4953000"/>
                </a:lnTo>
                <a:cubicBezTo>
                  <a:pt x="42645" y="4953000"/>
                  <a:pt x="0" y="4910355"/>
                  <a:pt x="0" y="485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7" name="Freeform 47"/>
          <p:cNvSpPr/>
          <p:nvPr/>
        </p:nvSpPr>
        <p:spPr>
          <a:xfrm>
            <a:off x="8096250" y="1285875"/>
            <a:ext cx="3524250" cy="1238250"/>
          </a:xfrm>
          <a:custGeom>
            <a:avLst/>
            <a:gdLst/>
            <a:ahLst/>
            <a:cxnLst/>
            <a:rect l="l" t="t" r="r" b="b"/>
            <a:pathLst>
              <a:path w="3524250" h="12382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143000"/>
                </a:lnTo>
                <a:cubicBezTo>
                  <a:pt x="3524250" y="1195605"/>
                  <a:pt x="3481605" y="1238250"/>
                  <a:pt x="342900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8096250" y="2428875"/>
            <a:ext cx="3524250" cy="95250"/>
          </a:xfrm>
          <a:prstGeom prst="rect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9145429" y="1567815"/>
            <a:ext cx="14258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分辨率影响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142095" y="194691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8E1"/>
                </a:solidFill>
                <a:latin typeface="Arial"/>
                <a:ea typeface="Microsoft YaHei"/>
                <a:cs typeface="Arial"/>
              </a:rPr>
              <a:t>频谱图分辨率实验</a:t>
            </a:r>
          </a:p>
        </p:txBody>
      </p:sp>
      <p:sp>
        <p:nvSpPr>
          <p:cNvPr id="51" name="Freeform 51"/>
          <p:cNvSpPr/>
          <p:nvPr/>
        </p:nvSpPr>
        <p:spPr>
          <a:xfrm>
            <a:off x="8334375" y="2667000"/>
            <a:ext cx="3048000" cy="428625"/>
          </a:xfrm>
          <a:custGeom>
            <a:avLst/>
            <a:gdLst/>
            <a:ahLst/>
            <a:cxnLst/>
            <a:rect l="l" t="t" r="r" b="b"/>
            <a:pathLst>
              <a:path w="3048000" h="428625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371475"/>
                </a:lnTo>
                <a:cubicBezTo>
                  <a:pt x="3048000" y="403038"/>
                  <a:pt x="3022413" y="428625"/>
                  <a:pt x="2990850" y="428625"/>
                </a:cubicBezTo>
                <a:lnTo>
                  <a:pt x="57150" y="428625"/>
                </a:lnTo>
                <a:cubicBezTo>
                  <a:pt x="25587" y="428625"/>
                  <a:pt x="0" y="403038"/>
                  <a:pt x="0" y="37147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B0BEC5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8460105" y="2759392"/>
            <a:ext cx="9116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224 × 224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584894" y="2759392"/>
            <a:ext cx="5765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72.9%</a:t>
            </a:r>
          </a:p>
        </p:txBody>
      </p:sp>
      <p:sp>
        <p:nvSpPr>
          <p:cNvPr id="54" name="Freeform 54"/>
          <p:cNvSpPr/>
          <p:nvPr/>
        </p:nvSpPr>
        <p:spPr>
          <a:xfrm>
            <a:off x="8334375" y="3190875"/>
            <a:ext cx="3048000" cy="428625"/>
          </a:xfrm>
          <a:custGeom>
            <a:avLst/>
            <a:gdLst/>
            <a:ahLst/>
            <a:cxnLst/>
            <a:rect l="l" t="t" r="r" b="b"/>
            <a:pathLst>
              <a:path w="3048000" h="428625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371475"/>
                </a:lnTo>
                <a:cubicBezTo>
                  <a:pt x="3048000" y="403038"/>
                  <a:pt x="3022413" y="428625"/>
                  <a:pt x="2990850" y="428625"/>
                </a:cubicBezTo>
                <a:lnTo>
                  <a:pt x="57150" y="428625"/>
                </a:lnTo>
                <a:cubicBezTo>
                  <a:pt x="25587" y="428625"/>
                  <a:pt x="0" y="403038"/>
                  <a:pt x="0" y="37147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B0BEC5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8460105" y="3283268"/>
            <a:ext cx="9116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384 × 384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0584894" y="3283268"/>
            <a:ext cx="5765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78.7%</a:t>
            </a:r>
          </a:p>
        </p:txBody>
      </p:sp>
      <p:sp>
        <p:nvSpPr>
          <p:cNvPr id="57" name="Freeform 57"/>
          <p:cNvSpPr/>
          <p:nvPr/>
        </p:nvSpPr>
        <p:spPr>
          <a:xfrm>
            <a:off x="8334375" y="3714750"/>
            <a:ext cx="3048000" cy="428625"/>
          </a:xfrm>
          <a:custGeom>
            <a:avLst/>
            <a:gdLst/>
            <a:ahLst/>
            <a:cxnLst/>
            <a:rect l="l" t="t" r="r" b="b"/>
            <a:pathLst>
              <a:path w="3048000" h="428625">
                <a:moveTo>
                  <a:pt x="57150" y="0"/>
                </a:moveTo>
                <a:lnTo>
                  <a:pt x="2990850" y="0"/>
                </a:lnTo>
                <a:cubicBezTo>
                  <a:pt x="3022413" y="0"/>
                  <a:pt x="3048000" y="25587"/>
                  <a:pt x="3048000" y="57150"/>
                </a:cubicBezTo>
                <a:lnTo>
                  <a:pt x="3048000" y="371475"/>
                </a:lnTo>
                <a:cubicBezTo>
                  <a:pt x="3048000" y="403038"/>
                  <a:pt x="3022413" y="428625"/>
                  <a:pt x="2990850" y="428625"/>
                </a:cubicBezTo>
                <a:lnTo>
                  <a:pt x="57150" y="428625"/>
                </a:lnTo>
                <a:cubicBezTo>
                  <a:pt x="25587" y="428625"/>
                  <a:pt x="0" y="403038"/>
                  <a:pt x="0" y="37147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8460105" y="3807142"/>
            <a:ext cx="168014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512 × 512（选用）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557784" y="3807142"/>
            <a:ext cx="6036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82.4%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338653" y="4282440"/>
            <a:ext cx="103944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+9.5 pp</a:t>
            </a:r>
          </a:p>
        </p:txBody>
      </p:sp>
      <p:sp>
        <p:nvSpPr>
          <p:cNvPr id="61" name="Freeform 61"/>
          <p:cNvSpPr/>
          <p:nvPr/>
        </p:nvSpPr>
        <p:spPr>
          <a:xfrm>
            <a:off x="9144000" y="4429125"/>
            <a:ext cx="1428750" cy="142875"/>
          </a:xfrm>
          <a:custGeom>
            <a:avLst/>
            <a:gdLst/>
            <a:ahLst/>
            <a:cxnLst/>
            <a:rect l="l" t="t" r="r" b="b"/>
            <a:pathLst>
              <a:path w="1428750" h="142875">
                <a:moveTo>
                  <a:pt x="0" y="142875"/>
                </a:moveTo>
                <a:lnTo>
                  <a:pt x="714375" y="0"/>
                </a:lnTo>
                <a:lnTo>
                  <a:pt x="1428750" y="142875"/>
                </a:lnTo>
              </a:path>
            </a:pathLst>
          </a:custGeom>
          <a:noFill/>
          <a:ln w="19050">
            <a:solidFill>
              <a:srgbClr val="FF6F00"/>
            </a:solidFill>
          </a:ln>
        </p:spPr>
      </p:sp>
      <p:sp>
        <p:nvSpPr>
          <p:cNvPr id="62" name="Polygon 62"/>
          <p:cNvSpPr/>
          <p:nvPr/>
        </p:nvSpPr>
        <p:spPr>
          <a:xfrm>
            <a:off x="10572750" y="4543425"/>
            <a:ext cx="95250" cy="57150"/>
          </a:xfrm>
          <a:custGeom>
            <a:avLst/>
            <a:gdLst/>
            <a:ahLst/>
            <a:cxnLst/>
            <a:rect l="l" t="t" r="r" b="b"/>
            <a:pathLst>
              <a:path w="95250" h="57150">
                <a:moveTo>
                  <a:pt x="0" y="0"/>
                </a:moveTo>
                <a:lnTo>
                  <a:pt x="95250" y="28575"/>
                </a:lnTo>
                <a:lnTo>
                  <a:pt x="0" y="57150"/>
                </a:ln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8321040" y="4934902"/>
            <a:ext cx="24803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更高分辨率保留更多判别性时频细节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321040" y="5125402"/>
            <a:ext cx="22272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但 token 数增加，推理成本更高</a:t>
            </a:r>
          </a:p>
        </p:txBody>
      </p:sp>
      <p:sp>
        <p:nvSpPr>
          <p:cNvPr id="65" name="Rectangle 65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RF-GPT Presentation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615452" y="67036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12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329660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与相关工作对比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285875"/>
            <a:ext cx="3524250" cy="2286000"/>
          </a:xfrm>
          <a:custGeom>
            <a:avLst/>
            <a:gdLst/>
            <a:ahLst/>
            <a:cxnLst/>
            <a:rect l="l" t="t" r="r" b="b"/>
            <a:pathLst>
              <a:path w="3524250" h="2286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2190750"/>
                </a:lnTo>
                <a:cubicBezTo>
                  <a:pt x="3524250" y="2243355"/>
                  <a:pt x="3481605" y="2286000"/>
                  <a:pt x="342900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285875"/>
            <a:ext cx="3524250" cy="47625"/>
          </a:xfrm>
          <a:custGeom>
            <a:avLst/>
            <a:gdLst/>
            <a:ahLst/>
            <a:cxnLst/>
            <a:rect l="l" t="t" r="r" b="b"/>
            <a:pathLst>
              <a:path w="3524250" h="47625">
                <a:moveTo>
                  <a:pt x="23812" y="0"/>
                </a:moveTo>
                <a:lnTo>
                  <a:pt x="3500438" y="0"/>
                </a:lnTo>
                <a:cubicBezTo>
                  <a:pt x="3513589" y="0"/>
                  <a:pt x="3524250" y="10661"/>
                  <a:pt x="3524250" y="23812"/>
                </a:cubicBezTo>
                <a:lnTo>
                  <a:pt x="3524250" y="23812"/>
                </a:lnTo>
                <a:cubicBezTo>
                  <a:pt x="3524250" y="36964"/>
                  <a:pt x="3513589" y="47625"/>
                  <a:pt x="3500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629485" y="1488758"/>
            <a:ext cx="140828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RF 基础模型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2480" y="1806892"/>
            <a:ext cx="4586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WFM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4385" y="2042160"/>
            <a:ext cx="200215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通用RF表征 + 任务特定头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2480" y="2311718"/>
            <a:ext cx="4586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LWM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4385" y="2546985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信道建模基础模型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2480" y="2816542"/>
            <a:ext cx="12246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WirelessGPT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4385" y="305181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多任务学习框架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6290" y="331565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每任务仍需单独微调或输出头</a:t>
            </a:r>
          </a:p>
        </p:txBody>
      </p:sp>
      <p:sp>
        <p:nvSpPr>
          <p:cNvPr id="17" name="Freeform 17"/>
          <p:cNvSpPr/>
          <p:nvPr/>
        </p:nvSpPr>
        <p:spPr>
          <a:xfrm>
            <a:off x="4333875" y="1285875"/>
            <a:ext cx="3524250" cy="2286000"/>
          </a:xfrm>
          <a:custGeom>
            <a:avLst/>
            <a:gdLst/>
            <a:ahLst/>
            <a:cxnLst/>
            <a:rect l="l" t="t" r="r" b="b"/>
            <a:pathLst>
              <a:path w="3524250" h="2286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2190750"/>
                </a:lnTo>
                <a:cubicBezTo>
                  <a:pt x="3524250" y="2243355"/>
                  <a:pt x="3481605" y="2286000"/>
                  <a:pt x="342900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4333875" y="1285875"/>
            <a:ext cx="3524250" cy="47625"/>
          </a:xfrm>
          <a:custGeom>
            <a:avLst/>
            <a:gdLst/>
            <a:ahLst/>
            <a:cxnLst/>
            <a:rect l="l" t="t" r="r" b="b"/>
            <a:pathLst>
              <a:path w="3524250" h="47625">
                <a:moveTo>
                  <a:pt x="23812" y="0"/>
                </a:moveTo>
                <a:lnTo>
                  <a:pt x="3500438" y="0"/>
                </a:lnTo>
                <a:cubicBezTo>
                  <a:pt x="3513589" y="0"/>
                  <a:pt x="3524250" y="10661"/>
                  <a:pt x="3524250" y="23812"/>
                </a:cubicBezTo>
                <a:lnTo>
                  <a:pt x="3524250" y="23812"/>
                </a:lnTo>
                <a:cubicBezTo>
                  <a:pt x="3524250" y="36964"/>
                  <a:pt x="3513589" y="47625"/>
                  <a:pt x="3500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252692" y="1488758"/>
            <a:ext cx="168661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Telecom LLMs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54855" y="1806892"/>
            <a:ext cx="116258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TelecomGPT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56760" y="2042160"/>
            <a:ext cx="20284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告警、KPI、日志、配置表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54855" y="2311718"/>
            <a:ext cx="17940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LLM4Telecom 系列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56760" y="2546985"/>
            <a:ext cx="201968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OSS/BSS 数据、网络管理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58665" y="2934652"/>
            <a:ext cx="23422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文本中心，无法处理物理层RF信号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58665" y="3144202"/>
            <a:ext cx="12994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与RF-GPT形成互补</a:t>
            </a:r>
          </a:p>
        </p:txBody>
      </p:sp>
      <p:sp>
        <p:nvSpPr>
          <p:cNvPr id="26" name="Freeform 26"/>
          <p:cNvSpPr/>
          <p:nvPr/>
        </p:nvSpPr>
        <p:spPr>
          <a:xfrm>
            <a:off x="8096250" y="1285875"/>
            <a:ext cx="3524250" cy="2286000"/>
          </a:xfrm>
          <a:custGeom>
            <a:avLst/>
            <a:gdLst/>
            <a:ahLst/>
            <a:cxnLst/>
            <a:rect l="l" t="t" r="r" b="b"/>
            <a:pathLst>
              <a:path w="3524250" h="2286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2190750"/>
                </a:lnTo>
                <a:cubicBezTo>
                  <a:pt x="3524250" y="2243355"/>
                  <a:pt x="3481605" y="2286000"/>
                  <a:pt x="342900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8096250" y="1285875"/>
            <a:ext cx="3524250" cy="47625"/>
          </a:xfrm>
          <a:custGeom>
            <a:avLst/>
            <a:gdLst/>
            <a:ahLst/>
            <a:cxnLst/>
            <a:rect l="l" t="t" r="r" b="b"/>
            <a:pathLst>
              <a:path w="3524250" h="47625">
                <a:moveTo>
                  <a:pt x="23812" y="0"/>
                </a:moveTo>
                <a:lnTo>
                  <a:pt x="3500438" y="0"/>
                </a:lnTo>
                <a:cubicBezTo>
                  <a:pt x="3513589" y="0"/>
                  <a:pt x="3524250" y="10661"/>
                  <a:pt x="3524250" y="23812"/>
                </a:cubicBezTo>
                <a:lnTo>
                  <a:pt x="3524250" y="23812"/>
                </a:lnTo>
                <a:cubicBezTo>
                  <a:pt x="3524250" y="36964"/>
                  <a:pt x="3513589" y="47625"/>
                  <a:pt x="3500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2E7D3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958135" y="1488758"/>
            <a:ext cx="180048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VLA 模型的启示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17230" y="1806892"/>
            <a:ext cx="14524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RT-2 / PaLM-E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19135" y="2042160"/>
            <a:ext cx="19320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将VLM扩展到机器人控制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19135" y="232791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核心理念一致：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19135" y="2546985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预训练VLM + 轻量适配器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19135" y="2766060"/>
            <a:ext cx="189699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注入新模态（动作/RF）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21040" y="3125152"/>
            <a:ext cx="16905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RF-GPT 借鉴了 VLA 范式</a:t>
            </a:r>
          </a:p>
        </p:txBody>
      </p:sp>
      <p:sp>
        <p:nvSpPr>
          <p:cNvPr id="35" name="Freeform 35"/>
          <p:cNvSpPr/>
          <p:nvPr/>
        </p:nvSpPr>
        <p:spPr>
          <a:xfrm>
            <a:off x="571500" y="390525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857250"/>
                </a:lnTo>
                <a:cubicBezTo>
                  <a:pt x="11049000" y="909855"/>
                  <a:pt x="11006355" y="952500"/>
                  <a:pt x="10953750" y="952500"/>
                </a:cubicBezTo>
                <a:lnTo>
                  <a:pt x="95250" y="952500"/>
                </a:lnTo>
                <a:cubicBezTo>
                  <a:pt x="42645" y="952500"/>
                  <a:pt x="0" y="909855"/>
                  <a:pt x="0" y="85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162226" y="4091940"/>
            <a:ext cx="186754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RF-GPT 的突破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297906" y="4457700"/>
            <a:ext cx="759618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首个通过语言指令统一多种 RF 任务的模型，无需修改架构，只需改变 prompt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41045" y="510825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对比总结</a:t>
            </a:r>
          </a:p>
        </p:txBody>
      </p:sp>
      <p:sp>
        <p:nvSpPr>
          <p:cNvPr id="39" name="Freeform 39"/>
          <p:cNvSpPr/>
          <p:nvPr/>
        </p:nvSpPr>
        <p:spPr>
          <a:xfrm>
            <a:off x="571500" y="5476875"/>
            <a:ext cx="2667000" cy="381000"/>
          </a:xfrm>
          <a:custGeom>
            <a:avLst/>
            <a:gdLst/>
            <a:ahLst/>
            <a:cxnLst/>
            <a:rect l="l" t="t" r="r" b="b"/>
            <a:pathLst>
              <a:path w="2667000" h="38100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342900"/>
                </a:lnTo>
                <a:cubicBezTo>
                  <a:pt x="2667000" y="363942"/>
                  <a:pt x="2649942" y="381000"/>
                  <a:pt x="2628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705737" y="5604510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41" name="Freeform 41"/>
          <p:cNvSpPr/>
          <p:nvPr/>
        </p:nvSpPr>
        <p:spPr>
          <a:xfrm>
            <a:off x="3238500" y="5476875"/>
            <a:ext cx="1666875" cy="381000"/>
          </a:xfrm>
          <a:custGeom>
            <a:avLst/>
            <a:gdLst/>
            <a:ahLst/>
            <a:cxnLst/>
            <a:rect l="l" t="t" r="r" b="b"/>
            <a:pathLst>
              <a:path w="1666875" h="381000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342900"/>
                </a:lnTo>
                <a:cubicBezTo>
                  <a:pt x="1666875" y="363942"/>
                  <a:pt x="1649817" y="381000"/>
                  <a:pt x="1628775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3766699" y="5604510"/>
            <a:ext cx="6009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RF感知</a:t>
            </a:r>
          </a:p>
        </p:txBody>
      </p:sp>
      <p:sp>
        <p:nvSpPr>
          <p:cNvPr id="43" name="Freeform 43"/>
          <p:cNvSpPr/>
          <p:nvPr/>
        </p:nvSpPr>
        <p:spPr>
          <a:xfrm>
            <a:off x="4905375" y="5476875"/>
            <a:ext cx="1666875" cy="381000"/>
          </a:xfrm>
          <a:custGeom>
            <a:avLst/>
            <a:gdLst/>
            <a:ahLst/>
            <a:cxnLst/>
            <a:rect l="l" t="t" r="r" b="b"/>
            <a:pathLst>
              <a:path w="1666875" h="381000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342900"/>
                </a:lnTo>
                <a:cubicBezTo>
                  <a:pt x="1666875" y="363942"/>
                  <a:pt x="1649817" y="381000"/>
                  <a:pt x="1628775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5350764" y="56045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语言交互</a:t>
            </a:r>
          </a:p>
        </p:txBody>
      </p:sp>
      <p:sp>
        <p:nvSpPr>
          <p:cNvPr id="45" name="Freeform 45"/>
          <p:cNvSpPr/>
          <p:nvPr/>
        </p:nvSpPr>
        <p:spPr>
          <a:xfrm>
            <a:off x="6572250" y="5476875"/>
            <a:ext cx="1666875" cy="381000"/>
          </a:xfrm>
          <a:custGeom>
            <a:avLst/>
            <a:gdLst/>
            <a:ahLst/>
            <a:cxnLst/>
            <a:rect l="l" t="t" r="r" b="b"/>
            <a:pathLst>
              <a:path w="1666875" h="381000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342900"/>
                </a:lnTo>
                <a:cubicBezTo>
                  <a:pt x="1666875" y="363942"/>
                  <a:pt x="1649817" y="381000"/>
                  <a:pt x="1628775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7017639" y="56045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统一架构</a:t>
            </a:r>
          </a:p>
        </p:txBody>
      </p:sp>
      <p:sp>
        <p:nvSpPr>
          <p:cNvPr id="47" name="Freeform 47"/>
          <p:cNvSpPr/>
          <p:nvPr/>
        </p:nvSpPr>
        <p:spPr>
          <a:xfrm>
            <a:off x="8239125" y="5476875"/>
            <a:ext cx="1666875" cy="381000"/>
          </a:xfrm>
          <a:custGeom>
            <a:avLst/>
            <a:gdLst/>
            <a:ahLst/>
            <a:cxnLst/>
            <a:rect l="l" t="t" r="r" b="b"/>
            <a:pathLst>
              <a:path w="1666875" h="381000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342900"/>
                </a:lnTo>
                <a:cubicBezTo>
                  <a:pt x="1666875" y="363942"/>
                  <a:pt x="1649817" y="381000"/>
                  <a:pt x="1628775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8776526" y="5604510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多任务</a:t>
            </a:r>
          </a:p>
        </p:txBody>
      </p:sp>
      <p:sp>
        <p:nvSpPr>
          <p:cNvPr id="49" name="Freeform 49"/>
          <p:cNvSpPr/>
          <p:nvPr/>
        </p:nvSpPr>
        <p:spPr>
          <a:xfrm>
            <a:off x="571500" y="5857875"/>
            <a:ext cx="2667000" cy="333375"/>
          </a:xfrm>
          <a:custGeom>
            <a:avLst/>
            <a:gdLst/>
            <a:ahLst/>
            <a:cxnLst/>
            <a:rect l="l" t="t" r="r" b="b"/>
            <a:pathLst>
              <a:path w="2667000" h="333375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295275"/>
                </a:lnTo>
                <a:cubicBezTo>
                  <a:pt x="2667000" y="316317"/>
                  <a:pt x="2649942" y="333375"/>
                  <a:pt x="2628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1442847" y="5956935"/>
            <a:ext cx="9243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传统RF模型</a:t>
            </a:r>
          </a:p>
        </p:txBody>
      </p:sp>
      <p:sp>
        <p:nvSpPr>
          <p:cNvPr id="51" name="Freeform 51"/>
          <p:cNvSpPr/>
          <p:nvPr/>
        </p:nvSpPr>
        <p:spPr>
          <a:xfrm>
            <a:off x="3238500" y="5857875"/>
            <a:ext cx="1666875" cy="333375"/>
          </a:xfrm>
          <a:custGeom>
            <a:avLst/>
            <a:gdLst/>
            <a:ahLst/>
            <a:cxnLst/>
            <a:rect l="l" t="t" r="r" b="b"/>
            <a:pathLst>
              <a:path w="1666875" h="333375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295275"/>
                </a:lnTo>
                <a:cubicBezTo>
                  <a:pt x="1666875" y="316317"/>
                  <a:pt x="1649817" y="333375"/>
                  <a:pt x="1628775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4003738" y="5956935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53" name="Freeform 53"/>
          <p:cNvSpPr/>
          <p:nvPr/>
        </p:nvSpPr>
        <p:spPr>
          <a:xfrm>
            <a:off x="4905375" y="5857875"/>
            <a:ext cx="1666875" cy="333375"/>
          </a:xfrm>
          <a:custGeom>
            <a:avLst/>
            <a:gdLst/>
            <a:ahLst/>
            <a:cxnLst/>
            <a:rect l="l" t="t" r="r" b="b"/>
            <a:pathLst>
              <a:path w="1666875" h="333375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295275"/>
                </a:lnTo>
                <a:cubicBezTo>
                  <a:pt x="1666875" y="316317"/>
                  <a:pt x="1649817" y="333375"/>
                  <a:pt x="1628775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5670614" y="5956935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✗</a:t>
            </a:r>
          </a:p>
        </p:txBody>
      </p:sp>
      <p:sp>
        <p:nvSpPr>
          <p:cNvPr id="55" name="Freeform 55"/>
          <p:cNvSpPr/>
          <p:nvPr/>
        </p:nvSpPr>
        <p:spPr>
          <a:xfrm>
            <a:off x="6572250" y="5857875"/>
            <a:ext cx="1666875" cy="333375"/>
          </a:xfrm>
          <a:custGeom>
            <a:avLst/>
            <a:gdLst/>
            <a:ahLst/>
            <a:cxnLst/>
            <a:rect l="l" t="t" r="r" b="b"/>
            <a:pathLst>
              <a:path w="1666875" h="333375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295275"/>
                </a:lnTo>
                <a:cubicBezTo>
                  <a:pt x="1666875" y="316317"/>
                  <a:pt x="1649817" y="333375"/>
                  <a:pt x="1628775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7337488" y="5956935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✗</a:t>
            </a:r>
          </a:p>
        </p:txBody>
      </p:sp>
      <p:sp>
        <p:nvSpPr>
          <p:cNvPr id="57" name="Freeform 57"/>
          <p:cNvSpPr/>
          <p:nvPr/>
        </p:nvSpPr>
        <p:spPr>
          <a:xfrm>
            <a:off x="8239125" y="5857875"/>
            <a:ext cx="1666875" cy="333375"/>
          </a:xfrm>
          <a:custGeom>
            <a:avLst/>
            <a:gdLst/>
            <a:ahLst/>
            <a:cxnLst/>
            <a:rect l="l" t="t" r="r" b="b"/>
            <a:pathLst>
              <a:path w="1666875" h="333375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295275"/>
                </a:lnTo>
                <a:cubicBezTo>
                  <a:pt x="1666875" y="316317"/>
                  <a:pt x="1649817" y="333375"/>
                  <a:pt x="1628775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9004364" y="5956935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✗</a:t>
            </a:r>
          </a:p>
        </p:txBody>
      </p:sp>
      <p:sp>
        <p:nvSpPr>
          <p:cNvPr id="59" name="Freeform 59"/>
          <p:cNvSpPr/>
          <p:nvPr/>
        </p:nvSpPr>
        <p:spPr>
          <a:xfrm>
            <a:off x="571500" y="6191250"/>
            <a:ext cx="2667000" cy="333375"/>
          </a:xfrm>
          <a:custGeom>
            <a:avLst/>
            <a:gdLst/>
            <a:ahLst/>
            <a:cxnLst/>
            <a:rect l="l" t="t" r="r" b="b"/>
            <a:pathLst>
              <a:path w="2667000" h="333375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295275"/>
                </a:lnTo>
                <a:cubicBezTo>
                  <a:pt x="2667000" y="316317"/>
                  <a:pt x="2649942" y="333375"/>
                  <a:pt x="2628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1600581" y="6290310"/>
            <a:ext cx="6088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RF-GPT</a:t>
            </a:r>
          </a:p>
        </p:txBody>
      </p:sp>
      <p:sp>
        <p:nvSpPr>
          <p:cNvPr id="61" name="Freeform 61"/>
          <p:cNvSpPr/>
          <p:nvPr/>
        </p:nvSpPr>
        <p:spPr>
          <a:xfrm>
            <a:off x="3238500" y="6191250"/>
            <a:ext cx="1666875" cy="333375"/>
          </a:xfrm>
          <a:custGeom>
            <a:avLst/>
            <a:gdLst/>
            <a:ahLst/>
            <a:cxnLst/>
            <a:rect l="l" t="t" r="r" b="b"/>
            <a:pathLst>
              <a:path w="1666875" h="333375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295275"/>
                </a:lnTo>
                <a:cubicBezTo>
                  <a:pt x="1666875" y="316317"/>
                  <a:pt x="1649817" y="333375"/>
                  <a:pt x="1628775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4003738" y="629031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63" name="Freeform 63"/>
          <p:cNvSpPr/>
          <p:nvPr/>
        </p:nvSpPr>
        <p:spPr>
          <a:xfrm>
            <a:off x="4905375" y="6191250"/>
            <a:ext cx="1666875" cy="333375"/>
          </a:xfrm>
          <a:custGeom>
            <a:avLst/>
            <a:gdLst/>
            <a:ahLst/>
            <a:cxnLst/>
            <a:rect l="l" t="t" r="r" b="b"/>
            <a:pathLst>
              <a:path w="1666875" h="333375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295275"/>
                </a:lnTo>
                <a:cubicBezTo>
                  <a:pt x="1666875" y="316317"/>
                  <a:pt x="1649817" y="333375"/>
                  <a:pt x="1628775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5670614" y="629031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65" name="Freeform 65"/>
          <p:cNvSpPr/>
          <p:nvPr/>
        </p:nvSpPr>
        <p:spPr>
          <a:xfrm>
            <a:off x="6572250" y="6191250"/>
            <a:ext cx="1666875" cy="333375"/>
          </a:xfrm>
          <a:custGeom>
            <a:avLst/>
            <a:gdLst/>
            <a:ahLst/>
            <a:cxnLst/>
            <a:rect l="l" t="t" r="r" b="b"/>
            <a:pathLst>
              <a:path w="1666875" h="333375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295275"/>
                </a:lnTo>
                <a:cubicBezTo>
                  <a:pt x="1666875" y="316317"/>
                  <a:pt x="1649817" y="333375"/>
                  <a:pt x="1628775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7337488" y="629031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67" name="Freeform 67"/>
          <p:cNvSpPr/>
          <p:nvPr/>
        </p:nvSpPr>
        <p:spPr>
          <a:xfrm>
            <a:off x="8239125" y="6191250"/>
            <a:ext cx="1666875" cy="333375"/>
          </a:xfrm>
          <a:custGeom>
            <a:avLst/>
            <a:gdLst/>
            <a:ahLst/>
            <a:cxnLst/>
            <a:rect l="l" t="t" r="r" b="b"/>
            <a:pathLst>
              <a:path w="1666875" h="333375">
                <a:moveTo>
                  <a:pt x="38100" y="0"/>
                </a:moveTo>
                <a:lnTo>
                  <a:pt x="1628775" y="0"/>
                </a:lnTo>
                <a:cubicBezTo>
                  <a:pt x="1649817" y="0"/>
                  <a:pt x="1666875" y="17058"/>
                  <a:pt x="1666875" y="38100"/>
                </a:cubicBezTo>
                <a:lnTo>
                  <a:pt x="1666875" y="295275"/>
                </a:lnTo>
                <a:cubicBezTo>
                  <a:pt x="1666875" y="316317"/>
                  <a:pt x="1649817" y="333375"/>
                  <a:pt x="1628775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9004364" y="629031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RF-GPT Presentation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1615452" y="67036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13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2376487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总结与展望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39140" y="132969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三大贡献</a:t>
            </a:r>
          </a:p>
        </p:txBody>
      </p:sp>
      <p:sp>
        <p:nvSpPr>
          <p:cNvPr id="8" name="Freeform 8"/>
          <p:cNvSpPr/>
          <p:nvPr/>
        </p:nvSpPr>
        <p:spPr>
          <a:xfrm>
            <a:off x="571500" y="1714500"/>
            <a:ext cx="3524250" cy="1524000"/>
          </a:xfrm>
          <a:custGeom>
            <a:avLst/>
            <a:gdLst/>
            <a:ahLst/>
            <a:cxnLst/>
            <a:rect l="l" t="t" r="r" b="b"/>
            <a:pathLst>
              <a:path w="3524250" h="1524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428750"/>
                </a:lnTo>
                <a:cubicBezTo>
                  <a:pt x="3524250" y="1481355"/>
                  <a:pt x="3481605" y="1524000"/>
                  <a:pt x="3429000" y="1524000"/>
                </a:cubicBezTo>
                <a:lnTo>
                  <a:pt x="95250" y="1524000"/>
                </a:lnTo>
                <a:cubicBezTo>
                  <a:pt x="42645" y="1524000"/>
                  <a:pt x="0" y="1481355"/>
                  <a:pt x="0" y="1428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666750" y="1905000"/>
            <a:ext cx="381000" cy="3810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03696" y="1990725"/>
            <a:ext cx="10710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0" y="1885950"/>
            <a:ext cx="111923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RFLM 概念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4385" y="2232660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提出射频语言模型概念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4385" y="2461260"/>
            <a:ext cx="153771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RF-GPT 首次实现：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385" y="2689860"/>
            <a:ext cx="17042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频谱图 + VLM → RFLM</a:t>
            </a:r>
          </a:p>
        </p:txBody>
      </p:sp>
      <p:sp>
        <p:nvSpPr>
          <p:cNvPr id="15" name="Freeform 15"/>
          <p:cNvSpPr/>
          <p:nvPr/>
        </p:nvSpPr>
        <p:spPr>
          <a:xfrm>
            <a:off x="4333875" y="1714500"/>
            <a:ext cx="3524250" cy="1524000"/>
          </a:xfrm>
          <a:custGeom>
            <a:avLst/>
            <a:gdLst/>
            <a:ahLst/>
            <a:cxnLst/>
            <a:rect l="l" t="t" r="r" b="b"/>
            <a:pathLst>
              <a:path w="3524250" h="1524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428750"/>
                </a:lnTo>
                <a:cubicBezTo>
                  <a:pt x="3524250" y="1481355"/>
                  <a:pt x="3481605" y="1524000"/>
                  <a:pt x="3429000" y="1524000"/>
                </a:cubicBezTo>
                <a:lnTo>
                  <a:pt x="95250" y="1524000"/>
                </a:lnTo>
                <a:cubicBezTo>
                  <a:pt x="42645" y="1524000"/>
                  <a:pt x="0" y="1481355"/>
                  <a:pt x="0" y="1428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4429125" y="1905000"/>
            <a:ext cx="381000" cy="3810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537317" y="1990725"/>
            <a:ext cx="1646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81575" y="1885950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合成数据管线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56760" y="2232660"/>
            <a:ext cx="1730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6种技术 × 自动化标注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56760" y="2461260"/>
            <a:ext cx="15640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12K场景 / 625K指令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56760" y="2689860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零人工标注</a:t>
            </a:r>
          </a:p>
        </p:txBody>
      </p:sp>
      <p:sp>
        <p:nvSpPr>
          <p:cNvPr id="22" name="Freeform 22"/>
          <p:cNvSpPr/>
          <p:nvPr/>
        </p:nvSpPr>
        <p:spPr>
          <a:xfrm>
            <a:off x="8096250" y="1714500"/>
            <a:ext cx="3524250" cy="1524000"/>
          </a:xfrm>
          <a:custGeom>
            <a:avLst/>
            <a:gdLst/>
            <a:ahLst/>
            <a:cxnLst/>
            <a:rect l="l" t="t" r="r" b="b"/>
            <a:pathLst>
              <a:path w="3524250" h="1524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428750"/>
                </a:lnTo>
                <a:cubicBezTo>
                  <a:pt x="3524250" y="1481355"/>
                  <a:pt x="3481605" y="1524000"/>
                  <a:pt x="3429000" y="1524000"/>
                </a:cubicBezTo>
                <a:lnTo>
                  <a:pt x="95250" y="1524000"/>
                </a:lnTo>
                <a:cubicBezTo>
                  <a:pt x="42645" y="1524000"/>
                  <a:pt x="0" y="1481355"/>
                  <a:pt x="0" y="1428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8191500" y="1905000"/>
            <a:ext cx="381000" cy="3810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299692" y="1990725"/>
            <a:ext cx="1646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743950" y="188595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全面超越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19135" y="223266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多任务统一架构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19135" y="2461260"/>
            <a:ext cx="14062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全面超越通用VLM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19135" y="2689860"/>
            <a:ext cx="23877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数据效率超CNN/Transformer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1045" y="348900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当前局限</a:t>
            </a:r>
          </a:p>
        </p:txBody>
      </p:sp>
      <p:sp>
        <p:nvSpPr>
          <p:cNvPr id="30" name="Ellipse 30"/>
          <p:cNvSpPr/>
          <p:nvPr/>
        </p:nvSpPr>
        <p:spPr>
          <a:xfrm>
            <a:off x="762000" y="3905250"/>
            <a:ext cx="95250" cy="9525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35355" y="3854768"/>
            <a:ext cx="27946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纯合成数据，未在真实空口验证</a:t>
            </a:r>
          </a:p>
        </p:txBody>
      </p:sp>
      <p:sp>
        <p:nvSpPr>
          <p:cNvPr id="32" name="Ellipse 32"/>
          <p:cNvSpPr/>
          <p:nvPr/>
        </p:nvSpPr>
        <p:spPr>
          <a:xfrm>
            <a:off x="762000" y="4191000"/>
            <a:ext cx="95250" cy="9525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35355" y="4140518"/>
            <a:ext cx="319882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仅单输入频谱图，不支持MIMO/ISAC</a:t>
            </a:r>
          </a:p>
        </p:txBody>
      </p:sp>
      <p:sp>
        <p:nvSpPr>
          <p:cNvPr id="34" name="Ellipse 34"/>
          <p:cNvSpPr/>
          <p:nvPr/>
        </p:nvSpPr>
        <p:spPr>
          <a:xfrm>
            <a:off x="762000" y="4476750"/>
            <a:ext cx="95250" cy="9525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35355" y="4426268"/>
            <a:ext cx="37607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细粒度NR特征（PTRS/CORESET）尚未覆盖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075045" y="348900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未来方向</a:t>
            </a:r>
          </a:p>
        </p:txBody>
      </p:sp>
      <p:sp>
        <p:nvSpPr>
          <p:cNvPr id="37" name="Freeform 37"/>
          <p:cNvSpPr/>
          <p:nvPr/>
        </p:nvSpPr>
        <p:spPr>
          <a:xfrm>
            <a:off x="6096000" y="3857625"/>
            <a:ext cx="5524500" cy="333375"/>
          </a:xfrm>
          <a:custGeom>
            <a:avLst/>
            <a:gdLst/>
            <a:ahLst/>
            <a:cxnLst/>
            <a:rect l="l" t="t" r="r" b="b"/>
            <a:pathLst>
              <a:path w="5524500" h="333375">
                <a:moveTo>
                  <a:pt x="57150" y="0"/>
                </a:moveTo>
                <a:lnTo>
                  <a:pt x="5467350" y="0"/>
                </a:lnTo>
                <a:cubicBezTo>
                  <a:pt x="5498913" y="0"/>
                  <a:pt x="5524500" y="25587"/>
                  <a:pt x="5524500" y="57150"/>
                </a:cubicBezTo>
                <a:lnTo>
                  <a:pt x="5524500" y="276225"/>
                </a:lnTo>
                <a:cubicBezTo>
                  <a:pt x="5524500" y="307788"/>
                  <a:pt x="5498913" y="333375"/>
                  <a:pt x="5467350" y="333375"/>
                </a:cubicBezTo>
                <a:lnTo>
                  <a:pt x="57150" y="333375"/>
                </a:lnTo>
                <a:cubicBezTo>
                  <a:pt x="25587" y="333375"/>
                  <a:pt x="0" y="307788"/>
                  <a:pt x="0" y="2762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269355" y="3940492"/>
            <a:ext cx="32185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真实空口数据 + 合成预训练联合训练</a:t>
            </a:r>
          </a:p>
        </p:txBody>
      </p:sp>
      <p:sp>
        <p:nvSpPr>
          <p:cNvPr id="39" name="Freeform 39"/>
          <p:cNvSpPr/>
          <p:nvPr/>
        </p:nvSpPr>
        <p:spPr>
          <a:xfrm>
            <a:off x="6096000" y="4286250"/>
            <a:ext cx="5524500" cy="333375"/>
          </a:xfrm>
          <a:custGeom>
            <a:avLst/>
            <a:gdLst/>
            <a:ahLst/>
            <a:cxnLst/>
            <a:rect l="l" t="t" r="r" b="b"/>
            <a:pathLst>
              <a:path w="5524500" h="333375">
                <a:moveTo>
                  <a:pt x="57150" y="0"/>
                </a:moveTo>
                <a:lnTo>
                  <a:pt x="5467350" y="0"/>
                </a:lnTo>
                <a:cubicBezTo>
                  <a:pt x="5498913" y="0"/>
                  <a:pt x="5524500" y="25587"/>
                  <a:pt x="5524500" y="57150"/>
                </a:cubicBezTo>
                <a:lnTo>
                  <a:pt x="5524500" y="276225"/>
                </a:lnTo>
                <a:cubicBezTo>
                  <a:pt x="5524500" y="307788"/>
                  <a:pt x="5498913" y="333375"/>
                  <a:pt x="5467350" y="333375"/>
                </a:cubicBezTo>
                <a:lnTo>
                  <a:pt x="57150" y="333375"/>
                </a:lnTo>
                <a:cubicBezTo>
                  <a:pt x="25587" y="333375"/>
                  <a:pt x="0" y="307788"/>
                  <a:pt x="0" y="2762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269355" y="4369118"/>
            <a:ext cx="32875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多天线MIMO频谱图、ISAC通感一体化</a:t>
            </a:r>
          </a:p>
        </p:txBody>
      </p:sp>
      <p:sp>
        <p:nvSpPr>
          <p:cNvPr id="41" name="Freeform 41"/>
          <p:cNvSpPr/>
          <p:nvPr/>
        </p:nvSpPr>
        <p:spPr>
          <a:xfrm>
            <a:off x="6096000" y="4714875"/>
            <a:ext cx="5524500" cy="333375"/>
          </a:xfrm>
          <a:custGeom>
            <a:avLst/>
            <a:gdLst/>
            <a:ahLst/>
            <a:cxnLst/>
            <a:rect l="l" t="t" r="r" b="b"/>
            <a:pathLst>
              <a:path w="5524500" h="333375">
                <a:moveTo>
                  <a:pt x="57150" y="0"/>
                </a:moveTo>
                <a:lnTo>
                  <a:pt x="5467350" y="0"/>
                </a:lnTo>
                <a:cubicBezTo>
                  <a:pt x="5498913" y="0"/>
                  <a:pt x="5524500" y="25587"/>
                  <a:pt x="5524500" y="57150"/>
                </a:cubicBezTo>
                <a:lnTo>
                  <a:pt x="5524500" y="276225"/>
                </a:lnTo>
                <a:cubicBezTo>
                  <a:pt x="5524500" y="307788"/>
                  <a:pt x="5498913" y="333375"/>
                  <a:pt x="5467350" y="333375"/>
                </a:cubicBezTo>
                <a:lnTo>
                  <a:pt x="57150" y="333375"/>
                </a:lnTo>
                <a:cubicBezTo>
                  <a:pt x="25587" y="333375"/>
                  <a:pt x="0" y="307788"/>
                  <a:pt x="0" y="2762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269355" y="4797742"/>
            <a:ext cx="37903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O-RAN集成 → 6G AI-native网络RF推理引擎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560070" y="670369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RF-GPT Presentation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615452" y="67036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14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47A1"/>
              </a:gs>
              <a:gs pos="100000">
                <a:srgbClr val="1565C0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-952500"/>
            <a:ext cx="3810000" cy="3810000"/>
          </a:xfrm>
          <a:prstGeom prst="ellipse">
            <a:avLst/>
          </a:prstGeom>
          <a:noFill/>
          <a:ln w="9525">
            <a:solidFill>
              <a:srgbClr val="FFFFFF">
                <a:alpha val="5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9144000" y="-381000"/>
            <a:ext cx="2667000" cy="2667000"/>
          </a:xfrm>
          <a:prstGeom prst="ellipse">
            <a:avLst/>
          </a:prstGeom>
          <a:noFill/>
          <a:ln w="9525">
            <a:solidFill>
              <a:srgbClr val="FFFFFF">
                <a:alpha val="8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762000" y="4762500"/>
            <a:ext cx="2286000" cy="2286000"/>
          </a:xfrm>
          <a:prstGeom prst="ellipse">
            <a:avLst/>
          </a:prstGeom>
          <a:noFill/>
          <a:ln w="9525">
            <a:solidFill>
              <a:srgbClr val="FFFFFF">
                <a:alpha val="5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602153" y="1314450"/>
            <a:ext cx="987695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0" b="1" dirty="0">
                <a:solidFill>
                  <a:srgbClr val="FFFFFF">
                    <a:alpha val="15000"/>
                  </a:srgbClr>
                </a:solidFill>
                <a:latin typeface="Arial"/>
                <a:ea typeface="Microsoft YaHei"/>
                <a:cs typeface="Arial"/>
              </a:rPr>
              <a:t>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57052" y="2793206"/>
            <a:ext cx="3077897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Thank You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78650" y="3518535"/>
            <a:ext cx="103470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BBDEFB"/>
                </a:solidFill>
                <a:latin typeface="Arial"/>
                <a:ea typeface="Microsoft YaHei"/>
                <a:cs typeface="Arial"/>
              </a:rPr>
              <a:t>Q &amp; A</a:t>
            </a:r>
          </a:p>
        </p:txBody>
      </p:sp>
      <p:sp>
        <p:nvSpPr>
          <p:cNvPr id="9" name="Rectangle 9"/>
          <p:cNvSpPr/>
          <p:nvPr/>
        </p:nvSpPr>
        <p:spPr>
          <a:xfrm>
            <a:off x="5143500" y="4048125"/>
            <a:ext cx="1905000" cy="28575"/>
          </a:xfrm>
          <a:prstGeom prst="rect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650694" y="4410075"/>
            <a:ext cx="489061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0CAF9"/>
                </a:solidFill>
                <a:latin typeface="Arial"/>
                <a:ea typeface="Microsoft YaHei"/>
                <a:cs typeface="Arial"/>
              </a:rPr>
              <a:t>RF-GPT: Teaching AI to See the Wireless World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151543" y="4759642"/>
            <a:ext cx="38889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B5F6"/>
                </a:solidFill>
                <a:latin typeface="Arial"/>
                <a:ea typeface="Microsoft YaHei"/>
                <a:cs typeface="Arial"/>
              </a:rPr>
              <a:t>Hang Zou et al. | arXiv:2602.14833 | 2026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75073" y="5585460"/>
            <a:ext cx="26418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B5F6"/>
                </a:solidFill>
                <a:latin typeface="Arial"/>
                <a:ea typeface="Microsoft YaHei"/>
                <a:cs typeface="Arial"/>
              </a:rPr>
              <a:t>github.com / arXiv:2602.14833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