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471166" y="220028"/>
            <a:ext cx="13531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ACM MobiCom 2024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19739" y="410528"/>
            <a:ext cx="21045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CCF-A | Best Artifact Award</a:t>
            </a:r>
          </a:p>
        </p:txBody>
      </p:sp>
      <p:sp>
        <p:nvSpPr>
          <p:cNvPr id="7" name="Rectangle 7"/>
          <p:cNvSpPr/>
          <p:nvPr/>
        </p:nvSpPr>
        <p:spPr>
          <a:xfrm>
            <a:off x="1905000" y="266700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042160" y="2689860"/>
            <a:ext cx="403557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RF-Diffusion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68830" y="3392805"/>
            <a:ext cx="788965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Radio Signal Generation via Time-Frequency Diffusion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095500" y="3857625"/>
            <a:ext cx="3810000" cy="190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5915025" y="3829050"/>
            <a:ext cx="76200" cy="762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076450" y="4124325"/>
            <a:ext cx="9458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Guoxuan Chi, Zheng Yang, Chenshu Wu, Jingao Xu, Yuchong Gao, Yunhao Liu, Tony Xiao Han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78355" y="4521518"/>
            <a:ext cx="37213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清华大学 | 香港大学 | 北京邮电大学 | 华为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016240" y="6439852"/>
            <a:ext cx="41595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arXiv:2404.09140 | github.com/mobicom24/RF-Diffusion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汇报提纲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96363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从 AIGC 到射频生成 · Time-Frequency Diffusion · Hierarchical Diffusion Transformer · 实验验证 · 总结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39140" y="1501140"/>
            <a:ext cx="174333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01 背景与动机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4855" y="1854518"/>
            <a:ext cx="24397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AIGC浪潮 &amp; RF信号生成需求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4855" y="2121218"/>
            <a:ext cx="1414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现有方法的不足</a:t>
            </a:r>
          </a:p>
        </p:txBody>
      </p:sp>
      <p:sp>
        <p:nvSpPr>
          <p:cNvPr id="14" name="Freeform 14"/>
          <p:cNvSpPr/>
          <p:nvPr/>
        </p:nvSpPr>
        <p:spPr>
          <a:xfrm>
            <a:off x="4333875" y="142875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333875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501515" y="1501140"/>
            <a:ext cx="1536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02 核心方法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07230" y="185451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三大挑战与时频扩散理论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07230" y="2121218"/>
            <a:ext cx="26566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分层 Diffusion Transformer</a:t>
            </a:r>
          </a:p>
        </p:txBody>
      </p:sp>
      <p:sp>
        <p:nvSpPr>
          <p:cNvPr id="19" name="Freeform 19"/>
          <p:cNvSpPr/>
          <p:nvPr/>
        </p:nvSpPr>
        <p:spPr>
          <a:xfrm>
            <a:off x="8096250" y="142875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809625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263890" y="1501140"/>
            <a:ext cx="1536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03 实验验证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69605" y="1854518"/>
            <a:ext cx="21045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Wi-Fi / FMCW 实测数据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69605" y="2121218"/>
            <a:ext cx="20552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手势识别 + 5G信道估计</a:t>
            </a:r>
          </a:p>
        </p:txBody>
      </p:sp>
      <p:sp>
        <p:nvSpPr>
          <p:cNvPr id="24" name="Freeform 24"/>
          <p:cNvSpPr/>
          <p:nvPr/>
        </p:nvSpPr>
        <p:spPr>
          <a:xfrm>
            <a:off x="571500" y="361950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71500" y="361950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39140" y="3691890"/>
            <a:ext cx="208837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04 相关工作对比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4855" y="4045268"/>
            <a:ext cx="13947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与 RF-GPT 对比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4855" y="4311968"/>
            <a:ext cx="16510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顶会标准 vs arXiv</a:t>
            </a:r>
          </a:p>
        </p:txBody>
      </p:sp>
      <p:sp>
        <p:nvSpPr>
          <p:cNvPr id="29" name="Freeform 29"/>
          <p:cNvSpPr/>
          <p:nvPr/>
        </p:nvSpPr>
        <p:spPr>
          <a:xfrm>
            <a:off x="4333875" y="361950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333875" y="361950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501515" y="3691890"/>
            <a:ext cx="1536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05 总结展望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07230" y="4045268"/>
            <a:ext cx="20651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贡献 + 局限 + 未来方向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28067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从 AIGC 到射频生成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6984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Stable Diffusion / ChatGPT 的成功 → 能否用于无线领域？已有方法有何不足？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1828800"/>
                </a:lnTo>
                <a:cubicBezTo>
                  <a:pt x="3429000" y="1870884"/>
                  <a:pt x="3394884" y="1905000"/>
                  <a:pt x="3352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571500" y="1428750"/>
            <a:ext cx="1143000" cy="342900"/>
          </a:xfrm>
          <a:custGeom>
            <a:avLst/>
            <a:gdLst/>
            <a:ahLst/>
            <a:cxnLst/>
            <a:rect l="l" t="t" r="r" b="b"/>
            <a:pathLst>
              <a:path w="1143000" h="342900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304800"/>
                </a:lnTo>
                <a:cubicBezTo>
                  <a:pt x="1143000" y="325842"/>
                  <a:pt x="1125942" y="342900"/>
                  <a:pt x="1104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670" y="1521142"/>
            <a:ext cx="7046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CV 领域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4855" y="1854518"/>
            <a:ext cx="15721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Stable Diffusion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4855" y="2121218"/>
            <a:ext cx="19369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Midjourney / DALL-E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760" y="24898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图像生成革命</a:t>
            </a:r>
          </a:p>
        </p:txBody>
      </p:sp>
      <p:sp>
        <p:nvSpPr>
          <p:cNvPr id="15" name="Freeform 15"/>
          <p:cNvSpPr/>
          <p:nvPr/>
        </p:nvSpPr>
        <p:spPr>
          <a:xfrm>
            <a:off x="4333875" y="1428750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1828800"/>
                </a:lnTo>
                <a:cubicBezTo>
                  <a:pt x="3429000" y="1870884"/>
                  <a:pt x="3394884" y="1905000"/>
                  <a:pt x="3352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4333875" y="1428750"/>
            <a:ext cx="1143000" cy="342900"/>
          </a:xfrm>
          <a:custGeom>
            <a:avLst/>
            <a:gdLst/>
            <a:ahLst/>
            <a:cxnLst/>
            <a:rect l="l" t="t" r="r" b="b"/>
            <a:pathLst>
              <a:path w="1143000" h="342900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304800"/>
                </a:lnTo>
                <a:cubicBezTo>
                  <a:pt x="1143000" y="325842"/>
                  <a:pt x="1125942" y="342900"/>
                  <a:pt x="1104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498824" y="1521142"/>
            <a:ext cx="8131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NLP 领域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07230" y="1854518"/>
            <a:ext cx="15623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ChatGPT / GPT-4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07230" y="2121218"/>
            <a:ext cx="14440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Claude / LLaMA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09135" y="2489835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文本生成突破</a:t>
            </a:r>
          </a:p>
        </p:txBody>
      </p:sp>
      <p:sp>
        <p:nvSpPr>
          <p:cNvPr id="21" name="Freeform 21"/>
          <p:cNvSpPr/>
          <p:nvPr/>
        </p:nvSpPr>
        <p:spPr>
          <a:xfrm>
            <a:off x="8096250" y="142875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22" name="Freeform 22"/>
          <p:cNvSpPr/>
          <p:nvPr/>
        </p:nvSpPr>
        <p:spPr>
          <a:xfrm>
            <a:off x="8096250" y="1428750"/>
            <a:ext cx="1143000" cy="342900"/>
          </a:xfrm>
          <a:custGeom>
            <a:avLst/>
            <a:gdLst/>
            <a:ahLst/>
            <a:cxnLst/>
            <a:rect l="l" t="t" r="r" b="b"/>
            <a:pathLst>
              <a:path w="1143000" h="342900">
                <a:moveTo>
                  <a:pt x="38100" y="0"/>
                </a:moveTo>
                <a:lnTo>
                  <a:pt x="1104900" y="0"/>
                </a:lnTo>
                <a:cubicBezTo>
                  <a:pt x="1125942" y="0"/>
                  <a:pt x="1143000" y="17058"/>
                  <a:pt x="1143000" y="38100"/>
                </a:cubicBezTo>
                <a:lnTo>
                  <a:pt x="1143000" y="304800"/>
                </a:lnTo>
                <a:cubicBezTo>
                  <a:pt x="1143000" y="325842"/>
                  <a:pt x="1125942" y="342900"/>
                  <a:pt x="1104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315420" y="1521142"/>
            <a:ext cx="7046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 领域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69605" y="1854518"/>
            <a:ext cx="18871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尚无成熟的AIGC方案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69605" y="2187892"/>
            <a:ext cx="18383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数据增强 / 信道估计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71510" y="2489835"/>
            <a:ext cx="14237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AIGC的下一个前沿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9140" y="3568065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现有方法的局限</a:t>
            </a:r>
          </a:p>
        </p:txBody>
      </p:sp>
      <p:sp>
        <p:nvSpPr>
          <p:cNvPr id="28" name="Freeform 28"/>
          <p:cNvSpPr/>
          <p:nvPr/>
        </p:nvSpPr>
        <p:spPr>
          <a:xfrm>
            <a:off x="571500" y="3952875"/>
            <a:ext cx="5334000" cy="1047750"/>
          </a:xfrm>
          <a:custGeom>
            <a:avLst/>
            <a:gdLst/>
            <a:ahLst/>
            <a:cxnLst/>
            <a:rect l="l" t="t" r="r" b="b"/>
            <a:pathLst>
              <a:path w="5334000" h="1047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971550"/>
                </a:lnTo>
                <a:cubicBezTo>
                  <a:pt x="5334000" y="1013634"/>
                  <a:pt x="5299884" y="1047750"/>
                  <a:pt x="525780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571500" y="3952875"/>
            <a:ext cx="57150" cy="1047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92480" y="4092892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环境建模法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4385" y="4347210"/>
            <a:ext cx="48326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射线追踪 + 3D模型 → 成本高、忽略材料特性、难生成时序数据</a:t>
            </a:r>
          </a:p>
        </p:txBody>
      </p:sp>
      <p:sp>
        <p:nvSpPr>
          <p:cNvPr id="32" name="Freeform 32"/>
          <p:cNvSpPr/>
          <p:nvPr/>
        </p:nvSpPr>
        <p:spPr>
          <a:xfrm>
            <a:off x="6286500" y="3952875"/>
            <a:ext cx="5334000" cy="1047750"/>
          </a:xfrm>
          <a:custGeom>
            <a:avLst/>
            <a:gdLst/>
            <a:ahLst/>
            <a:cxnLst/>
            <a:rect l="l" t="t" r="r" b="b"/>
            <a:pathLst>
              <a:path w="5334000" h="1047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971550"/>
                </a:lnTo>
                <a:cubicBezTo>
                  <a:pt x="5334000" y="1013634"/>
                  <a:pt x="5299884" y="1047750"/>
                  <a:pt x="525780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286500" y="3952875"/>
            <a:ext cx="57150" cy="1047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507480" y="4092892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数据驱动法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09385" y="434721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GAN/VAE → 表征有限、训练不稳定、任务特定</a:t>
            </a:r>
          </a:p>
        </p:txBody>
      </p:sp>
      <p:sp>
        <p:nvSpPr>
          <p:cNvPr id="36" name="Rectangle 36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03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29517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三大挑战与核心思路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34354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RF信号的独特性 → 三方面改进扩散模型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209800"/>
                </a:lnTo>
                <a:cubicBezTo>
                  <a:pt x="3524250" y="2251884"/>
                  <a:pt x="3490134" y="2286000"/>
                  <a:pt x="3448050" y="2286000"/>
                </a:cubicBezTo>
                <a:lnTo>
                  <a:pt x="76200" y="2286000"/>
                </a:lnTo>
                <a:cubicBezTo>
                  <a:pt x="34116" y="2286000"/>
                  <a:pt x="0" y="2251884"/>
                  <a:pt x="0" y="2209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1045" y="1517332"/>
            <a:ext cx="109199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01 时序性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6760" y="1918335"/>
            <a:ext cx="26769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RF信号捕捉动态细节（目标运动、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760" y="21564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信道变化），扩散模型原为静态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760" y="239458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图像设计</a:t>
            </a:r>
          </a:p>
        </p:txBody>
      </p:sp>
      <p:sp>
        <p:nvSpPr>
          <p:cNvPr id="15" name="Freeform 15"/>
          <p:cNvSpPr/>
          <p:nvPr/>
        </p:nvSpPr>
        <p:spPr>
          <a:xfrm>
            <a:off x="4333875" y="1428750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209800"/>
                </a:lnTo>
                <a:cubicBezTo>
                  <a:pt x="3524250" y="2251884"/>
                  <a:pt x="3490134" y="2286000"/>
                  <a:pt x="3448050" y="2286000"/>
                </a:cubicBezTo>
                <a:lnTo>
                  <a:pt x="76200" y="2286000"/>
                </a:lnTo>
                <a:cubicBezTo>
                  <a:pt x="34116" y="2286000"/>
                  <a:pt x="0" y="2251884"/>
                  <a:pt x="0" y="2209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333875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03420" y="1517332"/>
            <a:ext cx="14082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02 频域信息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09135" y="1918335"/>
            <a:ext cx="25717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多普勒频移、chirp等关键信息在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09135" y="21564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频域，现有扩散模型只关注空域</a:t>
            </a:r>
          </a:p>
        </p:txBody>
      </p:sp>
      <p:sp>
        <p:nvSpPr>
          <p:cNvPr id="20" name="Freeform 20"/>
          <p:cNvSpPr/>
          <p:nvPr/>
        </p:nvSpPr>
        <p:spPr>
          <a:xfrm>
            <a:off x="8096250" y="1428750"/>
            <a:ext cx="3524250" cy="2286000"/>
          </a:xfrm>
          <a:custGeom>
            <a:avLst/>
            <a:gdLst/>
            <a:ahLst/>
            <a:cxnLst/>
            <a:rect l="l" t="t" r="r" b="b"/>
            <a:pathLst>
              <a:path w="3524250" h="2286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209800"/>
                </a:lnTo>
                <a:cubicBezTo>
                  <a:pt x="3524250" y="2251884"/>
                  <a:pt x="3490134" y="2286000"/>
                  <a:pt x="3448050" y="2286000"/>
                </a:cubicBezTo>
                <a:lnTo>
                  <a:pt x="76200" y="2286000"/>
                </a:lnTo>
                <a:cubicBezTo>
                  <a:pt x="34116" y="2286000"/>
                  <a:pt x="0" y="2251884"/>
                  <a:pt x="0" y="2209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809625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265795" y="1517332"/>
            <a:ext cx="115524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03 复数域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71510" y="1918335"/>
            <a:ext cx="25980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RF信号是复数值（幅度+相位），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71510" y="215646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现有扩散模型只处理实数值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1500" y="40005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71500" y="4000500"/>
            <a:ext cx="57150" cy="9525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88670" y="4108132"/>
            <a:ext cx="333132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解决方案：三层改造扩散模型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2480" y="4426268"/>
            <a:ext cx="70435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TFD理论：时域加噪 + 频域模糊 → ② HDT架构：分层Transformer → ③ 复数算子</a:t>
            </a:r>
          </a:p>
        </p:txBody>
      </p:sp>
      <p:sp>
        <p:nvSpPr>
          <p:cNvPr id="29" name="Rectangle 29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04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478733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Time-Frequency Diffusion 理论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54761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前向：时域加噪 + 频域模糊 → 反向：去噪 + 去模糊 → 条件生成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1905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600200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传统扩散模型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35269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前向：x₀ → x₁ → ... → x_T（只加高斯噪声）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156460"/>
            <a:ext cx="31763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反向：x_T → ... → x₁ → x₀（去噪恢复）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489835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问题：只破坏幅度，忽略频域</a:t>
            </a:r>
          </a:p>
        </p:txBody>
      </p:sp>
      <p:sp>
        <p:nvSpPr>
          <p:cNvPr id="15" name="Freeform 15"/>
          <p:cNvSpPr/>
          <p:nvPr/>
        </p:nvSpPr>
        <p:spPr>
          <a:xfrm>
            <a:off x="571500" y="3571875"/>
            <a:ext cx="5334000" cy="2571750"/>
          </a:xfrm>
          <a:custGeom>
            <a:avLst/>
            <a:gdLst/>
            <a:ahLst/>
            <a:cxnLst/>
            <a:rect l="l" t="t" r="r" b="b"/>
            <a:pathLst>
              <a:path w="5334000" h="2571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2495550"/>
                </a:lnTo>
                <a:cubicBezTo>
                  <a:pt x="5334000" y="2537634"/>
                  <a:pt x="5299884" y="2571750"/>
                  <a:pt x="5257800" y="2571750"/>
                </a:cubicBezTo>
                <a:lnTo>
                  <a:pt x="76200" y="2571750"/>
                </a:lnTo>
                <a:cubicBezTo>
                  <a:pt x="34116" y="2571750"/>
                  <a:pt x="0" y="2537634"/>
                  <a:pt x="0" y="2495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571875"/>
            <a:ext cx="57150" cy="25717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90575" y="3743325"/>
            <a:ext cx="18898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RF-Diffusion TFD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4385" y="4061460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前向破坏：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7260" y="4299585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时域：复数高斯噪声 → 破坏幅度精度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7260" y="4537710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频域：高斯核模糊频谱 → 破坏分辨率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4385" y="482346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反向恢复：去噪(Denoise) + 去模糊(Deblur)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4385" y="5156835"/>
            <a:ext cx="23964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条件生成：p(x₀ | c) 条件分布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1428750"/>
            <a:ext cx="5334000" cy="4714875"/>
          </a:xfrm>
          <a:custGeom>
            <a:avLst/>
            <a:gdLst/>
            <a:ahLst/>
            <a:cxnLst/>
            <a:rect l="l" t="t" r="r" b="b"/>
            <a:pathLst>
              <a:path w="5334000" h="4714875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638675"/>
                </a:lnTo>
                <a:cubicBezTo>
                  <a:pt x="5334000" y="4680759"/>
                  <a:pt x="5299884" y="4714875"/>
                  <a:pt x="5257800" y="4714875"/>
                </a:cubicBezTo>
                <a:lnTo>
                  <a:pt x="76200" y="4714875"/>
                </a:lnTo>
                <a:cubicBezTo>
                  <a:pt x="34116" y="4714875"/>
                  <a:pt x="0" y="4680759"/>
                  <a:pt x="0" y="46386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179776" y="1584008"/>
            <a:ext cx="15474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TFD 前向过程</a:t>
            </a:r>
          </a:p>
        </p:txBody>
      </p:sp>
      <p:sp>
        <p:nvSpPr>
          <p:cNvPr id="25" name="Freeform 25"/>
          <p:cNvSpPr/>
          <p:nvPr/>
        </p:nvSpPr>
        <p:spPr>
          <a:xfrm>
            <a:off x="6477000" y="1905000"/>
            <a:ext cx="4953000" cy="1047750"/>
          </a:xfrm>
          <a:custGeom>
            <a:avLst/>
            <a:gdLst/>
            <a:ahLst/>
            <a:cxnLst/>
            <a:rect l="l" t="t" r="r" b="b"/>
            <a:pathLst>
              <a:path w="4953000" h="10477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990600"/>
                </a:lnTo>
                <a:cubicBezTo>
                  <a:pt x="4953000" y="1022163"/>
                  <a:pt x="4927413" y="1047750"/>
                  <a:pt x="4895850" y="1047750"/>
                </a:cubicBezTo>
                <a:lnTo>
                  <a:pt x="57150" y="1047750"/>
                </a:lnTo>
                <a:cubicBezTo>
                  <a:pt x="25587" y="1047750"/>
                  <a:pt x="0" y="1022163"/>
                  <a:pt x="0" y="990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604635" y="2061210"/>
            <a:ext cx="18093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数学形式（第 t 步）：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06540" y="2363152"/>
            <a:ext cx="31473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3366"/>
                </a:solidFill>
                <a:latin typeface="Consolas"/>
                <a:ea typeface="Microsoft YaHei"/>
                <a:cs typeface="Consolas"/>
              </a:rPr>
              <a:t>xₜ = √αₜ · ℱ⁻¹(Gₜ ∗ ℱ(xₜ₋₁)) + √(1-αₜ) · ε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06540" y="2601278"/>
            <a:ext cx="12994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频域模糊 时域加噪</a:t>
            </a:r>
          </a:p>
        </p:txBody>
      </p:sp>
      <p:sp>
        <p:nvSpPr>
          <p:cNvPr id="29" name="Freeform 29"/>
          <p:cNvSpPr/>
          <p:nvPr/>
        </p:nvSpPr>
        <p:spPr>
          <a:xfrm>
            <a:off x="6477000" y="3048000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704850"/>
                </a:lnTo>
                <a:cubicBezTo>
                  <a:pt x="4953000" y="736413"/>
                  <a:pt x="4927413" y="762000"/>
                  <a:pt x="48958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604635" y="3204210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根据卷积定理可简化为标准形式：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06540" y="3506152"/>
            <a:ext cx="21275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C0000"/>
                </a:solidFill>
                <a:latin typeface="Consolas"/>
                <a:ea typeface="Microsoft YaHei"/>
                <a:cs typeface="Consolas"/>
              </a:rPr>
              <a:t>xₜ = √ᾱₜ · x₀ + √(1-ᾱₜ) · ε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06540" y="3839528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→ 任意步 t 可一步计算，无需迭代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05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557633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Hierarchical Diffusion Transformer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51014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分层架构 · Attention扩散块 · 复数算子 —— 三层协同设计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3524250" cy="4381500"/>
          </a:xfrm>
          <a:custGeom>
            <a:avLst/>
            <a:gdLst/>
            <a:ahLst/>
            <a:cxnLst/>
            <a:rect l="l" t="t" r="r" b="b"/>
            <a:pathLst>
              <a:path w="3524250" h="4381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4305300"/>
                </a:lnTo>
                <a:cubicBezTo>
                  <a:pt x="3524250" y="4347384"/>
                  <a:pt x="3490134" y="4381500"/>
                  <a:pt x="3448050" y="4381500"/>
                </a:cubicBezTo>
                <a:lnTo>
                  <a:pt x="76200" y="4381500"/>
                </a:lnTo>
                <a:cubicBezTo>
                  <a:pt x="34116" y="4381500"/>
                  <a:pt x="0" y="4347384"/>
                  <a:pt x="0" y="430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571500" y="1428750"/>
            <a:ext cx="3524250" cy="381000"/>
          </a:xfrm>
          <a:custGeom>
            <a:avLst/>
            <a:gdLst/>
            <a:ahLst/>
            <a:cxnLst/>
            <a:rect l="l" t="t" r="r" b="b"/>
            <a:pathLst>
              <a:path w="3524250" h="381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304800"/>
                </a:lnTo>
                <a:cubicBezTo>
                  <a:pt x="3524250" y="346884"/>
                  <a:pt x="3490134" y="381000"/>
                  <a:pt x="344805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756755" y="1533525"/>
            <a:ext cx="1153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① 分层架构</a:t>
            </a:r>
          </a:p>
        </p:txBody>
      </p:sp>
      <p:sp>
        <p:nvSpPr>
          <p:cNvPr id="13" name="Freeform 13"/>
          <p:cNvSpPr/>
          <p:nvPr/>
        </p:nvSpPr>
        <p:spPr>
          <a:xfrm>
            <a:off x="762000" y="2000250"/>
            <a:ext cx="3143250" cy="952500"/>
          </a:xfrm>
          <a:custGeom>
            <a:avLst/>
            <a:gdLst/>
            <a:ahLst/>
            <a:cxnLst/>
            <a:rect l="l" t="t" r="r" b="b"/>
            <a:pathLst>
              <a:path w="3143250" h="95250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895350"/>
                </a:lnTo>
                <a:cubicBezTo>
                  <a:pt x="3143250" y="926913"/>
                  <a:pt x="3117663" y="952500"/>
                  <a:pt x="308610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89635" y="2156460"/>
            <a:ext cx="15552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解耦 RF 的时空维度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9635" y="2394585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层次化多尺度时频特征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9635" y="26327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捕捉长时间序列依赖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2000" y="3095625"/>
            <a:ext cx="3143250" cy="476250"/>
          </a:xfrm>
          <a:custGeom>
            <a:avLst/>
            <a:gdLst/>
            <a:ahLst/>
            <a:cxnLst/>
            <a:rect l="l" t="t" r="r" b="b"/>
            <a:pathLst>
              <a:path w="3143250" h="47625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419100"/>
                </a:lnTo>
                <a:cubicBezTo>
                  <a:pt x="3143250" y="450663"/>
                  <a:pt x="3117663" y="476250"/>
                  <a:pt x="308610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591056" y="3251835"/>
            <a:ext cx="14851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全局 → 局部 → 细节</a:t>
            </a:r>
          </a:p>
        </p:txBody>
      </p:sp>
      <p:sp>
        <p:nvSpPr>
          <p:cNvPr id="19" name="Freeform 19"/>
          <p:cNvSpPr/>
          <p:nvPr/>
        </p:nvSpPr>
        <p:spPr>
          <a:xfrm>
            <a:off x="4333875" y="1428750"/>
            <a:ext cx="3524250" cy="4381500"/>
          </a:xfrm>
          <a:custGeom>
            <a:avLst/>
            <a:gdLst/>
            <a:ahLst/>
            <a:cxnLst/>
            <a:rect l="l" t="t" r="r" b="b"/>
            <a:pathLst>
              <a:path w="3524250" h="4381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4305300"/>
                </a:lnTo>
                <a:cubicBezTo>
                  <a:pt x="3524250" y="4347384"/>
                  <a:pt x="3490134" y="4381500"/>
                  <a:pt x="3448050" y="4381500"/>
                </a:cubicBezTo>
                <a:lnTo>
                  <a:pt x="76200" y="4381500"/>
                </a:lnTo>
                <a:cubicBezTo>
                  <a:pt x="34116" y="4381500"/>
                  <a:pt x="0" y="4347384"/>
                  <a:pt x="0" y="430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0" name="Freeform 20"/>
          <p:cNvSpPr/>
          <p:nvPr/>
        </p:nvSpPr>
        <p:spPr>
          <a:xfrm>
            <a:off x="4333875" y="1428750"/>
            <a:ext cx="3524250" cy="381000"/>
          </a:xfrm>
          <a:custGeom>
            <a:avLst/>
            <a:gdLst/>
            <a:ahLst/>
            <a:cxnLst/>
            <a:rect l="l" t="t" r="r" b="b"/>
            <a:pathLst>
              <a:path w="3524250" h="381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304800"/>
                </a:lnTo>
                <a:cubicBezTo>
                  <a:pt x="3524250" y="346884"/>
                  <a:pt x="3490134" y="381000"/>
                  <a:pt x="344805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4333875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093577" y="1533525"/>
            <a:ext cx="20048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② Attention扩散块</a:t>
            </a:r>
          </a:p>
        </p:txBody>
      </p:sp>
      <p:sp>
        <p:nvSpPr>
          <p:cNvPr id="23" name="Freeform 23"/>
          <p:cNvSpPr/>
          <p:nvPr/>
        </p:nvSpPr>
        <p:spPr>
          <a:xfrm>
            <a:off x="4524375" y="2000250"/>
            <a:ext cx="3143250" cy="952500"/>
          </a:xfrm>
          <a:custGeom>
            <a:avLst/>
            <a:gdLst/>
            <a:ahLst/>
            <a:cxnLst/>
            <a:rect l="l" t="t" r="r" b="b"/>
            <a:pathLst>
              <a:path w="3143250" h="95250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895350"/>
                </a:lnTo>
                <a:cubicBezTo>
                  <a:pt x="3143250" y="926913"/>
                  <a:pt x="3117663" y="952500"/>
                  <a:pt x="308610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652010" y="2156460"/>
            <a:ext cx="19320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基于 Transformer 设计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52010" y="2394585"/>
            <a:ext cx="1730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自注意力提取 RF 特征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52010" y="2632710"/>
            <a:ext cx="16691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优于传统 U-Net 架构</a:t>
            </a:r>
          </a:p>
        </p:txBody>
      </p:sp>
      <p:sp>
        <p:nvSpPr>
          <p:cNvPr id="27" name="Freeform 27"/>
          <p:cNvSpPr/>
          <p:nvPr/>
        </p:nvSpPr>
        <p:spPr>
          <a:xfrm>
            <a:off x="4524375" y="3095625"/>
            <a:ext cx="3143250" cy="476250"/>
          </a:xfrm>
          <a:custGeom>
            <a:avLst/>
            <a:gdLst/>
            <a:ahLst/>
            <a:cxnLst/>
            <a:rect l="l" t="t" r="r" b="b"/>
            <a:pathLst>
              <a:path w="3143250" h="47625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419100"/>
                </a:lnTo>
                <a:cubicBezTo>
                  <a:pt x="3143250" y="450663"/>
                  <a:pt x="3117663" y="476250"/>
                  <a:pt x="308610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379720" y="3251835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时序建模能力更强</a:t>
            </a:r>
          </a:p>
        </p:txBody>
      </p:sp>
      <p:sp>
        <p:nvSpPr>
          <p:cNvPr id="29" name="Freeform 29"/>
          <p:cNvSpPr/>
          <p:nvPr/>
        </p:nvSpPr>
        <p:spPr>
          <a:xfrm>
            <a:off x="8096250" y="1428750"/>
            <a:ext cx="3524250" cy="4381500"/>
          </a:xfrm>
          <a:custGeom>
            <a:avLst/>
            <a:gdLst/>
            <a:ahLst/>
            <a:cxnLst/>
            <a:rect l="l" t="t" r="r" b="b"/>
            <a:pathLst>
              <a:path w="3524250" h="4381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4305300"/>
                </a:lnTo>
                <a:cubicBezTo>
                  <a:pt x="3524250" y="4347384"/>
                  <a:pt x="3490134" y="4381500"/>
                  <a:pt x="3448050" y="4381500"/>
                </a:cubicBezTo>
                <a:lnTo>
                  <a:pt x="76200" y="4381500"/>
                </a:lnTo>
                <a:cubicBezTo>
                  <a:pt x="34116" y="4381500"/>
                  <a:pt x="0" y="4347384"/>
                  <a:pt x="0" y="430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0" name="Freeform 30"/>
          <p:cNvSpPr/>
          <p:nvPr/>
        </p:nvSpPr>
        <p:spPr>
          <a:xfrm>
            <a:off x="8096250" y="1428750"/>
            <a:ext cx="3524250" cy="381000"/>
          </a:xfrm>
          <a:custGeom>
            <a:avLst/>
            <a:gdLst/>
            <a:ahLst/>
            <a:cxnLst/>
            <a:rect l="l" t="t" r="r" b="b"/>
            <a:pathLst>
              <a:path w="3524250" h="381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304800"/>
                </a:lnTo>
                <a:cubicBezTo>
                  <a:pt x="3524250" y="346884"/>
                  <a:pt x="3490134" y="381000"/>
                  <a:pt x="344805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809625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281505" y="1533525"/>
            <a:ext cx="1153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③ 复数算子</a:t>
            </a:r>
          </a:p>
        </p:txBody>
      </p:sp>
      <p:sp>
        <p:nvSpPr>
          <p:cNvPr id="33" name="Freeform 33"/>
          <p:cNvSpPr/>
          <p:nvPr/>
        </p:nvSpPr>
        <p:spPr>
          <a:xfrm>
            <a:off x="8286750" y="2000250"/>
            <a:ext cx="3143250" cy="952500"/>
          </a:xfrm>
          <a:custGeom>
            <a:avLst/>
            <a:gdLst/>
            <a:ahLst/>
            <a:cxnLst/>
            <a:rect l="l" t="t" r="r" b="b"/>
            <a:pathLst>
              <a:path w="3143250" h="95250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895350"/>
                </a:lnTo>
                <a:cubicBezTo>
                  <a:pt x="3143250" y="926913"/>
                  <a:pt x="3117663" y="952500"/>
                  <a:pt x="308610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414385" y="2156460"/>
            <a:ext cx="16341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同时编码幅度 + 相位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14385" y="2394585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复数域神经网络运算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14385" y="26327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区别于实值模型</a:t>
            </a:r>
          </a:p>
        </p:txBody>
      </p:sp>
      <p:sp>
        <p:nvSpPr>
          <p:cNvPr id="37" name="Freeform 37"/>
          <p:cNvSpPr/>
          <p:nvPr/>
        </p:nvSpPr>
        <p:spPr>
          <a:xfrm>
            <a:off x="8286750" y="3095625"/>
            <a:ext cx="3143250" cy="476250"/>
          </a:xfrm>
          <a:custGeom>
            <a:avLst/>
            <a:gdLst/>
            <a:ahLst/>
            <a:cxnLst/>
            <a:rect l="l" t="t" r="r" b="b"/>
            <a:pathLst>
              <a:path w="3143250" h="476250">
                <a:moveTo>
                  <a:pt x="57150" y="0"/>
                </a:moveTo>
                <a:lnTo>
                  <a:pt x="3086100" y="0"/>
                </a:lnTo>
                <a:cubicBezTo>
                  <a:pt x="3117663" y="0"/>
                  <a:pt x="3143250" y="25587"/>
                  <a:pt x="3143250" y="57150"/>
                </a:cubicBezTo>
                <a:lnTo>
                  <a:pt x="3143250" y="419100"/>
                </a:lnTo>
                <a:cubicBezTo>
                  <a:pt x="3143250" y="450663"/>
                  <a:pt x="3117663" y="476250"/>
                  <a:pt x="308610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879205" y="3251835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相位对无线系统至关重要</a:t>
            </a:r>
          </a:p>
        </p:txBody>
      </p:sp>
      <p:sp>
        <p:nvSpPr>
          <p:cNvPr id="39" name="Rectangle 39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06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29517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实验设置与生成质量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64225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33,000+ 实测序列 · 3 种场景 · Wi-Fi &amp; FMCW · 对比 DDPM/DCGAN/CVAE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428750"/>
          </a:xfrm>
          <a:custGeom>
            <a:avLst/>
            <a:gdLst/>
            <a:ahLst/>
            <a:cxnLst/>
            <a:rect l="l" t="t" r="r" b="b"/>
            <a:pathLst>
              <a:path w="5334000" h="1428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352550"/>
                </a:lnTo>
                <a:cubicBezTo>
                  <a:pt x="5334000" y="1394634"/>
                  <a:pt x="5299884" y="1428750"/>
                  <a:pt x="52578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14287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600200"/>
            <a:ext cx="15217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Wi-Fi CSI 信号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41140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Intel IWL5300 · 5.825GHz · 40MHz · 20,000+ 序列</a:t>
            </a:r>
          </a:p>
        </p:txBody>
      </p:sp>
      <p:sp>
        <p:nvSpPr>
          <p:cNvPr id="13" name="Freeform 13"/>
          <p:cNvSpPr/>
          <p:nvPr/>
        </p:nvSpPr>
        <p:spPr>
          <a:xfrm>
            <a:off x="6286500" y="1428750"/>
            <a:ext cx="5334000" cy="1428750"/>
          </a:xfrm>
          <a:custGeom>
            <a:avLst/>
            <a:gdLst/>
            <a:ahLst/>
            <a:cxnLst/>
            <a:rect l="l" t="t" r="r" b="b"/>
            <a:pathLst>
              <a:path w="5334000" h="1428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352550"/>
                </a:lnTo>
                <a:cubicBezTo>
                  <a:pt x="5334000" y="1394634"/>
                  <a:pt x="5299884" y="1428750"/>
                  <a:pt x="52578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6286500" y="1428750"/>
            <a:ext cx="57150" cy="14287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505575" y="1600200"/>
            <a:ext cx="16252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FMCW 雷达信号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09385" y="1918335"/>
            <a:ext cx="34042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自制 FMCW 平台 · 13,000+ 序列 · 3 种场景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1045" y="3060382"/>
            <a:ext cx="225593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Wi-Fi 信号生成质量</a:t>
            </a:r>
          </a:p>
        </p:txBody>
      </p:sp>
      <p:sp>
        <p:nvSpPr>
          <p:cNvPr id="18" name="Freeform 18"/>
          <p:cNvSpPr/>
          <p:nvPr/>
        </p:nvSpPr>
        <p:spPr>
          <a:xfrm>
            <a:off x="571500" y="3429000"/>
            <a:ext cx="2667000" cy="342900"/>
          </a:xfrm>
          <a:custGeom>
            <a:avLst/>
            <a:gdLst/>
            <a:ahLst/>
            <a:cxnLst/>
            <a:rect l="l" t="t" r="r" b="b"/>
            <a:pathLst>
              <a:path w="2667000" h="3429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04800"/>
                </a:lnTo>
                <a:cubicBezTo>
                  <a:pt x="2667000" y="325842"/>
                  <a:pt x="2649942" y="342900"/>
                  <a:pt x="2628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705737" y="352806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模型</a:t>
            </a:r>
          </a:p>
        </p:txBody>
      </p:sp>
      <p:sp>
        <p:nvSpPr>
          <p:cNvPr id="20" name="Freeform 20"/>
          <p:cNvSpPr/>
          <p:nvPr/>
        </p:nvSpPr>
        <p:spPr>
          <a:xfrm>
            <a:off x="3238500" y="3429000"/>
            <a:ext cx="1524000" cy="342900"/>
          </a:xfrm>
          <a:custGeom>
            <a:avLst/>
            <a:gdLst/>
            <a:ahLst/>
            <a:cxnLst/>
            <a:rect l="l" t="t" r="r" b="b"/>
            <a:pathLst>
              <a:path w="1524000" h="3429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304800"/>
                </a:lnTo>
                <a:cubicBezTo>
                  <a:pt x="1524000" y="325842"/>
                  <a:pt x="1506942" y="342900"/>
                  <a:pt x="148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3709225" y="3528060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SSIM ↑</a:t>
            </a:r>
          </a:p>
        </p:txBody>
      </p:sp>
      <p:sp>
        <p:nvSpPr>
          <p:cNvPr id="22" name="Freeform 22"/>
          <p:cNvSpPr/>
          <p:nvPr/>
        </p:nvSpPr>
        <p:spPr>
          <a:xfrm>
            <a:off x="4762500" y="3429000"/>
            <a:ext cx="1524000" cy="342900"/>
          </a:xfrm>
          <a:custGeom>
            <a:avLst/>
            <a:gdLst/>
            <a:ahLst/>
            <a:cxnLst/>
            <a:rect l="l" t="t" r="r" b="b"/>
            <a:pathLst>
              <a:path w="1524000" h="3429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304800"/>
                </a:lnTo>
                <a:cubicBezTo>
                  <a:pt x="1524000" y="325842"/>
                  <a:pt x="1506942" y="342900"/>
                  <a:pt x="148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302234" y="3528060"/>
            <a:ext cx="4445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FID ↓</a:t>
            </a:r>
          </a:p>
        </p:txBody>
      </p:sp>
      <p:sp>
        <p:nvSpPr>
          <p:cNvPr id="24" name="Freeform 24"/>
          <p:cNvSpPr/>
          <p:nvPr/>
        </p:nvSpPr>
        <p:spPr>
          <a:xfrm>
            <a:off x="571500" y="3771900"/>
            <a:ext cx="2667000" cy="381000"/>
          </a:xfrm>
          <a:custGeom>
            <a:avLst/>
            <a:gdLst/>
            <a:ahLst/>
            <a:cxnLst/>
            <a:rect l="l" t="t" r="r" b="b"/>
            <a:pathLst>
              <a:path w="2667000" h="3810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342900"/>
                </a:lnTo>
                <a:cubicBezTo>
                  <a:pt x="2667000" y="363942"/>
                  <a:pt x="2649942" y="381000"/>
                  <a:pt x="2628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328490" y="3899535"/>
            <a:ext cx="11530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RF-Diffusion</a:t>
            </a:r>
          </a:p>
        </p:txBody>
      </p:sp>
      <p:sp>
        <p:nvSpPr>
          <p:cNvPr id="26" name="Freeform 26"/>
          <p:cNvSpPr/>
          <p:nvPr/>
        </p:nvSpPr>
        <p:spPr>
          <a:xfrm>
            <a:off x="3238500" y="3771900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524000" h="3810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342900"/>
                </a:lnTo>
                <a:cubicBezTo>
                  <a:pt x="1524000" y="363942"/>
                  <a:pt x="1506942" y="381000"/>
                  <a:pt x="1485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781505" y="3883342"/>
            <a:ext cx="4379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0.81</a:t>
            </a:r>
          </a:p>
        </p:txBody>
      </p:sp>
      <p:sp>
        <p:nvSpPr>
          <p:cNvPr id="28" name="Freeform 28"/>
          <p:cNvSpPr/>
          <p:nvPr/>
        </p:nvSpPr>
        <p:spPr>
          <a:xfrm>
            <a:off x="4762500" y="3771900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524000" h="3810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342900"/>
                </a:lnTo>
                <a:cubicBezTo>
                  <a:pt x="1524000" y="363942"/>
                  <a:pt x="1506942" y="381000"/>
                  <a:pt x="1485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279627" y="3883342"/>
            <a:ext cx="489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4.42</a:t>
            </a:r>
          </a:p>
        </p:txBody>
      </p:sp>
      <p:sp>
        <p:nvSpPr>
          <p:cNvPr id="30" name="Freeform 30"/>
          <p:cNvSpPr/>
          <p:nvPr/>
        </p:nvSpPr>
        <p:spPr>
          <a:xfrm>
            <a:off x="571500" y="4152900"/>
            <a:ext cx="2667000" cy="304800"/>
          </a:xfrm>
          <a:custGeom>
            <a:avLst/>
            <a:gdLst/>
            <a:ahLst/>
            <a:cxnLst/>
            <a:rect l="l" t="t" r="r" b="b"/>
            <a:pathLst>
              <a:path w="2667000" h="3048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266700"/>
                </a:lnTo>
                <a:cubicBezTo>
                  <a:pt x="2667000" y="287742"/>
                  <a:pt x="2649942" y="304800"/>
                  <a:pt x="2628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707642" y="4249102"/>
            <a:ext cx="3947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DDPM</a:t>
            </a:r>
          </a:p>
        </p:txBody>
      </p:sp>
      <p:sp>
        <p:nvSpPr>
          <p:cNvPr id="32" name="Freeform 32"/>
          <p:cNvSpPr/>
          <p:nvPr/>
        </p:nvSpPr>
        <p:spPr>
          <a:xfrm>
            <a:off x="3238500" y="4152900"/>
            <a:ext cx="1524000" cy="304800"/>
          </a:xfrm>
          <a:custGeom>
            <a:avLst/>
            <a:gdLst/>
            <a:ahLst/>
            <a:cxnLst/>
            <a:rect l="l" t="t" r="r" b="b"/>
            <a:pathLst>
              <a:path w="1524000" h="3048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266700"/>
                </a:lnTo>
                <a:cubicBezTo>
                  <a:pt x="1524000" y="287742"/>
                  <a:pt x="1506942" y="304800"/>
                  <a:pt x="1485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818477" y="42491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0.65</a:t>
            </a:r>
          </a:p>
        </p:txBody>
      </p:sp>
      <p:sp>
        <p:nvSpPr>
          <p:cNvPr id="34" name="Freeform 34"/>
          <p:cNvSpPr/>
          <p:nvPr/>
        </p:nvSpPr>
        <p:spPr>
          <a:xfrm>
            <a:off x="4762500" y="4152900"/>
            <a:ext cx="1524000" cy="304800"/>
          </a:xfrm>
          <a:custGeom>
            <a:avLst/>
            <a:gdLst/>
            <a:ahLst/>
            <a:cxnLst/>
            <a:rect l="l" t="t" r="r" b="b"/>
            <a:pathLst>
              <a:path w="1524000" h="3048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266700"/>
                </a:lnTo>
                <a:cubicBezTo>
                  <a:pt x="1524000" y="287742"/>
                  <a:pt x="1506942" y="304800"/>
                  <a:pt x="1485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342477" y="42491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7.68</a:t>
            </a:r>
          </a:p>
        </p:txBody>
      </p:sp>
      <p:sp>
        <p:nvSpPr>
          <p:cNvPr id="36" name="Freeform 36"/>
          <p:cNvSpPr/>
          <p:nvPr/>
        </p:nvSpPr>
        <p:spPr>
          <a:xfrm>
            <a:off x="571500" y="4457700"/>
            <a:ext cx="2667000" cy="304800"/>
          </a:xfrm>
          <a:custGeom>
            <a:avLst/>
            <a:gdLst/>
            <a:ahLst/>
            <a:cxnLst/>
            <a:rect l="l" t="t" r="r" b="b"/>
            <a:pathLst>
              <a:path w="2667000" h="3048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266700"/>
                </a:lnTo>
                <a:cubicBezTo>
                  <a:pt x="2667000" y="287742"/>
                  <a:pt x="2649942" y="304800"/>
                  <a:pt x="2628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680805" y="45539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DCGAN</a:t>
            </a:r>
          </a:p>
        </p:txBody>
      </p:sp>
      <p:sp>
        <p:nvSpPr>
          <p:cNvPr id="38" name="Freeform 38"/>
          <p:cNvSpPr/>
          <p:nvPr/>
        </p:nvSpPr>
        <p:spPr>
          <a:xfrm>
            <a:off x="3238500" y="4457700"/>
            <a:ext cx="1524000" cy="304800"/>
          </a:xfrm>
          <a:custGeom>
            <a:avLst/>
            <a:gdLst/>
            <a:ahLst/>
            <a:cxnLst/>
            <a:rect l="l" t="t" r="r" b="b"/>
            <a:pathLst>
              <a:path w="1524000" h="3048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266700"/>
                </a:lnTo>
                <a:cubicBezTo>
                  <a:pt x="1524000" y="287742"/>
                  <a:pt x="1506942" y="304800"/>
                  <a:pt x="1485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818477" y="45539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0.68</a:t>
            </a:r>
          </a:p>
        </p:txBody>
      </p:sp>
      <p:sp>
        <p:nvSpPr>
          <p:cNvPr id="40" name="Freeform 40"/>
          <p:cNvSpPr/>
          <p:nvPr/>
        </p:nvSpPr>
        <p:spPr>
          <a:xfrm>
            <a:off x="4762500" y="4457700"/>
            <a:ext cx="1524000" cy="304800"/>
          </a:xfrm>
          <a:custGeom>
            <a:avLst/>
            <a:gdLst/>
            <a:ahLst/>
            <a:cxnLst/>
            <a:rect l="l" t="t" r="r" b="b"/>
            <a:pathLst>
              <a:path w="1524000" h="3048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266700"/>
                </a:lnTo>
                <a:cubicBezTo>
                  <a:pt x="1524000" y="287742"/>
                  <a:pt x="1506942" y="304800"/>
                  <a:pt x="1485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338643" y="45539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11.95</a:t>
            </a:r>
          </a:p>
        </p:txBody>
      </p:sp>
      <p:sp>
        <p:nvSpPr>
          <p:cNvPr id="42" name="Freeform 42"/>
          <p:cNvSpPr/>
          <p:nvPr/>
        </p:nvSpPr>
        <p:spPr>
          <a:xfrm>
            <a:off x="571500" y="4762500"/>
            <a:ext cx="2667000" cy="304800"/>
          </a:xfrm>
          <a:custGeom>
            <a:avLst/>
            <a:gdLst/>
            <a:ahLst/>
            <a:cxnLst/>
            <a:rect l="l" t="t" r="r" b="b"/>
            <a:pathLst>
              <a:path w="2667000" h="304800">
                <a:moveTo>
                  <a:pt x="38100" y="0"/>
                </a:moveTo>
                <a:lnTo>
                  <a:pt x="2628900" y="0"/>
                </a:lnTo>
                <a:cubicBezTo>
                  <a:pt x="2649942" y="0"/>
                  <a:pt x="2667000" y="17058"/>
                  <a:pt x="2667000" y="38100"/>
                </a:cubicBezTo>
                <a:lnTo>
                  <a:pt x="2667000" y="266700"/>
                </a:lnTo>
                <a:cubicBezTo>
                  <a:pt x="2667000" y="287742"/>
                  <a:pt x="2649942" y="304800"/>
                  <a:pt x="2628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722977" y="48587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CVAE</a:t>
            </a:r>
          </a:p>
        </p:txBody>
      </p:sp>
      <p:sp>
        <p:nvSpPr>
          <p:cNvPr id="44" name="Freeform 44"/>
          <p:cNvSpPr/>
          <p:nvPr/>
        </p:nvSpPr>
        <p:spPr>
          <a:xfrm>
            <a:off x="3238500" y="4762500"/>
            <a:ext cx="1524000" cy="304800"/>
          </a:xfrm>
          <a:custGeom>
            <a:avLst/>
            <a:gdLst/>
            <a:ahLst/>
            <a:cxnLst/>
            <a:rect l="l" t="t" r="r" b="b"/>
            <a:pathLst>
              <a:path w="1524000" h="3048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266700"/>
                </a:lnTo>
                <a:cubicBezTo>
                  <a:pt x="1524000" y="287742"/>
                  <a:pt x="1506942" y="304800"/>
                  <a:pt x="1485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3818477" y="48587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0.47</a:t>
            </a:r>
          </a:p>
        </p:txBody>
      </p:sp>
      <p:sp>
        <p:nvSpPr>
          <p:cNvPr id="46" name="Freeform 46"/>
          <p:cNvSpPr/>
          <p:nvPr/>
        </p:nvSpPr>
        <p:spPr>
          <a:xfrm>
            <a:off x="4762500" y="4762500"/>
            <a:ext cx="1524000" cy="304800"/>
          </a:xfrm>
          <a:custGeom>
            <a:avLst/>
            <a:gdLst/>
            <a:ahLst/>
            <a:cxnLst/>
            <a:rect l="l" t="t" r="r" b="b"/>
            <a:pathLst>
              <a:path w="1524000" h="3048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266700"/>
                </a:lnTo>
                <a:cubicBezTo>
                  <a:pt x="1524000" y="287742"/>
                  <a:pt x="1506942" y="304800"/>
                  <a:pt x="148590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319474" y="48587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10.35</a:t>
            </a:r>
          </a:p>
        </p:txBody>
      </p:sp>
      <p:sp>
        <p:nvSpPr>
          <p:cNvPr id="48" name="Freeform 48"/>
          <p:cNvSpPr/>
          <p:nvPr/>
        </p:nvSpPr>
        <p:spPr>
          <a:xfrm>
            <a:off x="571500" y="5286375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95300"/>
                </a:lnTo>
                <a:cubicBezTo>
                  <a:pt x="11049000" y="537384"/>
                  <a:pt x="11014884" y="571500"/>
                  <a:pt x="10972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571500" y="5286375"/>
            <a:ext cx="57150" cy="5715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3430110" y="5330190"/>
            <a:ext cx="533178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SSIM 超越最强基线 18.6% · FID 降低 42.4%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7943" y="5620702"/>
            <a:ext cx="9161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(对比 DDPM)</a:t>
            </a:r>
          </a:p>
        </p:txBody>
      </p:sp>
      <p:sp>
        <p:nvSpPr>
          <p:cNvPr id="52" name="Rectangle 52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07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36279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生成质量对比（Table 1）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45888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Wi-Fi 与 FMCW 信号的生成质量 —— SSIM 与 FID 指标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705737" y="156591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48654" y="1565910"/>
            <a:ext cx="9321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Wi-Fi SSIM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46412" y="1565910"/>
            <a:ext cx="7941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Wi-Fi FID</a:t>
            </a:r>
          </a:p>
        </p:txBody>
      </p:sp>
      <p:sp>
        <p:nvSpPr>
          <p:cNvPr id="13" name="Freeform 13"/>
          <p:cNvSpPr/>
          <p:nvPr/>
        </p:nvSpPr>
        <p:spPr>
          <a:xfrm>
            <a:off x="571500" y="1828800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328490" y="1965960"/>
            <a:ext cx="11530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RF-Diffusion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95755" y="1949768"/>
            <a:ext cx="4379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0.81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98627" y="1949768"/>
            <a:ext cx="489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4.42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2228850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707642" y="2344102"/>
            <a:ext cx="3947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DDPM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32727" y="23441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0.65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61477" y="23441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7.68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2571750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680805" y="26870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DCGAN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32727" y="26870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0.68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957643" y="26870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11.95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1500" y="2914650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722977" y="30299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CVAE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532727" y="30299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0.47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938474" y="30299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10.35</a:t>
            </a:r>
          </a:p>
        </p:txBody>
      </p:sp>
      <p:sp>
        <p:nvSpPr>
          <p:cNvPr id="29" name="Freeform 29"/>
          <p:cNvSpPr/>
          <p:nvPr/>
        </p:nvSpPr>
        <p:spPr>
          <a:xfrm>
            <a:off x="571500" y="347662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705737" y="3613785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模型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4852" y="3613785"/>
            <a:ext cx="9597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FMCW SSIM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32611" y="3613785"/>
            <a:ext cx="8217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FMCW FID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3876675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328490" y="4013835"/>
            <a:ext cx="11530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RF-Diffusion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69877" y="3997642"/>
            <a:ext cx="489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0.75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898627" y="3997642"/>
            <a:ext cx="489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6.89</a:t>
            </a:r>
          </a:p>
        </p:txBody>
      </p:sp>
      <p:sp>
        <p:nvSpPr>
          <p:cNvPr id="37" name="Freeform 37"/>
          <p:cNvSpPr/>
          <p:nvPr/>
        </p:nvSpPr>
        <p:spPr>
          <a:xfrm>
            <a:off x="571500" y="4276725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707642" y="4391978"/>
            <a:ext cx="3947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DDPM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532727" y="4391978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0.58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938474" y="4391978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10.28</a:t>
            </a:r>
          </a:p>
        </p:txBody>
      </p:sp>
      <p:sp>
        <p:nvSpPr>
          <p:cNvPr id="41" name="Freeform 41"/>
          <p:cNvSpPr/>
          <p:nvPr/>
        </p:nvSpPr>
        <p:spPr>
          <a:xfrm>
            <a:off x="571500" y="4619625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680805" y="4734878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DCGAN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551896" y="4734878"/>
            <a:ext cx="325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0.61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938474" y="4734878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13.46</a:t>
            </a:r>
          </a:p>
        </p:txBody>
      </p:sp>
      <p:sp>
        <p:nvSpPr>
          <p:cNvPr id="45" name="Freeform 45"/>
          <p:cNvSpPr/>
          <p:nvPr/>
        </p:nvSpPr>
        <p:spPr>
          <a:xfrm>
            <a:off x="571500" y="4962525"/>
            <a:ext cx="5334000" cy="342900"/>
          </a:xfrm>
          <a:custGeom>
            <a:avLst/>
            <a:gdLst/>
            <a:ahLst/>
            <a:cxnLst/>
            <a:rect l="l" t="t" r="r" b="b"/>
            <a:pathLst>
              <a:path w="5334000" h="34290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04800"/>
                </a:lnTo>
                <a:cubicBezTo>
                  <a:pt x="5334000" y="325842"/>
                  <a:pt x="5316942" y="342900"/>
                  <a:pt x="5295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722977" y="5077778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CVAE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532727" y="5077778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0.40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938474" y="5077778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14.39</a:t>
            </a:r>
          </a:p>
        </p:txBody>
      </p:sp>
      <p:sp>
        <p:nvSpPr>
          <p:cNvPr id="49" name="Freeform 49"/>
          <p:cNvSpPr/>
          <p:nvPr/>
        </p:nvSpPr>
        <p:spPr>
          <a:xfrm>
            <a:off x="6286500" y="1428750"/>
            <a:ext cx="5334000" cy="4572000"/>
          </a:xfrm>
          <a:custGeom>
            <a:avLst/>
            <a:gdLst/>
            <a:ahLst/>
            <a:cxnLst/>
            <a:rect l="l" t="t" r="r" b="b"/>
            <a:pathLst>
              <a:path w="5334000" h="4572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495800"/>
                </a:lnTo>
                <a:cubicBezTo>
                  <a:pt x="5334000" y="4537884"/>
                  <a:pt x="5299884" y="4572000"/>
                  <a:pt x="525780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474392" y="16002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数据说明</a:t>
            </a:r>
          </a:p>
        </p:txBody>
      </p:sp>
      <p:sp>
        <p:nvSpPr>
          <p:cNvPr id="51" name="Freeform 51"/>
          <p:cNvSpPr/>
          <p:nvPr/>
        </p:nvSpPr>
        <p:spPr>
          <a:xfrm>
            <a:off x="6477000" y="1905000"/>
            <a:ext cx="4953000" cy="1524000"/>
          </a:xfrm>
          <a:custGeom>
            <a:avLst/>
            <a:gdLst/>
            <a:ahLst/>
            <a:cxnLst/>
            <a:rect l="l" t="t" r="r" b="b"/>
            <a:pathLst>
              <a:path w="4953000" h="15240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1466850"/>
                </a:lnTo>
                <a:cubicBezTo>
                  <a:pt x="4953000" y="1498413"/>
                  <a:pt x="4927413" y="1524000"/>
                  <a:pt x="4895850" y="1524000"/>
                </a:cubicBezTo>
                <a:lnTo>
                  <a:pt x="57150" y="1524000"/>
                </a:lnTo>
                <a:cubicBezTo>
                  <a:pt x="25587" y="1524000"/>
                  <a:pt x="0" y="1498413"/>
                  <a:pt x="0" y="1466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6604635" y="2061210"/>
            <a:ext cx="17142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SSIM（结构相似性）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606540" y="2315528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衡量生成信号与真实信号的相似度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606540" y="2506028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范围 [0, 1]，越接近 1 越好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604635" y="2775585"/>
            <a:ext cx="30576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FID（Fréchet Inception Distance）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606540" y="302990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衡量生成分布与真实分布的差异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606540" y="3220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越低越好</a:t>
            </a:r>
          </a:p>
        </p:txBody>
      </p:sp>
      <p:sp>
        <p:nvSpPr>
          <p:cNvPr id="58" name="Freeform 58"/>
          <p:cNvSpPr/>
          <p:nvPr/>
        </p:nvSpPr>
        <p:spPr>
          <a:xfrm>
            <a:off x="6477000" y="3619500"/>
            <a:ext cx="4953000" cy="1047750"/>
          </a:xfrm>
          <a:custGeom>
            <a:avLst/>
            <a:gdLst/>
            <a:ahLst/>
            <a:cxnLst/>
            <a:rect l="l" t="t" r="r" b="b"/>
            <a:pathLst>
              <a:path w="4953000" h="10477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990600"/>
                </a:lnTo>
                <a:cubicBezTo>
                  <a:pt x="4953000" y="1022163"/>
                  <a:pt x="4927413" y="1047750"/>
                  <a:pt x="4895850" y="1047750"/>
                </a:cubicBezTo>
                <a:lnTo>
                  <a:pt x="57150" y="1047750"/>
                </a:lnTo>
                <a:cubicBezTo>
                  <a:pt x="25587" y="1047750"/>
                  <a:pt x="0" y="1022163"/>
                  <a:pt x="0" y="990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6604635" y="37566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关键发现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606540" y="4030028"/>
            <a:ext cx="31473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Wi-Fi SSIM 超越 DDPM 25.4%、DCGAN 18.6%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606540" y="4249102"/>
            <a:ext cx="27180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FID 指标全面领先，生成质量显著更高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606540" y="4468178"/>
            <a:ext cx="26106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两种信号类型均表现优异，通用性强</a:t>
            </a:r>
          </a:p>
        </p:txBody>
      </p:sp>
      <p:sp>
        <p:nvSpPr>
          <p:cNvPr id="63" name="Rectangle 6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08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下游应用案例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51606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数据增强 + 信道估计 — 验证 RF-Diffusion 的实际应用价值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4524375"/>
          </a:xfrm>
          <a:custGeom>
            <a:avLst/>
            <a:gdLst/>
            <a:ahLst/>
            <a:cxnLst/>
            <a:rect l="l" t="t" r="r" b="b"/>
            <a:pathLst>
              <a:path w="5334000" h="4524375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448175"/>
                </a:lnTo>
                <a:cubicBezTo>
                  <a:pt x="5334000" y="4490259"/>
                  <a:pt x="5299884" y="4524375"/>
                  <a:pt x="5257800" y="4524375"/>
                </a:cubicBezTo>
                <a:lnTo>
                  <a:pt x="76200" y="4524375"/>
                </a:lnTo>
                <a:cubicBezTo>
                  <a:pt x="34116" y="4524375"/>
                  <a:pt x="0" y="4490259"/>
                  <a:pt x="0" y="4448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571500" y="1428750"/>
            <a:ext cx="5334000" cy="381000"/>
          </a:xfrm>
          <a:custGeom>
            <a:avLst/>
            <a:gdLst/>
            <a:ahLst/>
            <a:cxnLst/>
            <a:rect l="l" t="t" r="r" b="b"/>
            <a:pathLst>
              <a:path w="5334000" h="381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304800"/>
                </a:lnTo>
                <a:cubicBezTo>
                  <a:pt x="5334000" y="346884"/>
                  <a:pt x="5299884" y="381000"/>
                  <a:pt x="5257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799022" y="1533525"/>
            <a:ext cx="287895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 1：Wi-Fi 手势识别增强</a:t>
            </a:r>
          </a:p>
        </p:txBody>
      </p:sp>
      <p:sp>
        <p:nvSpPr>
          <p:cNvPr id="13" name="Freeform 13"/>
          <p:cNvSpPr/>
          <p:nvPr/>
        </p:nvSpPr>
        <p:spPr>
          <a:xfrm>
            <a:off x="762000" y="2000250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704850"/>
                </a:lnTo>
                <a:cubicBezTo>
                  <a:pt x="4953000" y="736413"/>
                  <a:pt x="4927413" y="762000"/>
                  <a:pt x="48958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89635" y="2156460"/>
            <a:ext cx="29047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RF-Diffusion 生成数据作为数据增强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9635" y="2394585"/>
            <a:ext cx="22475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数据集：Widar3.0 手势识别</a:t>
            </a:r>
          </a:p>
        </p:txBody>
      </p:sp>
      <p:sp>
        <p:nvSpPr>
          <p:cNvPr id="16" name="Freeform 16"/>
          <p:cNvSpPr/>
          <p:nvPr/>
        </p:nvSpPr>
        <p:spPr>
          <a:xfrm>
            <a:off x="762000" y="2952750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85800"/>
                </a:lnTo>
                <a:cubicBezTo>
                  <a:pt x="4953000" y="727884"/>
                  <a:pt x="4918884" y="762000"/>
                  <a:pt x="4876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950625" y="2897505"/>
            <a:ext cx="257575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+4% ~ +11%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45920" y="3442335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手势识别准确率提升（取决于识别模型）</a:t>
            </a:r>
          </a:p>
        </p:txBody>
      </p:sp>
      <p:sp>
        <p:nvSpPr>
          <p:cNvPr id="19" name="Freeform 19"/>
          <p:cNvSpPr/>
          <p:nvPr/>
        </p:nvSpPr>
        <p:spPr>
          <a:xfrm>
            <a:off x="762000" y="3905250"/>
            <a:ext cx="4953000" cy="952500"/>
          </a:xfrm>
          <a:custGeom>
            <a:avLst/>
            <a:gdLst/>
            <a:ahLst/>
            <a:cxnLst/>
            <a:rect l="l" t="t" r="r" b="b"/>
            <a:pathLst>
              <a:path w="4953000" h="9525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895350"/>
                </a:lnTo>
                <a:cubicBezTo>
                  <a:pt x="4953000" y="926913"/>
                  <a:pt x="4927413" y="952500"/>
                  <a:pt x="489585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89635" y="4061460"/>
            <a:ext cx="32026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原理：传统数据增强（旋转/裁剪/加噪）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9635" y="4299585"/>
            <a:ext cx="30274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无法改变信号物理含义；RF-Diffusion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635" y="453771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生成全新样本来扩充真实分布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1428750"/>
            <a:ext cx="5334000" cy="4524375"/>
          </a:xfrm>
          <a:custGeom>
            <a:avLst/>
            <a:gdLst/>
            <a:ahLst/>
            <a:cxnLst/>
            <a:rect l="l" t="t" r="r" b="b"/>
            <a:pathLst>
              <a:path w="5334000" h="4524375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448175"/>
                </a:lnTo>
                <a:cubicBezTo>
                  <a:pt x="5334000" y="4490259"/>
                  <a:pt x="5299884" y="4524375"/>
                  <a:pt x="5257800" y="4524375"/>
                </a:cubicBezTo>
                <a:lnTo>
                  <a:pt x="76200" y="4524375"/>
                </a:lnTo>
                <a:cubicBezTo>
                  <a:pt x="34116" y="4524375"/>
                  <a:pt x="0" y="4490259"/>
                  <a:pt x="0" y="4448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4" name="Freeform 24"/>
          <p:cNvSpPr/>
          <p:nvPr/>
        </p:nvSpPr>
        <p:spPr>
          <a:xfrm>
            <a:off x="6286500" y="1428750"/>
            <a:ext cx="5334000" cy="381000"/>
          </a:xfrm>
          <a:custGeom>
            <a:avLst/>
            <a:gdLst/>
            <a:ahLst/>
            <a:cxnLst/>
            <a:rect l="l" t="t" r="r" b="b"/>
            <a:pathLst>
              <a:path w="5334000" h="381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304800"/>
                </a:lnTo>
                <a:cubicBezTo>
                  <a:pt x="5334000" y="346884"/>
                  <a:pt x="5299884" y="381000"/>
                  <a:pt x="5257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646289" y="1533525"/>
            <a:ext cx="26144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 2：5G FDD 信道估计</a:t>
            </a:r>
          </a:p>
        </p:txBody>
      </p:sp>
      <p:sp>
        <p:nvSpPr>
          <p:cNvPr id="27" name="Freeform 27"/>
          <p:cNvSpPr/>
          <p:nvPr/>
        </p:nvSpPr>
        <p:spPr>
          <a:xfrm>
            <a:off x="6477000" y="2000250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704850"/>
                </a:lnTo>
                <a:cubicBezTo>
                  <a:pt x="4953000" y="736413"/>
                  <a:pt x="4927413" y="762000"/>
                  <a:pt x="48958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604635" y="2156460"/>
            <a:ext cx="25016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RF-Diffusion 辅助 5G 信道估计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04635" y="2394585"/>
            <a:ext cx="22124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数据集：Argos 5G 实测数据</a:t>
            </a:r>
          </a:p>
        </p:txBody>
      </p:sp>
      <p:sp>
        <p:nvSpPr>
          <p:cNvPr id="30" name="Freeform 30"/>
          <p:cNvSpPr/>
          <p:nvPr/>
        </p:nvSpPr>
        <p:spPr>
          <a:xfrm>
            <a:off x="6477000" y="2952750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685800"/>
                </a:lnTo>
                <a:cubicBezTo>
                  <a:pt x="4953000" y="727884"/>
                  <a:pt x="4918884" y="762000"/>
                  <a:pt x="4876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762237" y="2897505"/>
            <a:ext cx="2382526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+5.97 dB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869174" y="3442335"/>
            <a:ext cx="21686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SNR 提升 vs. 当前最优方法</a:t>
            </a:r>
          </a:p>
        </p:txBody>
      </p:sp>
      <p:sp>
        <p:nvSpPr>
          <p:cNvPr id="33" name="Freeform 33"/>
          <p:cNvSpPr/>
          <p:nvPr/>
        </p:nvSpPr>
        <p:spPr>
          <a:xfrm>
            <a:off x="6477000" y="3905250"/>
            <a:ext cx="4953000" cy="952500"/>
          </a:xfrm>
          <a:custGeom>
            <a:avLst/>
            <a:gdLst/>
            <a:ahLst/>
            <a:cxnLst/>
            <a:rect l="l" t="t" r="r" b="b"/>
            <a:pathLst>
              <a:path w="4953000" h="9525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895350"/>
                </a:lnTo>
                <a:cubicBezTo>
                  <a:pt x="4953000" y="926913"/>
                  <a:pt x="4927413" y="952500"/>
                  <a:pt x="489585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604635" y="4061460"/>
            <a:ext cx="30011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原理：FDD 下行信道估计存在反馈开销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04635" y="4299585"/>
            <a:ext cx="29047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RF-Diffusion 生成信号辅助信道重建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04635" y="45377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显著提升估计信噪比</a:t>
            </a:r>
          </a:p>
        </p:txBody>
      </p:sp>
      <p:sp>
        <p:nvSpPr>
          <p:cNvPr id="37" name="Rectangle 37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09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25974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与 RF-GPT 的对比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42339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同为 "AI × RF" 方向，顶会标准 vs arXiv 的差距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3238500" cy="342900"/>
          </a:xfrm>
          <a:custGeom>
            <a:avLst/>
            <a:gdLst/>
            <a:ahLst/>
            <a:cxnLst/>
            <a:rect l="l" t="t" r="r" b="b"/>
            <a:pathLst>
              <a:path w="3238500" h="342900">
                <a:moveTo>
                  <a:pt x="38100" y="0"/>
                </a:moveTo>
                <a:lnTo>
                  <a:pt x="3200400" y="0"/>
                </a:lnTo>
                <a:cubicBezTo>
                  <a:pt x="3221442" y="0"/>
                  <a:pt x="3238500" y="17058"/>
                  <a:pt x="3238500" y="38100"/>
                </a:cubicBezTo>
                <a:lnTo>
                  <a:pt x="3238500" y="304800"/>
                </a:lnTo>
                <a:cubicBezTo>
                  <a:pt x="3238500" y="325842"/>
                  <a:pt x="3221442" y="342900"/>
                  <a:pt x="32004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807464" y="15278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对比维度</a:t>
            </a:r>
          </a:p>
        </p:txBody>
      </p:sp>
      <p:sp>
        <p:nvSpPr>
          <p:cNvPr id="11" name="Freeform 11"/>
          <p:cNvSpPr/>
          <p:nvPr/>
        </p:nvSpPr>
        <p:spPr>
          <a:xfrm>
            <a:off x="3810000" y="1428750"/>
            <a:ext cx="4000500" cy="342900"/>
          </a:xfrm>
          <a:custGeom>
            <a:avLst/>
            <a:gdLst/>
            <a:ahLst/>
            <a:cxnLst/>
            <a:rect l="l" t="t" r="r" b="b"/>
            <a:pathLst>
              <a:path w="4000500" h="34290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04800"/>
                </a:lnTo>
                <a:cubicBezTo>
                  <a:pt x="4000500" y="325842"/>
                  <a:pt x="3983442" y="342900"/>
                  <a:pt x="39624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155530" y="1527810"/>
            <a:ext cx="13094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RF-Diffusion ✅</a:t>
            </a:r>
          </a:p>
        </p:txBody>
      </p:sp>
      <p:sp>
        <p:nvSpPr>
          <p:cNvPr id="13" name="Freeform 13"/>
          <p:cNvSpPr/>
          <p:nvPr/>
        </p:nvSpPr>
        <p:spPr>
          <a:xfrm>
            <a:off x="7810500" y="1428750"/>
            <a:ext cx="3810000" cy="342900"/>
          </a:xfrm>
          <a:custGeom>
            <a:avLst/>
            <a:gdLst/>
            <a:ahLst/>
            <a:cxnLst/>
            <a:rect l="l" t="t" r="r" b="b"/>
            <a:pathLst>
              <a:path w="3810000" h="3429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04800"/>
                </a:lnTo>
                <a:cubicBezTo>
                  <a:pt x="3810000" y="325842"/>
                  <a:pt x="3792942" y="342900"/>
                  <a:pt x="3771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18412" y="1527810"/>
            <a:ext cx="7941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RF-GPT ❌</a:t>
            </a:r>
          </a:p>
        </p:txBody>
      </p:sp>
      <p:sp>
        <p:nvSpPr>
          <p:cNvPr id="15" name="Freeform 15"/>
          <p:cNvSpPr/>
          <p:nvPr/>
        </p:nvSpPr>
        <p:spPr>
          <a:xfrm>
            <a:off x="571500" y="1771650"/>
            <a:ext cx="3238500" cy="381000"/>
          </a:xfrm>
          <a:custGeom>
            <a:avLst/>
            <a:gdLst/>
            <a:ahLst/>
            <a:cxnLst/>
            <a:rect l="l" t="t" r="r" b="b"/>
            <a:pathLst>
              <a:path w="3238500" h="381000">
                <a:moveTo>
                  <a:pt x="38100" y="0"/>
                </a:moveTo>
                <a:lnTo>
                  <a:pt x="3200400" y="0"/>
                </a:lnTo>
                <a:cubicBezTo>
                  <a:pt x="3221442" y="0"/>
                  <a:pt x="3238500" y="17058"/>
                  <a:pt x="3238500" y="38100"/>
                </a:cubicBezTo>
                <a:lnTo>
                  <a:pt x="3238500" y="342900"/>
                </a:lnTo>
                <a:cubicBezTo>
                  <a:pt x="3238500" y="363942"/>
                  <a:pt x="3221442" y="381000"/>
                  <a:pt x="3200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847850" y="18978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发表会议</a:t>
            </a:r>
          </a:p>
        </p:txBody>
      </p:sp>
      <p:sp>
        <p:nvSpPr>
          <p:cNvPr id="17" name="Freeform 17"/>
          <p:cNvSpPr/>
          <p:nvPr/>
        </p:nvSpPr>
        <p:spPr>
          <a:xfrm>
            <a:off x="3810000" y="1771650"/>
            <a:ext cx="4000500" cy="381000"/>
          </a:xfrm>
          <a:custGeom>
            <a:avLst/>
            <a:gdLst/>
            <a:ahLst/>
            <a:cxnLst/>
            <a:rect l="l" t="t" r="r" b="b"/>
            <a:pathLst>
              <a:path w="4000500" h="38100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42900"/>
                </a:lnTo>
                <a:cubicBezTo>
                  <a:pt x="4000500" y="363942"/>
                  <a:pt x="3983442" y="381000"/>
                  <a:pt x="3962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972172" y="1897856"/>
            <a:ext cx="16761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MobiCom 2024 CCF-A</a:t>
            </a:r>
          </a:p>
        </p:txBody>
      </p:sp>
      <p:sp>
        <p:nvSpPr>
          <p:cNvPr id="19" name="Freeform 19"/>
          <p:cNvSpPr/>
          <p:nvPr/>
        </p:nvSpPr>
        <p:spPr>
          <a:xfrm>
            <a:off x="7810500" y="1771650"/>
            <a:ext cx="3810000" cy="381000"/>
          </a:xfrm>
          <a:custGeom>
            <a:avLst/>
            <a:gdLst/>
            <a:ahLst/>
            <a:cxnLst/>
            <a:rect l="l" t="t" r="r" b="b"/>
            <a:pathLst>
              <a:path w="3810000" h="3810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42900"/>
                </a:lnTo>
                <a:cubicBezTo>
                  <a:pt x="3810000" y="363942"/>
                  <a:pt x="3792942" y="381000"/>
                  <a:pt x="3771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310985" y="1897856"/>
            <a:ext cx="8090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arXiv only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2152650"/>
            <a:ext cx="3238500" cy="381000"/>
          </a:xfrm>
          <a:custGeom>
            <a:avLst/>
            <a:gdLst/>
            <a:ahLst/>
            <a:cxnLst/>
            <a:rect l="l" t="t" r="r" b="b"/>
            <a:pathLst>
              <a:path w="3238500" h="381000">
                <a:moveTo>
                  <a:pt x="38100" y="0"/>
                </a:moveTo>
                <a:lnTo>
                  <a:pt x="3200400" y="0"/>
                </a:lnTo>
                <a:cubicBezTo>
                  <a:pt x="3221442" y="0"/>
                  <a:pt x="3238500" y="17058"/>
                  <a:pt x="3238500" y="38100"/>
                </a:cubicBezTo>
                <a:lnTo>
                  <a:pt x="3238500" y="342900"/>
                </a:lnTo>
                <a:cubicBezTo>
                  <a:pt x="3238500" y="363942"/>
                  <a:pt x="3221442" y="381000"/>
                  <a:pt x="3200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847850" y="22788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技术贡献</a:t>
            </a:r>
          </a:p>
        </p:txBody>
      </p:sp>
      <p:sp>
        <p:nvSpPr>
          <p:cNvPr id="23" name="Freeform 23"/>
          <p:cNvSpPr/>
          <p:nvPr/>
        </p:nvSpPr>
        <p:spPr>
          <a:xfrm>
            <a:off x="3810000" y="2152650"/>
            <a:ext cx="4000500" cy="381000"/>
          </a:xfrm>
          <a:custGeom>
            <a:avLst/>
            <a:gdLst/>
            <a:ahLst/>
            <a:cxnLst/>
            <a:rect l="l" t="t" r="r" b="b"/>
            <a:pathLst>
              <a:path w="4000500" h="38100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42900"/>
                </a:lnTo>
                <a:cubicBezTo>
                  <a:pt x="4000500" y="363942"/>
                  <a:pt x="3983442" y="381000"/>
                  <a:pt x="3962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888170" y="2278856"/>
            <a:ext cx="18441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新理论 TFD + 新架构 HDT</a:t>
            </a:r>
          </a:p>
        </p:txBody>
      </p:sp>
      <p:sp>
        <p:nvSpPr>
          <p:cNvPr id="25" name="Freeform 25"/>
          <p:cNvSpPr/>
          <p:nvPr/>
        </p:nvSpPr>
        <p:spPr>
          <a:xfrm>
            <a:off x="7810500" y="2152650"/>
            <a:ext cx="3810000" cy="381000"/>
          </a:xfrm>
          <a:custGeom>
            <a:avLst/>
            <a:gdLst/>
            <a:ahLst/>
            <a:cxnLst/>
            <a:rect l="l" t="t" r="r" b="b"/>
            <a:pathLst>
              <a:path w="3810000" h="3810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42900"/>
                </a:lnTo>
                <a:cubicBezTo>
                  <a:pt x="3810000" y="363942"/>
                  <a:pt x="3792942" y="381000"/>
                  <a:pt x="3771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937188" y="2278856"/>
            <a:ext cx="15566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现成 VLM + 线性投影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2533650"/>
            <a:ext cx="3238500" cy="381000"/>
          </a:xfrm>
          <a:custGeom>
            <a:avLst/>
            <a:gdLst/>
            <a:ahLst/>
            <a:cxnLst/>
            <a:rect l="l" t="t" r="r" b="b"/>
            <a:pathLst>
              <a:path w="3238500" h="381000">
                <a:moveTo>
                  <a:pt x="38100" y="0"/>
                </a:moveTo>
                <a:lnTo>
                  <a:pt x="3200400" y="0"/>
                </a:lnTo>
                <a:cubicBezTo>
                  <a:pt x="3221442" y="0"/>
                  <a:pt x="3238500" y="17058"/>
                  <a:pt x="3238500" y="38100"/>
                </a:cubicBezTo>
                <a:lnTo>
                  <a:pt x="3238500" y="342900"/>
                </a:lnTo>
                <a:cubicBezTo>
                  <a:pt x="3238500" y="363942"/>
                  <a:pt x="3221442" y="381000"/>
                  <a:pt x="3200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847850" y="26598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数据来源</a:t>
            </a:r>
          </a:p>
        </p:txBody>
      </p:sp>
      <p:sp>
        <p:nvSpPr>
          <p:cNvPr id="29" name="Freeform 29"/>
          <p:cNvSpPr/>
          <p:nvPr/>
        </p:nvSpPr>
        <p:spPr>
          <a:xfrm>
            <a:off x="3810000" y="2533650"/>
            <a:ext cx="4000500" cy="381000"/>
          </a:xfrm>
          <a:custGeom>
            <a:avLst/>
            <a:gdLst/>
            <a:ahLst/>
            <a:cxnLst/>
            <a:rect l="l" t="t" r="r" b="b"/>
            <a:pathLst>
              <a:path w="4000500" h="38100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42900"/>
                </a:lnTo>
                <a:cubicBezTo>
                  <a:pt x="4000500" y="363942"/>
                  <a:pt x="3983442" y="381000"/>
                  <a:pt x="3962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908709" y="2659856"/>
            <a:ext cx="18030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真实 Wi-Fi / FMCW 实测</a:t>
            </a:r>
          </a:p>
        </p:txBody>
      </p:sp>
      <p:sp>
        <p:nvSpPr>
          <p:cNvPr id="31" name="Freeform 31"/>
          <p:cNvSpPr/>
          <p:nvPr/>
        </p:nvSpPr>
        <p:spPr>
          <a:xfrm>
            <a:off x="7810500" y="2533650"/>
            <a:ext cx="3810000" cy="381000"/>
          </a:xfrm>
          <a:custGeom>
            <a:avLst/>
            <a:gdLst/>
            <a:ahLst/>
            <a:cxnLst/>
            <a:rect l="l" t="t" r="r" b="b"/>
            <a:pathLst>
              <a:path w="3810000" h="3810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42900"/>
                </a:lnTo>
                <a:cubicBezTo>
                  <a:pt x="3810000" y="363942"/>
                  <a:pt x="3792942" y="381000"/>
                  <a:pt x="3771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142571" y="2659856"/>
            <a:ext cx="11458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MATLAB 全合成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2914650"/>
            <a:ext cx="3238500" cy="381000"/>
          </a:xfrm>
          <a:custGeom>
            <a:avLst/>
            <a:gdLst/>
            <a:ahLst/>
            <a:cxnLst/>
            <a:rect l="l" t="t" r="r" b="b"/>
            <a:pathLst>
              <a:path w="3238500" h="381000">
                <a:moveTo>
                  <a:pt x="38100" y="0"/>
                </a:moveTo>
                <a:lnTo>
                  <a:pt x="3200400" y="0"/>
                </a:lnTo>
                <a:cubicBezTo>
                  <a:pt x="3221442" y="0"/>
                  <a:pt x="3238500" y="17058"/>
                  <a:pt x="3238500" y="38100"/>
                </a:cubicBezTo>
                <a:lnTo>
                  <a:pt x="3238500" y="342900"/>
                </a:lnTo>
                <a:cubicBezTo>
                  <a:pt x="3238500" y="363942"/>
                  <a:pt x="3221442" y="381000"/>
                  <a:pt x="3200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847850" y="30408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对比基线</a:t>
            </a:r>
          </a:p>
        </p:txBody>
      </p:sp>
      <p:sp>
        <p:nvSpPr>
          <p:cNvPr id="35" name="Freeform 35"/>
          <p:cNvSpPr/>
          <p:nvPr/>
        </p:nvSpPr>
        <p:spPr>
          <a:xfrm>
            <a:off x="3810000" y="2914650"/>
            <a:ext cx="4000500" cy="381000"/>
          </a:xfrm>
          <a:custGeom>
            <a:avLst/>
            <a:gdLst/>
            <a:ahLst/>
            <a:cxnLst/>
            <a:rect l="l" t="t" r="r" b="b"/>
            <a:pathLst>
              <a:path w="4000500" h="38100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42900"/>
                </a:lnTo>
                <a:cubicBezTo>
                  <a:pt x="4000500" y="363942"/>
                  <a:pt x="3983442" y="381000"/>
                  <a:pt x="3962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003185" y="3040856"/>
            <a:ext cx="16141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DDPM / DCGAN / CVAE</a:t>
            </a:r>
          </a:p>
        </p:txBody>
      </p:sp>
      <p:sp>
        <p:nvSpPr>
          <p:cNvPr id="37" name="Freeform 37"/>
          <p:cNvSpPr/>
          <p:nvPr/>
        </p:nvSpPr>
        <p:spPr>
          <a:xfrm>
            <a:off x="7810500" y="2914650"/>
            <a:ext cx="3810000" cy="381000"/>
          </a:xfrm>
          <a:custGeom>
            <a:avLst/>
            <a:gdLst/>
            <a:ahLst/>
            <a:cxnLst/>
            <a:rect l="l" t="t" r="r" b="b"/>
            <a:pathLst>
              <a:path w="3810000" h="3810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42900"/>
                </a:lnTo>
                <a:cubicBezTo>
                  <a:pt x="3810000" y="363942"/>
                  <a:pt x="3792942" y="381000"/>
                  <a:pt x="3771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208294" y="304085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仅与基模对比</a:t>
            </a:r>
          </a:p>
        </p:txBody>
      </p:sp>
      <p:sp>
        <p:nvSpPr>
          <p:cNvPr id="39" name="Freeform 39"/>
          <p:cNvSpPr/>
          <p:nvPr/>
        </p:nvSpPr>
        <p:spPr>
          <a:xfrm>
            <a:off x="571500" y="3295650"/>
            <a:ext cx="3238500" cy="381000"/>
          </a:xfrm>
          <a:custGeom>
            <a:avLst/>
            <a:gdLst/>
            <a:ahLst/>
            <a:cxnLst/>
            <a:rect l="l" t="t" r="r" b="b"/>
            <a:pathLst>
              <a:path w="3238500" h="381000">
                <a:moveTo>
                  <a:pt x="38100" y="0"/>
                </a:moveTo>
                <a:lnTo>
                  <a:pt x="3200400" y="0"/>
                </a:lnTo>
                <a:cubicBezTo>
                  <a:pt x="3221442" y="0"/>
                  <a:pt x="3238500" y="17058"/>
                  <a:pt x="3238500" y="38100"/>
                </a:cubicBezTo>
                <a:lnTo>
                  <a:pt x="3238500" y="342900"/>
                </a:lnTo>
                <a:cubicBezTo>
                  <a:pt x="3238500" y="363942"/>
                  <a:pt x="3221442" y="381000"/>
                  <a:pt x="3200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683544" y="3421856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真实场景验证</a:t>
            </a:r>
          </a:p>
        </p:txBody>
      </p:sp>
      <p:sp>
        <p:nvSpPr>
          <p:cNvPr id="41" name="Freeform 41"/>
          <p:cNvSpPr/>
          <p:nvPr/>
        </p:nvSpPr>
        <p:spPr>
          <a:xfrm>
            <a:off x="3810000" y="3295650"/>
            <a:ext cx="4000500" cy="381000"/>
          </a:xfrm>
          <a:custGeom>
            <a:avLst/>
            <a:gdLst/>
            <a:ahLst/>
            <a:cxnLst/>
            <a:rect l="l" t="t" r="r" b="b"/>
            <a:pathLst>
              <a:path w="4000500" h="38100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42900"/>
                </a:lnTo>
                <a:cubicBezTo>
                  <a:pt x="4000500" y="363942"/>
                  <a:pt x="3983442" y="381000"/>
                  <a:pt x="3962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068907" y="3421856"/>
            <a:ext cx="14826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3 场景 + 2 下游任务</a:t>
            </a:r>
          </a:p>
        </p:txBody>
      </p:sp>
      <p:sp>
        <p:nvSpPr>
          <p:cNvPr id="43" name="Freeform 43"/>
          <p:cNvSpPr/>
          <p:nvPr/>
        </p:nvSpPr>
        <p:spPr>
          <a:xfrm>
            <a:off x="7810500" y="3295650"/>
            <a:ext cx="3810000" cy="381000"/>
          </a:xfrm>
          <a:custGeom>
            <a:avLst/>
            <a:gdLst/>
            <a:ahLst/>
            <a:cxnLst/>
            <a:rect l="l" t="t" r="r" b="b"/>
            <a:pathLst>
              <a:path w="3810000" h="3810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42900"/>
                </a:lnTo>
                <a:cubicBezTo>
                  <a:pt x="3810000" y="363942"/>
                  <a:pt x="3792942" y="381000"/>
                  <a:pt x="3771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290447" y="3421856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仅合成测试</a:t>
            </a:r>
          </a:p>
        </p:txBody>
      </p:sp>
      <p:sp>
        <p:nvSpPr>
          <p:cNvPr id="45" name="Freeform 45"/>
          <p:cNvSpPr/>
          <p:nvPr/>
        </p:nvSpPr>
        <p:spPr>
          <a:xfrm>
            <a:off x="571500" y="3676650"/>
            <a:ext cx="3238500" cy="381000"/>
          </a:xfrm>
          <a:custGeom>
            <a:avLst/>
            <a:gdLst/>
            <a:ahLst/>
            <a:cxnLst/>
            <a:rect l="l" t="t" r="r" b="b"/>
            <a:pathLst>
              <a:path w="3238500" h="381000">
                <a:moveTo>
                  <a:pt x="38100" y="0"/>
                </a:moveTo>
                <a:lnTo>
                  <a:pt x="3200400" y="0"/>
                </a:lnTo>
                <a:cubicBezTo>
                  <a:pt x="3221442" y="0"/>
                  <a:pt x="3238500" y="17058"/>
                  <a:pt x="3238500" y="38100"/>
                </a:cubicBezTo>
                <a:lnTo>
                  <a:pt x="3238500" y="342900"/>
                </a:lnTo>
                <a:cubicBezTo>
                  <a:pt x="3238500" y="363942"/>
                  <a:pt x="3221442" y="381000"/>
                  <a:pt x="3200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847850" y="380285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代码开源</a:t>
            </a:r>
          </a:p>
        </p:txBody>
      </p:sp>
      <p:sp>
        <p:nvSpPr>
          <p:cNvPr id="47" name="Freeform 47"/>
          <p:cNvSpPr/>
          <p:nvPr/>
        </p:nvSpPr>
        <p:spPr>
          <a:xfrm>
            <a:off x="3810000" y="3676650"/>
            <a:ext cx="4000500" cy="381000"/>
          </a:xfrm>
          <a:custGeom>
            <a:avLst/>
            <a:gdLst/>
            <a:ahLst/>
            <a:cxnLst/>
            <a:rect l="l" t="t" r="r" b="b"/>
            <a:pathLst>
              <a:path w="4000500" h="38100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42900"/>
                </a:lnTo>
                <a:cubicBezTo>
                  <a:pt x="4000500" y="363942"/>
                  <a:pt x="3983442" y="381000"/>
                  <a:pt x="39624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5475565" y="3802856"/>
            <a:ext cx="6693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GitHub ✅</a:t>
            </a:r>
          </a:p>
        </p:txBody>
      </p:sp>
      <p:sp>
        <p:nvSpPr>
          <p:cNvPr id="49" name="Freeform 49"/>
          <p:cNvSpPr/>
          <p:nvPr/>
        </p:nvSpPr>
        <p:spPr>
          <a:xfrm>
            <a:off x="7810500" y="3676650"/>
            <a:ext cx="3810000" cy="381000"/>
          </a:xfrm>
          <a:custGeom>
            <a:avLst/>
            <a:gdLst/>
            <a:ahLst/>
            <a:cxnLst/>
            <a:rect l="l" t="t" r="r" b="b"/>
            <a:pathLst>
              <a:path w="3810000" h="381000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342900"/>
                </a:lnTo>
                <a:cubicBezTo>
                  <a:pt x="3810000" y="363942"/>
                  <a:pt x="3792942" y="381000"/>
                  <a:pt x="3771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380815" y="3802856"/>
            <a:ext cx="6693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GitHub ✅</a:t>
            </a:r>
          </a:p>
        </p:txBody>
      </p:sp>
      <p:sp>
        <p:nvSpPr>
          <p:cNvPr id="51" name="Freeform 51"/>
          <p:cNvSpPr/>
          <p:nvPr/>
        </p:nvSpPr>
        <p:spPr>
          <a:xfrm>
            <a:off x="571500" y="4333875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571500" y="4333875"/>
            <a:ext cx="57150" cy="9525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790575" y="450532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小结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94385" y="4823460"/>
            <a:ext cx="60156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RF-Diffusion：CCF-A 顶会论文，新理论贡献，真实数据验证，全面基线对比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94385" y="5061585"/>
            <a:ext cx="62171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RF-GPT：思路有亮点（VLM + 频谱图），但论文完整度距离顶会标准有明显差距</a:t>
            </a:r>
          </a:p>
        </p:txBody>
      </p:sp>
      <p:sp>
        <p:nvSpPr>
          <p:cNvPr id="56" name="Rectangle 56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424952" y="65512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10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16635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总结与展望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20651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贡献 · 局限 · 未来方向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2950" y="153352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贡献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6760" y="1918335"/>
            <a:ext cx="24052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首个适配 RF 信号的扩散模型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760" y="2156460"/>
            <a:ext cx="17655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TFD 理论 + HDT 架构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760" y="2394585"/>
            <a:ext cx="28171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全面实验验证（MobiCom CCF-A）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6760" y="263271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④ 代码 + 预训练模型开源</a:t>
            </a:r>
          </a:p>
        </p:txBody>
      </p:sp>
      <p:sp>
        <p:nvSpPr>
          <p:cNvPr id="16" name="Freeform 16"/>
          <p:cNvSpPr/>
          <p:nvPr/>
        </p:nvSpPr>
        <p:spPr>
          <a:xfrm>
            <a:off x="4333875" y="142875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505325" y="153352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09135" y="1918335"/>
            <a:ext cx="21073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生成长度受限于训练序列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09135" y="2156460"/>
            <a:ext cx="2457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计算开销大（扩散模型通病）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09135" y="2394585"/>
            <a:ext cx="19232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仅验证 Wi-Fi 和 FMCW</a:t>
            </a:r>
          </a:p>
        </p:txBody>
      </p:sp>
      <p:sp>
        <p:nvSpPr>
          <p:cNvPr id="22" name="Freeform 22"/>
          <p:cNvSpPr/>
          <p:nvPr/>
        </p:nvSpPr>
        <p:spPr>
          <a:xfrm>
            <a:off x="8096250" y="142875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8096250" y="14287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267700" y="15335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未来方向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71510" y="1918335"/>
            <a:ext cx="29485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更多信号类型（5G NR/LoRa/蓝牙）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71510" y="2156460"/>
            <a:ext cx="2282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加速采样（扩散模型加速）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71510" y="2394585"/>
            <a:ext cx="2282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LLM/Agent 结合→频谱决策</a:t>
            </a:r>
          </a:p>
        </p:txBody>
      </p:sp>
      <p:sp>
        <p:nvSpPr>
          <p:cNvPr id="28" name="Rectangle 28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60070" y="65512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RF-Diffusion Presentation | MobiCom 2024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7813" y="655129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11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02153" y="1314450"/>
            <a:ext cx="987695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0" b="1" dirty="0">
                <a:solidFill>
                  <a:srgbClr val="FFFFFF">
                    <a:alpha val="15000"/>
                  </a:srgbClr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57052" y="2793206"/>
            <a:ext cx="3077897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8650" y="3518535"/>
            <a:ext cx="10347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BBDEFB"/>
                </a:solidFill>
                <a:latin typeface="Arial"/>
                <a:ea typeface="Microsoft YaHei"/>
                <a:cs typeface="Arial"/>
              </a:rPr>
              <a:t>Q &amp; A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0" y="4048125"/>
            <a:ext cx="1905000" cy="28575"/>
          </a:xfrm>
          <a:prstGeom prst="rect">
            <a:avLst/>
          </a:prstGeom>
          <a:solidFill>
            <a:srgbClr val="FF6F0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516981" y="4410075"/>
            <a:ext cx="715803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0CAF9"/>
                </a:solidFill>
                <a:latin typeface="Arial"/>
                <a:ea typeface="Microsoft YaHei"/>
                <a:cs typeface="Arial"/>
              </a:rPr>
              <a:t>RF-Diffusion: Radio Signal Generation via Time-Frequency Diffusion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61401" y="4759642"/>
            <a:ext cx="38691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ACM MobiCom 2024 | Best Artifact Award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19131" y="5585460"/>
            <a:ext cx="47537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B5F6"/>
                </a:solidFill>
                <a:latin typeface="Arial"/>
                <a:ea typeface="Microsoft YaHei"/>
                <a:cs typeface="Arial"/>
              </a:rPr>
              <a:t>github.com/mobicom24/RF-Diffusion | arXiv:2404.09140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