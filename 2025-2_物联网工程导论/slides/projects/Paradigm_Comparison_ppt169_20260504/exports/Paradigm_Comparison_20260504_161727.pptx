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417492" y="220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文献综述与对比分析</a:t>
            </a:r>
          </a:p>
        </p:txBody>
      </p:sp>
      <p:sp>
        <p:nvSpPr>
          <p:cNvPr id="6" name="Rectangle 6"/>
          <p:cNvSpPr/>
          <p:nvPr/>
        </p:nvSpPr>
        <p:spPr>
          <a:xfrm>
            <a:off x="1905000" y="2381250"/>
            <a:ext cx="5715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049780" y="2468880"/>
            <a:ext cx="56121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射频大模型的范式之争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8830" y="3107055"/>
            <a:ext cx="65401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基于 VLM 的内化感知 vs 基于智能体的工具协同</a:t>
            </a:r>
          </a:p>
        </p:txBody>
      </p:sp>
      <p:sp>
        <p:nvSpPr>
          <p:cNvPr id="9" name="Rectangle 9"/>
          <p:cNvSpPr/>
          <p:nvPr/>
        </p:nvSpPr>
        <p:spPr>
          <a:xfrm>
            <a:off x="2095500" y="3619500"/>
            <a:ext cx="3810000" cy="190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78355" y="3950018"/>
            <a:ext cx="69745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涵盖 RF-GPT、Seeing Radio、AICEBERG、WirelessAgent、raNora 等 8 项工作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461587" y="643985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物联网工程 |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0817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两种范式 · 八项工作 · 多维度对比 · 案例研究 · 未来融合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1045" y="1517332"/>
            <a:ext cx="1598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01 背景与问题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18335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LLM浪潮与射频智能的交叉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1564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两条路线的核心分歧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39458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论文全景地图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03420" y="1517332"/>
            <a:ext cx="27746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02 路线A：VLM内化感知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9135" y="1918335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RF-GPT / Seeing Radio 详解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135" y="21564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优劣分析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96250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65795" y="1517332"/>
            <a:ext cx="25595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03 路线B：智能体协同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1510" y="1918335"/>
            <a:ext cx="293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AICEBERG / WirelessAgent / raNora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1510" y="21564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优劣分析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381000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100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1045" y="3898582"/>
            <a:ext cx="16613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04 多维度对比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6760" y="4299585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10个关键维度的系统对比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760" y="45377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案例研究：同一任务的两条路径</a:t>
            </a:r>
          </a:p>
        </p:txBody>
      </p:sp>
      <p:sp>
        <p:nvSpPr>
          <p:cNvPr id="30" name="Freeform 30"/>
          <p:cNvSpPr/>
          <p:nvPr/>
        </p:nvSpPr>
        <p:spPr>
          <a:xfrm>
            <a:off x="4333875" y="381000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333875" y="38100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503420" y="3898582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05 总结展望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09135" y="429958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互补关系而非互斥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09135" y="45377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未来融合方向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背景与核心问题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3578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大模型空前成功 → 无线通信领域能否受益？→ 两条路线的分歧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2950" y="15335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大模型的成功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18335"/>
            <a:ext cx="45171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LLM：ChatGPT/GPT-4/Claude — 文本生成、推理、代码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156460"/>
            <a:ext cx="41666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VLM：Qwen2.5-VL/GPT-4o — 视觉理解、图文推理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394585"/>
            <a:ext cx="32903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Agent：工具调用、多步规划、自主决策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57950" y="15335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射频智能的特殊挑战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1760" y="1918335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RF数据高采样率、复数域、时变特性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1760" y="21564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标注数据昂贵，真实场景标签难以获取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1760" y="2394585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需要硬件控制能力（非纯感知任务）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1045" y="3631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核心分歧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4000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71500" y="4000500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254267" y="4155758"/>
            <a:ext cx="76834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大模型应该"学会"理解射频信号，还是"调用"工具来分析射频信号？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21968" y="4473892"/>
            <a:ext cx="39480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内化感知 vs 工具协同 — 两条路线的根本分歧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文献全景地图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两条路线 · 8 项工作 · 从学术到产业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48333" y="1549718"/>
            <a:ext cx="19803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86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51319" y="1549718"/>
            <a:ext cx="1804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19526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1952625"/>
            <a:ext cx="5715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92480" y="2073592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344102"/>
            <a:ext cx="2510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Khalifa University | arXiv 2026.02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290" y="2534602"/>
            <a:ext cx="3231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频谱图→VLM微调，625K合成数据，基准99.64%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9526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95262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07480" y="2073592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AICEBERG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11290" y="2344102"/>
            <a:ext cx="20585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MDPI Smart Cities | 2026.04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11290" y="2534602"/>
            <a:ext cx="29020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LLM+MCP+SCPI控制频谱仪，双服务器架构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300037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000375"/>
            <a:ext cx="5715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92480" y="3121342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Seeing Radio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6290" y="339185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同团队前序工作 | arXiv 2026.01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6290" y="3582352"/>
            <a:ext cx="26413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VLM 10%→90%调制识别，RF-GPT的前身</a:t>
            </a:r>
          </a:p>
        </p:txBody>
      </p:sp>
      <p:sp>
        <p:nvSpPr>
          <p:cNvPr id="28" name="Freeform 28"/>
          <p:cNvSpPr/>
          <p:nvPr/>
        </p:nvSpPr>
        <p:spPr>
          <a:xfrm>
            <a:off x="6286500" y="300037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286500" y="300037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07480" y="3121342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WirelessAgent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1290" y="3391852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 | 2025.05 + 2026.04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11290" y="3582352"/>
            <a:ext cx="35997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LangGraph Agent，带宽+44.4%，CSI预测RMSE-67%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048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4048125"/>
            <a:ext cx="5715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92480" y="4169092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Multimodal Wireless FM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6290" y="4439602"/>
            <a:ext cx="1061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 | 2025.11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6290" y="4630102"/>
            <a:ext cx="2879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多模态基础模型（IQ+频谱图），掩码建模</a:t>
            </a:r>
          </a:p>
        </p:txBody>
      </p:sp>
      <p:sp>
        <p:nvSpPr>
          <p:cNvPr id="38" name="Freeform 38"/>
          <p:cNvSpPr/>
          <p:nvPr/>
        </p:nvSpPr>
        <p:spPr>
          <a:xfrm>
            <a:off x="6286500" y="4048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286500" y="404812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07480" y="4169092"/>
            <a:ext cx="2363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raNora + Multi-LLM DRL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1290" y="4439602"/>
            <a:ext cx="15295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Aircom商用 | KTH学术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11290" y="4630102"/>
            <a:ext cx="2487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产业已商用落地；LLM+DRL混合架构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路线A：基于 VLM 的内化感知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1957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核心假设：让 LLM 本身"学会"看频谱图，将 RF 知识内化到模型参数中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13262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 架构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650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IQ信号 → STFT频谱图 → ViT编码器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492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→ 线性投影 → Qwen2.5-VL LLM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42210"/>
            <a:ext cx="2317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基座：Qwen2.5-VL (3B/7B)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32710"/>
            <a:ext cx="28696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数据：625K合成指令对，零人工标注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82321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训练：3 epoch, 8×H200, BF16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05575" y="1533525"/>
            <a:ext cx="2246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 五大基准结果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77000" y="1905000"/>
            <a:ext cx="4953000" cy="333375"/>
          </a:xfrm>
          <a:custGeom>
            <a:avLst/>
            <a:gdLst/>
            <a:ahLst/>
            <a:cxnLst/>
            <a:rect l="l" t="t" r="r" b="b"/>
            <a:pathLst>
              <a:path w="4953000" h="333375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95275"/>
                </a:lnTo>
                <a:cubicBezTo>
                  <a:pt x="4953000" y="316317"/>
                  <a:pt x="4935942" y="333375"/>
                  <a:pt x="4914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05588" y="20121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任务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42481" y="2012156"/>
            <a:ext cx="8825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70504" y="2012156"/>
            <a:ext cx="6927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24" name="Freeform 24"/>
          <p:cNvSpPr/>
          <p:nvPr/>
        </p:nvSpPr>
        <p:spPr>
          <a:xfrm>
            <a:off x="6477000" y="2286000"/>
            <a:ext cx="4953000" cy="266700"/>
          </a:xfrm>
          <a:custGeom>
            <a:avLst/>
            <a:gdLst/>
            <a:ahLst/>
            <a:cxnLst/>
            <a:rect l="l" t="t" r="r" b="b"/>
            <a:pathLst>
              <a:path w="4953000" h="26670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28600"/>
                </a:lnTo>
                <a:cubicBezTo>
                  <a:pt x="4953000" y="249642"/>
                  <a:pt x="4935942" y="266700"/>
                  <a:pt x="491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06540" y="23631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WBMC（调制分类）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75696" y="23631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98289" y="23631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7.0%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77000" y="2571750"/>
            <a:ext cx="4953000" cy="266700"/>
          </a:xfrm>
          <a:custGeom>
            <a:avLst/>
            <a:gdLst/>
            <a:ahLst/>
            <a:cxnLst/>
            <a:rect l="l" t="t" r="r" b="b"/>
            <a:pathLst>
              <a:path w="4953000" h="26670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28600"/>
                </a:lnTo>
                <a:cubicBezTo>
                  <a:pt x="4953000" y="249642"/>
                  <a:pt x="4935942" y="266700"/>
                  <a:pt x="491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06540" y="26489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WTR（技术识别）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91352" y="2648902"/>
            <a:ext cx="53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99.64%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82633" y="26489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~5%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77000" y="2857500"/>
            <a:ext cx="4953000" cy="266700"/>
          </a:xfrm>
          <a:custGeom>
            <a:avLst/>
            <a:gdLst/>
            <a:ahLst/>
            <a:cxnLst/>
            <a:rect l="l" t="t" r="r" b="b"/>
            <a:pathLst>
              <a:path w="4953000" h="26670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28600"/>
                </a:lnTo>
                <a:cubicBezTo>
                  <a:pt x="4953000" y="249642"/>
                  <a:pt x="4935942" y="266700"/>
                  <a:pt x="491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06540" y="29346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WBOD（重叠检测）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14034" y="29346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91.5%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98289" y="29346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~25%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2950" y="3648075"/>
            <a:ext cx="36840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同一团队的前序工作：Seeing Radio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066800"/>
                </a:lnTo>
                <a:cubicBezTo>
                  <a:pt x="5334000" y="1108884"/>
                  <a:pt x="5299884" y="1143000"/>
                  <a:pt x="5257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71500" y="4000500"/>
            <a:ext cx="57150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385" y="415671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三种可视化方式：时域轨迹 / 幅度谱图 / 联合表示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385" y="4394835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57类调制识别：VLM基模~10% → 微调后~90%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385" y="4632960"/>
            <a:ext cx="29748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证明了VLM从零学会RF感知的可能性</a:t>
            </a:r>
          </a:p>
        </p:txBody>
      </p:sp>
      <p:sp>
        <p:nvSpPr>
          <p:cNvPr id="42" name="Freeform 42"/>
          <p:cNvSpPr/>
          <p:nvPr/>
        </p:nvSpPr>
        <p:spPr>
          <a:xfrm>
            <a:off x="6286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066800"/>
                </a:lnTo>
                <a:cubicBezTo>
                  <a:pt x="5334000" y="1108884"/>
                  <a:pt x="5299884" y="1143000"/>
                  <a:pt x="5257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286500" y="4000500"/>
            <a:ext cx="5715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09385" y="41567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路线A的劣势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11290" y="4411028"/>
            <a:ext cx="3231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合成→真实的泛化鸿沟（仅MATLAB，无空口）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11290" y="46015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仅与基模对比（没和专用RF模型比）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1290" y="47920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黑箱推理、无硬件控制、仅限"识别"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4169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路线B：基于智能体的工具协同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7422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核心假设：LLM不做RF理解，而是通过工具调用获取专业分析结果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1362075"/>
            <a:ext cx="42706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AICEBERG：LLM + MCP + SCPI 控制频谱仪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257300"/>
                </a:lnTo>
                <a:cubicBezTo>
                  <a:pt x="11049000" y="1299384"/>
                  <a:pt x="11014884" y="1333500"/>
                  <a:pt x="10972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714500"/>
            <a:ext cx="57150" cy="133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2480" y="185451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架构：三层次 + 双服务器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56826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用户自然语言 → LLM推理层 → MCP桥接层 → SCPI硬件控制层 → 频谱分析仪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23160"/>
            <a:ext cx="54460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双服务器设计：执行服务器(操作) + 安全服务器(参数校验/边界检查)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89860"/>
            <a:ext cx="5586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意义：第一次把 LLM + 硬件控制 完整打通，实现了"说人话操控频谱仪"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950" y="3267075"/>
            <a:ext cx="53632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WirelessAgent：LangGraph 驱动的无线网络 Agent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3619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257300"/>
                </a:lnTo>
                <a:cubicBezTo>
                  <a:pt x="5334000" y="1299384"/>
                  <a:pt x="5299884" y="1333500"/>
                  <a:pt x="5257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3619500"/>
            <a:ext cx="57150" cy="133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2480" y="37595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四模块认知架构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385" y="4061460"/>
            <a:ext cx="20372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感知 → 记忆 → 规划 → 行动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4385" y="4328160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网络切片带宽利用率 +44.4%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4385" y="459486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仅低于最优解 4.3%，代码开源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3619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257300"/>
                </a:lnTo>
                <a:cubicBezTo>
                  <a:pt x="5334000" y="1299384"/>
                  <a:pt x="5299884" y="1333500"/>
                  <a:pt x="5257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86500" y="3619500"/>
            <a:ext cx="57150" cy="133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07480" y="37595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WirelessAgent R1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09385" y="4061460"/>
            <a:ext cx="27382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CSI缺失条件下 + Agent + 预测模型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09385" y="432816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RMSE 降低 67% (vs 传统方法)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09385" y="4594860"/>
            <a:ext cx="15727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基于 Coze 平台搭建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7390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路线B（续）：产业落地与新架构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342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商用产品 + 学术前沿 — 路线B已经进入产业化阶段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46501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raNora — Aircom 商用 Agent AI（2026.03）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5454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首个商用的电信 Agent AI 平台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35093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 Agent 协作：数据库Agent + 覆盖Agent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功能：合规审计、站点规划、覆盖分析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32710"/>
            <a:ext cx="28872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基于电信领域训练的 LLM 推理引擎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918460"/>
            <a:ext cx="32465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意义：证明 Agent 路线在工业场景可落地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05575" y="1533525"/>
            <a:ext cx="44776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Multi-LLM Agent DRL（KTH, 2025-2026）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19183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每个基站/UE 部署一个 LLM 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1564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混合架构：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2260" y="239458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- LLM 做高层：协商、合作、策略适配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2260" y="2632710"/>
            <a:ext cx="27995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- DRL 做低层：功率分配、波束赋形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9385" y="291846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面向 6G 的可扩展方案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2950" y="3648075"/>
            <a:ext cx="13147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路线B的优势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00050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000500"/>
            <a:ext cx="57150" cy="1714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4385" y="4156710"/>
            <a:ext cx="37021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可调用现成工具（信号处理/小模型/数据库）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4385" y="4394835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推理过程可审计、可溯源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4385" y="46329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扩展灵活：新任务 = 新工具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4385" y="4871085"/>
            <a:ext cx="27294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可控制硬件设备（频谱仪/基站）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4385" y="5109210"/>
            <a:ext cx="21598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已有商用落地（raNora）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6286500" y="400050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4000500"/>
            <a:ext cx="57150" cy="1714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509385" y="41567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路线B的劣势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11290" y="4411028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系统架构复杂（多组件编排）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1290" y="46491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延迟较高（多轮工具调用）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11290" y="4887278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LLM幻觉风险（需校验机制）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1290" y="5125402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学术发表较难（偏工程实现）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多维度对比分析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10个关键维度 · 两条路线的系统对比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2857500" cy="342900"/>
          </a:xfrm>
          <a:custGeom>
            <a:avLst/>
            <a:gdLst/>
            <a:ahLst/>
            <a:cxnLst/>
            <a:rect l="l" t="t" r="r" b="b"/>
            <a:pathLst>
              <a:path w="2857500" h="34290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04800"/>
                </a:lnTo>
                <a:cubicBezTo>
                  <a:pt x="2857500" y="325842"/>
                  <a:pt x="2840442" y="342900"/>
                  <a:pt x="2819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40919" y="15359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1" name="Freeform 11"/>
          <p:cNvSpPr/>
          <p:nvPr/>
        </p:nvSpPr>
        <p:spPr>
          <a:xfrm>
            <a:off x="3429000" y="1428750"/>
            <a:ext cx="4191000" cy="342900"/>
          </a:xfrm>
          <a:custGeom>
            <a:avLst/>
            <a:gdLst/>
            <a:ahLst/>
            <a:cxnLst/>
            <a:rect l="l" t="t" r="r" b="b"/>
            <a:pathLst>
              <a:path w="4191000" h="34290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04800"/>
                </a:lnTo>
                <a:cubicBezTo>
                  <a:pt x="4191000" y="325842"/>
                  <a:pt x="4173942" y="342900"/>
                  <a:pt x="4152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699361" y="153590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0" y="1428750"/>
            <a:ext cx="4000500" cy="342900"/>
          </a:xfrm>
          <a:custGeom>
            <a:avLst/>
            <a:gdLst/>
            <a:ahLst/>
            <a:cxnLst/>
            <a:rect l="l" t="t" r="r" b="b"/>
            <a:pathLst>
              <a:path w="4000500" h="3429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04800"/>
                </a:lnTo>
                <a:cubicBezTo>
                  <a:pt x="4000500" y="325842"/>
                  <a:pt x="3983442" y="342900"/>
                  <a:pt x="3962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68433" y="1535906"/>
            <a:ext cx="15036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17716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680210" y="19059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</a:t>
            </a:r>
          </a:p>
        </p:txBody>
      </p:sp>
      <p:sp>
        <p:nvSpPr>
          <p:cNvPr id="17" name="Freeform 17"/>
          <p:cNvSpPr/>
          <p:nvPr/>
        </p:nvSpPr>
        <p:spPr>
          <a:xfrm>
            <a:off x="3429000" y="17716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53202" y="191404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让LLM学会看频谱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0" y="17716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35354" y="1914049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让LLM调用工具分析频谱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1336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680210" y="2267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数据需求</a:t>
            </a:r>
          </a:p>
        </p:txBody>
      </p:sp>
      <p:sp>
        <p:nvSpPr>
          <p:cNvPr id="23" name="Freeform 23"/>
          <p:cNvSpPr/>
          <p:nvPr/>
        </p:nvSpPr>
        <p:spPr>
          <a:xfrm>
            <a:off x="3429000" y="21336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928283" y="2275999"/>
            <a:ext cx="119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高（625K合成对）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7620000" y="21336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67073" y="22759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低（工具已有能力）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24955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26857" y="26298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真实信号泛化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24955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857083" y="2637949"/>
            <a:ext cx="13348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差（合成→真实gap）</a:t>
            </a:r>
          </a:p>
        </p:txBody>
      </p:sp>
      <p:sp>
        <p:nvSpPr>
          <p:cNvPr id="31" name="Freeform 31"/>
          <p:cNvSpPr/>
          <p:nvPr/>
        </p:nvSpPr>
        <p:spPr>
          <a:xfrm>
            <a:off x="7620000" y="24955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967073" y="26379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好（工具直接处理）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28575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680210" y="2991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硬件控制</a:t>
            </a:r>
          </a:p>
        </p:txBody>
      </p:sp>
      <p:sp>
        <p:nvSpPr>
          <p:cNvPr id="35" name="Freeform 35"/>
          <p:cNvSpPr/>
          <p:nvPr/>
        </p:nvSpPr>
        <p:spPr>
          <a:xfrm>
            <a:off x="3429000" y="28575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298519" y="29998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不支持</a:t>
            </a:r>
          </a:p>
        </p:txBody>
      </p:sp>
      <p:sp>
        <p:nvSpPr>
          <p:cNvPr id="37" name="Freeform 37"/>
          <p:cNvSpPr/>
          <p:nvPr/>
        </p:nvSpPr>
        <p:spPr>
          <a:xfrm>
            <a:off x="7620000" y="28575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45392" y="2999899"/>
            <a:ext cx="11497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支持（SCPI/API）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32194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680210" y="33537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可解释性</a:t>
            </a:r>
          </a:p>
        </p:txBody>
      </p:sp>
      <p:sp>
        <p:nvSpPr>
          <p:cNvPr id="41" name="Freeform 41"/>
          <p:cNvSpPr/>
          <p:nvPr/>
        </p:nvSpPr>
        <p:spPr>
          <a:xfrm>
            <a:off x="3429000" y="32194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369719" y="33618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黑箱</a:t>
            </a:r>
          </a:p>
        </p:txBody>
      </p:sp>
      <p:sp>
        <p:nvSpPr>
          <p:cNvPr id="43" name="Freeform 43"/>
          <p:cNvSpPr/>
          <p:nvPr/>
        </p:nvSpPr>
        <p:spPr>
          <a:xfrm>
            <a:off x="7620000" y="32194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180671" y="33618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可审计推理链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35814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603534" y="37157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扩展新任务</a:t>
            </a:r>
          </a:p>
        </p:txBody>
      </p:sp>
      <p:sp>
        <p:nvSpPr>
          <p:cNvPr id="47" name="Freeform 47"/>
          <p:cNvSpPr/>
          <p:nvPr/>
        </p:nvSpPr>
        <p:spPr>
          <a:xfrm>
            <a:off x="3429000" y="35814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156121" y="37237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需重新微调</a:t>
            </a:r>
          </a:p>
        </p:txBody>
      </p:sp>
      <p:sp>
        <p:nvSpPr>
          <p:cNvPr id="49" name="Freeform 49"/>
          <p:cNvSpPr/>
          <p:nvPr/>
        </p:nvSpPr>
        <p:spPr>
          <a:xfrm>
            <a:off x="7620000" y="35814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251871" y="37237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加工具即可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39433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680210" y="4077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安全可控</a:t>
            </a:r>
          </a:p>
        </p:txBody>
      </p:sp>
      <p:sp>
        <p:nvSpPr>
          <p:cNvPr id="53" name="Freeform 53"/>
          <p:cNvSpPr/>
          <p:nvPr/>
        </p:nvSpPr>
        <p:spPr>
          <a:xfrm>
            <a:off x="3429000" y="39433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084921" y="4085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模型可能幻觉</a:t>
            </a:r>
          </a:p>
        </p:txBody>
      </p:sp>
      <p:sp>
        <p:nvSpPr>
          <p:cNvPr id="55" name="Freeform 55"/>
          <p:cNvSpPr/>
          <p:nvPr/>
        </p:nvSpPr>
        <p:spPr>
          <a:xfrm>
            <a:off x="7620000" y="39433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109472" y="40857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工具调用可校验</a:t>
            </a:r>
          </a:p>
        </p:txBody>
      </p:sp>
      <p:sp>
        <p:nvSpPr>
          <p:cNvPr id="57" name="Freeform 57"/>
          <p:cNvSpPr/>
          <p:nvPr/>
        </p:nvSpPr>
        <p:spPr>
          <a:xfrm>
            <a:off x="571500" y="43053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603534" y="44396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系统复杂度</a:t>
            </a:r>
          </a:p>
        </p:txBody>
      </p:sp>
      <p:sp>
        <p:nvSpPr>
          <p:cNvPr id="59" name="Freeform 59"/>
          <p:cNvSpPr/>
          <p:nvPr/>
        </p:nvSpPr>
        <p:spPr>
          <a:xfrm>
            <a:off x="3429000" y="43053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013722" y="44476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低（单一模型）</a:t>
            </a:r>
          </a:p>
        </p:txBody>
      </p:sp>
      <p:sp>
        <p:nvSpPr>
          <p:cNvPr id="61" name="Freeform 61"/>
          <p:cNvSpPr/>
          <p:nvPr/>
        </p:nvSpPr>
        <p:spPr>
          <a:xfrm>
            <a:off x="7620000" y="43053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109472" y="44476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中高（多组件）</a:t>
            </a:r>
          </a:p>
        </p:txBody>
      </p:sp>
      <p:sp>
        <p:nvSpPr>
          <p:cNvPr id="63" name="Freeform 63"/>
          <p:cNvSpPr/>
          <p:nvPr/>
        </p:nvSpPr>
        <p:spPr>
          <a:xfrm>
            <a:off x="571500" y="46672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680210" y="48015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产业落地</a:t>
            </a:r>
          </a:p>
        </p:txBody>
      </p:sp>
      <p:sp>
        <p:nvSpPr>
          <p:cNvPr id="65" name="Freeform 65"/>
          <p:cNvSpPr/>
          <p:nvPr/>
        </p:nvSpPr>
        <p:spPr>
          <a:xfrm>
            <a:off x="3429000" y="46672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440918" y="4809649"/>
            <a:ext cx="1671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无</a:t>
            </a:r>
          </a:p>
        </p:txBody>
      </p:sp>
      <p:sp>
        <p:nvSpPr>
          <p:cNvPr id="67" name="Freeform 67"/>
          <p:cNvSpPr/>
          <p:nvPr/>
        </p:nvSpPr>
        <p:spPr>
          <a:xfrm>
            <a:off x="7620000" y="46672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945713" y="4809649"/>
            <a:ext cx="13490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已有商用（raNora）</a:t>
            </a:r>
          </a:p>
        </p:txBody>
      </p:sp>
      <p:sp>
        <p:nvSpPr>
          <p:cNvPr id="69" name="Freeform 69"/>
          <p:cNvSpPr/>
          <p:nvPr/>
        </p:nvSpPr>
        <p:spPr>
          <a:xfrm>
            <a:off x="571500" y="50292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680210" y="51635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学术发表</a:t>
            </a:r>
          </a:p>
        </p:txBody>
      </p:sp>
      <p:sp>
        <p:nvSpPr>
          <p:cNvPr id="71" name="Freeform 71"/>
          <p:cNvSpPr/>
          <p:nvPr/>
        </p:nvSpPr>
        <p:spPr>
          <a:xfrm>
            <a:off x="3429000" y="50292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4871323" y="51715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容易（新微调方法）</a:t>
            </a:r>
          </a:p>
        </p:txBody>
      </p:sp>
      <p:sp>
        <p:nvSpPr>
          <p:cNvPr id="73" name="Freeform 73"/>
          <p:cNvSpPr/>
          <p:nvPr/>
        </p:nvSpPr>
        <p:spPr>
          <a:xfrm>
            <a:off x="7620000" y="50292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9109472" y="51715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较难（偏工程）</a:t>
            </a:r>
          </a:p>
        </p:txBody>
      </p:sp>
      <p:sp>
        <p:nvSpPr>
          <p:cNvPr id="75" name="Rectangle 7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08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5957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案例研究：检测非法干扰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3633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同一任务："分析 2.4GHz 频段是否存在非法干扰"——两条路线的不同做法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38315" y="1533525"/>
            <a:ext cx="2200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08835"/>
            <a:ext cx="190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SDR采集IQ → 转频谱图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299335"/>
            <a:ext cx="31501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问VLM："这个频段有没有异常干扰？"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2585085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VLM输出：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8575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1540" y="298227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"检测到非WiFi信号，疑似干扰……"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524250"/>
            <a:ext cx="4953000" cy="857250"/>
          </a:xfrm>
          <a:custGeom>
            <a:avLst/>
            <a:gdLst/>
            <a:ahLst/>
            <a:cxnLst/>
            <a:rect l="l" t="t" r="r" b="b"/>
            <a:pathLst>
              <a:path w="4953000" h="857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00100"/>
                </a:lnTo>
                <a:cubicBezTo>
                  <a:pt x="4953000" y="831663"/>
                  <a:pt x="4927413" y="857250"/>
                  <a:pt x="48958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90588" y="36695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540" y="388715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模型没受过真实干扰训练，可能误判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1540" y="4077652"/>
            <a:ext cx="27793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没有法规数据库对照，无法判断"非法"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51077" y="1533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77000" y="200025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04635" y="2108835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Agent解析意图 → 调用频谱分析API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04635" y="2299335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工具返回各信道占用/功率/信号类型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0" y="266700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04635" y="2775585"/>
            <a:ext cx="2878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Agent调用FCC数据库查询频率分配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04635" y="2966085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综合判断，输出带证据的报告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33375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06540" y="3458528"/>
            <a:ext cx="27256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"信道6存在未授权信号，功率-30dBm，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6540" y="3629978"/>
            <a:ext cx="1184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建议进一步排查"</a:t>
            </a:r>
          </a:p>
        </p:txBody>
      </p:sp>
      <p:sp>
        <p:nvSpPr>
          <p:cNvPr id="36" name="Freeform 36"/>
          <p:cNvSpPr/>
          <p:nvPr/>
        </p:nvSpPr>
        <p:spPr>
          <a:xfrm>
            <a:off x="6477000" y="400050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609600"/>
                </a:lnTo>
                <a:cubicBezTo>
                  <a:pt x="4953000" y="641163"/>
                  <a:pt x="4927413" y="666750"/>
                  <a:pt x="48958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 w="9525">
            <a:solidFill>
              <a:srgbClr val="0066C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605588" y="41457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优势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06540" y="436340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每步可审计、可溯源、可人工干预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06540" y="453485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结合法规数据库，判断有据可依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09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5619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对比总结：不是互斥，而是互补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9000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"内化感知"适合做识别型任务；"工具协同"适合做推理+控制型任务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1544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路线A的生态位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纯识别任务（调制分类、技术识别）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端到端场景，一个模型搞定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快速原型验证、学术论文发表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8033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但距离真实部署还有距离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05575" y="1533525"/>
            <a:ext cx="1544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路线B的生态位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1918335"/>
            <a:ext cx="2904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需要推理+决策的任务（干扰排查）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156460"/>
            <a:ext cx="23789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需要访问数据库/法规的场景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394585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需要控制硬件的场景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268033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已有商用落地，近期更实用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4000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4000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699243" y="4168140"/>
            <a:ext cx="47935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未来融合架构：Agent 为主，VLM 为辅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98682" y="4569142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 Agent（推理/编排/决策）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4095" y="4807268"/>
            <a:ext cx="7638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↓ 调用 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42420" y="5045392"/>
            <a:ext cx="47071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VLM（频谱识别） + 传统信号处理 + 数据库 + 硬件API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61928" y="5347335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各路工具各司其职，Agent 做大脑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核心洞见与判断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为什么智能体路线在工程上更占优？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35230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洞见一：LLM 的长板不在信号处理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LLM擅长的是推理、编排、对话、知识检索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信号分析是传统方法和小模型的优势领域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33078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→ 扬长避短，让LLM做大脑，让工具做感知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42875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05575" y="1533525"/>
            <a:ext cx="34885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洞见二：现实世界的信号是开放的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9385" y="1918335"/>
            <a:ext cx="30274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真实RF环境有无穷多种干扰和异常模式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21564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VLM无法通过有限训练数据覆盖所有情况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39458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→ 工具调用的灵活性是端到端模型做不到的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429000"/>
            <a:ext cx="11049000" cy="1714500"/>
          </a:xfrm>
          <a:custGeom>
            <a:avLst/>
            <a:gdLst/>
            <a:ahLst/>
            <a:cxnLst/>
            <a:rect l="l" t="t" r="r" b="b"/>
            <a:pathLst>
              <a:path w="11049000" h="1714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638300"/>
                </a:lnTo>
                <a:cubicBezTo>
                  <a:pt x="11049000" y="1680384"/>
                  <a:pt x="11014884" y="1714500"/>
                  <a:pt x="10972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3429000"/>
            <a:ext cx="57150" cy="1714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90575" y="3600450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480" y="3930968"/>
            <a:ext cx="61366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1. VLM内化感知路线：学术上有价值，证明了"VLM可以学会看频谱"，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480" y="4188142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但距离真实工程部署还有较大差距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2480" y="4473892"/>
            <a:ext cx="48451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2. 智能体协同路线：产业上更务实，已有商用产品落地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2480" y="4759642"/>
            <a:ext cx="62647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3. 两条路线不是互斥的，未来属于 Agent + VLM + 传统工具的融合架构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7813" y="65512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未来方向与开放问题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两个范式都远未成熟，以下是值得关注的方向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13147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路线A的未来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真实空口数据验证（最重要）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多模态融合（IQ+频谱图+文本）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27820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更大基座模型的 scaling law 验证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428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05575" y="1533525"/>
            <a:ext cx="13147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路线B的未来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9385" y="1918335"/>
            <a:ext cx="22913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Agent 安全性与可靠性增强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2156460"/>
            <a:ext cx="2317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标准化协议（MCP for RF）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394585"/>
            <a:ext cx="2168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 Agent 协作与竞争机制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238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3238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90575" y="3409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关键开放问题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480" y="3759518"/>
            <a:ext cx="4342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Q1: VLM能否在真实RF数据上达到可用的准确率？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480" y="4045268"/>
            <a:ext cx="47761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Q2: Agent 系统如何保证LLM幻觉不会导致错误操作？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2480" y="4331018"/>
            <a:ext cx="4933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Q3: 融合架构中，VLM应该作为Agent的一个"工具"吗？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2480" y="4616768"/>
            <a:ext cx="40367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Q4: 6G AI-native 网络最终会选择哪条路线？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参考文献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" y="1061085"/>
            <a:ext cx="1760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333500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95350"/>
                </a:lnTo>
                <a:cubicBezTo>
                  <a:pt x="5334000" y="926913"/>
                  <a:pt x="5308413" y="952500"/>
                  <a:pt x="5276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01040" y="1486852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[1] Zou et al. RF-GPT: Teaching AI to See the Wireless World.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1992" y="168544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arXiv:2602.14833, 2026.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1040" y="1905952"/>
            <a:ext cx="4680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[2] Zou et al. Seeing Radio: From Zero RF Priors to Explainable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085499"/>
            <a:ext cx="39976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Modulation Recognition with VLM. arXiv:2601.13157, 2026.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0" y="1333500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95350"/>
                </a:lnTo>
                <a:cubicBezTo>
                  <a:pt x="5334000" y="926913"/>
                  <a:pt x="5308413" y="952500"/>
                  <a:pt x="5276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16040" y="1486852"/>
            <a:ext cx="3270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[3] Multimodal Wireless Foundation Models.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16992" y="1685449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arXiv:2511.15162, 2025.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6040" y="1982152"/>
            <a:ext cx="46272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[4] When Does Multimodal AI Help? Diagnostic Complementarity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4618" y="2161699"/>
            <a:ext cx="35704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of VLMs and CNNs for Spectrum Management. 2026.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2585085"/>
            <a:ext cx="1603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2857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276350"/>
                </a:lnTo>
                <a:cubicBezTo>
                  <a:pt x="5334000" y="1307913"/>
                  <a:pt x="5308413" y="1333500"/>
                  <a:pt x="5276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01040" y="3010852"/>
            <a:ext cx="4611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[5] Popescu &amp; Stanescu. AICEBERG: Agentic AI for Autonomous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618" y="3190399"/>
            <a:ext cx="30080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Radio Monitoring. MDPI Smart Cities, 2026.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1040" y="3429952"/>
            <a:ext cx="49722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[6] WirelessAgent: LLM Agents for Intelligent Wireless Networks.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618" y="360949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arXiv:2505.01074, 2025.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3849052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[7] WirelessAgent R1: Unified Agent for Resource Allocation.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402859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arXiv:2604.17440, 2026.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2857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276350"/>
                </a:lnTo>
                <a:cubicBezTo>
                  <a:pt x="5334000" y="1307913"/>
                  <a:pt x="5308413" y="1333500"/>
                  <a:pt x="5276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416040" y="3010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[8] Li et al. Multi-LLM Agent DRL for Next-Generation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4618" y="3190399"/>
            <a:ext cx="39692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 Communication Systems. KTH/NAISS, 2025-2026.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16040" y="3429952"/>
            <a:ext cx="46962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[9] Aircom. raNora: Agentic AI for Autonomous Radio Planning.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4618" y="3609499"/>
            <a:ext cx="13419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商用平台, 2026.03.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29071" y="2404110"/>
            <a:ext cx="313385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6133" y="3169920"/>
            <a:ext cx="91973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714750"/>
            <a:ext cx="1905000" cy="190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981575" y="412432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射频大模型的范式之争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27385" y="4442460"/>
            <a:ext cx="37372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 VLM 的内化感知 vs 基于智能体的工具协同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