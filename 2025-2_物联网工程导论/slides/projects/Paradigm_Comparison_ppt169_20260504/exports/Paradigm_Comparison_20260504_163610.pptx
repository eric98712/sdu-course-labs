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79475" y="220028"/>
            <a:ext cx="15448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物联网工程 | 文献综述</a:t>
            </a:r>
          </a:p>
        </p:txBody>
      </p:sp>
      <p:sp>
        <p:nvSpPr>
          <p:cNvPr id="6" name="Rectangle 6"/>
          <p:cNvSpPr/>
          <p:nvPr/>
        </p:nvSpPr>
        <p:spPr>
          <a:xfrm>
            <a:off x="1905000" y="2381250"/>
            <a:ext cx="5715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2049780" y="2468880"/>
            <a:ext cx="561213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射频大模型的范式之争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68830" y="3107055"/>
            <a:ext cx="65401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基于 VLM 的内化感知 vs 基于智能体的工具协同</a:t>
            </a:r>
          </a:p>
        </p:txBody>
      </p:sp>
      <p:sp>
        <p:nvSpPr>
          <p:cNvPr id="9" name="Rectangle 9"/>
          <p:cNvSpPr/>
          <p:nvPr/>
        </p:nvSpPr>
        <p:spPr>
          <a:xfrm>
            <a:off x="2095500" y="3619500"/>
            <a:ext cx="3810000" cy="190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078355" y="3950018"/>
            <a:ext cx="81280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总览 · 路线A（RF-GPT/Seeing Radio）· 路线B（WirelessAgent/AICEBERG/raNora）· 对比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13977" y="64398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30594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汇报提纲（总-分-总）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6917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总览 · 路线A详解 · 路线B详解 · 综合比较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1045" y="153638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总：背景与路线概览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19469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射频大模型的必要性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220408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两条路线的核心分歧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46126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文献全景地图</a:t>
            </a:r>
          </a:p>
        </p:txBody>
      </p:sp>
      <p:sp>
        <p:nvSpPr>
          <p:cNvPr id="15" name="Freeform 15"/>
          <p:cNvSpPr/>
          <p:nvPr/>
        </p:nvSpPr>
        <p:spPr>
          <a:xfrm>
            <a:off x="4333875" y="14287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333875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503420" y="1536382"/>
            <a:ext cx="29644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分：路线A — VLM内化感知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9135" y="1946910"/>
            <a:ext cx="20284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RF-GPT：架构/数据/实验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9135" y="2204085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Seeing Radio：前序工作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9135" y="24612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路线小结</a:t>
            </a:r>
          </a:p>
        </p:txBody>
      </p:sp>
      <p:sp>
        <p:nvSpPr>
          <p:cNvPr id="21" name="Freeform 21"/>
          <p:cNvSpPr/>
          <p:nvPr/>
        </p:nvSpPr>
        <p:spPr>
          <a:xfrm>
            <a:off x="8096250" y="142875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809625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65795" y="1536382"/>
            <a:ext cx="27493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分：路线B — 智能体协同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71510" y="1946910"/>
            <a:ext cx="21598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WirelessAgent / AICEBERG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71510" y="2204085"/>
            <a:ext cx="20021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raNora / Multi-LLM DRL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1510" y="24612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路线小结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3810000"/>
            <a:ext cx="3524250" cy="2095500"/>
          </a:xfrm>
          <a:custGeom>
            <a:avLst/>
            <a:gdLst/>
            <a:ahLst/>
            <a:cxnLst/>
            <a:rect l="l" t="t" r="r" b="b"/>
            <a:pathLst>
              <a:path w="3524250" h="2095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2019300"/>
                </a:lnTo>
                <a:cubicBezTo>
                  <a:pt x="3524250" y="2061384"/>
                  <a:pt x="3490134" y="2095500"/>
                  <a:pt x="3448050" y="2095500"/>
                </a:cubicBezTo>
                <a:lnTo>
                  <a:pt x="76200" y="2095500"/>
                </a:lnTo>
                <a:cubicBezTo>
                  <a:pt x="34116" y="2095500"/>
                  <a:pt x="0" y="2061384"/>
                  <a:pt x="0" y="2019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71500" y="381000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41045" y="3917632"/>
            <a:ext cx="23191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总：综合比较与展望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6760" y="4328160"/>
            <a:ext cx="18093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多维度对比 + 案例研究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6760" y="4585335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核心洞见与结论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6760" y="48425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未来方向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3076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背景与核心问题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35781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大模型空前成功 → 无线通信领域能否受益？→ 两条路线的分歧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42950" y="15335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大模型的成功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1918335"/>
            <a:ext cx="45171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LLM：ChatGPT/GPT-4/Claude — 文本生成、推理、代码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2156460"/>
            <a:ext cx="41666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VLM：Qwen2.5-VL/GPT-4o — 视觉理解、图文推理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2394585"/>
            <a:ext cx="32903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Agent：工具调用、多步规划、自主决策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57950" y="153352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射频智能的特殊挑战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61760" y="1918335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RF数据高采样率、复数域、时变特性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1760" y="215646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标注数据昂贵，真实场景标签难以获取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1760" y="2394585"/>
            <a:ext cx="2983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需要硬件控制能力（非纯感知任务）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1045" y="36318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核心分歧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" y="4000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71500" y="4000500"/>
            <a:ext cx="57150" cy="952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254267" y="4155758"/>
            <a:ext cx="76834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大模型应该"学会"理解射频信号，还是"调用"工具来分析射频信号？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121968" y="4473892"/>
            <a:ext cx="39480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内化感知 vs 工具协同 — 两条路线的根本分歧</a:t>
            </a:r>
          </a:p>
        </p:txBody>
      </p:sp>
      <p:sp>
        <p:nvSpPr>
          <p:cNvPr id="26" name="Rectangle 26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总览：背景与两条路线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4431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大模型浪潮 → 射频智能需求 → 两条技术路线的分歧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828800"/>
                </a:lnTo>
                <a:cubicBezTo>
                  <a:pt x="3429000" y="1870884"/>
                  <a:pt x="3394884" y="1905000"/>
                  <a:pt x="335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3F2FD"/>
          </a:solidFill>
          <a:ln w="9525">
            <a:solidFill>
              <a:srgbClr val="0066CC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1905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329583" y="1600200"/>
            <a:ext cx="19128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LLM / VLM 的成功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7712" y="1955006"/>
            <a:ext cx="2427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文本：ChatGPT/GPT-4/Claude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7712" y="2193131"/>
            <a:ext cx="2263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视觉：Qwen2.5-VL/GPT-4o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7712" y="2431256"/>
            <a:ext cx="21892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Agent：工具调用/多步推理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2725102"/>
            <a:ext cx="15371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→ 射频领域能否受益？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42875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1828800"/>
                </a:lnTo>
                <a:cubicBezTo>
                  <a:pt x="3429000" y="1870884"/>
                  <a:pt x="3394884" y="1905000"/>
                  <a:pt x="335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3E0"/>
          </a:solidFill>
          <a:ln w="9525">
            <a:solidFill>
              <a:srgbClr val="FFA50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333875" y="1428750"/>
            <a:ext cx="57150" cy="1905000"/>
          </a:xfrm>
          <a:prstGeom prst="rect">
            <a:avLst/>
          </a:prstGeom>
          <a:solidFill>
            <a:srgbClr val="FFA5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994196" y="1600200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65100"/>
                </a:solidFill>
                <a:latin typeface="Arial"/>
                <a:ea typeface="Microsoft YaHei"/>
                <a:cs typeface="Arial"/>
              </a:rPr>
              <a:t>射频智能面临的挑战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10088" y="1955006"/>
            <a:ext cx="23370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RF数据高采样率/复数域/时变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0088" y="2193131"/>
            <a:ext cx="1811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真实标注数据极度匮乏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0088" y="2431256"/>
            <a:ext cx="14826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需要硬件控制能力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11040" y="2725102"/>
            <a:ext cx="16828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→ 需要AI与RF的深度融合</a:t>
            </a:r>
          </a:p>
        </p:txBody>
      </p:sp>
      <p:sp>
        <p:nvSpPr>
          <p:cNvPr id="23" name="Freeform 23"/>
          <p:cNvSpPr/>
          <p:nvPr/>
        </p:nvSpPr>
        <p:spPr>
          <a:xfrm>
            <a:off x="8096250" y="1428750"/>
            <a:ext cx="3524250" cy="1905000"/>
          </a:xfrm>
          <a:custGeom>
            <a:avLst/>
            <a:gdLst/>
            <a:ahLst/>
            <a:cxnLst/>
            <a:rect l="l" t="t" r="r" b="b"/>
            <a:pathLst>
              <a:path w="3524250" h="1905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828800"/>
                </a:lnTo>
                <a:cubicBezTo>
                  <a:pt x="3524250" y="1870884"/>
                  <a:pt x="3490134" y="1905000"/>
                  <a:pt x="344805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096250" y="1428750"/>
            <a:ext cx="57150" cy="190500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79268" y="1600200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核心分歧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72462" y="2021681"/>
            <a:ext cx="15730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16290" y="2248852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让LLM学会看频谱图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72462" y="2526506"/>
            <a:ext cx="14333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16290" y="2753678"/>
            <a:ext cx="16905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让LLM调用工具分析频谱</a:t>
            </a:r>
          </a:p>
        </p:txBody>
      </p:sp>
      <p:sp>
        <p:nvSpPr>
          <p:cNvPr id="30" name="Freeform 30"/>
          <p:cNvSpPr/>
          <p:nvPr/>
        </p:nvSpPr>
        <p:spPr>
          <a:xfrm>
            <a:off x="571500" y="3619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571500" y="3619500"/>
            <a:ext cx="57150" cy="1238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568982" y="3774758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文献全景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72993" y="4137660"/>
            <a:ext cx="54460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路线A：RF-GPT (Khalifa) · Seeing Radio · Multimodal Wireless FM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351085" y="4423410"/>
            <a:ext cx="54898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路线B：WirelessAgent · AICEBERG · raNora · Multi-LLM Agent DRL</a:t>
            </a:r>
          </a:p>
        </p:txBody>
      </p:sp>
      <p:sp>
        <p:nvSpPr>
          <p:cNvPr id="35" name="Rectangle 35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9855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文献全景地图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218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两条路线 · 8 项工作 · 从学术到产业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48333" y="1549718"/>
            <a:ext cx="19803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11" name="Freeform 11"/>
          <p:cNvSpPr/>
          <p:nvPr/>
        </p:nvSpPr>
        <p:spPr>
          <a:xfrm>
            <a:off x="6286500" y="1428750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051319" y="1549718"/>
            <a:ext cx="1804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19526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1500" y="1952625"/>
            <a:ext cx="5715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92480" y="2073592"/>
            <a:ext cx="7174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RF-GPT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290" y="2344102"/>
            <a:ext cx="25109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Khalifa University | arXiv 2026.02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6290" y="2534602"/>
            <a:ext cx="3231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频谱图→VLM微调，625K合成数据，基准99.64%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86500" y="19526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86500" y="1952625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07480" y="2073592"/>
            <a:ext cx="8934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AICEBERG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11290" y="2344102"/>
            <a:ext cx="20585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MDPI Smart Cities | 2026.04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11290" y="2534602"/>
            <a:ext cx="29020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LLM+MCP+SCPI控制频谱仪，双服务器架构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300037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3000375"/>
            <a:ext cx="5715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92480" y="3121342"/>
            <a:ext cx="12453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Seeing Radio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6290" y="3391852"/>
            <a:ext cx="22196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同团队前序工作 | arXiv 2026.01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6290" y="3582352"/>
            <a:ext cx="26413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VLM 10%→90%调制识别，RF-GPT的前身</a:t>
            </a:r>
          </a:p>
        </p:txBody>
      </p:sp>
      <p:sp>
        <p:nvSpPr>
          <p:cNvPr id="28" name="Freeform 28"/>
          <p:cNvSpPr/>
          <p:nvPr/>
        </p:nvSpPr>
        <p:spPr>
          <a:xfrm>
            <a:off x="6286500" y="300037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286500" y="3000375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507480" y="3121342"/>
            <a:ext cx="1452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WirelessAgent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11290" y="3391852"/>
            <a:ext cx="19052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 | 2025.05 + 2026.04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11290" y="3582352"/>
            <a:ext cx="35997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LangGraph Agent，带宽+44.4%，CSI预测RMSE-67%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40481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4048125"/>
            <a:ext cx="5715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92480" y="4169092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Multimodal Wireless FM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6290" y="4439602"/>
            <a:ext cx="1061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 | 2025.11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6290" y="4630102"/>
            <a:ext cx="2879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多模态基础模型（IQ+频谱图），掩码建模</a:t>
            </a:r>
          </a:p>
        </p:txBody>
      </p:sp>
      <p:sp>
        <p:nvSpPr>
          <p:cNvPr id="38" name="Freeform 38"/>
          <p:cNvSpPr/>
          <p:nvPr/>
        </p:nvSpPr>
        <p:spPr>
          <a:xfrm>
            <a:off x="6286500" y="40481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876300"/>
                </a:lnTo>
                <a:cubicBezTo>
                  <a:pt x="5334000" y="918384"/>
                  <a:pt x="5299884" y="952500"/>
                  <a:pt x="5257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286500" y="4048125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507480" y="4169092"/>
            <a:ext cx="23633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raNora + Multi-LLM DRL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11290" y="4439602"/>
            <a:ext cx="15295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Aircom商用 | KTH学术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11290" y="4630102"/>
            <a:ext cx="24879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产业已商用落地；LLM+DRL混合架构</a:t>
            </a:r>
          </a:p>
        </p:txBody>
      </p:sp>
      <p:sp>
        <p:nvSpPr>
          <p:cNvPr id="43" name="Rectangle 4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64408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路线A：RF-GPT 核心架构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77731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RF-GPT: Teaching AI to See the Wireless World | Khalifa University | arXiv 2026.02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3524250" cy="4572000"/>
          </a:xfrm>
          <a:custGeom>
            <a:avLst/>
            <a:gdLst/>
            <a:ahLst/>
            <a:cxnLst/>
            <a:rect l="l" t="t" r="r" b="b"/>
            <a:pathLst>
              <a:path w="3524250" h="4572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4495800"/>
                </a:lnTo>
                <a:cubicBezTo>
                  <a:pt x="3524250" y="4537884"/>
                  <a:pt x="3490134" y="4572000"/>
                  <a:pt x="3448050" y="4572000"/>
                </a:cubicBezTo>
                <a:lnTo>
                  <a:pt x="76200" y="4572000"/>
                </a:lnTo>
                <a:cubicBezTo>
                  <a:pt x="34116" y="4572000"/>
                  <a:pt x="0" y="4537884"/>
                  <a:pt x="0" y="4495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核心思路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将 RF 信号转为频谱图，利用 VLM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已有的视觉编码能力来处理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898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三大组件：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77558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RF 编码器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9165" y="3010852"/>
            <a:ext cx="15525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IQ → STFT频谱图 → ViT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9165" y="3201352"/>
            <a:ext cx="12458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→ 1369个RF token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385" y="347091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RF 适配器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9165" y="3706178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线性投影 d → dLM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4385" y="3975735"/>
            <a:ext cx="16691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Decoder-only LLM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9165" y="4211002"/>
            <a:ext cx="15678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Qwen2.5-VL (3B/7B)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165" y="4401502"/>
            <a:ext cx="17365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 token为前缀生成文本</a:t>
            </a:r>
          </a:p>
        </p:txBody>
      </p:sp>
      <p:sp>
        <p:nvSpPr>
          <p:cNvPr id="23" name="Freeform 23"/>
          <p:cNvSpPr/>
          <p:nvPr/>
        </p:nvSpPr>
        <p:spPr>
          <a:xfrm>
            <a:off x="4381500" y="1428750"/>
            <a:ext cx="7239000" cy="2190750"/>
          </a:xfrm>
          <a:custGeom>
            <a:avLst/>
            <a:gdLst/>
            <a:ahLst/>
            <a:cxnLst/>
            <a:rect l="l" t="t" r="r" b="b"/>
            <a:pathLst>
              <a:path w="7239000" h="2190750">
                <a:moveTo>
                  <a:pt x="76200" y="0"/>
                </a:moveTo>
                <a:lnTo>
                  <a:pt x="7162800" y="0"/>
                </a:lnTo>
                <a:cubicBezTo>
                  <a:pt x="7204884" y="0"/>
                  <a:pt x="7239000" y="34116"/>
                  <a:pt x="7239000" y="76200"/>
                </a:cubicBezTo>
                <a:lnTo>
                  <a:pt x="7239000" y="2114550"/>
                </a:lnTo>
                <a:cubicBezTo>
                  <a:pt x="7239000" y="2156634"/>
                  <a:pt x="7204884" y="2190750"/>
                  <a:pt x="7162800" y="2190750"/>
                </a:cubicBezTo>
                <a:lnTo>
                  <a:pt x="76200" y="2190750"/>
                </a:lnTo>
                <a:cubicBezTo>
                  <a:pt x="34116" y="2190750"/>
                  <a:pt x="0" y="2156634"/>
                  <a:pt x="0" y="2114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438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600575" y="1533525"/>
            <a:ext cx="30399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为什么选频谱图而非原始IQ？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04385" y="1918335"/>
            <a:ext cx="42454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IQ 采样率过高，直接输入 Transformer 计算不可行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04385" y="2156460"/>
            <a:ext cx="41490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频谱图是天然时频表示，调制/带宽/重叠=几何特征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04385" y="2394585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视觉编码器预训练后可提取通用语义结构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06290" y="2696528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局限：丢失相位信息，但本文感知任务不依赖相位</a:t>
            </a:r>
          </a:p>
        </p:txBody>
      </p:sp>
      <p:sp>
        <p:nvSpPr>
          <p:cNvPr id="30" name="Freeform 30"/>
          <p:cNvSpPr/>
          <p:nvPr/>
        </p:nvSpPr>
        <p:spPr>
          <a:xfrm>
            <a:off x="4381500" y="3857625"/>
            <a:ext cx="7239000" cy="952500"/>
          </a:xfrm>
          <a:custGeom>
            <a:avLst/>
            <a:gdLst/>
            <a:ahLst/>
            <a:cxnLst/>
            <a:rect l="l" t="t" r="r" b="b"/>
            <a:pathLst>
              <a:path w="7239000" h="952500">
                <a:moveTo>
                  <a:pt x="76200" y="0"/>
                </a:moveTo>
                <a:lnTo>
                  <a:pt x="7162800" y="0"/>
                </a:lnTo>
                <a:cubicBezTo>
                  <a:pt x="7204884" y="0"/>
                  <a:pt x="7239000" y="34116"/>
                  <a:pt x="7239000" y="76200"/>
                </a:cubicBezTo>
                <a:lnTo>
                  <a:pt x="7239000" y="876300"/>
                </a:lnTo>
                <a:cubicBezTo>
                  <a:pt x="7239000" y="918384"/>
                  <a:pt x="7204884" y="952500"/>
                  <a:pt x="716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381500" y="3857625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604385" y="40138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关键批评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605338" y="4279106"/>
            <a:ext cx="41444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无新架构——视觉编码器+线性投影+现成LLM，零架构创新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605338" y="4498181"/>
            <a:ext cx="45223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技术贡献仅在于"RF-grounded instruction tuning"微调配方</a:t>
            </a:r>
          </a:p>
        </p:txBody>
      </p:sp>
      <p:sp>
        <p:nvSpPr>
          <p:cNvPr id="35" name="Freeform 35"/>
          <p:cNvSpPr/>
          <p:nvPr/>
        </p:nvSpPr>
        <p:spPr>
          <a:xfrm>
            <a:off x="4381500" y="5000625"/>
            <a:ext cx="7239000" cy="571500"/>
          </a:xfrm>
          <a:custGeom>
            <a:avLst/>
            <a:gdLst/>
            <a:ahLst/>
            <a:cxnLst/>
            <a:rect l="l" t="t" r="r" b="b"/>
            <a:pathLst>
              <a:path w="7239000" h="571500">
                <a:moveTo>
                  <a:pt x="76200" y="0"/>
                </a:moveTo>
                <a:lnTo>
                  <a:pt x="7162800" y="0"/>
                </a:lnTo>
                <a:cubicBezTo>
                  <a:pt x="7204884" y="0"/>
                  <a:pt x="7239000" y="34116"/>
                  <a:pt x="7239000" y="76200"/>
                </a:cubicBezTo>
                <a:lnTo>
                  <a:pt x="7239000" y="495300"/>
                </a:lnTo>
                <a:cubicBezTo>
                  <a:pt x="7239000" y="537384"/>
                  <a:pt x="7204884" y="571500"/>
                  <a:pt x="716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EB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606290" y="5153978"/>
            <a:ext cx="44738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类比：就像给一个眼科医生配了副眼镜，不是发明了新的视觉系统</a:t>
            </a:r>
          </a:p>
        </p:txBody>
      </p:sp>
      <p:sp>
        <p:nvSpPr>
          <p:cNvPr id="37" name="Rectangle 37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28816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路线A：RF-GPT 数据合成管线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44311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12,000个RF场景 · 625,000条指令对 · 零人工标注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31434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六种无线技术（MATLAB合成）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46910"/>
            <a:ext cx="40088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5G NR · LTE · UMTS · WLAN · DVB-S2 · Bluetooth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23266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每样本附带完整配置元数据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70785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（带宽/调制/子载波间隔/时频位置）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6290" y="2772728"/>
            <a:ext cx="32777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拒绝采样保证所有波形符合3GPP/ETSI/IEEE标准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05575" y="153352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自动化标注管线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09385" y="191833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元数据提取 → 确定性技术描述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2156460"/>
            <a:ext cx="30975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5个信息层级：摘要/全局视觉/上下文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9385" y="2394585"/>
            <a:ext cx="27294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GPT-OSS-120B生成多样化指令对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11290" y="2696528"/>
            <a:ext cx="31933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使用了前3个层级（摘要+全局视觉+信号视觉）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3619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361950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92480" y="3759518"/>
            <a:ext cx="21045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关键问题：全合成数据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4385" y="4042410"/>
            <a:ext cx="82238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MATLAB 合成信号 vs 真实空口信号之间存在巨大鸿沟（信道模型数学化、噪声AWGN、无真实硬件损伤）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4385" y="4271010"/>
            <a:ext cx="73388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语音识别 Whisper 用了68万小时真实数据才能zero-shot泛化；12K合成场景的泛化能力存疑</a:t>
            </a:r>
          </a:p>
        </p:txBody>
      </p:sp>
      <p:sp>
        <p:nvSpPr>
          <p:cNvPr id="28" name="Freeform 28"/>
          <p:cNvSpPr/>
          <p:nvPr/>
        </p:nvSpPr>
        <p:spPr>
          <a:xfrm>
            <a:off x="571500" y="4857750"/>
            <a:ext cx="11049000" cy="1047750"/>
          </a:xfrm>
          <a:custGeom>
            <a:avLst/>
            <a:gdLst/>
            <a:ahLst/>
            <a:cxnLst/>
            <a:rect l="l" t="t" r="r" b="b"/>
            <a:pathLst>
              <a:path w="11049000" h="1047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971550"/>
                </a:lnTo>
                <a:cubicBezTo>
                  <a:pt x="11049000" y="1013634"/>
                  <a:pt x="11014884" y="1047750"/>
                  <a:pt x="1097280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71500" y="4857750"/>
            <a:ext cx="57150" cy="1047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4385" y="50139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训练配置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5338" y="5260181"/>
            <a:ext cx="63954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基座：Qwen2.5-VL (3B/7B) | 训练：3 epoch, AdamW | 硬件：8×NVIDIA H200 (140GB)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5338" y="5498306"/>
            <a:ext cx="59682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频谱图：STFT (Blackman), 512×512, 1369 tokens | 精度：BF16 mixed precision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05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23986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路线A：基于 VLM 的内化感知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1957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核心假设：让 LLM 本身"学会"看频谱图，将 RF 知识内化到模型参数中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13262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RF-GPT 架构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26506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IQ信号 → STFT频谱图 → ViT编码器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24928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→ 线性投影 → Qwen2.5-VL LLM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42210"/>
            <a:ext cx="23176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基座：Qwen2.5-VL (3B/7B)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32710"/>
            <a:ext cx="28696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数据：625K合成指令对，零人工标注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2823210"/>
            <a:ext cx="240525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训练：3 epoch, 8×H200, BF16</a:t>
            </a:r>
          </a:p>
        </p:txBody>
      </p:sp>
      <p:sp>
        <p:nvSpPr>
          <p:cNvPr id="17" name="Freeform 17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05575" y="1533525"/>
            <a:ext cx="22463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RF-GPT 五大基准结果</a:t>
            </a:r>
          </a:p>
        </p:txBody>
      </p:sp>
      <p:sp>
        <p:nvSpPr>
          <p:cNvPr id="20" name="Freeform 20"/>
          <p:cNvSpPr/>
          <p:nvPr/>
        </p:nvSpPr>
        <p:spPr>
          <a:xfrm>
            <a:off x="6477000" y="1905000"/>
            <a:ext cx="4953000" cy="333375"/>
          </a:xfrm>
          <a:custGeom>
            <a:avLst/>
            <a:gdLst/>
            <a:ahLst/>
            <a:cxnLst/>
            <a:rect l="l" t="t" r="r" b="b"/>
            <a:pathLst>
              <a:path w="4953000" h="333375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295275"/>
                </a:lnTo>
                <a:cubicBezTo>
                  <a:pt x="4953000" y="316317"/>
                  <a:pt x="4935942" y="333375"/>
                  <a:pt x="4914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605588" y="201215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任务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42481" y="2012156"/>
            <a:ext cx="8825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RF-GPT-7B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70504" y="2012156"/>
            <a:ext cx="6927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125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通用VLM</a:t>
            </a:r>
          </a:p>
        </p:txBody>
      </p:sp>
      <p:sp>
        <p:nvSpPr>
          <p:cNvPr id="24" name="Freeform 24"/>
          <p:cNvSpPr/>
          <p:nvPr/>
        </p:nvSpPr>
        <p:spPr>
          <a:xfrm>
            <a:off x="6477000" y="2286000"/>
            <a:ext cx="4953000" cy="266700"/>
          </a:xfrm>
          <a:custGeom>
            <a:avLst/>
            <a:gdLst/>
            <a:ahLst/>
            <a:cxnLst/>
            <a:rect l="l" t="t" r="r" b="b"/>
            <a:pathLst>
              <a:path w="4953000" h="266700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228600"/>
                </a:lnTo>
                <a:cubicBezTo>
                  <a:pt x="4953000" y="249642"/>
                  <a:pt x="4935942" y="266700"/>
                  <a:pt x="4914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06540" y="236315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WBMC（调制分类）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75696" y="2363152"/>
            <a:ext cx="4483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82.4%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698289" y="23631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7.0%</a:t>
            </a:r>
          </a:p>
        </p:txBody>
      </p:sp>
      <p:sp>
        <p:nvSpPr>
          <p:cNvPr id="28" name="Freeform 28"/>
          <p:cNvSpPr/>
          <p:nvPr/>
        </p:nvSpPr>
        <p:spPr>
          <a:xfrm>
            <a:off x="6477000" y="2571750"/>
            <a:ext cx="4953000" cy="266700"/>
          </a:xfrm>
          <a:custGeom>
            <a:avLst/>
            <a:gdLst/>
            <a:ahLst/>
            <a:cxnLst/>
            <a:rect l="l" t="t" r="r" b="b"/>
            <a:pathLst>
              <a:path w="4953000" h="266700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228600"/>
                </a:lnTo>
                <a:cubicBezTo>
                  <a:pt x="4953000" y="249642"/>
                  <a:pt x="4935942" y="266700"/>
                  <a:pt x="4914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06540" y="2648902"/>
            <a:ext cx="12304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WTR（技术识别）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91352" y="2648902"/>
            <a:ext cx="53273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99.64%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782633" y="2648902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~5%</a:t>
            </a:r>
          </a:p>
        </p:txBody>
      </p:sp>
      <p:sp>
        <p:nvSpPr>
          <p:cNvPr id="32" name="Freeform 32"/>
          <p:cNvSpPr/>
          <p:nvPr/>
        </p:nvSpPr>
        <p:spPr>
          <a:xfrm>
            <a:off x="6477000" y="2857500"/>
            <a:ext cx="4953000" cy="266700"/>
          </a:xfrm>
          <a:custGeom>
            <a:avLst/>
            <a:gdLst/>
            <a:ahLst/>
            <a:cxnLst/>
            <a:rect l="l" t="t" r="r" b="b"/>
            <a:pathLst>
              <a:path w="4953000" h="266700">
                <a:moveTo>
                  <a:pt x="38100" y="0"/>
                </a:moveTo>
                <a:lnTo>
                  <a:pt x="4914900" y="0"/>
                </a:lnTo>
                <a:cubicBezTo>
                  <a:pt x="4935942" y="0"/>
                  <a:pt x="4953000" y="17058"/>
                  <a:pt x="4953000" y="38100"/>
                </a:cubicBezTo>
                <a:lnTo>
                  <a:pt x="4953000" y="228600"/>
                </a:lnTo>
                <a:cubicBezTo>
                  <a:pt x="4953000" y="249642"/>
                  <a:pt x="4935942" y="266700"/>
                  <a:pt x="49149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06540" y="293465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WBOD（重叠检测）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414034" y="2934652"/>
            <a:ext cx="410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91.5%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98289" y="29346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~25%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2950" y="3648075"/>
            <a:ext cx="36840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同一团队的前序工作：Seeing Radio</a:t>
            </a:r>
          </a:p>
        </p:txBody>
      </p:sp>
      <p:sp>
        <p:nvSpPr>
          <p:cNvPr id="37" name="Freeform 37"/>
          <p:cNvSpPr/>
          <p:nvPr/>
        </p:nvSpPr>
        <p:spPr>
          <a:xfrm>
            <a:off x="571500" y="4000500"/>
            <a:ext cx="5334000" cy="1143000"/>
          </a:xfrm>
          <a:custGeom>
            <a:avLst/>
            <a:gdLst/>
            <a:ahLst/>
            <a:cxnLst/>
            <a:rect l="l" t="t" r="r" b="b"/>
            <a:pathLst>
              <a:path w="5334000" h="1143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066800"/>
                </a:lnTo>
                <a:cubicBezTo>
                  <a:pt x="5334000" y="1108884"/>
                  <a:pt x="5299884" y="1143000"/>
                  <a:pt x="5257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571500" y="4000500"/>
            <a:ext cx="57150" cy="1143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385" y="4156710"/>
            <a:ext cx="40877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三种可视化方式：时域轨迹 / 幅度谱图 / 联合表示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385" y="4394835"/>
            <a:ext cx="35532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57类调制识别：VLM基模~10% → 微调后~90%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385" y="4632960"/>
            <a:ext cx="29748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证明了VLM从零学会RF感知的可能性</a:t>
            </a:r>
          </a:p>
        </p:txBody>
      </p:sp>
      <p:sp>
        <p:nvSpPr>
          <p:cNvPr id="42" name="Freeform 42"/>
          <p:cNvSpPr/>
          <p:nvPr/>
        </p:nvSpPr>
        <p:spPr>
          <a:xfrm>
            <a:off x="6286500" y="4000500"/>
            <a:ext cx="5334000" cy="1143000"/>
          </a:xfrm>
          <a:custGeom>
            <a:avLst/>
            <a:gdLst/>
            <a:ahLst/>
            <a:cxnLst/>
            <a:rect l="l" t="t" r="r" b="b"/>
            <a:pathLst>
              <a:path w="5334000" h="1143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066800"/>
                </a:lnTo>
                <a:cubicBezTo>
                  <a:pt x="5334000" y="1108884"/>
                  <a:pt x="5299884" y="1143000"/>
                  <a:pt x="5257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286500" y="4000500"/>
            <a:ext cx="57150" cy="1143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509385" y="4156710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路线A的劣势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11290" y="4411028"/>
            <a:ext cx="32317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合成→真实的泛化鸿沟（仅MATLAB，无空口）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511290" y="4601528"/>
            <a:ext cx="2625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仅与基模对比（没和专用RF模型比）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1290" y="4792028"/>
            <a:ext cx="26259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黑箱推理、无硬件控制、仅限"识别"</a:t>
            </a:r>
          </a:p>
        </p:txBody>
      </p:sp>
      <p:sp>
        <p:nvSpPr>
          <p:cNvPr id="48" name="Rectangle 4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64408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路线A：RF-GPT 实验结果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1212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五大基准 · RF-GPT vs 通用VLM（Qwen2.5-VL / GPT-5）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00050"/>
          </a:xfrm>
          <a:custGeom>
            <a:avLst/>
            <a:gdLst/>
            <a:ahLst/>
            <a:cxnLst/>
            <a:rect l="l" t="t" r="r" b="b"/>
            <a:pathLst>
              <a:path w="5334000" h="400050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361950"/>
                </a:lnTo>
                <a:cubicBezTo>
                  <a:pt x="5334000" y="382992"/>
                  <a:pt x="5316942" y="400050"/>
                  <a:pt x="5295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21714" y="15659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基准任务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39303" y="1565910"/>
            <a:ext cx="9413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RF-GPT-7B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64516" y="1565910"/>
            <a:ext cx="738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通用VLM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1828800"/>
            <a:ext cx="5334000" cy="333375"/>
          </a:xfrm>
          <a:custGeom>
            <a:avLst/>
            <a:gdLst/>
            <a:ahLst/>
            <a:cxnLst/>
            <a:rect l="l" t="t" r="r" b="b"/>
            <a:pathLst>
              <a:path w="5334000" h="333375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295275"/>
                </a:lnTo>
                <a:cubicBezTo>
                  <a:pt x="5334000" y="316317"/>
                  <a:pt x="5316942" y="333375"/>
                  <a:pt x="5295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99278" y="1934528"/>
            <a:ext cx="14114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WBMC（调制分类）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75262" y="1934528"/>
            <a:ext cx="4694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82.4%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51977" y="193452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7.0%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162175"/>
            <a:ext cx="5334000" cy="333375"/>
          </a:xfrm>
          <a:custGeom>
            <a:avLst/>
            <a:gdLst/>
            <a:ahLst/>
            <a:cxnLst/>
            <a:rect l="l" t="t" r="r" b="b"/>
            <a:pathLst>
              <a:path w="5334000" h="333375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295275"/>
                </a:lnTo>
                <a:cubicBezTo>
                  <a:pt x="5334000" y="316317"/>
                  <a:pt x="5316942" y="333375"/>
                  <a:pt x="5295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32249" y="2267902"/>
            <a:ext cx="13455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WBOD（重叠检测）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95390" y="2267902"/>
            <a:ext cx="4292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91.5%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51977" y="22679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~25%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495550"/>
            <a:ext cx="5334000" cy="333375"/>
          </a:xfrm>
          <a:custGeom>
            <a:avLst/>
            <a:gdLst/>
            <a:ahLst/>
            <a:cxnLst/>
            <a:rect l="l" t="t" r="r" b="b"/>
            <a:pathLst>
              <a:path w="5334000" h="333375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295275"/>
                </a:lnTo>
                <a:cubicBezTo>
                  <a:pt x="5334000" y="316317"/>
                  <a:pt x="5316942" y="333375"/>
                  <a:pt x="5295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259661" y="2601278"/>
            <a:ext cx="12906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WTR（技术识别）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30982" y="2601278"/>
            <a:ext cx="5580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99.64%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194149" y="2601278"/>
            <a:ext cx="2797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~5%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2828925"/>
            <a:ext cx="5334000" cy="333375"/>
          </a:xfrm>
          <a:custGeom>
            <a:avLst/>
            <a:gdLst/>
            <a:ahLst/>
            <a:cxnLst/>
            <a:rect l="l" t="t" r="r" b="b"/>
            <a:pathLst>
              <a:path w="5334000" h="333375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295275"/>
                </a:lnTo>
                <a:cubicBezTo>
                  <a:pt x="5334000" y="316317"/>
                  <a:pt x="5316942" y="333375"/>
                  <a:pt x="5295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247584" y="29346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WNUC（用户计数）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51109" y="2934652"/>
            <a:ext cx="5177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70.17%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51977" y="293465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~23%</a:t>
            </a:r>
          </a:p>
        </p:txBody>
      </p:sp>
      <p:sp>
        <p:nvSpPr>
          <p:cNvPr id="29" name="Freeform 29"/>
          <p:cNvSpPr/>
          <p:nvPr/>
        </p:nvSpPr>
        <p:spPr>
          <a:xfrm>
            <a:off x="571500" y="3162300"/>
            <a:ext cx="5334000" cy="333375"/>
          </a:xfrm>
          <a:custGeom>
            <a:avLst/>
            <a:gdLst/>
            <a:ahLst/>
            <a:cxnLst/>
            <a:rect l="l" t="t" r="r" b="b"/>
            <a:pathLst>
              <a:path w="5334000" h="333375">
                <a:moveTo>
                  <a:pt x="38100" y="0"/>
                </a:moveTo>
                <a:lnTo>
                  <a:pt x="5295900" y="0"/>
                </a:lnTo>
                <a:cubicBezTo>
                  <a:pt x="5316942" y="0"/>
                  <a:pt x="5334000" y="17058"/>
                  <a:pt x="5334000" y="38100"/>
                </a:cubicBezTo>
                <a:lnTo>
                  <a:pt x="5334000" y="295275"/>
                </a:lnTo>
                <a:cubicBezTo>
                  <a:pt x="5334000" y="316317"/>
                  <a:pt x="5316942" y="333375"/>
                  <a:pt x="5295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63049" y="3268028"/>
            <a:ext cx="1483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NRIE（NR信息提取）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19543" y="3268028"/>
            <a:ext cx="380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~80%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51977" y="326802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~20%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371475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95300"/>
                </a:lnTo>
                <a:cubicBezTo>
                  <a:pt x="11049000" y="537384"/>
                  <a:pt x="11014884" y="571500"/>
                  <a:pt x="10972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936892" y="3851910"/>
            <a:ext cx="43182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信号数量识别准确率：RF-GPT ~98% vs 通用VLM &lt;5%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043077" y="4077652"/>
            <a:ext cx="41058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VLM在RF任务上表现≈随机猜测，证明RF grounding是必需的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4855" y="456914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消融实验亮点</a:t>
            </a:r>
          </a:p>
        </p:txBody>
      </p:sp>
      <p:sp>
        <p:nvSpPr>
          <p:cNvPr id="37" name="Freeform 37"/>
          <p:cNvSpPr/>
          <p:nvPr/>
        </p:nvSpPr>
        <p:spPr>
          <a:xfrm>
            <a:off x="571500" y="4857750"/>
            <a:ext cx="3429000" cy="952500"/>
          </a:xfrm>
          <a:custGeom>
            <a:avLst/>
            <a:gdLst/>
            <a:ahLst/>
            <a:cxnLst/>
            <a:rect l="l" t="t" r="r" b="b"/>
            <a:pathLst>
              <a:path w="3429000" h="9525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876300"/>
                </a:lnTo>
                <a:cubicBezTo>
                  <a:pt x="3429000" y="918384"/>
                  <a:pt x="3394884" y="952500"/>
                  <a:pt x="335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47712" y="50220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鲁棒性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8665" y="5268278"/>
            <a:ext cx="13608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对CFO/PA/TDL鲁棒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48665" y="5458778"/>
            <a:ext cx="14145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IQ不平衡最具破坏性</a:t>
            </a:r>
          </a:p>
        </p:txBody>
      </p:sp>
      <p:sp>
        <p:nvSpPr>
          <p:cNvPr id="41" name="Freeform 41"/>
          <p:cNvSpPr/>
          <p:nvPr/>
        </p:nvSpPr>
        <p:spPr>
          <a:xfrm>
            <a:off x="4333875" y="4857750"/>
            <a:ext cx="3429000" cy="952500"/>
          </a:xfrm>
          <a:custGeom>
            <a:avLst/>
            <a:gdLst/>
            <a:ahLst/>
            <a:cxnLst/>
            <a:rect l="l" t="t" r="r" b="b"/>
            <a:pathLst>
              <a:path w="3429000" h="952500">
                <a:moveTo>
                  <a:pt x="76200" y="0"/>
                </a:moveTo>
                <a:lnTo>
                  <a:pt x="3352800" y="0"/>
                </a:lnTo>
                <a:cubicBezTo>
                  <a:pt x="3394884" y="0"/>
                  <a:pt x="3429000" y="34116"/>
                  <a:pt x="3429000" y="76200"/>
                </a:cubicBezTo>
                <a:lnTo>
                  <a:pt x="3429000" y="876300"/>
                </a:lnTo>
                <a:cubicBezTo>
                  <a:pt x="3429000" y="918384"/>
                  <a:pt x="3394884" y="952500"/>
                  <a:pt x="335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510088" y="5022056"/>
            <a:ext cx="17279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vs CNN/Transformer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511040" y="5268278"/>
            <a:ext cx="27103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RF-GPT (3 epoch) &gt; ViT-H (30 epoch)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511040" y="54587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数据效率更高</a:t>
            </a:r>
          </a:p>
        </p:txBody>
      </p:sp>
      <p:sp>
        <p:nvSpPr>
          <p:cNvPr id="45" name="Freeform 45"/>
          <p:cNvSpPr/>
          <p:nvPr/>
        </p:nvSpPr>
        <p:spPr>
          <a:xfrm>
            <a:off x="8096250" y="4857750"/>
            <a:ext cx="3524250" cy="952500"/>
          </a:xfrm>
          <a:custGeom>
            <a:avLst/>
            <a:gdLst/>
            <a:ahLst/>
            <a:cxnLst/>
            <a:rect l="l" t="t" r="r" b="b"/>
            <a:pathLst>
              <a:path w="3524250" h="9525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876300"/>
                </a:lnTo>
                <a:cubicBezTo>
                  <a:pt x="3524250" y="918384"/>
                  <a:pt x="3490134" y="952500"/>
                  <a:pt x="344805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8272462" y="50220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分辨率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273415" y="5268278"/>
            <a:ext cx="17748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224→512 分辨率提升 +9pp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273415" y="5458778"/>
            <a:ext cx="21352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但token数增加，推理成本更高</a:t>
            </a:r>
          </a:p>
        </p:txBody>
      </p:sp>
      <p:sp>
        <p:nvSpPr>
          <p:cNvPr id="49" name="Rectangle 4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06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4169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路线B：基于智能体的工具协同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7422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核心假设：LLM不做RF理解，而是通过工具调用获取专业分析结果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2950" y="1362075"/>
            <a:ext cx="42706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AICEBERG：LLM + MCP + SCPI 控制频谱仪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171450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257300"/>
                </a:lnTo>
                <a:cubicBezTo>
                  <a:pt x="11049000" y="1299384"/>
                  <a:pt x="11014884" y="1333500"/>
                  <a:pt x="10972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1714500"/>
            <a:ext cx="57150" cy="133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92480" y="1854518"/>
            <a:ext cx="234262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架构：三层次 + 双服务器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56826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用户自然语言 → LLM推理层 → MCP桥接层 → SCPI硬件控制层 → 频谱分析仪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23160"/>
            <a:ext cx="54460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双服务器设计：执行服务器(操作) + 安全服务器(参数校验/边界检查)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89860"/>
            <a:ext cx="55862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意义：第一次把 LLM + 硬件控制 完整打通，实现了"说人话操控频谱仪"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950" y="3267075"/>
            <a:ext cx="536326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WirelessAgent：LangGraph 驱动的无线网络 Agent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3619500"/>
            <a:ext cx="5334000" cy="1333500"/>
          </a:xfrm>
          <a:custGeom>
            <a:avLst/>
            <a:gdLst/>
            <a:ahLst/>
            <a:cxnLst/>
            <a:rect l="l" t="t" r="r" b="b"/>
            <a:pathLst>
              <a:path w="5334000" h="1333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257300"/>
                </a:lnTo>
                <a:cubicBezTo>
                  <a:pt x="5334000" y="1299384"/>
                  <a:pt x="5299884" y="1333500"/>
                  <a:pt x="5257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3619500"/>
            <a:ext cx="57150" cy="133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92480" y="375951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四模块认知架构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4385" y="4061460"/>
            <a:ext cx="20372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感知 → 记忆 → 规划 → 行动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4385" y="4328160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网络切片带宽利用率 +44.4%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4385" y="4594860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仅低于最优解 4.3%，代码开源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3619500"/>
            <a:ext cx="5334000" cy="1333500"/>
          </a:xfrm>
          <a:custGeom>
            <a:avLst/>
            <a:gdLst/>
            <a:ahLst/>
            <a:cxnLst/>
            <a:rect l="l" t="t" r="r" b="b"/>
            <a:pathLst>
              <a:path w="5334000" h="1333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257300"/>
                </a:lnTo>
                <a:cubicBezTo>
                  <a:pt x="5334000" y="1299384"/>
                  <a:pt x="5299884" y="1333500"/>
                  <a:pt x="5257800" y="1333500"/>
                </a:cubicBezTo>
                <a:lnTo>
                  <a:pt x="76200" y="1333500"/>
                </a:lnTo>
                <a:cubicBezTo>
                  <a:pt x="34116" y="1333500"/>
                  <a:pt x="0" y="1299384"/>
                  <a:pt x="0" y="1257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286500" y="3619500"/>
            <a:ext cx="57150" cy="1333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507480" y="37595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WirelessAgent R1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09385" y="4061460"/>
            <a:ext cx="27382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CSI缺失条件下 + Agent + 预测模型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09385" y="4328160"/>
            <a:ext cx="2387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RMSE 降低 67% (vs 传统方法)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09385" y="4594860"/>
            <a:ext cx="157276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基于 Coze 平台搭建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7390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路线A：Seeing Radio + 路线小结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3183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Seeing Radio — RF-GPT 的前序工作 | 同团队 | arXiv 2026.01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23728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Seeing Radio 核心发现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三种可视化方式对比：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8212" y="2164556"/>
            <a:ext cx="23781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时域轨迹 / 幅度谱图 / 联合表示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442210"/>
            <a:ext cx="3377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57类调制识别：微调后~90%（基模~10%）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80335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对噪声鲁棒，可泛化到未见过的调制类型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290" y="2982278"/>
            <a:ext cx="27870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→ 证明了 VLM 从零学会 RF 感知的可行性</a:t>
            </a:r>
          </a:p>
        </p:txBody>
      </p:sp>
      <p:sp>
        <p:nvSpPr>
          <p:cNvPr id="17" name="Freeform 17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428750"/>
            <a:ext cx="57150" cy="1905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05575" y="1533525"/>
            <a:ext cx="17748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路线A的共同问题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1918335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全合成数据，真实信号泛化存疑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9385" y="2156460"/>
            <a:ext cx="29748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只和通用VLM比，未与RF专用模型比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2394585"/>
            <a:ext cx="26330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端到端黑箱，推理过程不可审计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09385" y="2632710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④ 无法控制硬件，仅限识别任务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09385" y="2870835"/>
            <a:ext cx="25279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⑤ 无架构创新（VLM+线性投影）</a:t>
            </a:r>
          </a:p>
        </p:txBody>
      </p:sp>
      <p:sp>
        <p:nvSpPr>
          <p:cNvPr id="25" name="Freeform 25"/>
          <p:cNvSpPr/>
          <p:nvPr/>
        </p:nvSpPr>
        <p:spPr>
          <a:xfrm>
            <a:off x="571500" y="361950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828800"/>
                </a:lnTo>
                <a:cubicBezTo>
                  <a:pt x="11049000" y="1870884"/>
                  <a:pt x="11014884" y="1905000"/>
                  <a:pt x="1097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571500" y="3619500"/>
            <a:ext cx="57150" cy="1905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499398" y="3774758"/>
            <a:ext cx="119320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路线A小结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97891" y="4140518"/>
            <a:ext cx="596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✅ 优势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77640" y="4423410"/>
            <a:ext cx="42367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端到端简洁、单一模型统一多任务、学术上有发表价值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97891" y="4712018"/>
            <a:ext cx="596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❌ 劣势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28404" y="4994910"/>
            <a:ext cx="57351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合成→真实泛化鸿沟、对比基线弱、黑箱推理、无硬件控制、架构创新不足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78658" y="5252085"/>
            <a:ext cx="62346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整体评价：思路有亮点（VLM+频谱图），但论文完整度距离顶会标准有明显差距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07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73902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路线B（续）：产业落地与新架构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4342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商用产品 + 学术前沿 — 路线B已经进入产业化阶段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46501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raNora — Aircom 商用 Agent AI（2026.03）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25454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首个商用的电信 Agent AI 平台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35093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多 Agent 协作：数据库Agent + 覆盖Agent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功能：合规审计、站点规划、覆盖分析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32710"/>
            <a:ext cx="28872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基于电信领域训练的 LLM 推理引擎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2918460"/>
            <a:ext cx="32465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意义：证明 Agent 路线在工业场景可落地</a:t>
            </a:r>
          </a:p>
        </p:txBody>
      </p:sp>
      <p:sp>
        <p:nvSpPr>
          <p:cNvPr id="17" name="Freeform 17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05575" y="1533525"/>
            <a:ext cx="44776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Multi-LLM Agent DRL（KTH, 2025-2026）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1918335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每个基站/UE 部署一个 LLM Agent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9385" y="215646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混合架构：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2260" y="239458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- LLM 做高层：协商、合作、策略适配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2260" y="2632710"/>
            <a:ext cx="27995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- DRL 做低层：功率分配、波束赋形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09385" y="2918460"/>
            <a:ext cx="1730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面向 6G 的可扩展方案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2950" y="3648075"/>
            <a:ext cx="13147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路线B的优势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4000500"/>
            <a:ext cx="5334000" cy="1714500"/>
          </a:xfrm>
          <a:custGeom>
            <a:avLst/>
            <a:gdLst/>
            <a:ahLst/>
            <a:cxnLst/>
            <a:rect l="l" t="t" r="r" b="b"/>
            <a:pathLst>
              <a:path w="5334000" h="1714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638300"/>
                </a:lnTo>
                <a:cubicBezTo>
                  <a:pt x="5334000" y="1680384"/>
                  <a:pt x="5299884" y="1714500"/>
                  <a:pt x="5257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000500"/>
            <a:ext cx="57150" cy="1714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4385" y="4156710"/>
            <a:ext cx="37021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✅ 可调用现成工具（信号处理/小模型/数据库）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4385" y="4394835"/>
            <a:ext cx="21073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✅ 推理过程可审计、可溯源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4385" y="46329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✅ 扩展灵活：新任务 = 新工具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4385" y="4871085"/>
            <a:ext cx="27294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✅ 可控制硬件设备（频谱仪/基站）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4385" y="5109210"/>
            <a:ext cx="21598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✅ 已有商用落地（raNora）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6286500" y="4000500"/>
            <a:ext cx="5334000" cy="1714500"/>
          </a:xfrm>
          <a:custGeom>
            <a:avLst/>
            <a:gdLst/>
            <a:ahLst/>
            <a:cxnLst/>
            <a:rect l="l" t="t" r="r" b="b"/>
            <a:pathLst>
              <a:path w="5334000" h="1714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638300"/>
                </a:lnTo>
                <a:cubicBezTo>
                  <a:pt x="5334000" y="1680384"/>
                  <a:pt x="5299884" y="1714500"/>
                  <a:pt x="5257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286500" y="4000500"/>
            <a:ext cx="57150" cy="1714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509385" y="4156710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路线B的劣势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11290" y="4411028"/>
            <a:ext cx="21506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❌ 系统架构复杂（多组件编排）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11290" y="4649152"/>
            <a:ext cx="19972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❌ 延迟较高（多轮工具调用）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11290" y="4887278"/>
            <a:ext cx="21275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❌ LLM幻觉风险（需校验机制）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11290" y="5125402"/>
            <a:ext cx="21506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❌ 学术发表较难（偏工程实现）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3076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多维度对比分析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10个关键维度 · 两条路线的系统对比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2857500" cy="342900"/>
          </a:xfrm>
          <a:custGeom>
            <a:avLst/>
            <a:gdLst/>
            <a:ahLst/>
            <a:cxnLst/>
            <a:rect l="l" t="t" r="r" b="b"/>
            <a:pathLst>
              <a:path w="2857500" h="34290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04800"/>
                </a:lnTo>
                <a:cubicBezTo>
                  <a:pt x="2857500" y="325842"/>
                  <a:pt x="2840442" y="342900"/>
                  <a:pt x="28194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640919" y="15359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对比维度</a:t>
            </a:r>
          </a:p>
        </p:txBody>
      </p:sp>
      <p:sp>
        <p:nvSpPr>
          <p:cNvPr id="11" name="Freeform 11"/>
          <p:cNvSpPr/>
          <p:nvPr/>
        </p:nvSpPr>
        <p:spPr>
          <a:xfrm>
            <a:off x="3429000" y="1428750"/>
            <a:ext cx="4191000" cy="342900"/>
          </a:xfrm>
          <a:custGeom>
            <a:avLst/>
            <a:gdLst/>
            <a:ahLst/>
            <a:cxnLst/>
            <a:rect l="l" t="t" r="r" b="b"/>
            <a:pathLst>
              <a:path w="4191000" h="34290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04800"/>
                </a:lnTo>
                <a:cubicBezTo>
                  <a:pt x="4191000" y="325842"/>
                  <a:pt x="4173942" y="342900"/>
                  <a:pt x="4152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699361" y="1535906"/>
            <a:ext cx="1650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0" y="1428750"/>
            <a:ext cx="4000500" cy="342900"/>
          </a:xfrm>
          <a:custGeom>
            <a:avLst/>
            <a:gdLst/>
            <a:ahLst/>
            <a:cxnLst/>
            <a:rect l="l" t="t" r="r" b="b"/>
            <a:pathLst>
              <a:path w="4000500" h="34290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04800"/>
                </a:lnTo>
                <a:cubicBezTo>
                  <a:pt x="4000500" y="325842"/>
                  <a:pt x="3983442" y="342900"/>
                  <a:pt x="39624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868433" y="1535906"/>
            <a:ext cx="15036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17716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680210" y="19059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核心假设</a:t>
            </a:r>
          </a:p>
        </p:txBody>
      </p:sp>
      <p:sp>
        <p:nvSpPr>
          <p:cNvPr id="17" name="Freeform 17"/>
          <p:cNvSpPr/>
          <p:nvPr/>
        </p:nvSpPr>
        <p:spPr>
          <a:xfrm>
            <a:off x="3429000" y="177165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953202" y="1914049"/>
            <a:ext cx="11425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让LLM学会看频谱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0" y="177165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835354" y="1914049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让LLM调用工具分析频谱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13360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680210" y="22679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数据需求</a:t>
            </a:r>
          </a:p>
        </p:txBody>
      </p:sp>
      <p:sp>
        <p:nvSpPr>
          <p:cNvPr id="23" name="Freeform 23"/>
          <p:cNvSpPr/>
          <p:nvPr/>
        </p:nvSpPr>
        <p:spPr>
          <a:xfrm>
            <a:off x="3429000" y="213360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928283" y="2275999"/>
            <a:ext cx="119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高（625K合成对）</a:t>
            </a:r>
          </a:p>
        </p:txBody>
      </p:sp>
      <p:sp>
        <p:nvSpPr>
          <p:cNvPr id="25" name="Freeform 25"/>
          <p:cNvSpPr/>
          <p:nvPr/>
        </p:nvSpPr>
        <p:spPr>
          <a:xfrm>
            <a:off x="7620000" y="213360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967073" y="22759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低（工具已有能力）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24955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26857" y="26298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真实信号泛化</a:t>
            </a:r>
          </a:p>
        </p:txBody>
      </p:sp>
      <p:sp>
        <p:nvSpPr>
          <p:cNvPr id="29" name="Freeform 29"/>
          <p:cNvSpPr/>
          <p:nvPr/>
        </p:nvSpPr>
        <p:spPr>
          <a:xfrm>
            <a:off x="3429000" y="249555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857083" y="2637949"/>
            <a:ext cx="13348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差（合成→真实gap）</a:t>
            </a:r>
          </a:p>
        </p:txBody>
      </p:sp>
      <p:sp>
        <p:nvSpPr>
          <p:cNvPr id="31" name="Freeform 31"/>
          <p:cNvSpPr/>
          <p:nvPr/>
        </p:nvSpPr>
        <p:spPr>
          <a:xfrm>
            <a:off x="7620000" y="249555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967073" y="26379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好（工具直接处理）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285750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680210" y="29918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硬件控制</a:t>
            </a:r>
          </a:p>
        </p:txBody>
      </p:sp>
      <p:sp>
        <p:nvSpPr>
          <p:cNvPr id="35" name="Freeform 35"/>
          <p:cNvSpPr/>
          <p:nvPr/>
        </p:nvSpPr>
        <p:spPr>
          <a:xfrm>
            <a:off x="3429000" y="285750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298519" y="299989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不支持</a:t>
            </a:r>
          </a:p>
        </p:txBody>
      </p:sp>
      <p:sp>
        <p:nvSpPr>
          <p:cNvPr id="37" name="Freeform 37"/>
          <p:cNvSpPr/>
          <p:nvPr/>
        </p:nvSpPr>
        <p:spPr>
          <a:xfrm>
            <a:off x="7620000" y="285750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045392" y="2999899"/>
            <a:ext cx="11497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支持（SCPI/API）</a:t>
            </a:r>
          </a:p>
        </p:txBody>
      </p:sp>
      <p:sp>
        <p:nvSpPr>
          <p:cNvPr id="39" name="Freeform 39"/>
          <p:cNvSpPr/>
          <p:nvPr/>
        </p:nvSpPr>
        <p:spPr>
          <a:xfrm>
            <a:off x="571500" y="32194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680210" y="33537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可解释性</a:t>
            </a:r>
          </a:p>
        </p:txBody>
      </p:sp>
      <p:sp>
        <p:nvSpPr>
          <p:cNvPr id="41" name="Freeform 41"/>
          <p:cNvSpPr/>
          <p:nvPr/>
        </p:nvSpPr>
        <p:spPr>
          <a:xfrm>
            <a:off x="3429000" y="321945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369719" y="33618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黑箱</a:t>
            </a:r>
          </a:p>
        </p:txBody>
      </p:sp>
      <p:sp>
        <p:nvSpPr>
          <p:cNvPr id="43" name="Freeform 43"/>
          <p:cNvSpPr/>
          <p:nvPr/>
        </p:nvSpPr>
        <p:spPr>
          <a:xfrm>
            <a:off x="7620000" y="321945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180671" y="33618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可审计推理链</a:t>
            </a:r>
          </a:p>
        </p:txBody>
      </p:sp>
      <p:sp>
        <p:nvSpPr>
          <p:cNvPr id="45" name="Freeform 45"/>
          <p:cNvSpPr/>
          <p:nvPr/>
        </p:nvSpPr>
        <p:spPr>
          <a:xfrm>
            <a:off x="571500" y="358140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603534" y="37157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扩展新任务</a:t>
            </a:r>
          </a:p>
        </p:txBody>
      </p:sp>
      <p:sp>
        <p:nvSpPr>
          <p:cNvPr id="47" name="Freeform 47"/>
          <p:cNvSpPr/>
          <p:nvPr/>
        </p:nvSpPr>
        <p:spPr>
          <a:xfrm>
            <a:off x="3429000" y="358140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5156121" y="37237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需重新微调</a:t>
            </a:r>
          </a:p>
        </p:txBody>
      </p:sp>
      <p:sp>
        <p:nvSpPr>
          <p:cNvPr id="49" name="Freeform 49"/>
          <p:cNvSpPr/>
          <p:nvPr/>
        </p:nvSpPr>
        <p:spPr>
          <a:xfrm>
            <a:off x="7620000" y="358140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251871" y="372379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加工具即可</a:t>
            </a:r>
          </a:p>
        </p:txBody>
      </p:sp>
      <p:sp>
        <p:nvSpPr>
          <p:cNvPr id="51" name="Freeform 51"/>
          <p:cNvSpPr/>
          <p:nvPr/>
        </p:nvSpPr>
        <p:spPr>
          <a:xfrm>
            <a:off x="571500" y="39433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680210" y="4077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安全可控</a:t>
            </a:r>
          </a:p>
        </p:txBody>
      </p:sp>
      <p:sp>
        <p:nvSpPr>
          <p:cNvPr id="53" name="Freeform 53"/>
          <p:cNvSpPr/>
          <p:nvPr/>
        </p:nvSpPr>
        <p:spPr>
          <a:xfrm>
            <a:off x="3429000" y="394335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5084921" y="4085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模型可能幻觉</a:t>
            </a:r>
          </a:p>
        </p:txBody>
      </p:sp>
      <p:sp>
        <p:nvSpPr>
          <p:cNvPr id="55" name="Freeform 55"/>
          <p:cNvSpPr/>
          <p:nvPr/>
        </p:nvSpPr>
        <p:spPr>
          <a:xfrm>
            <a:off x="7620000" y="394335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109472" y="40857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工具调用可校验</a:t>
            </a:r>
          </a:p>
        </p:txBody>
      </p:sp>
      <p:sp>
        <p:nvSpPr>
          <p:cNvPr id="57" name="Freeform 57"/>
          <p:cNvSpPr/>
          <p:nvPr/>
        </p:nvSpPr>
        <p:spPr>
          <a:xfrm>
            <a:off x="571500" y="430530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603534" y="44396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系统复杂度</a:t>
            </a:r>
          </a:p>
        </p:txBody>
      </p:sp>
      <p:sp>
        <p:nvSpPr>
          <p:cNvPr id="59" name="Freeform 59"/>
          <p:cNvSpPr/>
          <p:nvPr/>
        </p:nvSpPr>
        <p:spPr>
          <a:xfrm>
            <a:off x="3429000" y="430530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013722" y="44476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低（单一模型）</a:t>
            </a:r>
          </a:p>
        </p:txBody>
      </p:sp>
      <p:sp>
        <p:nvSpPr>
          <p:cNvPr id="61" name="Freeform 61"/>
          <p:cNvSpPr/>
          <p:nvPr/>
        </p:nvSpPr>
        <p:spPr>
          <a:xfrm>
            <a:off x="7620000" y="430530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9109472" y="44476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中高（多组件）</a:t>
            </a:r>
          </a:p>
        </p:txBody>
      </p:sp>
      <p:sp>
        <p:nvSpPr>
          <p:cNvPr id="63" name="Freeform 63"/>
          <p:cNvSpPr/>
          <p:nvPr/>
        </p:nvSpPr>
        <p:spPr>
          <a:xfrm>
            <a:off x="571500" y="466725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680210" y="48015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产业落地</a:t>
            </a:r>
          </a:p>
        </p:txBody>
      </p:sp>
      <p:sp>
        <p:nvSpPr>
          <p:cNvPr id="65" name="Freeform 65"/>
          <p:cNvSpPr/>
          <p:nvPr/>
        </p:nvSpPr>
        <p:spPr>
          <a:xfrm>
            <a:off x="3429000" y="466725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440918" y="4809649"/>
            <a:ext cx="1671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无</a:t>
            </a:r>
          </a:p>
        </p:txBody>
      </p:sp>
      <p:sp>
        <p:nvSpPr>
          <p:cNvPr id="67" name="Freeform 67"/>
          <p:cNvSpPr/>
          <p:nvPr/>
        </p:nvSpPr>
        <p:spPr>
          <a:xfrm>
            <a:off x="7620000" y="466725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8945713" y="4809649"/>
            <a:ext cx="13490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已有商用（raNora）</a:t>
            </a:r>
          </a:p>
        </p:txBody>
      </p:sp>
      <p:sp>
        <p:nvSpPr>
          <p:cNvPr id="69" name="Freeform 69"/>
          <p:cNvSpPr/>
          <p:nvPr/>
        </p:nvSpPr>
        <p:spPr>
          <a:xfrm>
            <a:off x="571500" y="5029200"/>
            <a:ext cx="2857500" cy="361950"/>
          </a:xfrm>
          <a:custGeom>
            <a:avLst/>
            <a:gdLst/>
            <a:ahLst/>
            <a:cxnLst/>
            <a:rect l="l" t="t" r="r" b="b"/>
            <a:pathLst>
              <a:path w="2857500" h="3619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323850"/>
                </a:lnTo>
                <a:cubicBezTo>
                  <a:pt x="2857500" y="344892"/>
                  <a:pt x="2840442" y="361950"/>
                  <a:pt x="2819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680210" y="51635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学术发表</a:t>
            </a:r>
          </a:p>
        </p:txBody>
      </p:sp>
      <p:sp>
        <p:nvSpPr>
          <p:cNvPr id="71" name="Freeform 71"/>
          <p:cNvSpPr/>
          <p:nvPr/>
        </p:nvSpPr>
        <p:spPr>
          <a:xfrm>
            <a:off x="3429000" y="5029200"/>
            <a:ext cx="4191000" cy="361950"/>
          </a:xfrm>
          <a:custGeom>
            <a:avLst/>
            <a:gdLst/>
            <a:ahLst/>
            <a:cxnLst/>
            <a:rect l="l" t="t" r="r" b="b"/>
            <a:pathLst>
              <a:path w="4191000" h="3619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23850"/>
                </a:lnTo>
                <a:cubicBezTo>
                  <a:pt x="4191000" y="344892"/>
                  <a:pt x="4173942" y="361950"/>
                  <a:pt x="41529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4871323" y="51715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容易（新微调方法）</a:t>
            </a:r>
          </a:p>
        </p:txBody>
      </p:sp>
      <p:sp>
        <p:nvSpPr>
          <p:cNvPr id="73" name="Freeform 73"/>
          <p:cNvSpPr/>
          <p:nvPr/>
        </p:nvSpPr>
        <p:spPr>
          <a:xfrm>
            <a:off x="7620000" y="5029200"/>
            <a:ext cx="4000500" cy="361950"/>
          </a:xfrm>
          <a:custGeom>
            <a:avLst/>
            <a:gdLst/>
            <a:ahLst/>
            <a:cxnLst/>
            <a:rect l="l" t="t" r="r" b="b"/>
            <a:pathLst>
              <a:path w="4000500" h="361950">
                <a:moveTo>
                  <a:pt x="38100" y="0"/>
                </a:moveTo>
                <a:lnTo>
                  <a:pt x="3962400" y="0"/>
                </a:lnTo>
                <a:cubicBezTo>
                  <a:pt x="3983442" y="0"/>
                  <a:pt x="4000500" y="17058"/>
                  <a:pt x="4000500" y="38100"/>
                </a:cubicBezTo>
                <a:lnTo>
                  <a:pt x="4000500" y="323850"/>
                </a:lnTo>
                <a:cubicBezTo>
                  <a:pt x="4000500" y="344892"/>
                  <a:pt x="3983442" y="361950"/>
                  <a:pt x="3962400" y="361950"/>
                </a:cubicBezTo>
                <a:lnTo>
                  <a:pt x="38100" y="361950"/>
                </a:lnTo>
                <a:cubicBezTo>
                  <a:pt x="17058" y="361950"/>
                  <a:pt x="0" y="344892"/>
                  <a:pt x="0" y="3238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9109472" y="51715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较难（偏工程）</a:t>
            </a:r>
          </a:p>
        </p:txBody>
      </p:sp>
      <p:sp>
        <p:nvSpPr>
          <p:cNvPr id="75" name="Rectangle 75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08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40255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路线B：WirelessAgent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83547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WirelessAgent: LLM Agents for Intelligent Wireless Networks | arXiv 2025.05 | 代码开源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209800"/>
                </a:lnTo>
                <a:cubicBezTo>
                  <a:pt x="5334000" y="2251884"/>
                  <a:pt x="5299884" y="2286000"/>
                  <a:pt x="5257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核心架构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" y="1905000"/>
            <a:ext cx="4953000" cy="381000"/>
          </a:xfrm>
          <a:custGeom>
            <a:avLst/>
            <a:gdLst/>
            <a:ahLst/>
            <a:cxnLst/>
            <a:rect l="l" t="t" r="r" b="b"/>
            <a:pathLst>
              <a:path w="4953000" h="381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323850"/>
                </a:lnTo>
                <a:cubicBezTo>
                  <a:pt x="4953000" y="355413"/>
                  <a:pt x="4927413" y="381000"/>
                  <a:pt x="4895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843088" y="2023110"/>
            <a:ext cx="2790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四模块认知架构（镜像人类认知）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35532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感知（Perception）：观察网络状态和环境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32710"/>
            <a:ext cx="345681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记忆（Memory）：保留历史经验与上下文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2870835"/>
            <a:ext cx="31413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规划（Planning）：基于目标制定策略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4385" y="3108960"/>
            <a:ext cx="29923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④ 行动（Action）：在网络中执行决策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6290" y="339185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基于 LangGraph 架构实现</a:t>
            </a:r>
          </a:p>
        </p:txBody>
      </p:sp>
      <p:sp>
        <p:nvSpPr>
          <p:cNvPr id="19" name="Freeform 19"/>
          <p:cNvSpPr/>
          <p:nvPr/>
        </p:nvSpPr>
        <p:spPr>
          <a:xfrm>
            <a:off x="6286500" y="14287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209800"/>
                </a:lnTo>
                <a:cubicBezTo>
                  <a:pt x="5334000" y="2251884"/>
                  <a:pt x="5299884" y="2286000"/>
                  <a:pt x="5257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505575" y="1533525"/>
            <a:ext cx="23383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实验结果（网络切片）</a:t>
            </a:r>
          </a:p>
        </p:txBody>
      </p:sp>
      <p:sp>
        <p:nvSpPr>
          <p:cNvPr id="22" name="Freeform 22"/>
          <p:cNvSpPr/>
          <p:nvPr/>
        </p:nvSpPr>
        <p:spPr>
          <a:xfrm>
            <a:off x="6477000" y="19050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36025" y="1832610"/>
            <a:ext cx="143495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+44.4%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51683" y="2201228"/>
            <a:ext cx="24036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带宽利用率 vs Prompt-based方法</a:t>
            </a:r>
          </a:p>
        </p:txBody>
      </p:sp>
      <p:sp>
        <p:nvSpPr>
          <p:cNvPr id="25" name="Freeform 25"/>
          <p:cNvSpPr/>
          <p:nvPr/>
        </p:nvSpPr>
        <p:spPr>
          <a:xfrm>
            <a:off x="6477000" y="24765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63753" y="2404110"/>
            <a:ext cx="9794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4.3%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26755" y="277272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仅低于规则最优解</a:t>
            </a:r>
          </a:p>
        </p:txBody>
      </p:sp>
      <p:sp>
        <p:nvSpPr>
          <p:cNvPr id="28" name="Freeform 28"/>
          <p:cNvSpPr/>
          <p:nvPr/>
        </p:nvSpPr>
        <p:spPr>
          <a:xfrm>
            <a:off x="6477000" y="3095625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509385" y="3185160"/>
            <a:ext cx="5549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R1版本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11290" y="3391852"/>
            <a:ext cx="30400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CSI缺失 + Agent + 预测模型 → RMSE降低67%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2950" y="402907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与路线A的关键区别</a:t>
            </a:r>
          </a:p>
        </p:txBody>
      </p:sp>
      <p:sp>
        <p:nvSpPr>
          <p:cNvPr id="32" name="Freeform 32"/>
          <p:cNvSpPr/>
          <p:nvPr/>
        </p:nvSpPr>
        <p:spPr>
          <a:xfrm>
            <a:off x="571500" y="4429125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352550"/>
                </a:lnTo>
                <a:cubicBezTo>
                  <a:pt x="5334000" y="1394634"/>
                  <a:pt x="5299884" y="1428750"/>
                  <a:pt x="5257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571500" y="4429125"/>
            <a:ext cx="57150" cy="14287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94385" y="4585335"/>
            <a:ext cx="29573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LLM不做信号理解，而是做推理编排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4385" y="48234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工具调用获取专业分析结果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4385" y="5061585"/>
            <a:ext cx="27995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发挥LLM长板（推理/规划/对话）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4385" y="5299710"/>
            <a:ext cx="2983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回避短板（信号处理交给专业工具）</a:t>
            </a:r>
          </a:p>
        </p:txBody>
      </p:sp>
      <p:sp>
        <p:nvSpPr>
          <p:cNvPr id="38" name="Freeform 38"/>
          <p:cNvSpPr/>
          <p:nvPr/>
        </p:nvSpPr>
        <p:spPr>
          <a:xfrm>
            <a:off x="6286500" y="4429125"/>
            <a:ext cx="5334000" cy="1428750"/>
          </a:xfrm>
          <a:custGeom>
            <a:avLst/>
            <a:gdLst/>
            <a:ahLst/>
            <a:cxnLst/>
            <a:rect l="l" t="t" r="r" b="b"/>
            <a:pathLst>
              <a:path w="5334000" h="1428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352550"/>
                </a:lnTo>
                <a:cubicBezTo>
                  <a:pt x="5334000" y="1394634"/>
                  <a:pt x="5299884" y="1428750"/>
                  <a:pt x="5257800" y="1428750"/>
                </a:cubicBezTo>
                <a:lnTo>
                  <a:pt x="76200" y="1428750"/>
                </a:lnTo>
                <a:cubicBezTo>
                  <a:pt x="34116" y="1428750"/>
                  <a:pt x="0" y="1394634"/>
                  <a:pt x="0" y="1352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286500" y="4429125"/>
            <a:ext cx="57150" cy="1428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509385" y="4585335"/>
            <a:ext cx="1051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路线B的优势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510338" y="4831556"/>
            <a:ext cx="26328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✓ 调用现成工具，无需大量标注数据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510338" y="5050631"/>
            <a:ext cx="1811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✓ 推理过程可审计可溯源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10338" y="5269706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✓ 新任务 = 新工具，无需重新训练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10338" y="5488781"/>
            <a:ext cx="213991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✓ 可控制硬件、已有商用落地</a:t>
            </a:r>
          </a:p>
        </p:txBody>
      </p:sp>
      <p:sp>
        <p:nvSpPr>
          <p:cNvPr id="45" name="Rectangle 45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路线B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08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5957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案例研究：检测非法干扰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3633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同一任务："分析 2.4GHz 频段是否存在非法干扰"——两条路线的不同做法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476750"/>
          </a:xfrm>
          <a:custGeom>
            <a:avLst/>
            <a:gdLst/>
            <a:ahLst/>
            <a:cxnLst/>
            <a:rect l="l" t="t" r="r" b="b"/>
            <a:pathLst>
              <a:path w="5334000" h="4476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00550"/>
                </a:lnTo>
                <a:cubicBezTo>
                  <a:pt x="5334000" y="4442634"/>
                  <a:pt x="5299884" y="4476750"/>
                  <a:pt x="5257800" y="4476750"/>
                </a:cubicBezTo>
                <a:lnTo>
                  <a:pt x="76200" y="4476750"/>
                </a:lnTo>
                <a:cubicBezTo>
                  <a:pt x="34116" y="4476750"/>
                  <a:pt x="0" y="4442634"/>
                  <a:pt x="0" y="440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138315" y="1533525"/>
            <a:ext cx="22003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000250"/>
            <a:ext cx="4953000" cy="523875"/>
          </a:xfrm>
          <a:custGeom>
            <a:avLst/>
            <a:gdLst/>
            <a:ahLst/>
            <a:cxnLst/>
            <a:rect l="l" t="t" r="r" b="b"/>
            <a:pathLst>
              <a:path w="4953000" h="5238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66725"/>
                </a:lnTo>
                <a:cubicBezTo>
                  <a:pt x="4953000" y="498288"/>
                  <a:pt x="4927413" y="523875"/>
                  <a:pt x="48958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89635" y="2108835"/>
            <a:ext cx="1905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SDR采集IQ → 转频谱图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635" y="2299335"/>
            <a:ext cx="31501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问VLM："这个频段有没有异常干扰？"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760" y="2585085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VLM输出：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28575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1540" y="298227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"检测到非WiFi信号，疑似干扰……"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3524250"/>
            <a:ext cx="4953000" cy="857250"/>
          </a:xfrm>
          <a:custGeom>
            <a:avLst/>
            <a:gdLst/>
            <a:ahLst/>
            <a:cxnLst/>
            <a:rect l="l" t="t" r="r" b="b"/>
            <a:pathLst>
              <a:path w="4953000" h="857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800100"/>
                </a:lnTo>
                <a:cubicBezTo>
                  <a:pt x="4953000" y="831663"/>
                  <a:pt x="4927413" y="857250"/>
                  <a:pt x="4895850" y="857250"/>
                </a:cubicBezTo>
                <a:lnTo>
                  <a:pt x="57150" y="857250"/>
                </a:lnTo>
                <a:cubicBezTo>
                  <a:pt x="25587" y="857250"/>
                  <a:pt x="0" y="831663"/>
                  <a:pt x="0" y="800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90588" y="36695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1540" y="3887152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模型没受过真实干扰训练，可能误判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1540" y="4077652"/>
            <a:ext cx="27793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没有法规数据库对照，无法判断"非法"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428750"/>
            <a:ext cx="5334000" cy="4476750"/>
          </a:xfrm>
          <a:custGeom>
            <a:avLst/>
            <a:gdLst/>
            <a:ahLst/>
            <a:cxnLst/>
            <a:rect l="l" t="t" r="r" b="b"/>
            <a:pathLst>
              <a:path w="5334000" h="4476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00550"/>
                </a:lnTo>
                <a:cubicBezTo>
                  <a:pt x="5334000" y="4442634"/>
                  <a:pt x="5299884" y="4476750"/>
                  <a:pt x="5257800" y="4476750"/>
                </a:cubicBezTo>
                <a:lnTo>
                  <a:pt x="76200" y="4476750"/>
                </a:lnTo>
                <a:cubicBezTo>
                  <a:pt x="34116" y="4476750"/>
                  <a:pt x="0" y="4442634"/>
                  <a:pt x="0" y="440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6286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51077" y="153352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27" name="Freeform 27"/>
          <p:cNvSpPr/>
          <p:nvPr/>
        </p:nvSpPr>
        <p:spPr>
          <a:xfrm>
            <a:off x="6477000" y="2000250"/>
            <a:ext cx="4953000" cy="523875"/>
          </a:xfrm>
          <a:custGeom>
            <a:avLst/>
            <a:gdLst/>
            <a:ahLst/>
            <a:cxnLst/>
            <a:rect l="l" t="t" r="r" b="b"/>
            <a:pathLst>
              <a:path w="4953000" h="5238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66725"/>
                </a:lnTo>
                <a:cubicBezTo>
                  <a:pt x="4953000" y="498288"/>
                  <a:pt x="4927413" y="523875"/>
                  <a:pt x="48958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604635" y="2108835"/>
            <a:ext cx="2860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Agent解析意图 → 调用频谱分析API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04635" y="2299335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工具返回各信道占用/功率/信号类型</a:t>
            </a:r>
          </a:p>
        </p:txBody>
      </p:sp>
      <p:sp>
        <p:nvSpPr>
          <p:cNvPr id="30" name="Freeform 30"/>
          <p:cNvSpPr/>
          <p:nvPr/>
        </p:nvSpPr>
        <p:spPr>
          <a:xfrm>
            <a:off x="6477000" y="2667000"/>
            <a:ext cx="4953000" cy="523875"/>
          </a:xfrm>
          <a:custGeom>
            <a:avLst/>
            <a:gdLst/>
            <a:ahLst/>
            <a:cxnLst/>
            <a:rect l="l" t="t" r="r" b="b"/>
            <a:pathLst>
              <a:path w="4953000" h="5238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66725"/>
                </a:lnTo>
                <a:cubicBezTo>
                  <a:pt x="4953000" y="498288"/>
                  <a:pt x="4927413" y="523875"/>
                  <a:pt x="48958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04635" y="2775585"/>
            <a:ext cx="28784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Agent调用FCC数据库查询频率分配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04635" y="2966085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④ 综合判断，输出带证据的报告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77000" y="333375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06540" y="3458528"/>
            <a:ext cx="27256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"信道6存在未授权信号，功率-30dBm，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06540" y="3629978"/>
            <a:ext cx="11844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建议进一步排查"</a:t>
            </a:r>
          </a:p>
        </p:txBody>
      </p:sp>
      <p:sp>
        <p:nvSpPr>
          <p:cNvPr id="36" name="Freeform 36"/>
          <p:cNvSpPr/>
          <p:nvPr/>
        </p:nvSpPr>
        <p:spPr>
          <a:xfrm>
            <a:off x="6477000" y="4000500"/>
            <a:ext cx="4953000" cy="666750"/>
          </a:xfrm>
          <a:custGeom>
            <a:avLst/>
            <a:gdLst/>
            <a:ahLst/>
            <a:cxnLst/>
            <a:rect l="l" t="t" r="r" b="b"/>
            <a:pathLst>
              <a:path w="4953000" h="6667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609600"/>
                </a:lnTo>
                <a:cubicBezTo>
                  <a:pt x="4953000" y="641163"/>
                  <a:pt x="4927413" y="666750"/>
                  <a:pt x="48958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 w="9525">
            <a:solidFill>
              <a:srgbClr val="0066C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605588" y="414575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优势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06540" y="4363402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每步可审计、可溯源、可人工干预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06540" y="453485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结合法规数据库，判断有据可依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09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19155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路线B：AICEBERG — 硬件控制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6492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AICEBERG: Agentic AI for Radio Monitoring | MDPI Smart Cities 2026.04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2381250"/>
          </a:xfrm>
          <a:custGeom>
            <a:avLst/>
            <a:gdLst/>
            <a:ahLst/>
            <a:cxnLst/>
            <a:rect l="l" t="t" r="r" b="b"/>
            <a:pathLst>
              <a:path w="5334000" h="2381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305050"/>
                </a:lnTo>
                <a:cubicBezTo>
                  <a:pt x="5334000" y="2347134"/>
                  <a:pt x="5299884" y="2381250"/>
                  <a:pt x="5257800" y="2381250"/>
                </a:cubicBezTo>
                <a:lnTo>
                  <a:pt x="76200" y="2381250"/>
                </a:lnTo>
                <a:cubicBezTo>
                  <a:pt x="34116" y="2381250"/>
                  <a:pt x="0" y="2347134"/>
                  <a:pt x="0" y="2305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三层架构</a:t>
            </a:r>
          </a:p>
        </p:txBody>
      </p:sp>
      <p:sp>
        <p:nvSpPr>
          <p:cNvPr id="12" name="Freeform 12"/>
          <p:cNvSpPr/>
          <p:nvPr/>
        </p:nvSpPr>
        <p:spPr>
          <a:xfrm>
            <a:off x="762000" y="1905000"/>
            <a:ext cx="4953000" cy="333375"/>
          </a:xfrm>
          <a:custGeom>
            <a:avLst/>
            <a:gdLst/>
            <a:ahLst/>
            <a:cxnLst/>
            <a:rect l="l" t="t" r="r" b="b"/>
            <a:pathLst>
              <a:path w="4953000" h="3333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276225"/>
                </a:lnTo>
                <a:cubicBezTo>
                  <a:pt x="4953000" y="307788"/>
                  <a:pt x="4927413" y="333375"/>
                  <a:pt x="4895850" y="333375"/>
                </a:cubicBezTo>
                <a:lnTo>
                  <a:pt x="57150" y="333375"/>
                </a:lnTo>
                <a:cubicBezTo>
                  <a:pt x="25587" y="333375"/>
                  <a:pt x="0" y="307788"/>
                  <a:pt x="0" y="2762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10602" y="2004060"/>
            <a:ext cx="44557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用户自然语言 → LLM推理 → MCP桥接 → SCPI → 频谱分析仪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10794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LLM推理层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212" y="2621756"/>
            <a:ext cx="23288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语义理解、意图识别、任务规划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2870835"/>
            <a:ext cx="10794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MCP桥接层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8212" y="3098006"/>
            <a:ext cx="31996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Model Context Protocol，结构化工具调用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385" y="3347085"/>
            <a:ext cx="14658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SCPI硬件控制层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38212" y="3574256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标准仪器控制协议，驱动频谱分析仪</a:t>
            </a:r>
          </a:p>
        </p:txBody>
      </p:sp>
      <p:sp>
        <p:nvSpPr>
          <p:cNvPr id="20" name="Freeform 20"/>
          <p:cNvSpPr/>
          <p:nvPr/>
        </p:nvSpPr>
        <p:spPr>
          <a:xfrm>
            <a:off x="6286500" y="1428750"/>
            <a:ext cx="5334000" cy="2381250"/>
          </a:xfrm>
          <a:custGeom>
            <a:avLst/>
            <a:gdLst/>
            <a:ahLst/>
            <a:cxnLst/>
            <a:rect l="l" t="t" r="r" b="b"/>
            <a:pathLst>
              <a:path w="5334000" h="23812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305050"/>
                </a:lnTo>
                <a:cubicBezTo>
                  <a:pt x="5334000" y="2347134"/>
                  <a:pt x="5299884" y="2381250"/>
                  <a:pt x="5257800" y="2381250"/>
                </a:cubicBezTo>
                <a:lnTo>
                  <a:pt x="76200" y="2381250"/>
                </a:lnTo>
                <a:cubicBezTo>
                  <a:pt x="34116" y="2381250"/>
                  <a:pt x="0" y="2347134"/>
                  <a:pt x="0" y="2305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505575" y="15335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双服务器设计</a:t>
            </a:r>
          </a:p>
        </p:txBody>
      </p:sp>
      <p:sp>
        <p:nvSpPr>
          <p:cNvPr id="23" name="Freeform 23"/>
          <p:cNvSpPr/>
          <p:nvPr/>
        </p:nvSpPr>
        <p:spPr>
          <a:xfrm>
            <a:off x="6477000" y="19526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1066800"/>
                </a:lnTo>
                <a:cubicBezTo>
                  <a:pt x="2381250" y="1108884"/>
                  <a:pt x="2347134" y="1143000"/>
                  <a:pt x="23050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192328" y="21088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执行服务器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75705" y="2410778"/>
            <a:ext cx="1383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处理LLM生成的指令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40880" y="26298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执行频谱测量操作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194233" y="28489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返回测量结果</a:t>
            </a:r>
          </a:p>
        </p:txBody>
      </p:sp>
      <p:sp>
        <p:nvSpPr>
          <p:cNvPr id="28" name="Freeform 28"/>
          <p:cNvSpPr/>
          <p:nvPr/>
        </p:nvSpPr>
        <p:spPr>
          <a:xfrm>
            <a:off x="9048750" y="19526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76200" y="0"/>
                </a:moveTo>
                <a:lnTo>
                  <a:pt x="2305050" y="0"/>
                </a:lnTo>
                <a:cubicBezTo>
                  <a:pt x="2347134" y="0"/>
                  <a:pt x="2381250" y="34116"/>
                  <a:pt x="2381250" y="76200"/>
                </a:cubicBezTo>
                <a:lnTo>
                  <a:pt x="2381250" y="1066800"/>
                </a:lnTo>
                <a:cubicBezTo>
                  <a:pt x="2381250" y="1108884"/>
                  <a:pt x="2347134" y="1143000"/>
                  <a:pt x="230505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764078" y="2108835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安全服务器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9306" y="241077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校验参数合法性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765982" y="26298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检查操作边界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842659" y="284892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防止误操作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77000" y="32385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327791" y="3344228"/>
            <a:ext cx="26796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执行 + 安全分离 → 确保硬件操作不越界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2950" y="4124325"/>
            <a:ext cx="17748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路线B的代表意义</a:t>
            </a:r>
          </a:p>
        </p:txBody>
      </p:sp>
      <p:sp>
        <p:nvSpPr>
          <p:cNvPr id="36" name="Freeform 36"/>
          <p:cNvSpPr/>
          <p:nvPr/>
        </p:nvSpPr>
        <p:spPr>
          <a:xfrm>
            <a:off x="571500" y="4524375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571500" y="4524375"/>
            <a:ext cx="57150" cy="952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794385" y="4680585"/>
            <a:ext cx="49202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AICEBERG 是第一次把 LLM + MCP + 硬件控制 完整打通的工作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4385" y="4918710"/>
            <a:ext cx="49289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验证了"LLM做推理编排 + 工具做专业操作"这个范式的可行性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385" y="5156835"/>
            <a:ext cx="447332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发表在MDPI Smart Cities，非顶刊，但思路方向有价值</a:t>
            </a:r>
          </a:p>
        </p:txBody>
      </p:sp>
      <p:sp>
        <p:nvSpPr>
          <p:cNvPr id="41" name="Rectangle 41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路线B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92090" y="65512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09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1432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路线B：产业落地 + 混合架构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1298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从学术到产业 — 路线B的多元化进展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44201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raNora — 首个商用电信Agent（2026.03）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开发商：Aircom（电信AI领域厂商）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16428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多 Agent 协作系统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已上线功能：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212" y="2621756"/>
            <a:ext cx="27560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- 数据库Agent：合规审计、差异分析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212" y="2831306"/>
            <a:ext cx="25917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- 覆盖Agent：站点推荐、覆盖分析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6290" y="3077528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基于电信领域训练的LLM推理引擎</a:t>
            </a:r>
          </a:p>
        </p:txBody>
      </p:sp>
      <p:sp>
        <p:nvSpPr>
          <p:cNvPr id="18" name="Freeform 18"/>
          <p:cNvSpPr/>
          <p:nvPr/>
        </p:nvSpPr>
        <p:spPr>
          <a:xfrm>
            <a:off x="6286500" y="1428750"/>
            <a:ext cx="5334000" cy="1905000"/>
          </a:xfrm>
          <a:custGeom>
            <a:avLst/>
            <a:gdLst/>
            <a:ahLst/>
            <a:cxnLst/>
            <a:rect l="l" t="t" r="r" b="b"/>
            <a:pathLst>
              <a:path w="5334000" h="1905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828800"/>
                </a:lnTo>
                <a:cubicBezTo>
                  <a:pt x="5334000" y="1870884"/>
                  <a:pt x="5299884" y="1905000"/>
                  <a:pt x="5257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505575" y="1533525"/>
            <a:ext cx="42246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Multi-LLM Agent DRL（KTH, 2025-26）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9385" y="1918335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每个基站/UE 部署一个 LLM Agent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2156460"/>
            <a:ext cx="10557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混合架构：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3212" y="2402681"/>
            <a:ext cx="24931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LLM → 高层协商、合作、策略适配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3212" y="2640806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DRL → 低层功率分配、波束赋形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1290" y="2934652"/>
            <a:ext cx="172888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面向6G的可扩展混合方案</a:t>
            </a:r>
          </a:p>
        </p:txBody>
      </p:sp>
      <p:sp>
        <p:nvSpPr>
          <p:cNvPr id="26" name="Freeform 26"/>
          <p:cNvSpPr/>
          <p:nvPr/>
        </p:nvSpPr>
        <p:spPr>
          <a:xfrm>
            <a:off x="571500" y="361950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828800"/>
                </a:lnTo>
                <a:cubicBezTo>
                  <a:pt x="11049000" y="1870884"/>
                  <a:pt x="11014884" y="1905000"/>
                  <a:pt x="1097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3619500"/>
            <a:ext cx="57150" cy="1905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499398" y="3774758"/>
            <a:ext cx="119320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路线B小结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97891" y="4140518"/>
            <a:ext cx="596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✅ 优势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86912" y="4394835"/>
            <a:ext cx="52181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调用现成工具 | 可审计推理链 | 灵活扩展 | 硬件控制 | 已有商用落地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97891" y="4664392"/>
            <a:ext cx="5962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❌ 劣势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666553" y="4918710"/>
            <a:ext cx="48588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系统复杂 | 延迟较高 | LLM幻觉风险（需校验） | 学术发表较难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16034" y="5252085"/>
            <a:ext cx="55599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整体评价：产业上更务实，在工程落地和真实场景泛化上明显领先路线A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560070" y="6551295"/>
            <a:ext cx="10021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路线B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45619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对比总结：不是互斥，而是互补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59000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"内化感知"适合做识别型任务；"工具协同"适合做推理+控制型任务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209800"/>
                </a:lnTo>
                <a:cubicBezTo>
                  <a:pt x="5334000" y="2251884"/>
                  <a:pt x="5299884" y="2286000"/>
                  <a:pt x="5257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15447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路线A的生态位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29836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纯识别任务（调制分类、技术识别）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22825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端到端场景，一个模型搞定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快速原型验证、学术论文发表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385" y="268033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但距离真实部署还有距离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86500" y="1428750"/>
            <a:ext cx="5334000" cy="2286000"/>
          </a:xfrm>
          <a:custGeom>
            <a:avLst/>
            <a:gdLst/>
            <a:ahLst/>
            <a:cxnLst/>
            <a:rect l="l" t="t" r="r" b="b"/>
            <a:pathLst>
              <a:path w="5334000" h="2286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2209800"/>
                </a:lnTo>
                <a:cubicBezTo>
                  <a:pt x="5334000" y="2251884"/>
                  <a:pt x="5299884" y="2286000"/>
                  <a:pt x="5257800" y="2286000"/>
                </a:cubicBezTo>
                <a:lnTo>
                  <a:pt x="76200" y="2286000"/>
                </a:lnTo>
                <a:cubicBezTo>
                  <a:pt x="34116" y="2286000"/>
                  <a:pt x="0" y="2251884"/>
                  <a:pt x="0" y="2209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05575" y="1533525"/>
            <a:ext cx="15447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路线B的生态位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09385" y="1918335"/>
            <a:ext cx="29047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需要推理+决策的任务（干扰排查）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2156460"/>
            <a:ext cx="23789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需要访问数据库/法规的场景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09385" y="2394585"/>
            <a:ext cx="1756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需要控制硬件的场景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09385" y="2680335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已有商用落地，近期更实用</a:t>
            </a:r>
          </a:p>
        </p:txBody>
      </p:sp>
      <p:sp>
        <p:nvSpPr>
          <p:cNvPr id="23" name="Freeform 23"/>
          <p:cNvSpPr/>
          <p:nvPr/>
        </p:nvSpPr>
        <p:spPr>
          <a:xfrm>
            <a:off x="571500" y="400050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828800"/>
                </a:lnTo>
                <a:cubicBezTo>
                  <a:pt x="11049000" y="1870884"/>
                  <a:pt x="11014884" y="1905000"/>
                  <a:pt x="1097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571500" y="4000500"/>
            <a:ext cx="57150" cy="1905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699243" y="4168140"/>
            <a:ext cx="479351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未来融合架构：Agent 为主，VLM 为辅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98682" y="4569142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LLM Agent（推理/编排/决策）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14095" y="4807268"/>
            <a:ext cx="7638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↓ 调用 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742420" y="5045392"/>
            <a:ext cx="47071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VLM（频谱识别） + 传统信号处理 + 数据库 + 硬件API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61928" y="5347335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各路工具各司其职，Agent 做大脑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综合对比：多维度比较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262704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两条路线的 8 个关键维度对比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2286000" cy="342900"/>
          </a:xfrm>
          <a:custGeom>
            <a:avLst/>
            <a:gdLst/>
            <a:ahLst/>
            <a:cxnLst/>
            <a:rect l="l" t="t" r="r" b="b"/>
            <a:pathLst>
              <a:path w="2286000" h="34290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04800"/>
                </a:lnTo>
                <a:cubicBezTo>
                  <a:pt x="2286000" y="325842"/>
                  <a:pt x="2268942" y="342900"/>
                  <a:pt x="2247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27691" y="15359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维度</a:t>
            </a:r>
          </a:p>
        </p:txBody>
      </p:sp>
      <p:sp>
        <p:nvSpPr>
          <p:cNvPr id="11" name="Freeform 11"/>
          <p:cNvSpPr/>
          <p:nvPr/>
        </p:nvSpPr>
        <p:spPr>
          <a:xfrm>
            <a:off x="2857500" y="1428750"/>
            <a:ext cx="4572000" cy="342900"/>
          </a:xfrm>
          <a:custGeom>
            <a:avLst/>
            <a:gdLst/>
            <a:ahLst/>
            <a:cxnLst/>
            <a:rect l="l" t="t" r="r" b="b"/>
            <a:pathLst>
              <a:path w="4572000" h="34290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04800"/>
                </a:lnTo>
                <a:cubicBezTo>
                  <a:pt x="4572000" y="325842"/>
                  <a:pt x="4554942" y="342900"/>
                  <a:pt x="4533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318361" y="1535906"/>
            <a:ext cx="16502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13" name="Freeform 13"/>
          <p:cNvSpPr/>
          <p:nvPr/>
        </p:nvSpPr>
        <p:spPr>
          <a:xfrm>
            <a:off x="7429500" y="1428750"/>
            <a:ext cx="4191000" cy="342900"/>
          </a:xfrm>
          <a:custGeom>
            <a:avLst/>
            <a:gdLst/>
            <a:ahLst/>
            <a:cxnLst/>
            <a:rect l="l" t="t" r="r" b="b"/>
            <a:pathLst>
              <a:path w="4191000" h="34290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04800"/>
                </a:lnTo>
                <a:cubicBezTo>
                  <a:pt x="4191000" y="325842"/>
                  <a:pt x="4173942" y="342900"/>
                  <a:pt x="4152900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773183" y="1535906"/>
            <a:ext cx="15036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15" name="Freeform 15"/>
          <p:cNvSpPr/>
          <p:nvPr/>
        </p:nvSpPr>
        <p:spPr>
          <a:xfrm>
            <a:off x="571500" y="177165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394460" y="19250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核心假设</a:t>
            </a:r>
          </a:p>
        </p:txBody>
      </p:sp>
      <p:sp>
        <p:nvSpPr>
          <p:cNvPr id="17" name="Freeform 17"/>
          <p:cNvSpPr/>
          <p:nvPr/>
        </p:nvSpPr>
        <p:spPr>
          <a:xfrm>
            <a:off x="2857500" y="177165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572202" y="1933099"/>
            <a:ext cx="11425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让LLM学会看频谱</a:t>
            </a:r>
          </a:p>
        </p:txBody>
      </p:sp>
      <p:sp>
        <p:nvSpPr>
          <p:cNvPr id="19" name="Freeform 19"/>
          <p:cNvSpPr/>
          <p:nvPr/>
        </p:nvSpPr>
        <p:spPr>
          <a:xfrm>
            <a:off x="7429500" y="177165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740104" y="1933099"/>
            <a:ext cx="1569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让LLM调用工具分析频谱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217170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394460" y="23250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数据需求</a:t>
            </a:r>
          </a:p>
        </p:txBody>
      </p:sp>
      <p:sp>
        <p:nvSpPr>
          <p:cNvPr id="23" name="Freeform 23"/>
          <p:cNvSpPr/>
          <p:nvPr/>
        </p:nvSpPr>
        <p:spPr>
          <a:xfrm>
            <a:off x="2857500" y="217170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4547283" y="2333149"/>
            <a:ext cx="11924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高（625K合成对）</a:t>
            </a:r>
          </a:p>
        </p:txBody>
      </p:sp>
      <p:sp>
        <p:nvSpPr>
          <p:cNvPr id="25" name="Freeform 25"/>
          <p:cNvSpPr/>
          <p:nvPr/>
        </p:nvSpPr>
        <p:spPr>
          <a:xfrm>
            <a:off x="7429500" y="217170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871823" y="23331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低（工具已有能力）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257175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394460" y="27251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真实泛化</a:t>
            </a:r>
          </a:p>
        </p:txBody>
      </p:sp>
      <p:sp>
        <p:nvSpPr>
          <p:cNvPr id="29" name="Freeform 29"/>
          <p:cNvSpPr/>
          <p:nvPr/>
        </p:nvSpPr>
        <p:spPr>
          <a:xfrm>
            <a:off x="2857500" y="257175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93562" y="2733199"/>
            <a:ext cx="10998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差（合成→真实）</a:t>
            </a:r>
          </a:p>
        </p:txBody>
      </p:sp>
      <p:sp>
        <p:nvSpPr>
          <p:cNvPr id="31" name="Freeform 31"/>
          <p:cNvSpPr/>
          <p:nvPr/>
        </p:nvSpPr>
        <p:spPr>
          <a:xfrm>
            <a:off x="7429500" y="257175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871823" y="27331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好（工具真实处理）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297180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394460" y="31251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硬件控制</a:t>
            </a:r>
          </a:p>
        </p:txBody>
      </p:sp>
      <p:sp>
        <p:nvSpPr>
          <p:cNvPr id="35" name="Freeform 35"/>
          <p:cNvSpPr/>
          <p:nvPr/>
        </p:nvSpPr>
        <p:spPr>
          <a:xfrm>
            <a:off x="2857500" y="297180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917519" y="31332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不支持</a:t>
            </a:r>
          </a:p>
        </p:txBody>
      </p:sp>
      <p:sp>
        <p:nvSpPr>
          <p:cNvPr id="37" name="Freeform 37"/>
          <p:cNvSpPr/>
          <p:nvPr/>
        </p:nvSpPr>
        <p:spPr>
          <a:xfrm>
            <a:off x="7429500" y="297180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950142" y="3133249"/>
            <a:ext cx="11497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支持（SCPI/API）</a:t>
            </a:r>
          </a:p>
        </p:txBody>
      </p:sp>
      <p:sp>
        <p:nvSpPr>
          <p:cNvPr id="39" name="Freeform 39"/>
          <p:cNvSpPr/>
          <p:nvPr/>
        </p:nvSpPr>
        <p:spPr>
          <a:xfrm>
            <a:off x="571500" y="337185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394460" y="35252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可解释性</a:t>
            </a:r>
          </a:p>
        </p:txBody>
      </p:sp>
      <p:sp>
        <p:nvSpPr>
          <p:cNvPr id="41" name="Freeform 41"/>
          <p:cNvSpPr/>
          <p:nvPr/>
        </p:nvSpPr>
        <p:spPr>
          <a:xfrm>
            <a:off x="2857500" y="337185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988719" y="35332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黑箱</a:t>
            </a:r>
          </a:p>
        </p:txBody>
      </p:sp>
      <p:sp>
        <p:nvSpPr>
          <p:cNvPr id="43" name="Freeform 43"/>
          <p:cNvSpPr/>
          <p:nvPr/>
        </p:nvSpPr>
        <p:spPr>
          <a:xfrm>
            <a:off x="7429500" y="337185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9085421" y="353329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可审计推理链</a:t>
            </a:r>
          </a:p>
        </p:txBody>
      </p:sp>
      <p:sp>
        <p:nvSpPr>
          <p:cNvPr id="45" name="Freeform 45"/>
          <p:cNvSpPr/>
          <p:nvPr/>
        </p:nvSpPr>
        <p:spPr>
          <a:xfrm>
            <a:off x="571500" y="377190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1317784" y="39252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扩展新任务</a:t>
            </a:r>
          </a:p>
        </p:txBody>
      </p:sp>
      <p:sp>
        <p:nvSpPr>
          <p:cNvPr id="47" name="Freeform 47"/>
          <p:cNvSpPr/>
          <p:nvPr/>
        </p:nvSpPr>
        <p:spPr>
          <a:xfrm>
            <a:off x="2857500" y="377190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775121" y="39333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需重新微调</a:t>
            </a:r>
          </a:p>
        </p:txBody>
      </p:sp>
      <p:sp>
        <p:nvSpPr>
          <p:cNvPr id="49" name="Freeform 49"/>
          <p:cNvSpPr/>
          <p:nvPr/>
        </p:nvSpPr>
        <p:spPr>
          <a:xfrm>
            <a:off x="7429500" y="377190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9156621" y="3933349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加工具即可</a:t>
            </a:r>
          </a:p>
        </p:txBody>
      </p:sp>
      <p:sp>
        <p:nvSpPr>
          <p:cNvPr id="51" name="Freeform 51"/>
          <p:cNvSpPr/>
          <p:nvPr/>
        </p:nvSpPr>
        <p:spPr>
          <a:xfrm>
            <a:off x="571500" y="417195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317784" y="43253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系统复杂度</a:t>
            </a:r>
          </a:p>
        </p:txBody>
      </p:sp>
      <p:sp>
        <p:nvSpPr>
          <p:cNvPr id="53" name="Freeform 53"/>
          <p:cNvSpPr/>
          <p:nvPr/>
        </p:nvSpPr>
        <p:spPr>
          <a:xfrm>
            <a:off x="2857500" y="417195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4632722" y="43333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低（单一模型）</a:t>
            </a:r>
          </a:p>
        </p:txBody>
      </p:sp>
      <p:sp>
        <p:nvSpPr>
          <p:cNvPr id="55" name="Freeform 55"/>
          <p:cNvSpPr/>
          <p:nvPr/>
        </p:nvSpPr>
        <p:spPr>
          <a:xfrm>
            <a:off x="7429500" y="417195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014222" y="43333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中高（多组件）</a:t>
            </a:r>
          </a:p>
        </p:txBody>
      </p:sp>
      <p:sp>
        <p:nvSpPr>
          <p:cNvPr id="57" name="Freeform 57"/>
          <p:cNvSpPr/>
          <p:nvPr/>
        </p:nvSpPr>
        <p:spPr>
          <a:xfrm>
            <a:off x="571500" y="457200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394460" y="47253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产业落地</a:t>
            </a:r>
          </a:p>
        </p:txBody>
      </p:sp>
      <p:sp>
        <p:nvSpPr>
          <p:cNvPr id="59" name="Freeform 59"/>
          <p:cNvSpPr/>
          <p:nvPr/>
        </p:nvSpPr>
        <p:spPr>
          <a:xfrm>
            <a:off x="2857500" y="457200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4988719" y="47334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尚无</a:t>
            </a:r>
          </a:p>
        </p:txBody>
      </p:sp>
      <p:sp>
        <p:nvSpPr>
          <p:cNvPr id="61" name="Freeform 61"/>
          <p:cNvSpPr/>
          <p:nvPr/>
        </p:nvSpPr>
        <p:spPr>
          <a:xfrm>
            <a:off x="7429500" y="457200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8850463" y="4733449"/>
            <a:ext cx="13490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已有商用（raNora）</a:t>
            </a:r>
          </a:p>
        </p:txBody>
      </p:sp>
      <p:sp>
        <p:nvSpPr>
          <p:cNvPr id="63" name="Freeform 63"/>
          <p:cNvSpPr/>
          <p:nvPr/>
        </p:nvSpPr>
        <p:spPr>
          <a:xfrm>
            <a:off x="571500" y="4972050"/>
            <a:ext cx="2286000" cy="400050"/>
          </a:xfrm>
          <a:custGeom>
            <a:avLst/>
            <a:gdLst/>
            <a:ahLst/>
            <a:cxnLst/>
            <a:rect l="l" t="t" r="r" b="b"/>
            <a:pathLst>
              <a:path w="2286000" h="400050">
                <a:moveTo>
                  <a:pt x="38100" y="0"/>
                </a:moveTo>
                <a:lnTo>
                  <a:pt x="2247900" y="0"/>
                </a:lnTo>
                <a:cubicBezTo>
                  <a:pt x="2268942" y="0"/>
                  <a:pt x="2286000" y="17058"/>
                  <a:pt x="2286000" y="38100"/>
                </a:cubicBezTo>
                <a:lnTo>
                  <a:pt x="2286000" y="361950"/>
                </a:lnTo>
                <a:cubicBezTo>
                  <a:pt x="2286000" y="382992"/>
                  <a:pt x="2268942" y="400050"/>
                  <a:pt x="2247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394460" y="512540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学术发表</a:t>
            </a:r>
          </a:p>
        </p:txBody>
      </p:sp>
      <p:sp>
        <p:nvSpPr>
          <p:cNvPr id="65" name="Freeform 65"/>
          <p:cNvSpPr/>
          <p:nvPr/>
        </p:nvSpPr>
        <p:spPr>
          <a:xfrm>
            <a:off x="2857500" y="4972050"/>
            <a:ext cx="4572000" cy="400050"/>
          </a:xfrm>
          <a:custGeom>
            <a:avLst/>
            <a:gdLst/>
            <a:ahLst/>
            <a:cxnLst/>
            <a:rect l="l" t="t" r="r" b="b"/>
            <a:pathLst>
              <a:path w="4572000" h="400050">
                <a:moveTo>
                  <a:pt x="38100" y="0"/>
                </a:moveTo>
                <a:lnTo>
                  <a:pt x="4533900" y="0"/>
                </a:lnTo>
                <a:cubicBezTo>
                  <a:pt x="4554942" y="0"/>
                  <a:pt x="4572000" y="17058"/>
                  <a:pt x="4572000" y="38100"/>
                </a:cubicBezTo>
                <a:lnTo>
                  <a:pt x="4572000" y="361950"/>
                </a:lnTo>
                <a:cubicBezTo>
                  <a:pt x="4572000" y="382992"/>
                  <a:pt x="4554942" y="400050"/>
                  <a:pt x="4533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4561522" y="51334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容易（微调方法）</a:t>
            </a:r>
          </a:p>
        </p:txBody>
      </p:sp>
      <p:sp>
        <p:nvSpPr>
          <p:cNvPr id="67" name="Freeform 67"/>
          <p:cNvSpPr/>
          <p:nvPr/>
        </p:nvSpPr>
        <p:spPr>
          <a:xfrm>
            <a:off x="7429500" y="4972050"/>
            <a:ext cx="4191000" cy="400050"/>
          </a:xfrm>
          <a:custGeom>
            <a:avLst/>
            <a:gdLst/>
            <a:ahLst/>
            <a:cxnLst/>
            <a:rect l="l" t="t" r="r" b="b"/>
            <a:pathLst>
              <a:path w="4191000" h="400050">
                <a:moveTo>
                  <a:pt x="38100" y="0"/>
                </a:moveTo>
                <a:lnTo>
                  <a:pt x="4152900" y="0"/>
                </a:lnTo>
                <a:cubicBezTo>
                  <a:pt x="4173942" y="0"/>
                  <a:pt x="4191000" y="17058"/>
                  <a:pt x="4191000" y="38100"/>
                </a:cubicBezTo>
                <a:lnTo>
                  <a:pt x="4191000" y="361950"/>
                </a:lnTo>
                <a:cubicBezTo>
                  <a:pt x="4191000" y="382992"/>
                  <a:pt x="4173942" y="400050"/>
                  <a:pt x="4152900" y="400050"/>
                </a:cubicBezTo>
                <a:lnTo>
                  <a:pt x="38100" y="400050"/>
                </a:lnTo>
                <a:cubicBezTo>
                  <a:pt x="17058" y="400050"/>
                  <a:pt x="0" y="382992"/>
                  <a:pt x="0" y="3619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9014222" y="51334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较难（偏工程）</a:t>
            </a:r>
          </a:p>
        </p:txBody>
      </p:sp>
      <p:sp>
        <p:nvSpPr>
          <p:cNvPr id="69" name="Rectangle 69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综合比较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457813" y="65512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3076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核心洞见与判断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1889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为什么智能体路线在工程上更占优？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714500"/>
          </a:xfrm>
          <a:custGeom>
            <a:avLst/>
            <a:gdLst/>
            <a:ahLst/>
            <a:cxnLst/>
            <a:rect l="l" t="t" r="r" b="b"/>
            <a:pathLst>
              <a:path w="5334000" h="1714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638300"/>
                </a:lnTo>
                <a:cubicBezTo>
                  <a:pt x="5334000" y="1680384"/>
                  <a:pt x="5299884" y="1714500"/>
                  <a:pt x="5257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35230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洞见一：LLM 的长板不在信号处理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LLM擅长的是推理、编排、对话、知识检索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31851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信号分析是传统方法和小模型的优势领域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33078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→ 扬长避短，让LLM做大脑，让工具做感知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1428750"/>
            <a:ext cx="5334000" cy="1714500"/>
          </a:xfrm>
          <a:custGeom>
            <a:avLst/>
            <a:gdLst/>
            <a:ahLst/>
            <a:cxnLst/>
            <a:rect l="l" t="t" r="r" b="b"/>
            <a:pathLst>
              <a:path w="5334000" h="17145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638300"/>
                </a:lnTo>
                <a:cubicBezTo>
                  <a:pt x="5334000" y="1680384"/>
                  <a:pt x="5299884" y="1714500"/>
                  <a:pt x="5257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05575" y="1533525"/>
            <a:ext cx="34885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洞见二：现实世界的信号是开放的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9385" y="1918335"/>
            <a:ext cx="30274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真实RF环境有无穷多种干扰和异常模式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09385" y="2156460"/>
            <a:ext cx="31588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VLM无法通过有限训练数据覆盖所有情况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2394585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→ 工具调用的灵活性是端到端模型做不到的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3429000"/>
            <a:ext cx="11049000" cy="1714500"/>
          </a:xfrm>
          <a:custGeom>
            <a:avLst/>
            <a:gdLst/>
            <a:ahLst/>
            <a:cxnLst/>
            <a:rect l="l" t="t" r="r" b="b"/>
            <a:pathLst>
              <a:path w="11049000" h="1714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638300"/>
                </a:lnTo>
                <a:cubicBezTo>
                  <a:pt x="11049000" y="1680384"/>
                  <a:pt x="11014884" y="1714500"/>
                  <a:pt x="10972800" y="1714500"/>
                </a:cubicBezTo>
                <a:lnTo>
                  <a:pt x="76200" y="1714500"/>
                </a:lnTo>
                <a:cubicBezTo>
                  <a:pt x="34116" y="1714500"/>
                  <a:pt x="0" y="1680384"/>
                  <a:pt x="0" y="1638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71500" y="3429000"/>
            <a:ext cx="57150" cy="17145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90575" y="3600450"/>
            <a:ext cx="49815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480" y="3930968"/>
            <a:ext cx="61366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1. VLM内化感知路线：学术上有价值，证明了"VLM可以学会看频谱"，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2480" y="4188142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但距离真实工程部署还有较大差距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2480" y="4473892"/>
            <a:ext cx="48451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2. 智能体协同路线：产业上更务实，已有商用产品落地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2480" y="4759642"/>
            <a:ext cx="62647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3. 两条路线不是互斥的，未来属于 Agent + VLM + 传统工具的融合架构</a:t>
            </a:r>
          </a:p>
        </p:txBody>
      </p:sp>
      <p:sp>
        <p:nvSpPr>
          <p:cNvPr id="28" name="Rectangle 2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57813" y="65512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359578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案例研究：检测非法干扰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61760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任务："分析 2.4GHz 频段是否存在非法干扰" — 两条路线分别怎么做？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4476750"/>
          </a:xfrm>
          <a:custGeom>
            <a:avLst/>
            <a:gdLst/>
            <a:ahLst/>
            <a:cxnLst/>
            <a:rect l="l" t="t" r="r" b="b"/>
            <a:pathLst>
              <a:path w="5334000" h="4476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00550"/>
                </a:lnTo>
                <a:cubicBezTo>
                  <a:pt x="5334000" y="4442634"/>
                  <a:pt x="5299884" y="4476750"/>
                  <a:pt x="5257800" y="4476750"/>
                </a:cubicBezTo>
                <a:lnTo>
                  <a:pt x="76200" y="4476750"/>
                </a:lnTo>
                <a:cubicBezTo>
                  <a:pt x="34116" y="4476750"/>
                  <a:pt x="0" y="4442634"/>
                  <a:pt x="0" y="440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571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03366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138315" y="1533525"/>
            <a:ext cx="22003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13" name="Freeform 13"/>
          <p:cNvSpPr/>
          <p:nvPr/>
        </p:nvSpPr>
        <p:spPr>
          <a:xfrm>
            <a:off x="762000" y="20002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889635" y="2137410"/>
            <a:ext cx="19057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SDR采集IQ → 转频谱图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635" y="2375535"/>
            <a:ext cx="31501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问VLM："这个频段有没有异常干扰？"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760" y="2823210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VLM输出：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2000" y="314325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19100"/>
                </a:lnTo>
                <a:cubicBezTo>
                  <a:pt x="4953000" y="450663"/>
                  <a:pt x="4927413" y="476250"/>
                  <a:pt x="4895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1540" y="326802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"检测到非WiFi信号，疑似干扰……"</a:t>
            </a:r>
          </a:p>
        </p:txBody>
      </p:sp>
      <p:sp>
        <p:nvSpPr>
          <p:cNvPr id="19" name="Freeform 19"/>
          <p:cNvSpPr/>
          <p:nvPr/>
        </p:nvSpPr>
        <p:spPr>
          <a:xfrm>
            <a:off x="762000" y="3810000"/>
            <a:ext cx="4953000" cy="952500"/>
          </a:xfrm>
          <a:custGeom>
            <a:avLst/>
            <a:gdLst/>
            <a:ahLst/>
            <a:cxnLst/>
            <a:rect l="l" t="t" r="r" b="b"/>
            <a:pathLst>
              <a:path w="4953000" h="9525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895350"/>
                </a:lnTo>
                <a:cubicBezTo>
                  <a:pt x="4953000" y="926913"/>
                  <a:pt x="4927413" y="952500"/>
                  <a:pt x="4895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0F0"/>
          </a:solidFill>
          <a:ln w="9525">
            <a:solidFill>
              <a:srgbClr val="CC000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90588" y="395525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1540" y="4191952"/>
            <a:ext cx="26106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模型没受过真实干扰训练，可能误判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1540" y="4411028"/>
            <a:ext cx="27793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没有法规数据库对照，无法判断"非法"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428750"/>
            <a:ext cx="5334000" cy="4476750"/>
          </a:xfrm>
          <a:custGeom>
            <a:avLst/>
            <a:gdLst/>
            <a:ahLst/>
            <a:cxnLst/>
            <a:rect l="l" t="t" r="r" b="b"/>
            <a:pathLst>
              <a:path w="5334000" h="447675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4400550"/>
                </a:lnTo>
                <a:cubicBezTo>
                  <a:pt x="5334000" y="4442634"/>
                  <a:pt x="5299884" y="4476750"/>
                  <a:pt x="5257800" y="4476750"/>
                </a:cubicBezTo>
                <a:lnTo>
                  <a:pt x="76200" y="4476750"/>
                </a:lnTo>
                <a:cubicBezTo>
                  <a:pt x="34116" y="4476750"/>
                  <a:pt x="0" y="4442634"/>
                  <a:pt x="0" y="440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6286500" y="1428750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304800"/>
                </a:lnTo>
                <a:cubicBezTo>
                  <a:pt x="5334000" y="346884"/>
                  <a:pt x="5299884" y="381000"/>
                  <a:pt x="5257800" y="381000"/>
                </a:cubicBezTo>
                <a:lnTo>
                  <a:pt x="76200" y="381000"/>
                </a:lnTo>
                <a:cubicBezTo>
                  <a:pt x="34116" y="381000"/>
                  <a:pt x="0" y="346884"/>
                  <a:pt x="0" y="304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C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51077" y="1533525"/>
            <a:ext cx="2004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27" name="Freeform 27"/>
          <p:cNvSpPr/>
          <p:nvPr/>
        </p:nvSpPr>
        <p:spPr>
          <a:xfrm>
            <a:off x="6477000" y="2000250"/>
            <a:ext cx="4953000" cy="523875"/>
          </a:xfrm>
          <a:custGeom>
            <a:avLst/>
            <a:gdLst/>
            <a:ahLst/>
            <a:cxnLst/>
            <a:rect l="l" t="t" r="r" b="b"/>
            <a:pathLst>
              <a:path w="4953000" h="5238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66725"/>
                </a:lnTo>
                <a:cubicBezTo>
                  <a:pt x="4953000" y="498288"/>
                  <a:pt x="4927413" y="523875"/>
                  <a:pt x="48958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604635" y="2108835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① Agent解析意图 → 调用频谱分析工具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04635" y="2327910"/>
            <a:ext cx="300113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② 工具返回各信道占用/功率/信号类型</a:t>
            </a:r>
          </a:p>
        </p:txBody>
      </p:sp>
      <p:sp>
        <p:nvSpPr>
          <p:cNvPr id="30" name="Freeform 30"/>
          <p:cNvSpPr/>
          <p:nvPr/>
        </p:nvSpPr>
        <p:spPr>
          <a:xfrm>
            <a:off x="6477000" y="2667000"/>
            <a:ext cx="4953000" cy="523875"/>
          </a:xfrm>
          <a:custGeom>
            <a:avLst/>
            <a:gdLst/>
            <a:ahLst/>
            <a:cxnLst/>
            <a:rect l="l" t="t" r="r" b="b"/>
            <a:pathLst>
              <a:path w="4953000" h="523875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466725"/>
                </a:lnTo>
                <a:cubicBezTo>
                  <a:pt x="4953000" y="498288"/>
                  <a:pt x="4927413" y="523875"/>
                  <a:pt x="48958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0D7E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604635" y="2775585"/>
            <a:ext cx="28784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③ Agent调用FCC数据库查询频率分配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04635" y="29946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④ 综合判断 → 输出带证据的报告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77000" y="3333750"/>
            <a:ext cx="4953000" cy="571500"/>
          </a:xfrm>
          <a:custGeom>
            <a:avLst/>
            <a:gdLst/>
            <a:ahLst/>
            <a:cxnLst/>
            <a:rect l="l" t="t" r="r" b="b"/>
            <a:pathLst>
              <a:path w="4953000" h="5715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514350"/>
                </a:lnTo>
                <a:cubicBezTo>
                  <a:pt x="4953000" y="545913"/>
                  <a:pt x="4927413" y="571500"/>
                  <a:pt x="4895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606540" y="3487102"/>
            <a:ext cx="272567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"信道6存在未授权信号，功率-30dBm，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06540" y="3677602"/>
            <a:ext cx="11844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建议进一步排查"</a:t>
            </a:r>
          </a:p>
        </p:txBody>
      </p:sp>
      <p:sp>
        <p:nvSpPr>
          <p:cNvPr id="36" name="Freeform 36"/>
          <p:cNvSpPr/>
          <p:nvPr/>
        </p:nvSpPr>
        <p:spPr>
          <a:xfrm>
            <a:off x="6477000" y="4095750"/>
            <a:ext cx="4953000" cy="762000"/>
          </a:xfrm>
          <a:custGeom>
            <a:avLst/>
            <a:gdLst/>
            <a:ahLst/>
            <a:cxnLst/>
            <a:rect l="l" t="t" r="r" b="b"/>
            <a:pathLst>
              <a:path w="4953000" h="762000">
                <a:moveTo>
                  <a:pt x="57150" y="0"/>
                </a:moveTo>
                <a:lnTo>
                  <a:pt x="4895850" y="0"/>
                </a:lnTo>
                <a:cubicBezTo>
                  <a:pt x="4927413" y="0"/>
                  <a:pt x="4953000" y="25587"/>
                  <a:pt x="4953000" y="57150"/>
                </a:cubicBezTo>
                <a:lnTo>
                  <a:pt x="4953000" y="704850"/>
                </a:lnTo>
                <a:cubicBezTo>
                  <a:pt x="4953000" y="736413"/>
                  <a:pt x="4927413" y="762000"/>
                  <a:pt x="4895850" y="762000"/>
                </a:cubicBezTo>
                <a:lnTo>
                  <a:pt x="57150" y="762000"/>
                </a:lnTo>
                <a:cubicBezTo>
                  <a:pt x="25587" y="762000"/>
                  <a:pt x="0" y="736413"/>
                  <a:pt x="0" y="704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 w="9525">
            <a:solidFill>
              <a:srgbClr val="0066C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605588" y="42410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66CC"/>
                </a:solidFill>
                <a:latin typeface="Arial"/>
                <a:ea typeface="Microsoft YaHei"/>
                <a:cs typeface="Arial"/>
              </a:rPr>
              <a:t>优势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06540" y="4458652"/>
            <a:ext cx="2457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每步可审计、可溯源、可人工干预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06540" y="464915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• 结合法规数据库，判断有据可依</a:t>
            </a:r>
          </a:p>
        </p:txBody>
      </p:sp>
      <p:sp>
        <p:nvSpPr>
          <p:cNvPr id="40" name="Rectangle 4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综合比较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12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未来方向与开放问题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两个范式都远未成熟，以下是值得关注的方向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3810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33525"/>
            <a:ext cx="13147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路线A的未来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24578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真实空口数据验证（最重要）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4385" y="215646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多模态融合（IQ+频谱图+文本）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385" y="2394585"/>
            <a:ext cx="27820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更大基座模型的 scaling law 验证</a:t>
            </a:r>
          </a:p>
        </p:txBody>
      </p:sp>
      <p:sp>
        <p:nvSpPr>
          <p:cNvPr id="15" name="Freeform 15"/>
          <p:cNvSpPr/>
          <p:nvPr/>
        </p:nvSpPr>
        <p:spPr>
          <a:xfrm>
            <a:off x="6286500" y="14287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286500" y="1428750"/>
            <a:ext cx="57150" cy="3810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505575" y="1533525"/>
            <a:ext cx="13147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路线B的未来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09385" y="1918335"/>
            <a:ext cx="22913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Agent 安全性与可靠性增强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09385" y="2156460"/>
            <a:ext cx="23176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标准化协议（MCP for RF）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09385" y="2394585"/>
            <a:ext cx="21686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• 多 Agent 协作与竞争机制</a:t>
            </a:r>
          </a:p>
        </p:txBody>
      </p:sp>
      <p:sp>
        <p:nvSpPr>
          <p:cNvPr id="21" name="Freeform 21"/>
          <p:cNvSpPr/>
          <p:nvPr/>
        </p:nvSpPr>
        <p:spPr>
          <a:xfrm>
            <a:off x="571500" y="323850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828800"/>
                </a:lnTo>
                <a:cubicBezTo>
                  <a:pt x="11049000" y="1870884"/>
                  <a:pt x="11014884" y="1905000"/>
                  <a:pt x="1097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71500" y="3238500"/>
            <a:ext cx="57150" cy="1905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90575" y="340995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关键开放问题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480" y="3759518"/>
            <a:ext cx="4342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Q1: VLM能否在真实RF数据上达到可用的准确率？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2480" y="4045268"/>
            <a:ext cx="47761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Q2: Agent 系统如何保证LLM幻觉不会导致错误操作？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2480" y="4331018"/>
            <a:ext cx="49339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Q3: 融合架构中，VLM应该作为Agent的一个"工具"吗？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2480" y="4616768"/>
            <a:ext cx="40367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Q4: 6G AI-native 网络最终会选择哪条路线？</a:t>
            </a:r>
          </a:p>
        </p:txBody>
      </p:sp>
      <p:sp>
        <p:nvSpPr>
          <p:cNvPr id="28" name="Rectangle 28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23076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核心洞见与结论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857250"/>
            <a:ext cx="11049000" cy="381000"/>
          </a:xfrm>
          <a:custGeom>
            <a:avLst/>
            <a:gdLst/>
            <a:ahLst/>
            <a:cxnLst/>
            <a:rect l="l" t="t" r="r" b="b"/>
            <a:pathLst>
              <a:path w="11049000" h="38100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323850"/>
                </a:lnTo>
                <a:cubicBezTo>
                  <a:pt x="11049000" y="355413"/>
                  <a:pt x="11023413" y="381000"/>
                  <a:pt x="10991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57150" cy="38100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44855" y="959168"/>
            <a:ext cx="32481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三条结论 · 一个预判 · 四个开放问题</a:t>
            </a:r>
          </a:p>
        </p:txBody>
      </p:sp>
      <p:sp>
        <p:nvSpPr>
          <p:cNvPr id="9" name="Freeform 9"/>
          <p:cNvSpPr/>
          <p:nvPr/>
        </p:nvSpPr>
        <p:spPr>
          <a:xfrm>
            <a:off x="571500" y="14287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1428750"/>
            <a:ext cx="57150" cy="1238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0575" y="1581150"/>
            <a:ext cx="41786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结论一：两条路线不是互斥的，是互补的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4385" y="1918335"/>
            <a:ext cx="67254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路线A适合纯识别任务（调制分类、技术识别），路线B适合需要推理+决策+控制的任务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1500" y="2857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2857500"/>
            <a:ext cx="57150" cy="1238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90575" y="3009900"/>
            <a:ext cx="55587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结论二：智能体路线在工程落地和真实泛化上明显领先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4385" y="3347085"/>
            <a:ext cx="70934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已有商用产品（raNora）、真实数据验证（WirelessAgent）、硬件控制能力（AICEBERG）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42862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F4FC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4286250"/>
            <a:ext cx="57150" cy="1238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90575" y="4438650"/>
            <a:ext cx="48111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结论三：未来融合架构 — Agent为主，VLM为辅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4385" y="4775835"/>
            <a:ext cx="767181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LLM Agent做推理编排，VLM作为Agent的一个"工具"处理频谱图，传统模型和数据库作为其他工具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6290" y="5077778"/>
            <a:ext cx="63984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开放问题：VLM能否在真实RF数据上达到可用准确率？Agent如何保证LLM幻觉不导致误操作？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60070" y="6551295"/>
            <a:ext cx="9298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结论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13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参考文献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760" y="1061085"/>
            <a:ext cx="17602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333500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95350"/>
                </a:lnTo>
                <a:cubicBezTo>
                  <a:pt x="5334000" y="926913"/>
                  <a:pt x="5308413" y="952500"/>
                  <a:pt x="5276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01040" y="1486852"/>
            <a:ext cx="4542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[1] Zou et al. RF-GPT: Teaching AI to See the Wireless World.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1992" y="1685449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arXiv:2602.14833, 2026.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1040" y="1905952"/>
            <a:ext cx="4680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[2] Zou et al. Seeing Radio: From Zero RF Priors to Explainable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2085499"/>
            <a:ext cx="39976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Modulation Recognition with VLM. arXiv:2601.13157, 2026.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86500" y="1333500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95350"/>
                </a:lnTo>
                <a:cubicBezTo>
                  <a:pt x="5334000" y="926913"/>
                  <a:pt x="5308413" y="952500"/>
                  <a:pt x="5276850" y="952500"/>
                </a:cubicBezTo>
                <a:lnTo>
                  <a:pt x="57150" y="952500"/>
                </a:lnTo>
                <a:cubicBezTo>
                  <a:pt x="25587" y="952500"/>
                  <a:pt x="0" y="926913"/>
                  <a:pt x="0" y="895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416040" y="1486852"/>
            <a:ext cx="32700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[3] Multimodal Wireless Foundation Models.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16992" y="1685449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arXiv:2511.15162, 2025.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16040" y="1982152"/>
            <a:ext cx="46272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[4] When Does Multimodal AI Help? Diagnostic Complementarity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64618" y="2161699"/>
            <a:ext cx="35704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of VLMs and CNNs for Spectrum Management. 2026.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" y="2585085"/>
            <a:ext cx="160387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2857500"/>
            <a:ext cx="5334000" cy="1333500"/>
          </a:xfrm>
          <a:custGeom>
            <a:avLst/>
            <a:gdLst/>
            <a:ahLst/>
            <a:cxnLst/>
            <a:rect l="l" t="t" r="r" b="b"/>
            <a:pathLst>
              <a:path w="5334000" h="13335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1276350"/>
                </a:lnTo>
                <a:cubicBezTo>
                  <a:pt x="5334000" y="1307913"/>
                  <a:pt x="5308413" y="1333500"/>
                  <a:pt x="52768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01040" y="3010852"/>
            <a:ext cx="4611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[5] Popescu &amp; Stanescu. AICEBERG: Agentic AI for Autonomous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618" y="3190399"/>
            <a:ext cx="30080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Radio Monitoring. MDPI Smart Cities, 2026.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1040" y="3429952"/>
            <a:ext cx="49722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[6] WirelessAgent: LLM Agents for Intelligent Wireless Networks.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9618" y="3609499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arXiv:2505.01074, 2025.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040" y="3849052"/>
            <a:ext cx="4542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[7] WirelessAgent R1: Unified Agent for Resource Allocation.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618" y="4028599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arXiv:2604.17440, 2026.</a:t>
            </a:r>
          </a:p>
        </p:txBody>
      </p:sp>
      <p:sp>
        <p:nvSpPr>
          <p:cNvPr id="25" name="Freeform 25"/>
          <p:cNvSpPr/>
          <p:nvPr/>
        </p:nvSpPr>
        <p:spPr>
          <a:xfrm>
            <a:off x="6286500" y="2857500"/>
            <a:ext cx="5334000" cy="1333500"/>
          </a:xfrm>
          <a:custGeom>
            <a:avLst/>
            <a:gdLst/>
            <a:ahLst/>
            <a:cxnLst/>
            <a:rect l="l" t="t" r="r" b="b"/>
            <a:pathLst>
              <a:path w="5334000" h="13335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1276350"/>
                </a:lnTo>
                <a:cubicBezTo>
                  <a:pt x="5334000" y="1307913"/>
                  <a:pt x="5308413" y="1333500"/>
                  <a:pt x="5276850" y="1333500"/>
                </a:cubicBezTo>
                <a:lnTo>
                  <a:pt x="57150" y="1333500"/>
                </a:lnTo>
                <a:cubicBezTo>
                  <a:pt x="25587" y="1333500"/>
                  <a:pt x="0" y="1307913"/>
                  <a:pt x="0" y="1276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416040" y="301085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[8] Li et al. Multi-LLM Agent DRL for Next-Generation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4618" y="3190399"/>
            <a:ext cx="39692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Wireless Communication Systems. KTH/NAISS, 2025-2026.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16040" y="3429952"/>
            <a:ext cx="46962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[9] Aircom. raNora: Agentic AI for Autonomous Radio Planning.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4618" y="3609499"/>
            <a:ext cx="13419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商用平台, 2026.03.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文献综述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13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29071" y="2404110"/>
            <a:ext cx="313385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6133" y="3169920"/>
            <a:ext cx="91973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714750"/>
            <a:ext cx="1905000" cy="190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981575" y="412432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射频大模型的范式之争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27385" y="4442460"/>
            <a:ext cx="37372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基于 VLM 的内化感知 vs 基于智能体的工具协同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4830" y="1924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参考文献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949642"/>
            <a:ext cx="19803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路线A：VLM内化感知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2382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00100"/>
                </a:lnTo>
                <a:cubicBezTo>
                  <a:pt x="5334000" y="831663"/>
                  <a:pt x="5308413" y="857250"/>
                  <a:pt x="5276850" y="857250"/>
                </a:cubicBezTo>
                <a:lnTo>
                  <a:pt x="57150" y="857250"/>
                </a:lnTo>
                <a:cubicBezTo>
                  <a:pt x="25587" y="857250"/>
                  <a:pt x="0" y="831663"/>
                  <a:pt x="0" y="800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01040" y="1363028"/>
            <a:ext cx="4542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[1] Zou et al. RF-GPT: Teaching AI to See the Wireless World.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1992" y="1561624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arXiv:2602.14833, 2026.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1040" y="1791652"/>
            <a:ext cx="468091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[2] Zou et al. Seeing Radio: From Zero RF Priors to Explainable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971199"/>
            <a:ext cx="39976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Modulation Recognition with VLM. arXiv:2601.13157, 2026.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86500" y="1238250"/>
            <a:ext cx="5334000" cy="857250"/>
          </a:xfrm>
          <a:custGeom>
            <a:avLst/>
            <a:gdLst/>
            <a:ahLst/>
            <a:cxnLst/>
            <a:rect l="l" t="t" r="r" b="b"/>
            <a:pathLst>
              <a:path w="5334000" h="85725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800100"/>
                </a:lnTo>
                <a:cubicBezTo>
                  <a:pt x="5334000" y="831663"/>
                  <a:pt x="5308413" y="857250"/>
                  <a:pt x="5276850" y="857250"/>
                </a:cubicBezTo>
                <a:lnTo>
                  <a:pt x="57150" y="857250"/>
                </a:lnTo>
                <a:cubicBezTo>
                  <a:pt x="25587" y="857250"/>
                  <a:pt x="0" y="831663"/>
                  <a:pt x="0" y="800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416040" y="1363028"/>
            <a:ext cx="32700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[3] Multimodal Wireless Foundation Models.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16992" y="1561624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arXiv:2511.15162, 2025.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4855" y="2521268"/>
            <a:ext cx="1804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C0000"/>
                </a:solidFill>
                <a:latin typeface="Arial"/>
                <a:ea typeface="Microsoft YaHei"/>
                <a:cs typeface="Arial"/>
              </a:rPr>
              <a:t>路线B：智能体协同</a:t>
            </a:r>
          </a:p>
        </p:txBody>
      </p:sp>
      <p:sp>
        <p:nvSpPr>
          <p:cNvPr id="16" name="Freeform 16"/>
          <p:cNvSpPr/>
          <p:nvPr/>
        </p:nvSpPr>
        <p:spPr>
          <a:xfrm>
            <a:off x="571500" y="2809875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1466850"/>
                </a:lnTo>
                <a:cubicBezTo>
                  <a:pt x="5334000" y="1498413"/>
                  <a:pt x="5308413" y="1524000"/>
                  <a:pt x="5276850" y="1524000"/>
                </a:cubicBezTo>
                <a:lnTo>
                  <a:pt x="57150" y="1524000"/>
                </a:lnTo>
                <a:cubicBezTo>
                  <a:pt x="25587" y="1524000"/>
                  <a:pt x="0" y="1498413"/>
                  <a:pt x="0" y="1466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701040" y="2915602"/>
            <a:ext cx="43205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[4] Tong et al. WirelessAgent: LLM Agents for Intelligent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618" y="3095149"/>
            <a:ext cx="31219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Wireless Networks. arXiv:2505.01074, 2025.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1040" y="3315652"/>
            <a:ext cx="45429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[5] WirelessAgent R1: Unified Agent for Resource Allocation.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618" y="3495199"/>
            <a:ext cx="17193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arXiv:2604.17440, 2026.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1040" y="3715702"/>
            <a:ext cx="4611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[6] Popescu &amp; Stanescu. AICEBERG: Agentic AI for Autonomous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9618" y="3895249"/>
            <a:ext cx="30080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Radio Monitoring. MDPI Smart Cities, 2026.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040" y="4115752"/>
            <a:ext cx="46962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[7] Aircom. raNora: Agentic AI for Autonomous Radio Planning.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618" y="4295299"/>
            <a:ext cx="13419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商用平台, 2026.03.</a:t>
            </a:r>
          </a:p>
        </p:txBody>
      </p:sp>
      <p:sp>
        <p:nvSpPr>
          <p:cNvPr id="25" name="Freeform 25"/>
          <p:cNvSpPr/>
          <p:nvPr/>
        </p:nvSpPr>
        <p:spPr>
          <a:xfrm>
            <a:off x="6286500" y="2809875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57150" y="0"/>
                </a:moveTo>
                <a:lnTo>
                  <a:pt x="5276850" y="0"/>
                </a:lnTo>
                <a:cubicBezTo>
                  <a:pt x="5308413" y="0"/>
                  <a:pt x="5334000" y="25587"/>
                  <a:pt x="5334000" y="57150"/>
                </a:cubicBezTo>
                <a:lnTo>
                  <a:pt x="5334000" y="1466850"/>
                </a:lnTo>
                <a:cubicBezTo>
                  <a:pt x="5334000" y="1498413"/>
                  <a:pt x="5308413" y="1524000"/>
                  <a:pt x="5276850" y="1524000"/>
                </a:cubicBezTo>
                <a:lnTo>
                  <a:pt x="57150" y="1524000"/>
                </a:lnTo>
                <a:cubicBezTo>
                  <a:pt x="25587" y="1524000"/>
                  <a:pt x="0" y="1498413"/>
                  <a:pt x="0" y="1466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7FA"/>
          </a:solidFill>
          <a:ln w="9525">
            <a:solidFill>
              <a:srgbClr val="D0D7E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416040" y="291560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[8] Li et al. Multi-LLM Agent DRL for Next-Generation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64618" y="3095149"/>
            <a:ext cx="39692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Wireless Communication Systems. KTH/NAISS, 2025-2026.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16040" y="3410902"/>
            <a:ext cx="40981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[9] Chi et al. RF-Diffusion: Radio Signal Generation via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64618" y="3590449"/>
            <a:ext cx="29154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Time-Frequency Diffusion. MobiCom 2024.</a:t>
            </a:r>
          </a:p>
        </p:txBody>
      </p:sp>
      <p:sp>
        <p:nvSpPr>
          <p:cNvPr id="30" name="Rectangle 30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60070" y="6551295"/>
            <a:ext cx="11927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范式之争 | 参考文献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24952" y="655129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14 / 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529071" y="2213610"/>
            <a:ext cx="313385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6133" y="2979420"/>
            <a:ext cx="91973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333333"/>
                </a:solidFill>
                <a:latin typeface="Arial"/>
                <a:ea typeface="Microsoft YaHei"/>
                <a:cs typeface="Arial"/>
              </a:rPr>
              <a:t>Q &amp; A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3524250"/>
            <a:ext cx="1905000" cy="190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981575" y="3933825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射频大模型的范式之争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27385" y="4251960"/>
            <a:ext cx="37372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99999"/>
                </a:solidFill>
                <a:latin typeface="Arial"/>
                <a:ea typeface="Microsoft YaHei"/>
                <a:cs typeface="Arial"/>
              </a:rPr>
              <a:t>基于 VLM 的内化感知 vs 基于智能体的工具协同</a:t>
            </a:r>
          </a:p>
        </p:txBody>
      </p:sp>
      <p:sp>
        <p:nvSpPr>
          <p:cNvPr id="10" name="Rectangle 10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