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0" y="552450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0" y="381000"/>
                </a:moveTo>
                <a:cubicBezTo>
                  <a:pt x="2032000" y="0"/>
                  <a:pt x="4064000" y="0"/>
                  <a:pt x="6096000" y="381000"/>
                </a:cubicBezTo>
                <a:cubicBezTo>
                  <a:pt x="8128000" y="762000"/>
                  <a:pt x="10160000" y="762000"/>
                  <a:pt x="12192000" y="381000"/>
                </a:cubicBezTo>
              </a:path>
            </a:pathLst>
          </a:cu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4" name="Freeform 4"/>
          <p:cNvSpPr/>
          <p:nvPr/>
        </p:nvSpPr>
        <p:spPr>
          <a:xfrm>
            <a:off x="0" y="5873750"/>
            <a:ext cx="12192000" cy="793750"/>
          </a:xfrm>
          <a:custGeom>
            <a:avLst/>
            <a:gdLst/>
            <a:ahLst/>
            <a:cxnLst/>
            <a:rect l="l" t="t" r="r" b="b"/>
            <a:pathLst>
              <a:path w="12192000" h="793750">
                <a:moveTo>
                  <a:pt x="0" y="317500"/>
                </a:moveTo>
                <a:cubicBezTo>
                  <a:pt x="2032000" y="0"/>
                  <a:pt x="4064000" y="31750"/>
                  <a:pt x="6096000" y="412750"/>
                </a:cubicBezTo>
                <a:cubicBezTo>
                  <a:pt x="8128000" y="793750"/>
                  <a:pt x="10160000" y="730250"/>
                  <a:pt x="12192000" y="222250"/>
                </a:cubicBezTo>
              </a:path>
            </a:pathLst>
          </a:custGeom>
          <a:noFill/>
          <a:ln w="14288">
            <a:solidFill>
              <a:srgbClr val="FFFFFF">
                <a:alpha val="4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321545" y="2138839"/>
            <a:ext cx="5548910" cy="1173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2031" y="3200400"/>
            <a:ext cx="598793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Radio Signal Generation via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05543" y="3676650"/>
            <a:ext cx="578091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Time-Frequency Diffusion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33387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90014" y="4480084"/>
            <a:ext cx="701197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ACM MobiCom 2024 CCF-A Best Artifact Award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339" y="5474018"/>
            <a:ext cx="37213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清华大学 | 香港大学 | 北京邮电大学 | 华为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2670" y="5775960"/>
            <a:ext cx="7566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Guoxuan Chi, Zheng Yang, Chenshu Wu, Jingao Xu, Yuchong Gao, Yunhao Liu, Tony Xiao Han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1525" y="1390650"/>
            <a:ext cx="46724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670" y="18983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背景与动机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2480" y="2235518"/>
            <a:ext cx="26369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AIGC浪潮 &amp; RF信号生成的需求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" y="25022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现有方法的不足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8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98670" y="18983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2480" y="2235518"/>
            <a:ext cx="3228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RF信号的独特性（时序/频域/复数）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2480" y="25022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扩散模型的三层改造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91525" y="139065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8670" y="1898332"/>
            <a:ext cx="21800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TFD理论 &amp; HDT架构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2480" y="223551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时域加噪 + 频域模糊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2480" y="25022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分层Diffusion Transformer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8670" y="44700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实验评估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2480" y="4807268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Wi-Fi + FMCW信号生成质量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480" y="5073968"/>
            <a:ext cx="24495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手势识别增强 + 5G信道估计</a:t>
            </a:r>
          </a:p>
        </p:txBody>
      </p:sp>
      <p:sp>
        <p:nvSpPr>
          <p:cNvPr id="31" name="Freeform 31"/>
          <p:cNvSpPr/>
          <p:nvPr/>
        </p:nvSpPr>
        <p:spPr>
          <a:xfrm>
            <a:off x="438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38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8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98670" y="44700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相关工作对比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2480" y="4807268"/>
            <a:ext cx="14736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与RF-GPT等对比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2480" y="50739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为什么这篇更有分量</a:t>
            </a:r>
          </a:p>
        </p:txBody>
      </p:sp>
      <p:sp>
        <p:nvSpPr>
          <p:cNvPr id="37" name="Freeform 37"/>
          <p:cNvSpPr/>
          <p:nvPr/>
        </p:nvSpPr>
        <p:spPr>
          <a:xfrm>
            <a:off x="8191500" y="3905250"/>
            <a:ext cx="3429000" cy="2286000"/>
          </a:xfrm>
          <a:custGeom>
            <a:avLst/>
            <a:gdLst/>
            <a:ahLst/>
            <a:cxnLst/>
            <a:rect l="l" t="t" r="r" b="b"/>
            <a:pathLst>
              <a:path w="3429000" h="22860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190750"/>
                </a:lnTo>
                <a:cubicBezTo>
                  <a:pt x="3429000" y="2243355"/>
                  <a:pt x="3386355" y="2286000"/>
                  <a:pt x="3333750" y="2286000"/>
                </a:cubicBezTo>
                <a:lnTo>
                  <a:pt x="95250" y="2286000"/>
                </a:lnTo>
                <a:cubicBezTo>
                  <a:pt x="42645" y="2286000"/>
                  <a:pt x="0" y="2243355"/>
                  <a:pt x="0" y="2190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8191500" y="3905250"/>
            <a:ext cx="3429000" cy="57150"/>
          </a:xfrm>
          <a:custGeom>
            <a:avLst/>
            <a:gdLst/>
            <a:ahLst/>
            <a:cxnLst/>
            <a:rect l="l" t="t" r="r" b="b"/>
            <a:pathLst>
              <a:path w="3429000" h="57150">
                <a:moveTo>
                  <a:pt x="28575" y="0"/>
                </a:moveTo>
                <a:lnTo>
                  <a:pt x="3400425" y="0"/>
                </a:lnTo>
                <a:cubicBezTo>
                  <a:pt x="3416207" y="0"/>
                  <a:pt x="3429000" y="12793"/>
                  <a:pt x="3429000" y="28575"/>
                </a:cubicBezTo>
                <a:lnTo>
                  <a:pt x="3429000" y="28575"/>
                </a:lnTo>
                <a:cubicBezTo>
                  <a:pt x="3429000" y="44357"/>
                  <a:pt x="3416207" y="57150"/>
                  <a:pt x="3400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91525" y="3962400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6F0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08670" y="447008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2480" y="48072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贡献 + 局限 + 未来方向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00969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从 AIGC 到射频生成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74930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2558" y="1885950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Stable Diffusion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913" y="2124075"/>
            <a:ext cx="21521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Midjourney / DALL-E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图像生成革命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8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38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93206" y="1527334"/>
            <a:ext cx="605589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NLP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28034" y="1885950"/>
            <a:ext cx="17359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ChatGPT / GPT-4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93757" y="2124075"/>
            <a:ext cx="16044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Claude / LLaMA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5498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文本生成突破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91500" y="133350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95250" y="0"/>
                </a:moveTo>
                <a:lnTo>
                  <a:pt x="3333750" y="0"/>
                </a:lnTo>
                <a:cubicBezTo>
                  <a:pt x="3386355" y="0"/>
                  <a:pt x="3429000" y="42645"/>
                  <a:pt x="3429000" y="95250"/>
                </a:cubicBezTo>
                <a:lnTo>
                  <a:pt x="3429000" y="2000250"/>
                </a:lnTo>
                <a:cubicBezTo>
                  <a:pt x="3429000" y="2052855"/>
                  <a:pt x="3386355" y="2095500"/>
                  <a:pt x="3333750" y="2095500"/>
                </a:cubicBezTo>
                <a:lnTo>
                  <a:pt x="95250" y="2095500"/>
                </a:lnTo>
                <a:cubicBezTo>
                  <a:pt x="42645" y="2095500"/>
                  <a:pt x="0" y="2052855"/>
                  <a:pt x="0" y="2000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8191500" y="1333500"/>
            <a:ext cx="3429000" cy="47625"/>
          </a:xfrm>
          <a:custGeom>
            <a:avLst/>
            <a:gdLst/>
            <a:ahLst/>
            <a:cxnLst/>
            <a:rect l="l" t="t" r="r" b="b"/>
            <a:pathLst>
              <a:path w="3429000" h="47625">
                <a:moveTo>
                  <a:pt x="23812" y="0"/>
                </a:moveTo>
                <a:lnTo>
                  <a:pt x="3405188" y="0"/>
                </a:lnTo>
                <a:cubicBezTo>
                  <a:pt x="3418339" y="0"/>
                  <a:pt x="3429000" y="10661"/>
                  <a:pt x="3429000" y="23812"/>
                </a:cubicBezTo>
                <a:lnTo>
                  <a:pt x="3429000" y="23812"/>
                </a:lnTo>
                <a:cubicBezTo>
                  <a:pt x="3429000" y="36964"/>
                  <a:pt x="3418339" y="47625"/>
                  <a:pt x="3405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53174" y="1527334"/>
            <a:ext cx="70565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75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RF 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9725" y="1885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无线信号生成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84682" y="2124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数据增强 / 信道估计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4102" y="2489835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AIGC的下一个前沿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045" y="363188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现有 RF 生成方法的局限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571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0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环境建模法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385" y="4442460"/>
            <a:ext cx="47274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射线追踪+3D模型 → 成本高、忽略材料特性、难生成时序数据</a:t>
            </a:r>
          </a:p>
        </p:txBody>
      </p:sp>
      <p:sp>
        <p:nvSpPr>
          <p:cNvPr id="30" name="Freeform 30"/>
          <p:cNvSpPr/>
          <p:nvPr/>
        </p:nvSpPr>
        <p:spPr>
          <a:xfrm>
            <a:off x="6286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047750"/>
                </a:lnTo>
                <a:cubicBezTo>
                  <a:pt x="5334000" y="1100355"/>
                  <a:pt x="5291355" y="1143000"/>
                  <a:pt x="5238750" y="1143000"/>
                </a:cubicBezTo>
                <a:lnTo>
                  <a:pt x="95250" y="1143000"/>
                </a:lnTo>
                <a:cubicBezTo>
                  <a:pt x="42645" y="1143000"/>
                  <a:pt x="0" y="1100355"/>
                  <a:pt x="0" y="1047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286500" y="4000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5575" y="417195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数据驱动法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09385" y="44424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GAN/VAE → 表征有限、训练不稳定、任务特定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2002" y="1527334"/>
            <a:ext cx="33875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967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时序性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1965960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RF信号捕捉动态细节（目标运动、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信道变化），扩散模型原为静态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850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图像设计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44378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2045" y="1584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频域信息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6760" y="1965960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多普勒频移、chirp等关键信息在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755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频域，视频扩散模型也主要关注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850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空域（像素亮度）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3335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2571750"/>
                </a:lnTo>
                <a:cubicBezTo>
                  <a:pt x="3524250" y="2624355"/>
                  <a:pt x="3481605" y="2667000"/>
                  <a:pt x="3429000" y="2667000"/>
                </a:cubicBezTo>
                <a:lnTo>
                  <a:pt x="95250" y="2667000"/>
                </a:lnTo>
                <a:cubicBezTo>
                  <a:pt x="42645" y="2667000"/>
                  <a:pt x="0" y="2624355"/>
                  <a:pt x="0" y="2571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06752" y="1527334"/>
            <a:ext cx="42214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94420" y="1584008"/>
            <a:ext cx="8010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复数域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19135" y="1965960"/>
            <a:ext cx="2598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RF信号是复数值（幅度+相位），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755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现有扩散模型只处理实数值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850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（如像素亮度）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3338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1143000"/>
                </a:lnTo>
                <a:cubicBezTo>
                  <a:pt x="11049000" y="1195605"/>
                  <a:pt x="11006355" y="1238250"/>
                  <a:pt x="109537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278916" y="4520565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核心思路：三层改造扩散模型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01591" y="4886325"/>
            <a:ext cx="57888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理论层 · Time-Frequency Diffusion → 时域加噪+频域模糊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79683" y="5153025"/>
            <a:ext cx="5832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架构层 · Hierarchical Diffusion Transformer → 分层架构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22082" y="5419725"/>
            <a:ext cx="55478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算子层 · Complex-valued Operator → 幅度+相位双编码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68390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Time-Frequency Diffusion 理论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285875"/>
            <a:ext cx="5334000" cy="2476500"/>
          </a:xfrm>
          <a:custGeom>
            <a:avLst/>
            <a:gdLst/>
            <a:ahLst/>
            <a:cxnLst/>
            <a:rect l="l" t="t" r="r" b="b"/>
            <a:pathLst>
              <a:path w="5334000" h="2476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2381250"/>
                </a:lnTo>
                <a:cubicBezTo>
                  <a:pt x="5334000" y="2433855"/>
                  <a:pt x="5291355" y="2476500"/>
                  <a:pt x="5238750" y="2476500"/>
                </a:cubicBezTo>
                <a:lnTo>
                  <a:pt x="95250" y="2476500"/>
                </a:lnTo>
                <a:cubicBezTo>
                  <a:pt x="42645" y="2476500"/>
                  <a:pt x="0" y="2433855"/>
                  <a:pt x="0" y="2381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411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传统扩散模型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77546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前向：x₀ → x₁ → ... → x_T（只加高斯噪声）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13585"/>
            <a:ext cx="31763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反向：x_T → ... → x₁ → x₀（去噪恢复）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346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问题：只破坏幅度，忽略频域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4000500"/>
            <a:ext cx="5334000" cy="2000250"/>
          </a:xfrm>
          <a:custGeom>
            <a:avLst/>
            <a:gdLst/>
            <a:ahLst/>
            <a:cxnLst/>
            <a:rect l="l" t="t" r="r" b="b"/>
            <a:pathLst>
              <a:path w="5334000" h="2000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905000"/>
                </a:lnTo>
                <a:cubicBezTo>
                  <a:pt x="5334000" y="1957605"/>
                  <a:pt x="5291355" y="2000250"/>
                  <a:pt x="52387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8670" y="4155758"/>
            <a:ext cx="26607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 TFD 理论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4490085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前向破坏：时域加噪 + 频域模糊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47282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时域：复数高斯噪声 → 破坏幅度精度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4966335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- 频域：高斯卷积核模糊频谱 → 破坏频谱分辨率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5252085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反向恢复：去噪(Denoise) + 去模糊(Deblur)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285875"/>
            <a:ext cx="5334000" cy="4714875"/>
          </a:xfrm>
          <a:custGeom>
            <a:avLst/>
            <a:gdLst/>
            <a:ahLst/>
            <a:cxnLst/>
            <a:rect l="l" t="t" r="r" b="b"/>
            <a:pathLst>
              <a:path w="5334000" h="4714875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19625"/>
                </a:lnTo>
                <a:cubicBezTo>
                  <a:pt x="5334000" y="4672230"/>
                  <a:pt x="5291355" y="4714875"/>
                  <a:pt x="5238750" y="4714875"/>
                </a:cubicBezTo>
                <a:lnTo>
                  <a:pt x="95250" y="4714875"/>
                </a:lnTo>
                <a:cubicBezTo>
                  <a:pt x="42645" y="4714875"/>
                  <a:pt x="0" y="4672230"/>
                  <a:pt x="0" y="46196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79776" y="1441132"/>
            <a:ext cx="1547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TFD 数学直观</a:t>
            </a:r>
          </a:p>
        </p:txBody>
      </p:sp>
      <p:sp>
        <p:nvSpPr>
          <p:cNvPr id="20" name="Freeform 20"/>
          <p:cNvSpPr/>
          <p:nvPr/>
        </p:nvSpPr>
        <p:spPr>
          <a:xfrm>
            <a:off x="6572250" y="1809750"/>
            <a:ext cx="4762500" cy="1905000"/>
          </a:xfrm>
          <a:custGeom>
            <a:avLst/>
            <a:gdLst/>
            <a:ahLst/>
            <a:cxnLst/>
            <a:rect l="l" t="t" r="r" b="b"/>
            <a:pathLst>
              <a:path w="4762500" h="190500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828800"/>
                </a:lnTo>
                <a:cubicBezTo>
                  <a:pt x="4762500" y="1870884"/>
                  <a:pt x="4728384" y="1905000"/>
                  <a:pt x="46863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2260" y="19659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前向过程 (第 t 步)：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3212" y="22598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x_t = √α_t · ℱ⁻¹(G_t ∗ ℱ(x_{t-1})) + √(1-α_t) · 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3212" y="2545556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频域模糊 时域加噪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2260" y="2918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根据卷积定理可简化为：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3212" y="3212306"/>
            <a:ext cx="25506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x_t = √ᾱ_t · x₀ + √(1-ᾱ_t) · 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3506152"/>
            <a:ext cx="36764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（与标准扩散形式一致，但 ᾱ_t 包含频域模糊信息）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38709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条件生成：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3212" y="4164806"/>
            <a:ext cx="32243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支持条件向量 c 引导（房间 / 设备 / 动作）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3212" y="4402931"/>
            <a:ext cx="1753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p(x₀ | c) 条件分布建模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796618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Hierarchical Diffusion Transformer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906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① 分层架构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010" y="1870710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Hierarchical Architecture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90588" y="2402681"/>
            <a:ext cx="1786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解耦 RF 数据的时空维度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0588" y="26408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层次化处理多尺度时频特征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058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捕捉长时间序列的依赖关系</a:t>
            </a:r>
          </a:p>
        </p:txBody>
      </p:sp>
      <p:sp>
        <p:nvSpPr>
          <p:cNvPr id="15" name="Freeform 15"/>
          <p:cNvSpPr/>
          <p:nvPr/>
        </p:nvSpPr>
        <p:spPr>
          <a:xfrm>
            <a:off x="76200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637467" y="3640931"/>
            <a:ext cx="1392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全局 → 局部 → 细节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4266" y="38790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多粒度特征提取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33875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4333875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93335" y="1536382"/>
            <a:ext cx="22053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② Attention扩散块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8113" y="1870710"/>
            <a:ext cx="2755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Attention-based Diffusion Block</a:t>
            </a:r>
          </a:p>
        </p:txBody>
      </p:sp>
      <p:sp>
        <p:nvSpPr>
          <p:cNvPr id="22" name="Freeform 22"/>
          <p:cNvSpPr/>
          <p:nvPr/>
        </p:nvSpPr>
        <p:spPr>
          <a:xfrm>
            <a:off x="4524375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52962" y="2402681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基于 Transformer 的扩散块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640806"/>
            <a:ext cx="1950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自注意力机制提取 RF 特征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878931"/>
            <a:ext cx="1564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优于传统 U-Net 架构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24375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65705" y="3640931"/>
            <a:ext cx="18605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多头自注意力 × 前馈网络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24488" y="387905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时序建模能力更强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96250" y="13335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4667250"/>
                </a:lnTo>
                <a:cubicBezTo>
                  <a:pt x="3524250" y="4719855"/>
                  <a:pt x="3481605" y="4762500"/>
                  <a:pt x="342900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096250" y="1333500"/>
            <a:ext cx="3524250" cy="47625"/>
          </a:xfrm>
          <a:custGeom>
            <a:avLst/>
            <a:gdLst/>
            <a:ahLst/>
            <a:cxnLst/>
            <a:rect l="l" t="t" r="r" b="b"/>
            <a:pathLst>
              <a:path w="3524250" h="47625">
                <a:moveTo>
                  <a:pt x="23812" y="0"/>
                </a:moveTo>
                <a:lnTo>
                  <a:pt x="3500438" y="0"/>
                </a:lnTo>
                <a:cubicBezTo>
                  <a:pt x="3513589" y="0"/>
                  <a:pt x="3524250" y="10661"/>
                  <a:pt x="3524250" y="23812"/>
                </a:cubicBezTo>
                <a:lnTo>
                  <a:pt x="3524250" y="23812"/>
                </a:lnTo>
                <a:cubicBezTo>
                  <a:pt x="3524250" y="36964"/>
                  <a:pt x="3513589" y="47625"/>
                  <a:pt x="350043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223818" y="1536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③ 复数算子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65286" y="1870710"/>
            <a:ext cx="21861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Complex-valued Operator</a:t>
            </a:r>
          </a:p>
        </p:txBody>
      </p:sp>
      <p:sp>
        <p:nvSpPr>
          <p:cNvPr id="33" name="Freeform 33"/>
          <p:cNvSpPr/>
          <p:nvPr/>
        </p:nvSpPr>
        <p:spPr>
          <a:xfrm>
            <a:off x="8286750" y="2238375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971550"/>
                </a:lnTo>
                <a:cubicBezTo>
                  <a:pt x="3143250" y="1013634"/>
                  <a:pt x="3109134" y="1047750"/>
                  <a:pt x="3067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15338" y="240268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同时编码幅度和相位信息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5338" y="26408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支持复数域神经网络运算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5338" y="287893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区别于现有模型的实值处理</a:t>
            </a:r>
          </a:p>
        </p:txBody>
      </p:sp>
      <p:sp>
        <p:nvSpPr>
          <p:cNvPr id="37" name="Freeform 37"/>
          <p:cNvSpPr/>
          <p:nvPr/>
        </p:nvSpPr>
        <p:spPr>
          <a:xfrm>
            <a:off x="8286750" y="3476625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685800"/>
                </a:lnTo>
                <a:cubicBezTo>
                  <a:pt x="3143250" y="727884"/>
                  <a:pt x="3109134" y="762000"/>
                  <a:pt x="30670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92386" y="3640931"/>
            <a:ext cx="15319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复数卷积 / 复数激活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76097" y="38790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相位信息对无线系统至关重要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5666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实验设置与数据集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8670" y="1488758"/>
            <a:ext cx="16739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Wi-Fi CSI 信号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385" y="1823085"/>
            <a:ext cx="20722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设备：Intel IWL5300 网卡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6121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频段：5.825GHz, 40MHz 带宽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385" y="2299335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数据：20,000+ 序列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585085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1发3收，提取 CSI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33350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1809750"/>
                </a:lnTo>
                <a:cubicBezTo>
                  <a:pt x="5334000" y="1862355"/>
                  <a:pt x="5291355" y="1905000"/>
                  <a:pt x="5238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503670" y="1488758"/>
            <a:ext cx="17878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FMCW 雷达信号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1823085"/>
            <a:ext cx="18181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设备：自制 FMCW 平台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9385" y="206121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数据：13,000+ 序列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9385" y="23469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3 种不同场景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258508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变化房间/设备/人体/位置/朝向/活动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045" y="3346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71475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680829" y="38357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38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63316" y="38357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 ↑</a:t>
            </a:r>
          </a:p>
        </p:txBody>
      </p:sp>
      <p:sp>
        <p:nvSpPr>
          <p:cNvPr id="24" name="Freeform 24"/>
          <p:cNvSpPr/>
          <p:nvPr/>
        </p:nvSpPr>
        <p:spPr>
          <a:xfrm>
            <a:off x="5143500" y="371475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845951" y="3835718"/>
            <a:ext cx="5000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 ↓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114800"/>
            <a:ext cx="2667000" cy="400050"/>
          </a:xfrm>
          <a:custGeom>
            <a:avLst/>
            <a:gdLst/>
            <a:ahLst/>
            <a:cxnLst/>
            <a:rect l="l" t="t" r="r" b="b"/>
            <a:pathLst>
              <a:path w="2667000" h="40005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61950"/>
                </a:lnTo>
                <a:cubicBezTo>
                  <a:pt x="2667000" y="382992"/>
                  <a:pt x="2649942" y="400050"/>
                  <a:pt x="2628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56426" y="4235768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3238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972005" y="4235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43500" y="4114800"/>
            <a:ext cx="1905000" cy="400050"/>
          </a:xfrm>
          <a:custGeom>
            <a:avLst/>
            <a:gdLst/>
            <a:ahLst/>
            <a:cxnLst/>
            <a:rect l="l" t="t" r="r" b="b"/>
            <a:pathLst>
              <a:path w="1905000" h="40005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61950"/>
                </a:lnTo>
                <a:cubicBezTo>
                  <a:pt x="1905000" y="382992"/>
                  <a:pt x="1887942" y="400050"/>
                  <a:pt x="1866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851127" y="423576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5148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679448" y="4613910"/>
            <a:ext cx="4511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4" name="Freeform 34"/>
          <p:cNvSpPr/>
          <p:nvPr/>
        </p:nvSpPr>
        <p:spPr>
          <a:xfrm>
            <a:off x="3238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982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6" name="Freeform 36"/>
          <p:cNvSpPr/>
          <p:nvPr/>
        </p:nvSpPr>
        <p:spPr>
          <a:xfrm>
            <a:off x="5143500" y="45148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887974" y="46139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48577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8778" y="4956810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40" name="Freeform 40"/>
          <p:cNvSpPr/>
          <p:nvPr/>
        </p:nvSpPr>
        <p:spPr>
          <a:xfrm>
            <a:off x="3238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982974" y="49568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2" name="Freeform 42"/>
          <p:cNvSpPr/>
          <p:nvPr/>
        </p:nvSpPr>
        <p:spPr>
          <a:xfrm>
            <a:off x="5143500" y="48577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883592" y="49568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520065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696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6" name="Freeform 46"/>
          <p:cNvSpPr/>
          <p:nvPr/>
        </p:nvSpPr>
        <p:spPr>
          <a:xfrm>
            <a:off x="3238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982974" y="52997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8" name="Freeform 48"/>
          <p:cNvSpPr/>
          <p:nvPr/>
        </p:nvSpPr>
        <p:spPr>
          <a:xfrm>
            <a:off x="5143500" y="5200650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38100" y="0"/>
                </a:moveTo>
                <a:lnTo>
                  <a:pt x="1866900" y="0"/>
                </a:lnTo>
                <a:cubicBezTo>
                  <a:pt x="1887942" y="0"/>
                  <a:pt x="1905000" y="17058"/>
                  <a:pt x="1905000" y="38100"/>
                </a:cubicBezTo>
                <a:lnTo>
                  <a:pt x="1905000" y="304800"/>
                </a:lnTo>
                <a:cubicBezTo>
                  <a:pt x="1905000" y="325842"/>
                  <a:pt x="1887942" y="342900"/>
                  <a:pt x="1866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61685" y="5299710"/>
            <a:ext cx="468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2480" y="5759768"/>
            <a:ext cx="3150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Wi-Fi SSIM 超越基线 18.6%~71.3%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下游应用案例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11127" y="1567815"/>
            <a:ext cx="3454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案例 1：Wi-Fi 手势识别增强</a:t>
            </a:r>
          </a:p>
        </p:txBody>
      </p:sp>
      <p:sp>
        <p:nvSpPr>
          <p:cNvPr id="10" name="Freeform 10"/>
          <p:cNvSpPr/>
          <p:nvPr/>
        </p:nvSpPr>
        <p:spPr>
          <a:xfrm>
            <a:off x="762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89635" y="2108835"/>
            <a:ext cx="3658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生成的数据做数据增强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635" y="234696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数据集：Widar3.0 手势识别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62810" y="2983706"/>
            <a:ext cx="295138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+4% ~ +11%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5920" y="35375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手势识别准确率提升（取决于识别模型）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89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88" y="4374356"/>
            <a:ext cx="3166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传统数据增强（旋转/裁剪/加噪）无法改变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588" y="4583906"/>
            <a:ext cx="30518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信号的物理含义；RF-Diffusion 生成全新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0588" y="47934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样本来扩充数据分布的真实覆盖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1333500"/>
            <a:ext cx="5334000" cy="4762500"/>
          </a:xfrm>
          <a:custGeom>
            <a:avLst/>
            <a:gdLst/>
            <a:ahLst/>
            <a:cxnLst/>
            <a:rect l="l" t="t" r="r" b="b"/>
            <a:pathLst>
              <a:path w="5334000" h="476250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4667250"/>
                </a:lnTo>
                <a:cubicBezTo>
                  <a:pt x="5334000" y="4719855"/>
                  <a:pt x="5291355" y="4762500"/>
                  <a:pt x="5238750" y="4762500"/>
                </a:cubicBezTo>
                <a:lnTo>
                  <a:pt x="95250" y="4762500"/>
                </a:lnTo>
                <a:cubicBezTo>
                  <a:pt x="42645" y="4762500"/>
                  <a:pt x="0" y="4719855"/>
                  <a:pt x="0" y="466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3E0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286500" y="133350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FF6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384847" y="1567815"/>
            <a:ext cx="3137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案例 2：5G FDD 信道估计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1952625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04635" y="2108835"/>
            <a:ext cx="29573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任务：用 RF-Diffusion 增强信道估计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4635" y="2346960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数据集：Argos 5G 实测数据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28070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效果：</a:t>
            </a:r>
          </a:p>
        </p:txBody>
      </p:sp>
      <p:sp>
        <p:nvSpPr>
          <p:cNvPr id="29" name="Freeform 29"/>
          <p:cNvSpPr/>
          <p:nvPr/>
        </p:nvSpPr>
        <p:spPr>
          <a:xfrm>
            <a:off x="6477000" y="314325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90550"/>
                </a:lnTo>
                <a:cubicBezTo>
                  <a:pt x="4953000" y="632634"/>
                  <a:pt x="4918884" y="666750"/>
                  <a:pt x="4876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88511" y="2983706"/>
            <a:ext cx="2729978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+5.97 dB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69174" y="353758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SNR 提升 vs. 当前最优方法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4000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971550"/>
                </a:lnTo>
                <a:cubicBezTo>
                  <a:pt x="4953000" y="1013634"/>
                  <a:pt x="4918884" y="1047750"/>
                  <a:pt x="4876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04635" y="41376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原理：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5588" y="4374356"/>
            <a:ext cx="2854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FDD 下行信道估计难题：基站发 → UE收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5588" y="45839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→ 反馈 → 基站获知，反馈开销大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5588" y="4793456"/>
            <a:ext cx="28875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RF-Diffusion 生成的信号辅助信道重建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82590" y="67036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371065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与 RF-GPT 的对比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330642"/>
            <a:ext cx="37410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同为 "AI × RF" 方向的工作，差距在哪里？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50053" y="1835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91000" y="1714500"/>
            <a:ext cx="3810000" cy="400050"/>
          </a:xfrm>
          <a:custGeom>
            <a:avLst/>
            <a:gdLst/>
            <a:ahLst/>
            <a:cxnLst/>
            <a:rect l="l" t="t" r="r" b="b"/>
            <a:pathLst>
              <a:path w="3810000" h="40005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61950"/>
                </a:lnTo>
                <a:cubicBezTo>
                  <a:pt x="3810000" y="382992"/>
                  <a:pt x="3792942" y="400050"/>
                  <a:pt x="3771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59440" y="1835468"/>
            <a:ext cx="1473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 ✅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01000" y="1714500"/>
            <a:ext cx="3619500" cy="400050"/>
          </a:xfrm>
          <a:custGeom>
            <a:avLst/>
            <a:gdLst/>
            <a:ahLst/>
            <a:cxnLst/>
            <a:rect l="l" t="t" r="r" b="b"/>
            <a:pathLst>
              <a:path w="3619500" h="40005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61950"/>
                </a:lnTo>
                <a:cubicBezTo>
                  <a:pt x="3619500" y="382992"/>
                  <a:pt x="3602442" y="400050"/>
                  <a:pt x="35814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64026" y="1835468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 ❌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015490" y="22612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发表会议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1145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243894" y="2261235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0" y="21145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79268" y="2261235"/>
            <a:ext cx="8629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arXiv only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15490" y="26898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技术贡献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91000" y="25431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112448" y="2689860"/>
            <a:ext cx="19671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新理论 TFD + 新架构 HDT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0" y="25431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80551" y="268986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现成 VLM + 线性投影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015490" y="31184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28" name="Freeform 28"/>
          <p:cNvSpPr/>
          <p:nvPr/>
        </p:nvSpPr>
        <p:spPr>
          <a:xfrm>
            <a:off x="4191000" y="297180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134356" y="3118485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真实 Wi-Fi / FMCW 实测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0" y="297180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199626" y="311848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MATLAB 全合成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015490" y="35471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34" name="Freeform 34"/>
          <p:cNvSpPr/>
          <p:nvPr/>
        </p:nvSpPr>
        <p:spPr>
          <a:xfrm>
            <a:off x="4191000" y="340042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235130" y="3547110"/>
            <a:ext cx="17217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DDPM / DCGAN / CVAE</a:t>
            </a:r>
          </a:p>
        </p:txBody>
      </p:sp>
      <p:sp>
        <p:nvSpPr>
          <p:cNvPr id="36" name="Freeform 36"/>
          <p:cNvSpPr/>
          <p:nvPr/>
        </p:nvSpPr>
        <p:spPr>
          <a:xfrm>
            <a:off x="8001000" y="340042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46274" y="3547110"/>
            <a:ext cx="15289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仅与基模 Qwen-VL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840230" y="39757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真实场景验证</a:t>
            </a:r>
          </a:p>
        </p:txBody>
      </p:sp>
      <p:sp>
        <p:nvSpPr>
          <p:cNvPr id="40" name="Freeform 40"/>
          <p:cNvSpPr/>
          <p:nvPr/>
        </p:nvSpPr>
        <p:spPr>
          <a:xfrm>
            <a:off x="4191000" y="3829050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283327" y="3975735"/>
            <a:ext cx="16253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3场景 + 2下游任务 ✅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29050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282874" y="3975735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仅合成测试 ❌</a:t>
            </a:r>
          </a:p>
        </p:txBody>
      </p:sp>
      <p:sp>
        <p:nvSpPr>
          <p:cNvPr id="44" name="Freeform 44"/>
          <p:cNvSpPr/>
          <p:nvPr/>
        </p:nvSpPr>
        <p:spPr>
          <a:xfrm>
            <a:off x="5715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015490" y="44043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代码开源</a:t>
            </a:r>
          </a:p>
        </p:txBody>
      </p:sp>
      <p:sp>
        <p:nvSpPr>
          <p:cNvPr id="46" name="Freeform 46"/>
          <p:cNvSpPr/>
          <p:nvPr/>
        </p:nvSpPr>
        <p:spPr>
          <a:xfrm>
            <a:off x="4191000" y="4257675"/>
            <a:ext cx="3810000" cy="428625"/>
          </a:xfrm>
          <a:custGeom>
            <a:avLst/>
            <a:gdLst/>
            <a:ahLst/>
            <a:cxnLst/>
            <a:rect l="l" t="t" r="r" b="b"/>
            <a:pathLst>
              <a:path w="3810000" h="42862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90525"/>
                </a:lnTo>
                <a:cubicBezTo>
                  <a:pt x="3810000" y="411567"/>
                  <a:pt x="3792942" y="428625"/>
                  <a:pt x="377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44982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48" name="Freeform 48"/>
          <p:cNvSpPr/>
          <p:nvPr/>
        </p:nvSpPr>
        <p:spPr>
          <a:xfrm>
            <a:off x="8001000" y="4257675"/>
            <a:ext cx="3619500" cy="428625"/>
          </a:xfrm>
          <a:custGeom>
            <a:avLst/>
            <a:gdLst/>
            <a:ahLst/>
            <a:cxnLst/>
            <a:rect l="l" t="t" r="r" b="b"/>
            <a:pathLst>
              <a:path w="3619500" h="428625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390525"/>
                </a:lnTo>
                <a:cubicBezTo>
                  <a:pt x="3619500" y="411567"/>
                  <a:pt x="3602442" y="428625"/>
                  <a:pt x="35814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64574" y="4404360"/>
            <a:ext cx="1292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GitHub 可复现 ✅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49530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857250"/>
                </a:lnTo>
                <a:cubicBezTo>
                  <a:pt x="11049000" y="909855"/>
                  <a:pt x="11006355" y="952500"/>
                  <a:pt x="109537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822013" y="51082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小结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60151" y="5426392"/>
            <a:ext cx="78716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RF-Diffusion 是 CCF-A 类顶会论文，有新的理论贡献、真实数据验证、全面的基线对比；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485477" y="5664518"/>
            <a:ext cx="72210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RF-GPT 思路有亮点（VLM看频谱图），但论文完整度距离顶会标准还有明显差距。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15452" y="67036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57150" cy="3429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41910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9140" y="13296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三大贡献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68580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9051" y="1959292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950" y="1838325"/>
            <a:ext cx="1671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首个RF扩散模型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215646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首个适配RF信号特性的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366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扩散生成模型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4448175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45548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6325" y="18383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TFD + HDT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6760" y="2156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时频域扩散理论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6760" y="2366010"/>
            <a:ext cx="23614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分层 Diffusion Transformer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56760" y="25755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支持复数域运算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714500"/>
            <a:ext cx="3524250" cy="1428750"/>
          </a:xfrm>
          <a:custGeom>
            <a:avLst/>
            <a:gdLst/>
            <a:ahLst/>
            <a:cxnLst/>
            <a:rect l="l" t="t" r="r" b="b"/>
            <a:pathLst>
              <a:path w="3524250" h="1428750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1333500"/>
                </a:lnTo>
                <a:cubicBezTo>
                  <a:pt x="3524250" y="1386105"/>
                  <a:pt x="3481605" y="1428750"/>
                  <a:pt x="342900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210550" y="1876425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07923" y="1959292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48700" y="1838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全面实验验证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9135" y="2156460"/>
            <a:ext cx="15201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Wi-Fi + FMCW 实测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19135" y="236601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手势识别 + 信道估计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19135" y="2575560"/>
            <a:ext cx="17042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63238"/>
                </a:solidFill>
                <a:latin typeface="Arial"/>
                <a:ea typeface="Microsoft YaHei"/>
                <a:cs typeface="Arial"/>
              </a:rPr>
              <a:t>代码+预训练模型开源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045" y="33937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30" name="Ellipse 30"/>
          <p:cNvSpPr/>
          <p:nvPr/>
        </p:nvSpPr>
        <p:spPr>
          <a:xfrm>
            <a:off x="762000" y="38100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7595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生成长度受限</a:t>
            </a:r>
          </a:p>
        </p:txBody>
      </p:sp>
      <p:sp>
        <p:nvSpPr>
          <p:cNvPr id="32" name="Ellipse 32"/>
          <p:cNvSpPr/>
          <p:nvPr/>
        </p:nvSpPr>
        <p:spPr>
          <a:xfrm>
            <a:off x="762000" y="409575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40452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计算开销大（扩散模型通病）</a:t>
            </a:r>
          </a:p>
        </p:txBody>
      </p:sp>
      <p:sp>
        <p:nvSpPr>
          <p:cNvPr id="34" name="Ellipse 34"/>
          <p:cNvSpPr/>
          <p:nvPr/>
        </p:nvSpPr>
        <p:spPr>
          <a:xfrm>
            <a:off x="762000" y="4381500"/>
            <a:ext cx="95250" cy="952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5355" y="4331018"/>
            <a:ext cx="2843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46E7A"/>
                </a:solidFill>
                <a:latin typeface="Arial"/>
                <a:ea typeface="Microsoft YaHei"/>
                <a:cs typeface="Arial"/>
              </a:rPr>
              <a:t>仅验证 Wi-Fi 和 FMCW 两类信号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75045" y="33937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7" name="Freeform 37"/>
          <p:cNvSpPr/>
          <p:nvPr/>
        </p:nvSpPr>
        <p:spPr>
          <a:xfrm>
            <a:off x="6096000" y="376237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845242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扩展到 5G NR / LoRa / 蓝牙等更多信号类型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4191000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69355" y="42738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加速采样（扩散模型加速技术）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0" y="4619625"/>
            <a:ext cx="5524500" cy="333375"/>
          </a:xfrm>
          <a:custGeom>
            <a:avLst/>
            <a:gdLst/>
            <a:ahLst/>
            <a:cxnLst/>
            <a:rect l="l" t="t" r="r" b="b"/>
            <a:pathLst>
              <a:path w="5524500" h="333375">
                <a:moveTo>
                  <a:pt x="57150" y="0"/>
                </a:moveTo>
                <a:lnTo>
                  <a:pt x="5467350" y="0"/>
                </a:lnTo>
                <a:cubicBezTo>
                  <a:pt x="5498913" y="0"/>
                  <a:pt x="5524500" y="25587"/>
                  <a:pt x="5524500" y="57150"/>
                </a:cubicBezTo>
                <a:lnTo>
                  <a:pt x="5524500" y="276225"/>
                </a:lnTo>
                <a:cubicBezTo>
                  <a:pt x="5524500" y="307788"/>
                  <a:pt x="5498913" y="333375"/>
                  <a:pt x="54673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3F2FD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69355" y="4702492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与 LLM/Agent 结合 → 频谱监测与自动决策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rgbClr val="ECEFF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703695"/>
            <a:ext cx="16987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RF-Diffusion Presentation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648313" y="67036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16981" y="4410075"/>
            <a:ext cx="71580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RF-Diffusion: Radio Signal Generation via Time-Frequency Diffusion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1401" y="47596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ACM MobiCom 2024 | Best Artifact Award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9131" y="5585460"/>
            <a:ext cx="4753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github.com/mobicom24/RF-Diffusion | arXiv:2404.09140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