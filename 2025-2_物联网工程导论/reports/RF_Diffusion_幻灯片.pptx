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50000">
                <a:srgbClr val="1565C0"/>
              </a:gs>
              <a:gs pos="100000">
                <a:srgbClr val="1976D2"/>
              </a:gs>
            </a:gsLst>
            <a:lin ang="2700000" scaled="1"/>
          </a:gra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552450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381000"/>
                </a:moveTo>
                <a:cubicBezTo>
                  <a:pt x="2032000" y="0"/>
                  <a:pt x="4064000" y="0"/>
                  <a:pt x="6096000" y="381000"/>
                </a:cubicBezTo>
                <a:cubicBezTo>
                  <a:pt x="8128000" y="762000"/>
                  <a:pt x="10160000" y="762000"/>
                  <a:pt x="12192000" y="381000"/>
                </a:cubicBezTo>
              </a:path>
            </a:pathLst>
          </a:custGeom>
          <a:noFill/>
          <a:ln w="19050">
            <a:solidFill>
              <a:srgbClr val="FFFFFF">
                <a:alpha val="5000"/>
              </a:srgbClr>
            </a:solidFill>
          </a:ln>
        </p:spPr>
      </p:sp>
      <p:sp>
        <p:nvSpPr>
          <p:cNvPr id="4" name="Freeform 4"/>
          <p:cNvSpPr/>
          <p:nvPr/>
        </p:nvSpPr>
        <p:spPr>
          <a:xfrm>
            <a:off x="0" y="5873750"/>
            <a:ext cx="12192000" cy="793750"/>
          </a:xfrm>
          <a:custGeom>
            <a:avLst/>
            <a:gdLst/>
            <a:ahLst/>
            <a:cxnLst/>
            <a:rect l="l" t="t" r="r" b="b"/>
            <a:pathLst>
              <a:path w="12192000" h="793750">
                <a:moveTo>
                  <a:pt x="0" y="317500"/>
                </a:moveTo>
                <a:cubicBezTo>
                  <a:pt x="2032000" y="0"/>
                  <a:pt x="4064000" y="31750"/>
                  <a:pt x="6096000" y="412750"/>
                </a:cubicBezTo>
                <a:cubicBezTo>
                  <a:pt x="8128000" y="793750"/>
                  <a:pt x="10160000" y="730250"/>
                  <a:pt x="12192000" y="222250"/>
                </a:cubicBezTo>
              </a:path>
            </a:pathLst>
          </a:custGeom>
          <a:noFill/>
          <a:ln w="14288">
            <a:solidFill>
              <a:srgbClr val="FFFFFF">
                <a:alpha val="4000"/>
              </a:srgbClr>
            </a:solidFill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321545" y="2138839"/>
            <a:ext cx="5548910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02031" y="3200400"/>
            <a:ext cx="598793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Radio Signal Generation via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5543" y="3676650"/>
            <a:ext cx="578091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Time-Frequency Diffusion</a:t>
            </a:r>
          </a:p>
        </p:txBody>
      </p:sp>
      <p:sp>
        <p:nvSpPr>
          <p:cNvPr id="9" name="Rectangle 9"/>
          <p:cNvSpPr/>
          <p:nvPr/>
        </p:nvSpPr>
        <p:spPr>
          <a:xfrm>
            <a:off x="5143500" y="433387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590014" y="4480084"/>
            <a:ext cx="701197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ACM MobiCom 2024 CCF-A Best Artifact Award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35339" y="5474018"/>
            <a:ext cx="37213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清华大学 | 香港大学 | 北京邮电大学 | 华为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12670" y="5775960"/>
            <a:ext cx="7566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Guoxuan Chi, Zheng Yang, Chenshu Wu, Jingao Xu, Yuchong Gao, Yunhao Liu, Tony Xiao Han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1525" y="1390650"/>
            <a:ext cx="46724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8670" y="18983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背景与动机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2480" y="2235518"/>
            <a:ext cx="26369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AIGC浪潮 &amp; RF信号生成的需求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2480" y="250221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现有方法的不足</a:t>
            </a:r>
          </a:p>
        </p:txBody>
      </p:sp>
      <p:sp>
        <p:nvSpPr>
          <p:cNvPr id="13" name="Freeform 13"/>
          <p:cNvSpPr/>
          <p:nvPr/>
        </p:nvSpPr>
        <p:spPr>
          <a:xfrm>
            <a:off x="438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438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58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98670" y="189833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三大挑战与核心思路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02480" y="2235518"/>
            <a:ext cx="32284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RF信号的独特性（时序/频域/复数）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02480" y="250221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扩散模型的三层改造</a:t>
            </a:r>
          </a:p>
        </p:txBody>
      </p:sp>
      <p:sp>
        <p:nvSpPr>
          <p:cNvPr id="19" name="Freeform 19"/>
          <p:cNvSpPr/>
          <p:nvPr/>
        </p:nvSpPr>
        <p:spPr>
          <a:xfrm>
            <a:off x="819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819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39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08670" y="1898332"/>
            <a:ext cx="218002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TFD理论 &amp; HDT架构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12480" y="2235518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时域加噪 + 频域模糊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12480" y="250221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分层Diffusion Transformer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57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7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8670" y="44700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实验评估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2480" y="4807268"/>
            <a:ext cx="2439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Wi-Fi + FMCW信号生成质量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2480" y="5073968"/>
            <a:ext cx="24495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手势识别增强 + 5G信道估计</a:t>
            </a:r>
          </a:p>
        </p:txBody>
      </p:sp>
      <p:sp>
        <p:nvSpPr>
          <p:cNvPr id="31" name="Freeform 31"/>
          <p:cNvSpPr/>
          <p:nvPr/>
        </p:nvSpPr>
        <p:spPr>
          <a:xfrm>
            <a:off x="438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438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58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98670" y="44700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相关工作对比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02480" y="4807268"/>
            <a:ext cx="14736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与RF-GPT等对比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02480" y="507396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为什么这篇更有分量</a:t>
            </a:r>
          </a:p>
        </p:txBody>
      </p:sp>
      <p:sp>
        <p:nvSpPr>
          <p:cNvPr id="37" name="Freeform 37"/>
          <p:cNvSpPr/>
          <p:nvPr/>
        </p:nvSpPr>
        <p:spPr>
          <a:xfrm>
            <a:off x="819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819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39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08670" y="44700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总结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2480" y="4807268"/>
            <a:ext cx="20651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贡献 + 局限 + 未来方向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400969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从 AIGC 到射频生成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429000" cy="2095500"/>
          </a:xfrm>
          <a:custGeom>
            <a:avLst/>
            <a:gdLst/>
            <a:ahLst/>
            <a:cxnLst/>
            <a:rect l="l" t="t" r="r" b="b"/>
            <a:pathLst>
              <a:path w="3429000" h="2095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000250"/>
                </a:lnTo>
                <a:cubicBezTo>
                  <a:pt x="3429000" y="2052855"/>
                  <a:pt x="3386355" y="2095500"/>
                  <a:pt x="3333750" y="2095500"/>
                </a:cubicBezTo>
                <a:lnTo>
                  <a:pt x="95250" y="2095500"/>
                </a:lnTo>
                <a:cubicBezTo>
                  <a:pt x="42645" y="2095500"/>
                  <a:pt x="0" y="2052855"/>
                  <a:pt x="0" y="2000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074930" y="152733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CV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2558" y="1885950"/>
            <a:ext cx="17468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Stable Diffusion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9913" y="2124075"/>
            <a:ext cx="21521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Midjourney / DALL-E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44980" y="2489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图像生成革命</a:t>
            </a:r>
          </a:p>
        </p:txBody>
      </p:sp>
      <p:sp>
        <p:nvSpPr>
          <p:cNvPr id="13" name="Freeform 13"/>
          <p:cNvSpPr/>
          <p:nvPr/>
        </p:nvSpPr>
        <p:spPr>
          <a:xfrm>
            <a:off x="4381500" y="1333500"/>
            <a:ext cx="3429000" cy="2095500"/>
          </a:xfrm>
          <a:custGeom>
            <a:avLst/>
            <a:gdLst/>
            <a:ahLst/>
            <a:cxnLst/>
            <a:rect l="l" t="t" r="r" b="b"/>
            <a:pathLst>
              <a:path w="3429000" h="2095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000250"/>
                </a:lnTo>
                <a:cubicBezTo>
                  <a:pt x="3429000" y="2052855"/>
                  <a:pt x="3386355" y="2095500"/>
                  <a:pt x="3333750" y="2095500"/>
                </a:cubicBezTo>
                <a:lnTo>
                  <a:pt x="95250" y="2095500"/>
                </a:lnTo>
                <a:cubicBezTo>
                  <a:pt x="42645" y="2095500"/>
                  <a:pt x="0" y="2052855"/>
                  <a:pt x="0" y="2000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4381500" y="13335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793206" y="1527334"/>
            <a:ext cx="605589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NLP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28034" y="1885950"/>
            <a:ext cx="17359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ChatGPT / GPT-4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93757" y="2124075"/>
            <a:ext cx="16044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Claude / LLaMA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54980" y="2489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文本生成突破</a:t>
            </a:r>
          </a:p>
        </p:txBody>
      </p:sp>
      <p:sp>
        <p:nvSpPr>
          <p:cNvPr id="19" name="Freeform 19"/>
          <p:cNvSpPr/>
          <p:nvPr/>
        </p:nvSpPr>
        <p:spPr>
          <a:xfrm>
            <a:off x="8191500" y="1333500"/>
            <a:ext cx="3429000" cy="2095500"/>
          </a:xfrm>
          <a:custGeom>
            <a:avLst/>
            <a:gdLst/>
            <a:ahLst/>
            <a:cxnLst/>
            <a:rect l="l" t="t" r="r" b="b"/>
            <a:pathLst>
              <a:path w="3429000" h="2095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000250"/>
                </a:lnTo>
                <a:cubicBezTo>
                  <a:pt x="3429000" y="2052855"/>
                  <a:pt x="3386355" y="2095500"/>
                  <a:pt x="3333750" y="2095500"/>
                </a:cubicBezTo>
                <a:lnTo>
                  <a:pt x="95250" y="2095500"/>
                </a:lnTo>
                <a:cubicBezTo>
                  <a:pt x="42645" y="2095500"/>
                  <a:pt x="0" y="2052855"/>
                  <a:pt x="0" y="2000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8191500" y="13335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553174" y="1527334"/>
            <a:ext cx="70565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RF 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29725" y="1885950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无线信号生成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84682" y="2124075"/>
            <a:ext cx="20426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数据增强 / 信道估计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94102" y="2489835"/>
            <a:ext cx="14237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AIGC的下一个前沿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1045" y="3631882"/>
            <a:ext cx="27493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现有 RF 生成方法的局限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4000500"/>
            <a:ext cx="5334000" cy="1143000"/>
          </a:xfrm>
          <a:custGeom>
            <a:avLst/>
            <a:gdLst/>
            <a:ahLst/>
            <a:cxnLst/>
            <a:rect l="l" t="t" r="r" b="b"/>
            <a:pathLst>
              <a:path w="5334000" h="1143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047750"/>
                </a:lnTo>
                <a:cubicBezTo>
                  <a:pt x="5334000" y="1100355"/>
                  <a:pt x="5291355" y="1143000"/>
                  <a:pt x="5238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571500" y="400050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0575" y="4171950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环境建模法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4385" y="4442460"/>
            <a:ext cx="47274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射线追踪+3D模型 → 成本高、忽略材料特性、难生成时序数据</a:t>
            </a:r>
          </a:p>
        </p:txBody>
      </p:sp>
      <p:sp>
        <p:nvSpPr>
          <p:cNvPr id="30" name="Freeform 30"/>
          <p:cNvSpPr/>
          <p:nvPr/>
        </p:nvSpPr>
        <p:spPr>
          <a:xfrm>
            <a:off x="6286500" y="4000500"/>
            <a:ext cx="5334000" cy="1143000"/>
          </a:xfrm>
          <a:custGeom>
            <a:avLst/>
            <a:gdLst/>
            <a:ahLst/>
            <a:cxnLst/>
            <a:rect l="l" t="t" r="r" b="b"/>
            <a:pathLst>
              <a:path w="5334000" h="1143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047750"/>
                </a:lnTo>
                <a:cubicBezTo>
                  <a:pt x="5334000" y="1100355"/>
                  <a:pt x="5291355" y="1143000"/>
                  <a:pt x="5238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6286500" y="400050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05575" y="4171950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数据驱动法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09385" y="444246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GAN/VAE → 表征有限、训练不稳定、任务特定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三大挑战与核心思路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571750"/>
                </a:lnTo>
                <a:cubicBezTo>
                  <a:pt x="3524250" y="2624355"/>
                  <a:pt x="3481605" y="2667000"/>
                  <a:pt x="3429000" y="2667000"/>
                </a:cubicBezTo>
                <a:lnTo>
                  <a:pt x="95250" y="2667000"/>
                </a:lnTo>
                <a:cubicBezTo>
                  <a:pt x="42645" y="2667000"/>
                  <a:pt x="0" y="2624355"/>
                  <a:pt x="0" y="2571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82002" y="1527334"/>
            <a:ext cx="33875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9670" y="15840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时序性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1965960"/>
            <a:ext cx="26769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RF信号捕捉动态细节（目标运动、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21755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信道变化），扩散模型原为静态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3850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图像设计</a:t>
            </a:r>
          </a:p>
        </p:txBody>
      </p:sp>
      <p:sp>
        <p:nvSpPr>
          <p:cNvPr id="14" name="Freeform 14"/>
          <p:cNvSpPr/>
          <p:nvPr/>
        </p:nvSpPr>
        <p:spPr>
          <a:xfrm>
            <a:off x="4333875" y="13335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571750"/>
                </a:lnTo>
                <a:cubicBezTo>
                  <a:pt x="3524250" y="2624355"/>
                  <a:pt x="3481605" y="2667000"/>
                  <a:pt x="3429000" y="2667000"/>
                </a:cubicBezTo>
                <a:lnTo>
                  <a:pt x="95250" y="2667000"/>
                </a:lnTo>
                <a:cubicBezTo>
                  <a:pt x="42645" y="2667000"/>
                  <a:pt x="0" y="2624355"/>
                  <a:pt x="0" y="2571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4333875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544378" y="152733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32045" y="1584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频域信息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56760" y="1965960"/>
            <a:ext cx="25717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多普勒频移、chirp等关键信息在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6760" y="21755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频域，视频扩散模型也主要关注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6760" y="238506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空域（像素亮度）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96250" y="13335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571750"/>
                </a:lnTo>
                <a:cubicBezTo>
                  <a:pt x="3524250" y="2624355"/>
                  <a:pt x="3481605" y="2667000"/>
                  <a:pt x="3429000" y="2667000"/>
                </a:cubicBezTo>
                <a:lnTo>
                  <a:pt x="95250" y="2667000"/>
                </a:lnTo>
                <a:cubicBezTo>
                  <a:pt x="42645" y="2667000"/>
                  <a:pt x="0" y="2624355"/>
                  <a:pt x="0" y="2571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8096250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306752" y="152733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94420" y="15840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复数域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19135" y="1965960"/>
            <a:ext cx="25980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RF信号是复数值（幅度+相位），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19135" y="217551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现有扩散模型只处理实数值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19135" y="23850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（如像素亮度）</a:t>
            </a:r>
          </a:p>
        </p:txBody>
      </p:sp>
      <p:sp>
        <p:nvSpPr>
          <p:cNvPr id="28" name="Freeform 28"/>
          <p:cNvSpPr/>
          <p:nvPr/>
        </p:nvSpPr>
        <p:spPr>
          <a:xfrm>
            <a:off x="571500" y="433387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1143000"/>
                </a:lnTo>
                <a:cubicBezTo>
                  <a:pt x="11049000" y="1195605"/>
                  <a:pt x="11006355" y="1238250"/>
                  <a:pt x="109537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278916" y="4520565"/>
            <a:ext cx="36341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核心思路：三层改造扩散模型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01591" y="4886325"/>
            <a:ext cx="57888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理论层 · Time-Frequency Diffusion → 时域加噪+频域模糊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79683" y="5153025"/>
            <a:ext cx="58326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架构层 · Hierarchical Diffusion Transformer → 分层架构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22082" y="5419725"/>
            <a:ext cx="55478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算子层 · Complex-valued Operator → 幅度+相位双编码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68390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Time-Frequency Diffusion 理论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5334000" cy="2476500"/>
          </a:xfrm>
          <a:custGeom>
            <a:avLst/>
            <a:gdLst/>
            <a:ahLst/>
            <a:cxnLst/>
            <a:rect l="l" t="t" r="r" b="b"/>
            <a:pathLst>
              <a:path w="5334000" h="2476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381250"/>
                </a:lnTo>
                <a:cubicBezTo>
                  <a:pt x="5334000" y="2433855"/>
                  <a:pt x="5291355" y="2476500"/>
                  <a:pt x="5238750" y="2476500"/>
                </a:cubicBezTo>
                <a:lnTo>
                  <a:pt x="95250" y="2476500"/>
                </a:lnTo>
                <a:cubicBezTo>
                  <a:pt x="42645" y="2476500"/>
                  <a:pt x="0" y="2433855"/>
                  <a:pt x="0" y="2381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88670" y="1441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传统扩散模型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4385" y="1775460"/>
            <a:ext cx="3526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前向：x₀ → x₁ → ... → x_T（只加高斯噪声）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2013585"/>
            <a:ext cx="31763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反向：x_T → ... → x₁ → x₀（去噪恢复）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23469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问题：只破坏幅度，忽略频域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4000500"/>
            <a:ext cx="5334000" cy="2000250"/>
          </a:xfrm>
          <a:custGeom>
            <a:avLst/>
            <a:gdLst/>
            <a:ahLst/>
            <a:cxnLst/>
            <a:rect l="l" t="t" r="r" b="b"/>
            <a:pathLst>
              <a:path w="5334000" h="2000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905000"/>
                </a:lnTo>
                <a:cubicBezTo>
                  <a:pt x="5334000" y="1957605"/>
                  <a:pt x="5291355" y="2000250"/>
                  <a:pt x="5238750" y="2000250"/>
                </a:cubicBezTo>
                <a:lnTo>
                  <a:pt x="95250" y="2000250"/>
                </a:lnTo>
                <a:cubicBezTo>
                  <a:pt x="42645" y="2000250"/>
                  <a:pt x="0" y="1957605"/>
                  <a:pt x="0" y="1905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8670" y="4155758"/>
            <a:ext cx="26607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RF-Diffusion TFD 理论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4490085"/>
            <a:ext cx="25104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前向破坏：时域加噪 + 频域模糊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4728210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- 时域：复数高斯噪声 → 破坏幅度精度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4966335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- 频域：高斯卷积核模糊频谱 → 破坏频谱分辨率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4385" y="5252085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反向恢复：去噪(Denoise) + 去模糊(Deblur)</a:t>
            </a:r>
          </a:p>
        </p:txBody>
      </p:sp>
      <p:sp>
        <p:nvSpPr>
          <p:cNvPr id="18" name="Freeform 18"/>
          <p:cNvSpPr/>
          <p:nvPr/>
        </p:nvSpPr>
        <p:spPr>
          <a:xfrm>
            <a:off x="6286500" y="1285875"/>
            <a:ext cx="5334000" cy="4714875"/>
          </a:xfrm>
          <a:custGeom>
            <a:avLst/>
            <a:gdLst/>
            <a:ahLst/>
            <a:cxnLst/>
            <a:rect l="l" t="t" r="r" b="b"/>
            <a:pathLst>
              <a:path w="5334000" h="4714875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619625"/>
                </a:lnTo>
                <a:cubicBezTo>
                  <a:pt x="5334000" y="4672230"/>
                  <a:pt x="5291355" y="4714875"/>
                  <a:pt x="5238750" y="4714875"/>
                </a:cubicBezTo>
                <a:lnTo>
                  <a:pt x="95250" y="4714875"/>
                </a:lnTo>
                <a:cubicBezTo>
                  <a:pt x="42645" y="4714875"/>
                  <a:pt x="0" y="4672230"/>
                  <a:pt x="0" y="46196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79776" y="1441132"/>
            <a:ext cx="15474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TFD 数学直观</a:t>
            </a:r>
          </a:p>
        </p:txBody>
      </p:sp>
      <p:sp>
        <p:nvSpPr>
          <p:cNvPr id="20" name="Freeform 20"/>
          <p:cNvSpPr/>
          <p:nvPr/>
        </p:nvSpPr>
        <p:spPr>
          <a:xfrm>
            <a:off x="6572250" y="1809750"/>
            <a:ext cx="4762500" cy="1905000"/>
          </a:xfrm>
          <a:custGeom>
            <a:avLst/>
            <a:gdLst/>
            <a:ahLst/>
            <a:cxnLst/>
            <a:rect l="l" t="t" r="r" b="b"/>
            <a:pathLst>
              <a:path w="4762500" h="190500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1828800"/>
                </a:lnTo>
                <a:cubicBezTo>
                  <a:pt x="4762500" y="1870884"/>
                  <a:pt x="4728384" y="1905000"/>
                  <a:pt x="46863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52260" y="19659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前向过程 (第 t 步)：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3212" y="2259806"/>
            <a:ext cx="39637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x_t = √α_t · ℱ⁻¹(G_t ∗ ℱ(x_{t-1})) + √(1-α_t) · ε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3212" y="2545556"/>
            <a:ext cx="1392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频域模糊 时域加噪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2260" y="29184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根据卷积定理可简化为：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3212" y="3212306"/>
            <a:ext cx="25506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x_t = √ᾱ_t · x₀ + √(1-ᾱ_t) · ε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3506152"/>
            <a:ext cx="36764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（与标准扩散形式一致，但 ᾱ_t 包含频域模糊信息）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2260" y="38709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条件生成：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3212" y="4164806"/>
            <a:ext cx="32243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支持条件向量 c 引导（房间 / 设备 / 动作）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3212" y="4402931"/>
            <a:ext cx="17537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p(x₀ | c) 条件分布建模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05 / 12</a:t>
            </a:r>
          </a:p>
        </p:txBody>
      </p:sp>
      <p:pic>
        <p:nvPicPr>
          <p:cNvPr id="33" name="Picture 32" descr="paper_page2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40"/>
            <a:ext cx="6400800" cy="384048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796618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Hierarchical Diffusion Transformer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667250"/>
                </a:lnTo>
                <a:cubicBezTo>
                  <a:pt x="3524250" y="4719855"/>
                  <a:pt x="3481605" y="4762500"/>
                  <a:pt x="342900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99068" y="1536382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① 分层架构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3010" y="1870710"/>
            <a:ext cx="22212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Hierarchical Architecture</a:t>
            </a:r>
          </a:p>
        </p:txBody>
      </p:sp>
      <p:sp>
        <p:nvSpPr>
          <p:cNvPr id="11" name="Freeform 11"/>
          <p:cNvSpPr/>
          <p:nvPr/>
        </p:nvSpPr>
        <p:spPr>
          <a:xfrm>
            <a:off x="762000" y="2238375"/>
            <a:ext cx="3143250" cy="1047750"/>
          </a:xfrm>
          <a:custGeom>
            <a:avLst/>
            <a:gdLst/>
            <a:ahLst/>
            <a:cxnLst/>
            <a:rect l="l" t="t" r="r" b="b"/>
            <a:pathLst>
              <a:path w="3143250" h="104775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971550"/>
                </a:lnTo>
                <a:cubicBezTo>
                  <a:pt x="3143250" y="1013634"/>
                  <a:pt x="3109134" y="1047750"/>
                  <a:pt x="3067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90588" y="2402681"/>
            <a:ext cx="17866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解耦 RF 数据的时空维度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0588" y="26408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层次化处理多尺度时频特征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0588" y="2878931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捕捉长时间序列的依赖关系</a:t>
            </a:r>
          </a:p>
        </p:txBody>
      </p:sp>
      <p:sp>
        <p:nvSpPr>
          <p:cNvPr id="15" name="Freeform 15"/>
          <p:cNvSpPr/>
          <p:nvPr/>
        </p:nvSpPr>
        <p:spPr>
          <a:xfrm>
            <a:off x="762000" y="3476625"/>
            <a:ext cx="3143250" cy="762000"/>
          </a:xfrm>
          <a:custGeom>
            <a:avLst/>
            <a:gdLst/>
            <a:ahLst/>
            <a:cxnLst/>
            <a:rect l="l" t="t" r="r" b="b"/>
            <a:pathLst>
              <a:path w="3143250" h="7620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685800"/>
                </a:lnTo>
                <a:cubicBezTo>
                  <a:pt x="3143250" y="727884"/>
                  <a:pt x="3109134" y="762000"/>
                  <a:pt x="306705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637467" y="3640931"/>
            <a:ext cx="1392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全局 → 局部 → 细节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4266" y="387905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多粒度特征提取</a:t>
            </a:r>
          </a:p>
        </p:txBody>
      </p:sp>
      <p:sp>
        <p:nvSpPr>
          <p:cNvPr id="18" name="Freeform 18"/>
          <p:cNvSpPr/>
          <p:nvPr/>
        </p:nvSpPr>
        <p:spPr>
          <a:xfrm>
            <a:off x="4333875" y="13335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667250"/>
                </a:lnTo>
                <a:cubicBezTo>
                  <a:pt x="3524250" y="4719855"/>
                  <a:pt x="3481605" y="4762500"/>
                  <a:pt x="342900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4333875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993335" y="1536382"/>
            <a:ext cx="22053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② Attention扩散块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18113" y="1870710"/>
            <a:ext cx="27557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Attention-based Diffusion Block</a:t>
            </a:r>
          </a:p>
        </p:txBody>
      </p:sp>
      <p:sp>
        <p:nvSpPr>
          <p:cNvPr id="22" name="Freeform 22"/>
          <p:cNvSpPr/>
          <p:nvPr/>
        </p:nvSpPr>
        <p:spPr>
          <a:xfrm>
            <a:off x="4524375" y="2238375"/>
            <a:ext cx="3143250" cy="1047750"/>
          </a:xfrm>
          <a:custGeom>
            <a:avLst/>
            <a:gdLst/>
            <a:ahLst/>
            <a:cxnLst/>
            <a:rect l="l" t="t" r="r" b="b"/>
            <a:pathLst>
              <a:path w="3143250" h="104775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971550"/>
                </a:lnTo>
                <a:cubicBezTo>
                  <a:pt x="3143250" y="1013634"/>
                  <a:pt x="3109134" y="1047750"/>
                  <a:pt x="3067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652962" y="2402681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基于 Transformer 的扩散块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52962" y="2640806"/>
            <a:ext cx="19509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自注意力机制提取 RF 特征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52962" y="2878931"/>
            <a:ext cx="1564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优于传统 U-Net 架构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24375" y="3476625"/>
            <a:ext cx="3143250" cy="762000"/>
          </a:xfrm>
          <a:custGeom>
            <a:avLst/>
            <a:gdLst/>
            <a:ahLst/>
            <a:cxnLst/>
            <a:rect l="l" t="t" r="r" b="b"/>
            <a:pathLst>
              <a:path w="3143250" h="7620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685800"/>
                </a:lnTo>
                <a:cubicBezTo>
                  <a:pt x="3143250" y="727884"/>
                  <a:pt x="3109134" y="762000"/>
                  <a:pt x="306705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165705" y="3640931"/>
            <a:ext cx="18605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多头自注意力 × 前馈网络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24488" y="38790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时序建模能力更强</a:t>
            </a:r>
          </a:p>
        </p:txBody>
      </p:sp>
      <p:sp>
        <p:nvSpPr>
          <p:cNvPr id="29" name="Freeform 29"/>
          <p:cNvSpPr/>
          <p:nvPr/>
        </p:nvSpPr>
        <p:spPr>
          <a:xfrm>
            <a:off x="8096250" y="13335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667250"/>
                </a:lnTo>
                <a:cubicBezTo>
                  <a:pt x="3524250" y="4719855"/>
                  <a:pt x="3481605" y="4762500"/>
                  <a:pt x="342900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8096250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223818" y="1536382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③ 复数算子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65286" y="1870710"/>
            <a:ext cx="21861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Complex-valued Operator</a:t>
            </a:r>
          </a:p>
        </p:txBody>
      </p:sp>
      <p:sp>
        <p:nvSpPr>
          <p:cNvPr id="33" name="Freeform 33"/>
          <p:cNvSpPr/>
          <p:nvPr/>
        </p:nvSpPr>
        <p:spPr>
          <a:xfrm>
            <a:off x="8286750" y="2238375"/>
            <a:ext cx="3143250" cy="1047750"/>
          </a:xfrm>
          <a:custGeom>
            <a:avLst/>
            <a:gdLst/>
            <a:ahLst/>
            <a:cxnLst/>
            <a:rect l="l" t="t" r="r" b="b"/>
            <a:pathLst>
              <a:path w="3143250" h="104775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971550"/>
                </a:lnTo>
                <a:cubicBezTo>
                  <a:pt x="3143250" y="1013634"/>
                  <a:pt x="3109134" y="1047750"/>
                  <a:pt x="3067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415338" y="2402681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同时编码幅度和相位信息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5338" y="26408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支持复数域神经网络运算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15338" y="2878931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区别于现有模型的实值处理</a:t>
            </a:r>
          </a:p>
        </p:txBody>
      </p:sp>
      <p:sp>
        <p:nvSpPr>
          <p:cNvPr id="37" name="Freeform 37"/>
          <p:cNvSpPr/>
          <p:nvPr/>
        </p:nvSpPr>
        <p:spPr>
          <a:xfrm>
            <a:off x="8286750" y="3476625"/>
            <a:ext cx="3143250" cy="762000"/>
          </a:xfrm>
          <a:custGeom>
            <a:avLst/>
            <a:gdLst/>
            <a:ahLst/>
            <a:cxnLst/>
            <a:rect l="l" t="t" r="r" b="b"/>
            <a:pathLst>
              <a:path w="3143250" h="7620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685800"/>
                </a:lnTo>
                <a:cubicBezTo>
                  <a:pt x="3143250" y="727884"/>
                  <a:pt x="3109134" y="762000"/>
                  <a:pt x="306705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092386" y="3640931"/>
            <a:ext cx="15319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复数卷积 / 复数激活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76097" y="38790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相位信息对无线系统至关重要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06 / 12</a:t>
            </a:r>
          </a:p>
        </p:txBody>
      </p:sp>
      <p:pic>
        <p:nvPicPr>
          <p:cNvPr id="43" name="Picture 42" descr="paper_page1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40"/>
            <a:ext cx="6400800" cy="384048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375666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实验设置与数据集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88670" y="1488758"/>
            <a:ext cx="167396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Wi-Fi CSI 信号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4385" y="1823085"/>
            <a:ext cx="20722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设备：Intel IWL5300 网卡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2061210"/>
            <a:ext cx="23964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频段：5.825GHz, 40MHz 带宽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2299335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数据：20,000+ 序列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2585085"/>
            <a:ext cx="1353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1发3收，提取 CSI</a:t>
            </a:r>
          </a:p>
        </p:txBody>
      </p:sp>
      <p:sp>
        <p:nvSpPr>
          <p:cNvPr id="13" name="Freeform 13"/>
          <p:cNvSpPr/>
          <p:nvPr/>
        </p:nvSpPr>
        <p:spPr>
          <a:xfrm>
            <a:off x="6286500" y="133350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503670" y="1488758"/>
            <a:ext cx="17878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FMCW 雷达信号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9385" y="1823085"/>
            <a:ext cx="18181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设备：自制 FMCW 平台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09385" y="2061210"/>
            <a:ext cx="15902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数据：13,000+ 序列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09385" y="2346960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3 种不同场景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09385" y="2585085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变化房间/设备/人体/位置/朝向/活动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1045" y="3346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对比基线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3714750"/>
            <a:ext cx="2667000" cy="400050"/>
          </a:xfrm>
          <a:custGeom>
            <a:avLst/>
            <a:gdLst/>
            <a:ahLst/>
            <a:cxnLst/>
            <a:rect l="l" t="t" r="r" b="b"/>
            <a:pathLst>
              <a:path w="2667000" h="40005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61950"/>
                </a:lnTo>
                <a:cubicBezTo>
                  <a:pt x="2667000" y="382992"/>
                  <a:pt x="2649942" y="400050"/>
                  <a:pt x="2628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680829" y="38357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22" name="Freeform 22"/>
          <p:cNvSpPr/>
          <p:nvPr/>
        </p:nvSpPr>
        <p:spPr>
          <a:xfrm>
            <a:off x="3238500" y="371475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61950"/>
                </a:lnTo>
                <a:cubicBezTo>
                  <a:pt x="1905000" y="382992"/>
                  <a:pt x="1887942" y="400050"/>
                  <a:pt x="1866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863316" y="38357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SSIM ↑</a:t>
            </a:r>
          </a:p>
        </p:txBody>
      </p:sp>
      <p:sp>
        <p:nvSpPr>
          <p:cNvPr id="24" name="Freeform 24"/>
          <p:cNvSpPr/>
          <p:nvPr/>
        </p:nvSpPr>
        <p:spPr>
          <a:xfrm>
            <a:off x="5143500" y="371475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61950"/>
                </a:lnTo>
                <a:cubicBezTo>
                  <a:pt x="1905000" y="382992"/>
                  <a:pt x="1887942" y="400050"/>
                  <a:pt x="1866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845951" y="3835718"/>
            <a:ext cx="5000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FID ↓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4114800"/>
            <a:ext cx="2667000" cy="400050"/>
          </a:xfrm>
          <a:custGeom>
            <a:avLst/>
            <a:gdLst/>
            <a:ahLst/>
            <a:cxnLst/>
            <a:rect l="l" t="t" r="r" b="b"/>
            <a:pathLst>
              <a:path w="2667000" h="40005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61950"/>
                </a:lnTo>
                <a:cubicBezTo>
                  <a:pt x="2667000" y="382992"/>
                  <a:pt x="2649942" y="400050"/>
                  <a:pt x="2628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256426" y="4235768"/>
            <a:ext cx="1297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28" name="Freeform 28"/>
          <p:cNvSpPr/>
          <p:nvPr/>
        </p:nvSpPr>
        <p:spPr>
          <a:xfrm>
            <a:off x="3238500" y="411480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61950"/>
                </a:lnTo>
                <a:cubicBezTo>
                  <a:pt x="1905000" y="382992"/>
                  <a:pt x="1887942" y="400050"/>
                  <a:pt x="1866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972005" y="4235768"/>
            <a:ext cx="437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0.81</a:t>
            </a:r>
          </a:p>
        </p:txBody>
      </p:sp>
      <p:sp>
        <p:nvSpPr>
          <p:cNvPr id="30" name="Freeform 30"/>
          <p:cNvSpPr/>
          <p:nvPr/>
        </p:nvSpPr>
        <p:spPr>
          <a:xfrm>
            <a:off x="5143500" y="411480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61950"/>
                </a:lnTo>
                <a:cubicBezTo>
                  <a:pt x="1905000" y="382992"/>
                  <a:pt x="1887942" y="400050"/>
                  <a:pt x="1866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851127" y="4235768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4.42</a:t>
            </a:r>
          </a:p>
        </p:txBody>
      </p:sp>
      <p:sp>
        <p:nvSpPr>
          <p:cNvPr id="32" name="Freeform 32"/>
          <p:cNvSpPr/>
          <p:nvPr/>
        </p:nvSpPr>
        <p:spPr>
          <a:xfrm>
            <a:off x="571500" y="451485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679448" y="4613910"/>
            <a:ext cx="4511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DDPM</a:t>
            </a:r>
          </a:p>
        </p:txBody>
      </p:sp>
      <p:sp>
        <p:nvSpPr>
          <p:cNvPr id="34" name="Freeform 34"/>
          <p:cNvSpPr/>
          <p:nvPr/>
        </p:nvSpPr>
        <p:spPr>
          <a:xfrm>
            <a:off x="3238500" y="45148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982974" y="46139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0.65</a:t>
            </a:r>
          </a:p>
        </p:txBody>
      </p:sp>
      <p:sp>
        <p:nvSpPr>
          <p:cNvPr id="36" name="Freeform 36"/>
          <p:cNvSpPr/>
          <p:nvPr/>
        </p:nvSpPr>
        <p:spPr>
          <a:xfrm>
            <a:off x="5143500" y="45148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887974" y="46139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7.68</a:t>
            </a:r>
          </a:p>
        </p:txBody>
      </p:sp>
      <p:sp>
        <p:nvSpPr>
          <p:cNvPr id="38" name="Freeform 38"/>
          <p:cNvSpPr/>
          <p:nvPr/>
        </p:nvSpPr>
        <p:spPr>
          <a:xfrm>
            <a:off x="571500" y="485775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648778" y="495681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DCGAN</a:t>
            </a:r>
          </a:p>
        </p:txBody>
      </p:sp>
      <p:sp>
        <p:nvSpPr>
          <p:cNvPr id="40" name="Freeform 40"/>
          <p:cNvSpPr/>
          <p:nvPr/>
        </p:nvSpPr>
        <p:spPr>
          <a:xfrm>
            <a:off x="3238500" y="48577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3982974" y="49568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0.68</a:t>
            </a:r>
          </a:p>
        </p:txBody>
      </p:sp>
      <p:sp>
        <p:nvSpPr>
          <p:cNvPr id="42" name="Freeform 42"/>
          <p:cNvSpPr/>
          <p:nvPr/>
        </p:nvSpPr>
        <p:spPr>
          <a:xfrm>
            <a:off x="5143500" y="48577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883592" y="495681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11.95</a:t>
            </a:r>
          </a:p>
        </p:txBody>
      </p:sp>
      <p:sp>
        <p:nvSpPr>
          <p:cNvPr id="44" name="Freeform 44"/>
          <p:cNvSpPr/>
          <p:nvPr/>
        </p:nvSpPr>
        <p:spPr>
          <a:xfrm>
            <a:off x="571500" y="520065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696974" y="52997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CVAE</a:t>
            </a:r>
          </a:p>
        </p:txBody>
      </p:sp>
      <p:sp>
        <p:nvSpPr>
          <p:cNvPr id="46" name="Freeform 46"/>
          <p:cNvSpPr/>
          <p:nvPr/>
        </p:nvSpPr>
        <p:spPr>
          <a:xfrm>
            <a:off x="3238500" y="52006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982974" y="52997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0.47</a:t>
            </a:r>
          </a:p>
        </p:txBody>
      </p:sp>
      <p:sp>
        <p:nvSpPr>
          <p:cNvPr id="48" name="Freeform 48"/>
          <p:cNvSpPr/>
          <p:nvPr/>
        </p:nvSpPr>
        <p:spPr>
          <a:xfrm>
            <a:off x="5143500" y="52006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861685" y="5299710"/>
            <a:ext cx="4686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10.35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2480" y="5759768"/>
            <a:ext cx="3150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Wi-Fi SSIM 超越基线 18.6%~71.3%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07 / 12</a:t>
            </a:r>
          </a:p>
        </p:txBody>
      </p:sp>
      <p:pic>
        <p:nvPicPr>
          <p:cNvPr id="54" name="Picture 53" descr="paper_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77440"/>
            <a:ext cx="4572000" cy="4389120"/>
          </a:xfrm>
          <a:prstGeom prst="rect">
            <a:avLst/>
          </a:prstGeom>
        </p:spPr>
      </p:pic>
      <p:pic>
        <p:nvPicPr>
          <p:cNvPr id="55" name="Picture 54" descr="paper_page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77440"/>
            <a:ext cx="4572000" cy="438912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94193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生成质量对比（Wi-Fi 信号）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291489" y="1314450"/>
            <a:ext cx="36090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论文 Table 1 ‒ Wi-Fi 频谱图直观对比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666875"/>
            <a:ext cx="11049000" cy="4000500"/>
          </a:xfrm>
          <a:custGeom>
            <a:avLst/>
            <a:gdLst/>
            <a:ahLst/>
            <a:cxnLst/>
            <a:rect l="l" t="t" r="r" b="b"/>
            <a:pathLst>
              <a:path w="11049000" h="4000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905250"/>
                </a:lnTo>
                <a:cubicBezTo>
                  <a:pt x="11049000" y="3957855"/>
                  <a:pt x="11006355" y="4000500"/>
                  <a:pt x="10953750" y="4000500"/>
                </a:cubicBezTo>
                <a:lnTo>
                  <a:pt x="95250" y="4000500"/>
                </a:lnTo>
                <a:cubicBezTo>
                  <a:pt x="42645" y="4000500"/>
                  <a:pt x="0" y="3957855"/>
                  <a:pt x="0" y="3905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62000" y="1857375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42900"/>
                </a:lnTo>
                <a:cubicBezTo>
                  <a:pt x="1524000" y="363942"/>
                  <a:pt x="1506942" y="381000"/>
                  <a:pt x="1485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299829" y="19688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71750" y="1857375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864406" y="1968818"/>
            <a:ext cx="12246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Wi-Fi 频谱图</a:t>
            </a:r>
          </a:p>
        </p:txBody>
      </p:sp>
      <p:sp>
        <p:nvSpPr>
          <p:cNvPr id="13" name="Freeform 13"/>
          <p:cNvSpPr/>
          <p:nvPr/>
        </p:nvSpPr>
        <p:spPr>
          <a:xfrm>
            <a:off x="6667500" y="1857375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42900"/>
                </a:lnTo>
                <a:cubicBezTo>
                  <a:pt x="1524000" y="363942"/>
                  <a:pt x="1506942" y="381000"/>
                  <a:pt x="1485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89802" y="1968818"/>
            <a:ext cx="4793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SSIM</a:t>
            </a:r>
          </a:p>
        </p:txBody>
      </p:sp>
      <p:sp>
        <p:nvSpPr>
          <p:cNvPr id="15" name="Freeform 15"/>
          <p:cNvSpPr/>
          <p:nvPr/>
        </p:nvSpPr>
        <p:spPr>
          <a:xfrm>
            <a:off x="8477250" y="1857375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42900"/>
                </a:lnTo>
                <a:cubicBezTo>
                  <a:pt x="1524000" y="363942"/>
                  <a:pt x="1506942" y="381000"/>
                  <a:pt x="1485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77187" y="1968818"/>
            <a:ext cx="3241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FID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2238375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533400"/>
                </a:lnTo>
                <a:cubicBezTo>
                  <a:pt x="1524000" y="554442"/>
                  <a:pt x="1506942" y="571500"/>
                  <a:pt x="1485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9548" y="2445068"/>
            <a:ext cx="13489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Ground Truth</a:t>
            </a:r>
          </a:p>
        </p:txBody>
      </p:sp>
      <p:sp>
        <p:nvSpPr>
          <p:cNvPr id="19" name="Freeform 19"/>
          <p:cNvSpPr/>
          <p:nvPr/>
        </p:nvSpPr>
        <p:spPr>
          <a:xfrm>
            <a:off x="2571750" y="2238375"/>
            <a:ext cx="3810000" cy="571500"/>
          </a:xfrm>
          <a:custGeom>
            <a:avLst/>
            <a:gdLst/>
            <a:ahLst/>
            <a:cxnLst/>
            <a:rect l="l" t="t" r="r" b="b"/>
            <a:pathLst>
              <a:path w="3810000" h="5715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533400"/>
                </a:lnTo>
                <a:cubicBezTo>
                  <a:pt x="3810000" y="554442"/>
                  <a:pt x="3792942" y="571500"/>
                  <a:pt x="3771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6667500" y="2238375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533400"/>
                </a:lnTo>
                <a:cubicBezTo>
                  <a:pt x="1524000" y="554442"/>
                  <a:pt x="1506942" y="571500"/>
                  <a:pt x="1485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8477250" y="2238375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533400"/>
                </a:lnTo>
                <a:cubicBezTo>
                  <a:pt x="1524000" y="554442"/>
                  <a:pt x="1506942" y="571500"/>
                  <a:pt x="1485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762000" y="2809875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533400"/>
                </a:lnTo>
                <a:cubicBezTo>
                  <a:pt x="1524000" y="554442"/>
                  <a:pt x="1506942" y="571500"/>
                  <a:pt x="1485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75426" y="3016568"/>
            <a:ext cx="1297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24" name="Freeform 24"/>
          <p:cNvSpPr/>
          <p:nvPr/>
        </p:nvSpPr>
        <p:spPr>
          <a:xfrm>
            <a:off x="2571750" y="2809875"/>
            <a:ext cx="3810000" cy="571500"/>
          </a:xfrm>
          <a:custGeom>
            <a:avLst/>
            <a:gdLst/>
            <a:ahLst/>
            <a:cxnLst/>
            <a:rect l="l" t="t" r="r" b="b"/>
            <a:pathLst>
              <a:path w="3810000" h="5715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533400"/>
                </a:lnTo>
                <a:cubicBezTo>
                  <a:pt x="3810000" y="554442"/>
                  <a:pt x="3792942" y="571500"/>
                  <a:pt x="3771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6667500" y="2809875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533400"/>
                </a:lnTo>
                <a:cubicBezTo>
                  <a:pt x="1524000" y="554442"/>
                  <a:pt x="1506942" y="571500"/>
                  <a:pt x="1485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161839" y="2984182"/>
            <a:ext cx="5353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0.81</a:t>
            </a:r>
          </a:p>
        </p:txBody>
      </p:sp>
      <p:sp>
        <p:nvSpPr>
          <p:cNvPr id="27" name="Freeform 27"/>
          <p:cNvSpPr/>
          <p:nvPr/>
        </p:nvSpPr>
        <p:spPr>
          <a:xfrm>
            <a:off x="8477250" y="2809875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533400"/>
                </a:lnTo>
                <a:cubicBezTo>
                  <a:pt x="1524000" y="554442"/>
                  <a:pt x="1506942" y="571500"/>
                  <a:pt x="1485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939960" y="2984182"/>
            <a:ext cx="5985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4.42</a:t>
            </a:r>
          </a:p>
        </p:txBody>
      </p:sp>
      <p:sp>
        <p:nvSpPr>
          <p:cNvPr id="29" name="Freeform 29"/>
          <p:cNvSpPr/>
          <p:nvPr/>
        </p:nvSpPr>
        <p:spPr>
          <a:xfrm>
            <a:off x="762000" y="338137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298448" y="3556635"/>
            <a:ext cx="4511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DDPM</a:t>
            </a:r>
          </a:p>
        </p:txBody>
      </p:sp>
      <p:sp>
        <p:nvSpPr>
          <p:cNvPr id="31" name="Freeform 31"/>
          <p:cNvSpPr/>
          <p:nvPr/>
        </p:nvSpPr>
        <p:spPr>
          <a:xfrm>
            <a:off x="2571750" y="3381375"/>
            <a:ext cx="3810000" cy="476250"/>
          </a:xfrm>
          <a:custGeom>
            <a:avLst/>
            <a:gdLst/>
            <a:ahLst/>
            <a:cxnLst/>
            <a:rect l="l" t="t" r="r" b="b"/>
            <a:pathLst>
              <a:path w="3810000" h="47625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438150"/>
                </a:lnTo>
                <a:cubicBezTo>
                  <a:pt x="3810000" y="459192"/>
                  <a:pt x="3792942" y="476250"/>
                  <a:pt x="3771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6667500" y="338137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195471" y="3540442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0.65</a:t>
            </a:r>
          </a:p>
        </p:txBody>
      </p:sp>
      <p:sp>
        <p:nvSpPr>
          <p:cNvPr id="34" name="Freeform 34"/>
          <p:cNvSpPr/>
          <p:nvPr/>
        </p:nvSpPr>
        <p:spPr>
          <a:xfrm>
            <a:off x="8477250" y="338137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05221" y="3540442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7.68</a:t>
            </a:r>
          </a:p>
        </p:txBody>
      </p:sp>
      <p:sp>
        <p:nvSpPr>
          <p:cNvPr id="36" name="Freeform 36"/>
          <p:cNvSpPr/>
          <p:nvPr/>
        </p:nvSpPr>
        <p:spPr>
          <a:xfrm>
            <a:off x="762000" y="385762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267778" y="4032885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DCGAN</a:t>
            </a:r>
          </a:p>
        </p:txBody>
      </p:sp>
      <p:sp>
        <p:nvSpPr>
          <p:cNvPr id="38" name="Freeform 38"/>
          <p:cNvSpPr/>
          <p:nvPr/>
        </p:nvSpPr>
        <p:spPr>
          <a:xfrm>
            <a:off x="2571750" y="3857625"/>
            <a:ext cx="3810000" cy="476250"/>
          </a:xfrm>
          <a:custGeom>
            <a:avLst/>
            <a:gdLst/>
            <a:ahLst/>
            <a:cxnLst/>
            <a:rect l="l" t="t" r="r" b="b"/>
            <a:pathLst>
              <a:path w="3810000" h="47625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438150"/>
                </a:lnTo>
                <a:cubicBezTo>
                  <a:pt x="3810000" y="459192"/>
                  <a:pt x="3792942" y="476250"/>
                  <a:pt x="3771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6667500" y="385762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195471" y="4016692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0.68</a:t>
            </a:r>
          </a:p>
        </p:txBody>
      </p:sp>
      <p:sp>
        <p:nvSpPr>
          <p:cNvPr id="41" name="Freeform 41"/>
          <p:cNvSpPr/>
          <p:nvPr/>
        </p:nvSpPr>
        <p:spPr>
          <a:xfrm>
            <a:off x="8477250" y="385762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00292" y="4016692"/>
            <a:ext cx="4779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11.95</a:t>
            </a:r>
          </a:p>
        </p:txBody>
      </p:sp>
      <p:sp>
        <p:nvSpPr>
          <p:cNvPr id="43" name="Freeform 43"/>
          <p:cNvSpPr/>
          <p:nvPr/>
        </p:nvSpPr>
        <p:spPr>
          <a:xfrm>
            <a:off x="762000" y="433387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315974" y="4509135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CVAE</a:t>
            </a:r>
          </a:p>
        </p:txBody>
      </p:sp>
      <p:sp>
        <p:nvSpPr>
          <p:cNvPr id="45" name="Freeform 45"/>
          <p:cNvSpPr/>
          <p:nvPr/>
        </p:nvSpPr>
        <p:spPr>
          <a:xfrm>
            <a:off x="2571750" y="4333875"/>
            <a:ext cx="3810000" cy="476250"/>
          </a:xfrm>
          <a:custGeom>
            <a:avLst/>
            <a:gdLst/>
            <a:ahLst/>
            <a:cxnLst/>
            <a:rect l="l" t="t" r="r" b="b"/>
            <a:pathLst>
              <a:path w="3810000" h="47625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438150"/>
                </a:lnTo>
                <a:cubicBezTo>
                  <a:pt x="3810000" y="459192"/>
                  <a:pt x="3792942" y="476250"/>
                  <a:pt x="3771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Freeform 46"/>
          <p:cNvSpPr/>
          <p:nvPr/>
        </p:nvSpPr>
        <p:spPr>
          <a:xfrm>
            <a:off x="6667500" y="433387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195471" y="4492942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0.47</a:t>
            </a:r>
          </a:p>
        </p:txBody>
      </p:sp>
      <p:sp>
        <p:nvSpPr>
          <p:cNvPr id="48" name="Freeform 48"/>
          <p:cNvSpPr/>
          <p:nvPr/>
        </p:nvSpPr>
        <p:spPr>
          <a:xfrm>
            <a:off x="8477250" y="433387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975646" y="4492942"/>
            <a:ext cx="5272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10.35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6290" y="5125402"/>
            <a:ext cx="61070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SSIM: Structural Similarity (越高越好) FID: Fréchet Inception Distance (越低越好)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08 / 12</a:t>
            </a:r>
          </a:p>
        </p:txBody>
      </p:sp>
      <p:pic>
        <p:nvPicPr>
          <p:cNvPr id="54" name="Picture 53" descr="paper_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303520" cy="5029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下游应用案例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5334000" cy="4762500"/>
          </a:xfrm>
          <a:custGeom>
            <a:avLst/>
            <a:gdLst/>
            <a:ahLst/>
            <a:cxnLst/>
            <a:rect l="l" t="t" r="r" b="b"/>
            <a:pathLst>
              <a:path w="5334000" h="4762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667250"/>
                </a:lnTo>
                <a:cubicBezTo>
                  <a:pt x="5334000" y="4719855"/>
                  <a:pt x="5291355" y="4762500"/>
                  <a:pt x="523875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11127" y="1567815"/>
            <a:ext cx="34547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案例 1：Wi-Fi 手势识别增强</a:t>
            </a:r>
          </a:p>
        </p:txBody>
      </p:sp>
      <p:sp>
        <p:nvSpPr>
          <p:cNvPr id="10" name="Freeform 10"/>
          <p:cNvSpPr/>
          <p:nvPr/>
        </p:nvSpPr>
        <p:spPr>
          <a:xfrm>
            <a:off x="762000" y="1952625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85800"/>
                </a:lnTo>
                <a:cubicBezTo>
                  <a:pt x="4953000" y="727884"/>
                  <a:pt x="4918884" y="762000"/>
                  <a:pt x="4876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89635" y="2108835"/>
            <a:ext cx="36583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任务：用 RF-Diffusion 生成的数据做数据增强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9635" y="2346960"/>
            <a:ext cx="22475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数据集：Widar3.0 手势识别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855" y="28070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效果：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3143250"/>
            <a:ext cx="4953000" cy="666750"/>
          </a:xfrm>
          <a:custGeom>
            <a:avLst/>
            <a:gdLst/>
            <a:ahLst/>
            <a:cxnLst/>
            <a:rect l="l" t="t" r="r" b="b"/>
            <a:pathLst>
              <a:path w="4953000" h="6667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590550"/>
                </a:lnTo>
                <a:cubicBezTo>
                  <a:pt x="4953000" y="632634"/>
                  <a:pt x="4918884" y="666750"/>
                  <a:pt x="4876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62810" y="2983706"/>
            <a:ext cx="2951381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+4% ~ +11%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45920" y="3537585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手势识别准确率提升（取决于识别模型）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4000500"/>
            <a:ext cx="4953000" cy="1047750"/>
          </a:xfrm>
          <a:custGeom>
            <a:avLst/>
            <a:gdLst/>
            <a:ahLst/>
            <a:cxnLst/>
            <a:rect l="l" t="t" r="r" b="b"/>
            <a:pathLst>
              <a:path w="4953000" h="10477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971550"/>
                </a:lnTo>
                <a:cubicBezTo>
                  <a:pt x="4953000" y="1013634"/>
                  <a:pt x="4918884" y="1047750"/>
                  <a:pt x="4876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89635" y="413766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原理：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0588" y="4374356"/>
            <a:ext cx="31668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传统数据增强（旋转/裁剪/加噪）无法改变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0588" y="4583906"/>
            <a:ext cx="30518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信号的物理含义；RF-Diffusion 生成全新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0588" y="47934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样本来扩充数据分布的真实覆盖</a:t>
            </a:r>
          </a:p>
        </p:txBody>
      </p:sp>
      <p:sp>
        <p:nvSpPr>
          <p:cNvPr id="22" name="Freeform 22"/>
          <p:cNvSpPr/>
          <p:nvPr/>
        </p:nvSpPr>
        <p:spPr>
          <a:xfrm>
            <a:off x="6286500" y="1333500"/>
            <a:ext cx="5334000" cy="4762500"/>
          </a:xfrm>
          <a:custGeom>
            <a:avLst/>
            <a:gdLst/>
            <a:ahLst/>
            <a:cxnLst/>
            <a:rect l="l" t="t" r="r" b="b"/>
            <a:pathLst>
              <a:path w="5334000" h="4762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667250"/>
                </a:lnTo>
                <a:cubicBezTo>
                  <a:pt x="5334000" y="4719855"/>
                  <a:pt x="5291355" y="4762500"/>
                  <a:pt x="523875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286500" y="133350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384847" y="1567815"/>
            <a:ext cx="3137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案例 2：5G FDD 信道估计</a:t>
            </a:r>
          </a:p>
        </p:txBody>
      </p:sp>
      <p:sp>
        <p:nvSpPr>
          <p:cNvPr id="25" name="Freeform 25"/>
          <p:cNvSpPr/>
          <p:nvPr/>
        </p:nvSpPr>
        <p:spPr>
          <a:xfrm>
            <a:off x="6477000" y="1952625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85800"/>
                </a:lnTo>
                <a:cubicBezTo>
                  <a:pt x="4953000" y="727884"/>
                  <a:pt x="4918884" y="762000"/>
                  <a:pt x="4876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604635" y="2108835"/>
            <a:ext cx="29573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任务：用 RF-Diffusion 增强信道估计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04635" y="2346960"/>
            <a:ext cx="22124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数据集：Argos 5G 实测数据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59855" y="28070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效果：</a:t>
            </a:r>
          </a:p>
        </p:txBody>
      </p:sp>
      <p:sp>
        <p:nvSpPr>
          <p:cNvPr id="29" name="Freeform 29"/>
          <p:cNvSpPr/>
          <p:nvPr/>
        </p:nvSpPr>
        <p:spPr>
          <a:xfrm>
            <a:off x="6477000" y="3143250"/>
            <a:ext cx="4953000" cy="666750"/>
          </a:xfrm>
          <a:custGeom>
            <a:avLst/>
            <a:gdLst/>
            <a:ahLst/>
            <a:cxnLst/>
            <a:rect l="l" t="t" r="r" b="b"/>
            <a:pathLst>
              <a:path w="4953000" h="6667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590550"/>
                </a:lnTo>
                <a:cubicBezTo>
                  <a:pt x="4953000" y="632634"/>
                  <a:pt x="4918884" y="666750"/>
                  <a:pt x="4876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88511" y="2983706"/>
            <a:ext cx="2729978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+5.97 dB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69174" y="3537585"/>
            <a:ext cx="21686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SNR 提升 vs. 当前最优方法</a:t>
            </a:r>
          </a:p>
        </p:txBody>
      </p:sp>
      <p:sp>
        <p:nvSpPr>
          <p:cNvPr id="32" name="Freeform 32"/>
          <p:cNvSpPr/>
          <p:nvPr/>
        </p:nvSpPr>
        <p:spPr>
          <a:xfrm>
            <a:off x="6477000" y="4000500"/>
            <a:ext cx="4953000" cy="1047750"/>
          </a:xfrm>
          <a:custGeom>
            <a:avLst/>
            <a:gdLst/>
            <a:ahLst/>
            <a:cxnLst/>
            <a:rect l="l" t="t" r="r" b="b"/>
            <a:pathLst>
              <a:path w="4953000" h="10477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971550"/>
                </a:lnTo>
                <a:cubicBezTo>
                  <a:pt x="4953000" y="1013634"/>
                  <a:pt x="4918884" y="1047750"/>
                  <a:pt x="4876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04635" y="413766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原理：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05588" y="4374356"/>
            <a:ext cx="2854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FDD 下行信道估计难题：基站发 → UE收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05588" y="458390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→ 反馈 → 基站获知，反馈开销大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05588" y="4793456"/>
            <a:ext cx="28875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RF-Diffusion 生成的信号辅助信道重建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09 / 12</a:t>
            </a:r>
          </a:p>
        </p:txBody>
      </p:sp>
      <p:pic>
        <p:nvPicPr>
          <p:cNvPr id="40" name="Picture 39" descr="paper_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77440"/>
            <a:ext cx="5029200" cy="438912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371065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与 RF-GPT 的对比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4855" y="1330642"/>
            <a:ext cx="37410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同为 "AI × RF" 方向的工作，差距在哪里？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714500"/>
            <a:ext cx="3619500" cy="400050"/>
          </a:xfrm>
          <a:custGeom>
            <a:avLst/>
            <a:gdLst/>
            <a:ahLst/>
            <a:cxnLst/>
            <a:rect l="l" t="t" r="r" b="b"/>
            <a:pathLst>
              <a:path w="3619500" h="400050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61950"/>
                </a:lnTo>
                <a:cubicBezTo>
                  <a:pt x="3619500" y="382992"/>
                  <a:pt x="3602442" y="400050"/>
                  <a:pt x="35814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950053" y="1835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对比维度</a:t>
            </a:r>
          </a:p>
        </p:txBody>
      </p:sp>
      <p:sp>
        <p:nvSpPr>
          <p:cNvPr id="10" name="Freeform 10"/>
          <p:cNvSpPr/>
          <p:nvPr/>
        </p:nvSpPr>
        <p:spPr>
          <a:xfrm>
            <a:off x="4191000" y="1714500"/>
            <a:ext cx="3810000" cy="400050"/>
          </a:xfrm>
          <a:custGeom>
            <a:avLst/>
            <a:gdLst/>
            <a:ahLst/>
            <a:cxnLst/>
            <a:rect l="l" t="t" r="r" b="b"/>
            <a:pathLst>
              <a:path w="3810000" h="40005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61950"/>
                </a:lnTo>
                <a:cubicBezTo>
                  <a:pt x="3810000" y="382992"/>
                  <a:pt x="3792942" y="400050"/>
                  <a:pt x="3771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359440" y="1835468"/>
            <a:ext cx="14731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RF-Diffusion ✅</a:t>
            </a:r>
          </a:p>
        </p:txBody>
      </p:sp>
      <p:sp>
        <p:nvSpPr>
          <p:cNvPr id="12" name="Freeform 12"/>
          <p:cNvSpPr/>
          <p:nvPr/>
        </p:nvSpPr>
        <p:spPr>
          <a:xfrm>
            <a:off x="8001000" y="1714500"/>
            <a:ext cx="3619500" cy="400050"/>
          </a:xfrm>
          <a:custGeom>
            <a:avLst/>
            <a:gdLst/>
            <a:ahLst/>
            <a:cxnLst/>
            <a:rect l="l" t="t" r="r" b="b"/>
            <a:pathLst>
              <a:path w="3619500" h="400050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61950"/>
                </a:lnTo>
                <a:cubicBezTo>
                  <a:pt x="3619500" y="382992"/>
                  <a:pt x="3602442" y="400050"/>
                  <a:pt x="35814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64026" y="1835468"/>
            <a:ext cx="8934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 ❌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211455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015490" y="22612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发表会议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2114550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243894" y="2261235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MobiCom 2024 CCF-A</a:t>
            </a:r>
          </a:p>
        </p:txBody>
      </p:sp>
      <p:sp>
        <p:nvSpPr>
          <p:cNvPr id="18" name="Freeform 18"/>
          <p:cNvSpPr/>
          <p:nvPr/>
        </p:nvSpPr>
        <p:spPr>
          <a:xfrm>
            <a:off x="8001000" y="211455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79268" y="2261235"/>
            <a:ext cx="8629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arXiv only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254317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015490" y="26898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技术贡献</a:t>
            </a:r>
          </a:p>
        </p:txBody>
      </p:sp>
      <p:sp>
        <p:nvSpPr>
          <p:cNvPr id="22" name="Freeform 22"/>
          <p:cNvSpPr/>
          <p:nvPr/>
        </p:nvSpPr>
        <p:spPr>
          <a:xfrm>
            <a:off x="4191000" y="2543175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112448" y="2689860"/>
            <a:ext cx="19671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新理论 TFD + 新架构 HDT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01000" y="254317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980551" y="2689860"/>
            <a:ext cx="1660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现成 VLM + 线性投影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297180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015490" y="31184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28" name="Freeform 28"/>
          <p:cNvSpPr/>
          <p:nvPr/>
        </p:nvSpPr>
        <p:spPr>
          <a:xfrm>
            <a:off x="4191000" y="2971800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134356" y="3118485"/>
            <a:ext cx="19232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真实 Wi-Fi / FMCW 实测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01000" y="297180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199626" y="311848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MATLAB 全合成</a:t>
            </a:r>
          </a:p>
        </p:txBody>
      </p:sp>
      <p:sp>
        <p:nvSpPr>
          <p:cNvPr id="32" name="Freeform 32"/>
          <p:cNvSpPr/>
          <p:nvPr/>
        </p:nvSpPr>
        <p:spPr>
          <a:xfrm>
            <a:off x="571500" y="340042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015490" y="35471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对比基线</a:t>
            </a:r>
          </a:p>
        </p:txBody>
      </p:sp>
      <p:sp>
        <p:nvSpPr>
          <p:cNvPr id="34" name="Freeform 34"/>
          <p:cNvSpPr/>
          <p:nvPr/>
        </p:nvSpPr>
        <p:spPr>
          <a:xfrm>
            <a:off x="4191000" y="3400425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235130" y="3547110"/>
            <a:ext cx="17217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DDPM / DCGAN / CVAE</a:t>
            </a:r>
          </a:p>
        </p:txBody>
      </p:sp>
      <p:sp>
        <p:nvSpPr>
          <p:cNvPr id="36" name="Freeform 36"/>
          <p:cNvSpPr/>
          <p:nvPr/>
        </p:nvSpPr>
        <p:spPr>
          <a:xfrm>
            <a:off x="8001000" y="340042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046274" y="35471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仅与基模 Qwen-VL</a:t>
            </a:r>
          </a:p>
        </p:txBody>
      </p:sp>
      <p:sp>
        <p:nvSpPr>
          <p:cNvPr id="38" name="Freeform 38"/>
          <p:cNvSpPr/>
          <p:nvPr/>
        </p:nvSpPr>
        <p:spPr>
          <a:xfrm>
            <a:off x="571500" y="382905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840230" y="39757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真实场景验证</a:t>
            </a:r>
          </a:p>
        </p:txBody>
      </p:sp>
      <p:sp>
        <p:nvSpPr>
          <p:cNvPr id="40" name="Freeform 40"/>
          <p:cNvSpPr/>
          <p:nvPr/>
        </p:nvSpPr>
        <p:spPr>
          <a:xfrm>
            <a:off x="4191000" y="3829050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283327" y="3975735"/>
            <a:ext cx="16253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3场景 + 2下游任务 ✅</a:t>
            </a:r>
          </a:p>
        </p:txBody>
      </p:sp>
      <p:sp>
        <p:nvSpPr>
          <p:cNvPr id="42" name="Freeform 42"/>
          <p:cNvSpPr/>
          <p:nvPr/>
        </p:nvSpPr>
        <p:spPr>
          <a:xfrm>
            <a:off x="8001000" y="382905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282874" y="3975735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仅合成测试 ❌</a:t>
            </a:r>
          </a:p>
        </p:txBody>
      </p:sp>
      <p:sp>
        <p:nvSpPr>
          <p:cNvPr id="44" name="Freeform 44"/>
          <p:cNvSpPr/>
          <p:nvPr/>
        </p:nvSpPr>
        <p:spPr>
          <a:xfrm>
            <a:off x="571500" y="425767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015490" y="44043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代码开源</a:t>
            </a:r>
          </a:p>
        </p:txBody>
      </p:sp>
      <p:sp>
        <p:nvSpPr>
          <p:cNvPr id="46" name="Freeform 46"/>
          <p:cNvSpPr/>
          <p:nvPr/>
        </p:nvSpPr>
        <p:spPr>
          <a:xfrm>
            <a:off x="4191000" y="4257675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449824" y="4404360"/>
            <a:ext cx="1292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GitHub 可复现 ✅</a:t>
            </a:r>
          </a:p>
        </p:txBody>
      </p:sp>
      <p:sp>
        <p:nvSpPr>
          <p:cNvPr id="48" name="Freeform 48"/>
          <p:cNvSpPr/>
          <p:nvPr/>
        </p:nvSpPr>
        <p:spPr>
          <a:xfrm>
            <a:off x="8001000" y="425767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164574" y="4404360"/>
            <a:ext cx="1292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GitHub 可复现 ✅</a:t>
            </a:r>
          </a:p>
        </p:txBody>
      </p:sp>
      <p:sp>
        <p:nvSpPr>
          <p:cNvPr id="50" name="Freeform 50"/>
          <p:cNvSpPr/>
          <p:nvPr/>
        </p:nvSpPr>
        <p:spPr>
          <a:xfrm>
            <a:off x="571500" y="49530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822013" y="5108258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小结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160151" y="5426392"/>
            <a:ext cx="78716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RF-Diffusion 是 CCF-A 类顶会论文，有新的理论贡献、真实数据验证、全面的基线对比；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485477" y="5664518"/>
            <a:ext cx="72210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RF-GPT 思路有亮点（VLM看频谱图），但论文完整度距离顶会标准还有明显差距。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3296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三大贡献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714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85800" y="18764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09051" y="1959292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3950" y="1838325"/>
            <a:ext cx="16713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首个RF扩散模型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2156460"/>
            <a:ext cx="1800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首个适配RF信号特性的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3660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扩散生成模型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5755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MobiCom 2024 CCF-A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714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4448175" y="18764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45548" y="195929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86325" y="1838325"/>
            <a:ext cx="10617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TFD + HDT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6760" y="21564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时频域扩散理论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6760" y="2366010"/>
            <a:ext cx="23614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分层 Diffusion Transformer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6760" y="25755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支持复数域运算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96250" y="1714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210550" y="18764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07923" y="195929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48700" y="18383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全面实验验证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19135" y="2156460"/>
            <a:ext cx="15201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Wi-Fi + FMCW 实测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19135" y="2366010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手势识别 + 信道估计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19135" y="25755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代码+预训练模型开源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1045" y="3393758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局限</a:t>
            </a:r>
          </a:p>
        </p:txBody>
      </p:sp>
      <p:sp>
        <p:nvSpPr>
          <p:cNvPr id="30" name="Ellipse 30"/>
          <p:cNvSpPr/>
          <p:nvPr/>
        </p:nvSpPr>
        <p:spPr>
          <a:xfrm>
            <a:off x="762000" y="381000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5355" y="37595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生成长度受限</a:t>
            </a:r>
          </a:p>
        </p:txBody>
      </p:sp>
      <p:sp>
        <p:nvSpPr>
          <p:cNvPr id="32" name="Ellipse 32"/>
          <p:cNvSpPr/>
          <p:nvPr/>
        </p:nvSpPr>
        <p:spPr>
          <a:xfrm>
            <a:off x="762000" y="40957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5355" y="404526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计算开销大（扩散模型通病）</a:t>
            </a:r>
          </a:p>
        </p:txBody>
      </p:sp>
      <p:sp>
        <p:nvSpPr>
          <p:cNvPr id="34" name="Ellipse 34"/>
          <p:cNvSpPr/>
          <p:nvPr/>
        </p:nvSpPr>
        <p:spPr>
          <a:xfrm>
            <a:off x="762000" y="438150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35355" y="4331018"/>
            <a:ext cx="28439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仅验证 Wi-Fi 和 FMCW 两类信号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75045" y="33937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未来方向</a:t>
            </a:r>
          </a:p>
        </p:txBody>
      </p:sp>
      <p:sp>
        <p:nvSpPr>
          <p:cNvPr id="37" name="Freeform 37"/>
          <p:cNvSpPr/>
          <p:nvPr/>
        </p:nvSpPr>
        <p:spPr>
          <a:xfrm>
            <a:off x="6096000" y="376237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69355" y="3845242"/>
            <a:ext cx="38396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扩展到 5G NR / LoRa / 蓝牙等更多信号类型</a:t>
            </a:r>
          </a:p>
        </p:txBody>
      </p:sp>
      <p:sp>
        <p:nvSpPr>
          <p:cNvPr id="39" name="Freeform 39"/>
          <p:cNvSpPr/>
          <p:nvPr/>
        </p:nvSpPr>
        <p:spPr>
          <a:xfrm>
            <a:off x="6096000" y="4191000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69355" y="427386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加速采样（扩散模型加速技术）</a:t>
            </a:r>
          </a:p>
        </p:txBody>
      </p:sp>
      <p:sp>
        <p:nvSpPr>
          <p:cNvPr id="41" name="Freeform 41"/>
          <p:cNvSpPr/>
          <p:nvPr/>
        </p:nvSpPr>
        <p:spPr>
          <a:xfrm>
            <a:off x="6096000" y="461962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269355" y="4702492"/>
            <a:ext cx="37607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与 LLM/Agent 结合 → 频谱监测与自动决策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648313" y="67036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2153" y="1314450"/>
            <a:ext cx="987695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7052" y="2793206"/>
            <a:ext cx="3077897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8650" y="3518535"/>
            <a:ext cx="10347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0" y="404812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516981" y="4410075"/>
            <a:ext cx="71580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RF-Diffusion: Radio Signal Generation via Time-Frequency Diffusion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61401" y="4759642"/>
            <a:ext cx="38691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ACM MobiCom 2024 | Best Artifact Award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19131" y="5585460"/>
            <a:ext cx="47537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github.com/mobicom24/RF-Diffusion | arXiv:2404.09140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