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0.svg" ContentType="image/svg+xml"/>
  <Override PartName="/ppt/media/image3.svg" ContentType="image/svg+xml"/>
  <Override PartName="/ppt/media/image4.svg" ContentType="image/svg+xml"/>
  <Override PartName="/ppt/media/image5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71" r:id="rId10"/>
    <p:sldId id="262" r:id="rId11"/>
    <p:sldId id="264" r:id="rId12"/>
    <p:sldId id="265" r:id="rId13"/>
    <p:sldId id="266" r:id="rId14"/>
    <p:sldId id="267" r:id="rId15"/>
    <p:sldId id="268" r:id="rId16"/>
    <p:sldId id="269" r:id="rId17"/>
    <p:sldId id="270" r:id="rId18"/>
  </p:sldIdLst>
  <p:sldSz cx="12192000" cy="6858000" type="screen4x3"/>
  <p:notesSz cx="6858000" cy="9144000"/>
  <p:custDataLst>
    <p:tags r:id="rId22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4" userDrawn="1">
          <p15:clr>
            <a:srgbClr val="A4A3A4"/>
          </p15:clr>
        </p15:guide>
        <p15:guide id="2" pos="287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 showGuides="1">
      <p:cViewPr varScale="1">
        <p:scale>
          <a:sx n="124" d="100"/>
          <a:sy n="124" d="100"/>
        </p:scale>
        <p:origin x="-1512" y="-112"/>
      </p:cViewPr>
      <p:guideLst>
        <p:guide orient="horz" pos="2154"/>
        <p:guide pos="2872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2" Type="http://schemas.openxmlformats.org/officeDocument/2006/relationships/tags" Target="tags/tag57.xml"/><Relationship Id="rId21" Type="http://schemas.openxmlformats.org/officeDocument/2006/relationships/tableStyles" Target="tableStyles.xml"/><Relationship Id="rId20" Type="http://schemas.openxmlformats.org/officeDocument/2006/relationships/viewProps" Target="viewProps.xml"/><Relationship Id="rId2" Type="http://schemas.openxmlformats.org/officeDocument/2006/relationships/theme" Target="theme/theme1.xml"/><Relationship Id="rId19" Type="http://schemas.openxmlformats.org/officeDocument/2006/relationships/presProps" Target="presProps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• Intro: 今天汇报的这篇工作来自 Khalifa University 和浙江大学合作，发表在 arXiv 上</a:t>
            </a:r>
            <a:endParaRPr lang="zh-CN" dirty="0"/>
          </a:p>
          <a:p>
            <a:r>
              <a:rPr lang="zh-CN" dirty="0"/>
              <a:t>• Hook: 大模型能看文字、看图片、听声音，但还不能"看"无线电波。这篇工作填补了这个空白</a:t>
            </a:r>
            <a:endParaRPr lang="zh-CN" dirty="0"/>
          </a:p>
          <a:p>
            <a:r>
              <a:rPr lang="zh-CN" dirty="0"/>
              <a:t>• Transition: 先来看看为什么要做这件事</a:t>
            </a:r>
            <a:endParaRPr lang="zh-CN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• Overview: 整个汇报分为六个部分，从背景、方法、数据、实验到展望</a:t>
            </a:r>
            <a:endParaRPr lang="zh-CN" dirty="0"/>
          </a:p>
          <a:p>
            <a:r>
              <a:rPr lang="zh-CN" dirty="0"/>
              <a:t>• Timing: 大约 20 分钟</a:t>
            </a:r>
            <a:endParaRPr lang="zh-CN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• Key point: LLM 在文本领域取得了巨大成功，VLM 扩展到了视觉，Whisper 扩展到了音频</a:t>
            </a:r>
            <a:endParaRPr lang="zh-CN" dirty="0"/>
          </a:p>
          <a:p>
            <a:r>
              <a:rPr lang="zh-CN" dirty="0"/>
              <a:t>• Problem: 但无线通信的物理层信号——RF——还没有被任何主流大模型支持</a:t>
            </a:r>
            <a:endParaRPr lang="zh-CN" dirty="0"/>
          </a:p>
          <a:p>
            <a:r>
              <a:rPr lang="zh-CN" dirty="0"/>
              <a:t>• Question: 有人可能会问，那传统的 RF 机器学习方法不行吗？</a:t>
            </a:r>
            <a:endParaRPr lang="zh-CN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• Four problems: 这四重困境概括了传统方法的根本问题</a:t>
            </a:r>
            <a:endParaRPr lang="zh-CN" dirty="0"/>
          </a:p>
          <a:p>
            <a:r>
              <a:rPr lang="zh-CN" dirty="0"/>
              <a:t>• Emphasize: 尤其"每任务一个模型"和"没有交互界面"这两点，是促使这篇工作诞生的核心驱动力</a:t>
            </a:r>
            <a:endParaRPr lang="zh-CN" dirty="0"/>
          </a:p>
          <a:p>
            <a:r>
              <a:rPr lang="zh-CN" dirty="0"/>
              <a:t>• Transition: RF-GPT 就是为了解决这些问题提出的</a:t>
            </a:r>
            <a:endParaRPr lang="zh-CN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• Walk through: 从 IQ 信号到频谱图，视觉编码器提取特征，线性投影到 LLM 空间，最后语言模型输出</a:t>
            </a:r>
            <a:endParaRPr lang="zh-CN" dirty="0"/>
          </a:p>
          <a:p>
            <a:r>
              <a:rPr lang="zh-CN" dirty="0"/>
              <a:t>• Analogy: 医生看心电图这个类比可以帮助非 RF 专业的听众理解</a:t>
            </a:r>
            <a:endParaRPr lang="zh-CN" dirty="0"/>
          </a:p>
          <a:p>
            <a:r>
              <a:rPr lang="zh-CN" dirty="0"/>
              <a:t>• Key insight: 核心创新点在于"复用"——不重新训练视觉编码器，而是用现成的 VLM 底座</a:t>
            </a:r>
            <a:endParaRPr lang="zh-CN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• Three reasons: 计算可行、天然时频表示、复用预训练</a:t>
            </a:r>
            <a:endParaRPr lang="zh-CN" dirty="0"/>
          </a:p>
          <a:p>
            <a:r>
              <a:rPr lang="zh-CN" dirty="0"/>
              <a:t>• Note limitation: 丢失相位信息——但本文的感知任务不依赖相位</a:t>
            </a:r>
            <a:endParaRPr lang="zh-CN" dirty="0"/>
          </a:p>
          <a:p>
            <a:r>
              <a:rPr lang="zh-CN" dirty="0"/>
              <a:t>• Show gallery: 这六种技术各有不同的频谱图特征</a:t>
            </a:r>
            <a:endParaRPr lang="zh-CN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• Pipeline walkthrough: 波形生成 → 元数据 → 描述 → 指令对</a:t>
            </a:r>
            <a:endParaRPr lang="zh-CN" dirty="0"/>
          </a:p>
          <a:p>
            <a:r>
              <a:rPr lang="zh-CN" dirty="0"/>
              <a:t>• 5 levels: 注意他们设计了 5 个信息层级，当前只用了前 3 个</a:t>
            </a:r>
            <a:endParaRPr lang="zh-CN" dirty="0"/>
          </a:p>
          <a:p>
            <a:r>
              <a:rPr lang="zh-CN" dirty="0"/>
              <a:t>• Key point: 整个流程不需要人工介入</a:t>
            </a:r>
            <a:endParaRPr lang="zh-CN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• Emphasize: 关键数字——12K 场景、625K 指令对、零人工标注</a:t>
            </a:r>
            <a:endParaRPr lang="zh-CN" dirty="0"/>
          </a:p>
          <a:p>
            <a:r>
              <a:rPr lang="zh-CN" dirty="0"/>
              <a:t>• Why synthetic: 真实数据太贵、太不平衡、标注太难</a:t>
            </a:r>
            <a:endParaRPr lang="zh-CN" dirty="0"/>
          </a:p>
          <a:p>
            <a:r>
              <a:rPr lang="zh-CN" dirty="0"/>
              <a:t>• Transition: 有了数据，怎么变成训练用的指令？</a:t>
            </a:r>
            <a:endParaRPr lang="zh-CN"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• Comparison read: 直接读这两个回答——左边 Qwen 的回答多么笼统，右边 RF-GPT 多么精确</a:t>
            </a:r>
            <a:endParaRPr lang="zh-CN" dirty="0"/>
          </a:p>
          <a:p>
            <a:r>
              <a:rPr lang="zh-CN" dirty="0"/>
              <a:t>• Key finding: 通用 VLM 在 RF 任务上≈随机猜测</a:t>
            </a:r>
            <a:endParaRPr lang="zh-CN" dirty="0"/>
          </a:p>
          <a:p>
            <a:r>
              <a:rPr lang="zh-CN" dirty="0"/>
              <a:t>• Five benchmarks: 然后进入正式评测</a:t>
            </a:r>
            <a:endParaRPr lang="zh-CN"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• Read the numbers: 通用 VLM 个位数，RF-GPT 70-90%</a:t>
            </a:r>
            <a:endParaRPr lang="zh-CN" dirty="0"/>
          </a:p>
          <a:p>
            <a:r>
              <a:rPr lang="zh-CN" dirty="0"/>
              <a:t>• Emphasize: 尤其是信号数量识别 98% vs &lt;5%，说明 RF grounding 确实学到了时频结构</a:t>
            </a:r>
            <a:endParaRPr lang="zh-CN"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• WTR: 99.64%——几乎完美</a:t>
            </a:r>
            <a:endParaRPr lang="zh-CN" dirty="0"/>
          </a:p>
          <a:p>
            <a:r>
              <a:rPr lang="zh-CN" dirty="0"/>
              <a:t>• WNUC: 11be 优于 11ax 的原因很有意思——MU-MIMO 造成视觉重叠</a:t>
            </a:r>
            <a:endParaRPr lang="zh-CN" dirty="0"/>
          </a:p>
          <a:p>
            <a:r>
              <a:rPr lang="zh-CN" dirty="0"/>
              <a:t>• NRIE: SCS 和 SSB 接近完美，计数类任务还有提升空间</a:t>
            </a:r>
            <a:endParaRPr lang="zh-CN" dirty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• Robustness: IQ 不平衡最有破坏性——它产生镜像频率</a:t>
            </a:r>
            <a:endParaRPr lang="zh-CN" dirty="0"/>
          </a:p>
          <a:p>
            <a:r>
              <a:rPr lang="zh-CN" dirty="0"/>
              <a:t>• vs CNN/Transformer: RF-GPT 3 epoch 超越 ViT-H 30 epoch——数据效率是亮点</a:t>
            </a:r>
            <a:endParaRPr lang="zh-CN" dirty="0"/>
          </a:p>
          <a:p>
            <a:r>
              <a:rPr lang="zh-CN" dirty="0"/>
              <a:t>• Resolution: 512 最佳但有成本权衡</a:t>
            </a:r>
            <a:endParaRPr lang="zh-CN" dirty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• RF foundation models: 都需要任务特定输出头</a:t>
            </a:r>
            <a:endParaRPr lang="zh-CN" dirty="0"/>
          </a:p>
          <a:p>
            <a:r>
              <a:rPr lang="zh-CN" dirty="0"/>
              <a:t>• Telecom LLMs: 文本中心，看不到物理层</a:t>
            </a:r>
            <a:endParaRPr lang="zh-CN" dirty="0"/>
          </a:p>
          <a:p>
            <a:r>
              <a:rPr lang="zh-CN" dirty="0"/>
              <a:t>• VLA parallels: 思想一脉相承——VLM + 适配器 + 新模态</a:t>
            </a:r>
            <a:endParaRPr lang="zh-CN" dirty="0"/>
          </a:p>
          <a:p>
            <a:r>
              <a:rPr lang="zh-CN" dirty="0"/>
              <a:t>• Table: RF-GPT 是唯一同时具备 RF感知 + 语言交互 + 统一架构 + 多任务的方案</a:t>
            </a:r>
            <a:endParaRPr lang="zh-CN" dirty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• Contributions: 三个核心贡献概括</a:t>
            </a:r>
            <a:endParaRPr lang="zh-CN" dirty="0"/>
          </a:p>
          <a:p>
            <a:r>
              <a:rPr lang="zh-CN" dirty="0"/>
              <a:t>• Limitations: 坦诚地说——合成数据、单输入、粗粒度</a:t>
            </a:r>
            <a:endParaRPr lang="zh-CN" dirty="0"/>
          </a:p>
          <a:p>
            <a:r>
              <a:rPr lang="zh-CN" dirty="0"/>
              <a:t>• Future: 真实数据、MIMO、6G 集成</a:t>
            </a:r>
            <a:endParaRPr lang="zh-CN" dirty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• Open floor: 欢迎提问</a:t>
            </a:r>
            <a:endParaRPr lang="zh-CN" dirty="0"/>
          </a:p>
          <a:p>
            <a:r>
              <a:rPr lang="zh-CN" dirty="0"/>
              <a:t>• Paper reference: 论文在 arXiv 上可查</a:t>
            </a:r>
            <a:endParaRPr lang="zh-CN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9" Type="http://schemas.openxmlformats.org/officeDocument/2006/relationships/tags" Target="../tags/tag8.xml"/><Relationship Id="rId8" Type="http://schemas.openxmlformats.org/officeDocument/2006/relationships/tags" Target="../tags/tag7.xml"/><Relationship Id="rId7" Type="http://schemas.openxmlformats.org/officeDocument/2006/relationships/tags" Target="../tags/tag6.xml"/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1" Type="http://schemas.openxmlformats.org/officeDocument/2006/relationships/tags" Target="../tags/tag10.xml"/><Relationship Id="rId10" Type="http://schemas.openxmlformats.org/officeDocument/2006/relationships/tags" Target="../tags/tag9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10004_16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6" name="标题 5"/>
          <p:cNvSpPr>
            <a:spLocks noGrp="1"/>
          </p:cNvSpPr>
          <p:nvPr>
            <p:ph type="ctrTitle" idx="16385" hasCustomPrompt="1"/>
            <p:custDataLst>
              <p:tags r:id="rId2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7" name="装饰  6"/>
          <p:cNvSpPr>
            <a:spLocks noGrp="1"/>
          </p:cNvSpPr>
          <p:nvPr>
            <p:ph type="body" idx="16392" hasCustomPrompt="1"/>
            <p:custDataLst>
              <p:tags r:id="rId3"/>
            </p:custDataLst>
          </p:nvPr>
        </p:nvSpPr>
        <p:spPr>
          <a:xfrm>
            <a:off x="609600" y="1727200"/>
            <a:ext cx="3454400" cy="4318000"/>
          </a:xfrm>
          <a:custGeom>
            <a:avLst/>
            <a:gdLst>
              <a:gd name="connisteX0" fmla="*/ 0 w 3454400"/>
              <a:gd name="connsiteY0" fmla="*/ 203200 h 4318000"/>
              <a:gd name="connisteX1" fmla="*/ 203200 w 3454400"/>
              <a:gd name="connsiteY1" fmla="*/ 0 h 4318000"/>
              <a:gd name="connisteX2" fmla="*/ 3251200 w 3454400"/>
              <a:gd name="connsiteY2" fmla="*/ 0 h 4318000"/>
              <a:gd name="connisteX3" fmla="*/ 3454400 w 3454400"/>
              <a:gd name="connsiteY3" fmla="*/ 203200 h 4318000"/>
              <a:gd name="connisteX4" fmla="*/ 3454400 w 3454400"/>
              <a:gd name="connsiteY4" fmla="*/ 4114800 h 4318000"/>
              <a:gd name="connisteX5" fmla="*/ 3251200 w 3454400"/>
              <a:gd name="connsiteY5" fmla="*/ 4318000 h 4318000"/>
              <a:gd name="connisteX6" fmla="*/ 203200 w 3454400"/>
              <a:gd name="connsiteY6" fmla="*/ 4318000 h 4318000"/>
              <a:gd name="connisteX7" fmla="*/ 0 w 3454400"/>
              <a:gd name="connsiteY7" fmla="*/ 4114800 h 4318000"/>
              <a:gd name="connisteX8" fmla="*/ 0 w 3454400"/>
              <a:gd name="connsiteY8" fmla="*/ 203200 h 4318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3454400" h="43180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4114800"/>
                </a:lnTo>
                <a:cubicBezTo>
                  <a:pt x="3454400" y="4227024"/>
                  <a:pt x="3363424" y="4318000"/>
                  <a:pt x="3251200" y="4318000"/>
                </a:cubicBezTo>
                <a:lnTo>
                  <a:pt x="203200" y="4318000"/>
                </a:lnTo>
                <a:cubicBezTo>
                  <a:pt x="90976" y="4318000"/>
                  <a:pt x="0" y="4227024"/>
                  <a:pt x="0" y="41148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8" name="文本占位符 7"/>
          <p:cNvSpPr>
            <a:spLocks noGrp="1"/>
          </p:cNvSpPr>
          <p:nvPr>
            <p:ph type="body" idx="16386" hasCustomPrompt="1"/>
            <p:custDataLst>
              <p:tags r:id="rId4"/>
            </p:custDataLst>
          </p:nvPr>
        </p:nvSpPr>
        <p:spPr>
          <a:xfrm>
            <a:off x="914400" y="2387600"/>
            <a:ext cx="2844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项标题</a:t>
            </a:r>
            <a:endParaRPr lang="zh-CN" altLang="en-US" smtClean="0"/>
          </a:p>
        </p:txBody>
      </p:sp>
      <p:sp>
        <p:nvSpPr>
          <p:cNvPr id="9" name="文本占位符 8"/>
          <p:cNvSpPr>
            <a:spLocks noGrp="1"/>
          </p:cNvSpPr>
          <p:nvPr>
            <p:ph type="body" idx="16387" hasCustomPrompt="1"/>
            <p:custDataLst>
              <p:tags r:id="rId5"/>
            </p:custDataLst>
          </p:nvPr>
        </p:nvSpPr>
        <p:spPr>
          <a:xfrm>
            <a:off x="914400" y="2946400"/>
            <a:ext cx="2844800" cy="2438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0" name="装饰  9"/>
          <p:cNvSpPr>
            <a:spLocks noGrp="1"/>
          </p:cNvSpPr>
          <p:nvPr>
            <p:ph type="body" idx="16393" hasCustomPrompt="1"/>
            <p:custDataLst>
              <p:tags r:id="rId6"/>
            </p:custDataLst>
          </p:nvPr>
        </p:nvSpPr>
        <p:spPr>
          <a:xfrm>
            <a:off x="4368800" y="1727200"/>
            <a:ext cx="3454400" cy="4318000"/>
          </a:xfrm>
          <a:custGeom>
            <a:avLst/>
            <a:gdLst>
              <a:gd name="connisteX0" fmla="*/ 0 w 3454400"/>
              <a:gd name="connsiteY0" fmla="*/ 203200 h 4318000"/>
              <a:gd name="connisteX1" fmla="*/ 203200 w 3454400"/>
              <a:gd name="connsiteY1" fmla="*/ 0 h 4318000"/>
              <a:gd name="connisteX2" fmla="*/ 3251200 w 3454400"/>
              <a:gd name="connsiteY2" fmla="*/ 0 h 4318000"/>
              <a:gd name="connisteX3" fmla="*/ 3454400 w 3454400"/>
              <a:gd name="connsiteY3" fmla="*/ 203200 h 4318000"/>
              <a:gd name="connisteX4" fmla="*/ 3454400 w 3454400"/>
              <a:gd name="connsiteY4" fmla="*/ 4114800 h 4318000"/>
              <a:gd name="connisteX5" fmla="*/ 3251200 w 3454400"/>
              <a:gd name="connsiteY5" fmla="*/ 4318000 h 4318000"/>
              <a:gd name="connisteX6" fmla="*/ 203200 w 3454400"/>
              <a:gd name="connsiteY6" fmla="*/ 4318000 h 4318000"/>
              <a:gd name="connisteX7" fmla="*/ 0 w 3454400"/>
              <a:gd name="connsiteY7" fmla="*/ 4114800 h 4318000"/>
              <a:gd name="connisteX8" fmla="*/ 0 w 3454400"/>
              <a:gd name="connsiteY8" fmla="*/ 203200 h 4318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3454400" h="43180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4114800"/>
                </a:lnTo>
                <a:cubicBezTo>
                  <a:pt x="3454400" y="4227024"/>
                  <a:pt x="3363424" y="4318000"/>
                  <a:pt x="3251200" y="4318000"/>
                </a:cubicBezTo>
                <a:lnTo>
                  <a:pt x="203200" y="4318000"/>
                </a:lnTo>
                <a:cubicBezTo>
                  <a:pt x="90976" y="4318000"/>
                  <a:pt x="0" y="4227024"/>
                  <a:pt x="0" y="41148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1" name="文本占位符 10"/>
          <p:cNvSpPr>
            <a:spLocks noGrp="1"/>
          </p:cNvSpPr>
          <p:nvPr>
            <p:ph type="body" idx="16388" hasCustomPrompt="1"/>
            <p:custDataLst>
              <p:tags r:id="rId7"/>
            </p:custDataLst>
          </p:nvPr>
        </p:nvSpPr>
        <p:spPr>
          <a:xfrm>
            <a:off x="4673600" y="2387600"/>
            <a:ext cx="2844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项标题</a:t>
            </a:r>
            <a:endParaRPr lang="zh-CN" altLang="en-US" smtClean="0"/>
          </a:p>
        </p:txBody>
      </p:sp>
      <p:sp>
        <p:nvSpPr>
          <p:cNvPr id="12" name="文本占位符 11"/>
          <p:cNvSpPr>
            <a:spLocks noGrp="1"/>
          </p:cNvSpPr>
          <p:nvPr>
            <p:ph type="body" idx="16389" hasCustomPrompt="1"/>
            <p:custDataLst>
              <p:tags r:id="rId8"/>
            </p:custDataLst>
          </p:nvPr>
        </p:nvSpPr>
        <p:spPr>
          <a:xfrm>
            <a:off x="4673600" y="2946400"/>
            <a:ext cx="2844800" cy="2438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3" name="装饰  2"/>
          <p:cNvSpPr>
            <a:spLocks noGrp="1"/>
          </p:cNvSpPr>
          <p:nvPr>
            <p:ph type="body" idx="16394" hasCustomPrompt="1"/>
            <p:custDataLst>
              <p:tags r:id="rId9"/>
            </p:custDataLst>
          </p:nvPr>
        </p:nvSpPr>
        <p:spPr>
          <a:xfrm>
            <a:off x="8128000" y="1727200"/>
            <a:ext cx="3454400" cy="4318000"/>
          </a:xfrm>
          <a:custGeom>
            <a:avLst/>
            <a:gdLst>
              <a:gd name="connisteX0" fmla="*/ 0 w 3454400"/>
              <a:gd name="connsiteY0" fmla="*/ 203200 h 4318000"/>
              <a:gd name="connisteX1" fmla="*/ 203200 w 3454400"/>
              <a:gd name="connsiteY1" fmla="*/ 0 h 4318000"/>
              <a:gd name="connisteX2" fmla="*/ 3251200 w 3454400"/>
              <a:gd name="connsiteY2" fmla="*/ 0 h 4318000"/>
              <a:gd name="connisteX3" fmla="*/ 3454400 w 3454400"/>
              <a:gd name="connsiteY3" fmla="*/ 203200 h 4318000"/>
              <a:gd name="connisteX4" fmla="*/ 3454400 w 3454400"/>
              <a:gd name="connsiteY4" fmla="*/ 4114800 h 4318000"/>
              <a:gd name="connisteX5" fmla="*/ 3251200 w 3454400"/>
              <a:gd name="connsiteY5" fmla="*/ 4318000 h 4318000"/>
              <a:gd name="connisteX6" fmla="*/ 203200 w 3454400"/>
              <a:gd name="connsiteY6" fmla="*/ 4318000 h 4318000"/>
              <a:gd name="connisteX7" fmla="*/ 0 w 3454400"/>
              <a:gd name="connsiteY7" fmla="*/ 4114800 h 4318000"/>
              <a:gd name="connisteX8" fmla="*/ 0 w 3454400"/>
              <a:gd name="connsiteY8" fmla="*/ 203200 h 4318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3454400" h="43180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4114800"/>
                </a:lnTo>
                <a:cubicBezTo>
                  <a:pt x="3454400" y="4227024"/>
                  <a:pt x="3363424" y="4318000"/>
                  <a:pt x="3251200" y="4318000"/>
                </a:cubicBezTo>
                <a:lnTo>
                  <a:pt x="203200" y="4318000"/>
                </a:lnTo>
                <a:cubicBezTo>
                  <a:pt x="90976" y="4318000"/>
                  <a:pt x="0" y="4227024"/>
                  <a:pt x="0" y="41148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4" name="文本占位符 13"/>
          <p:cNvSpPr>
            <a:spLocks noGrp="1"/>
          </p:cNvSpPr>
          <p:nvPr>
            <p:ph type="body" idx="16390" hasCustomPrompt="1"/>
            <p:custDataLst>
              <p:tags r:id="rId10"/>
            </p:custDataLst>
          </p:nvPr>
        </p:nvSpPr>
        <p:spPr>
          <a:xfrm>
            <a:off x="8432800" y="2387600"/>
            <a:ext cx="2844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项标题</a:t>
            </a:r>
            <a:endParaRPr lang="zh-CN" altLang="en-US" smtClean="0"/>
          </a:p>
        </p:txBody>
      </p:sp>
      <p:sp>
        <p:nvSpPr>
          <p:cNvPr id="15" name="文本占位符 14"/>
          <p:cNvSpPr>
            <a:spLocks noGrp="1"/>
          </p:cNvSpPr>
          <p:nvPr>
            <p:ph type="body" idx="16391" hasCustomPrompt="1"/>
            <p:custDataLst>
              <p:tags r:id="rId11"/>
            </p:custDataLst>
          </p:nvPr>
        </p:nvSpPr>
        <p:spPr>
          <a:xfrm>
            <a:off x="8432800" y="2946400"/>
            <a:ext cx="2844800" cy="2438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5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.png"/><Relationship Id="rId2" Type="http://schemas.openxmlformats.org/officeDocument/2006/relationships/tags" Target="../tags/tag12.xml"/><Relationship Id="rId1" Type="http://schemas.openxmlformats.org/officeDocument/2006/relationships/tags" Target="../tags/tag11.xml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tags" Target="../tags/tag21.xml"/><Relationship Id="rId8" Type="http://schemas.openxmlformats.org/officeDocument/2006/relationships/tags" Target="../tags/tag20.xml"/><Relationship Id="rId7" Type="http://schemas.openxmlformats.org/officeDocument/2006/relationships/tags" Target="../tags/tag19.xml"/><Relationship Id="rId6" Type="http://schemas.openxmlformats.org/officeDocument/2006/relationships/tags" Target="../tags/tag18.xml"/><Relationship Id="rId5" Type="http://schemas.openxmlformats.org/officeDocument/2006/relationships/tags" Target="../tags/tag17.xml"/><Relationship Id="rId4" Type="http://schemas.openxmlformats.org/officeDocument/2006/relationships/tags" Target="../tags/tag16.xml"/><Relationship Id="rId3" Type="http://schemas.openxmlformats.org/officeDocument/2006/relationships/tags" Target="../tags/tag15.xml"/><Relationship Id="rId24" Type="http://schemas.openxmlformats.org/officeDocument/2006/relationships/notesSlide" Target="../notesSlides/notesSlide6.xml"/><Relationship Id="rId23" Type="http://schemas.openxmlformats.org/officeDocument/2006/relationships/slideLayout" Target="../slideLayouts/slideLayout1.xml"/><Relationship Id="rId22" Type="http://schemas.openxmlformats.org/officeDocument/2006/relationships/image" Target="../media/image5.svg"/><Relationship Id="rId21" Type="http://schemas.openxmlformats.org/officeDocument/2006/relationships/tags" Target="../tags/tag30.xml"/><Relationship Id="rId20" Type="http://schemas.openxmlformats.org/officeDocument/2006/relationships/image" Target="../media/image4.svg"/><Relationship Id="rId2" Type="http://schemas.openxmlformats.org/officeDocument/2006/relationships/tags" Target="../tags/tag14.xml"/><Relationship Id="rId19" Type="http://schemas.openxmlformats.org/officeDocument/2006/relationships/tags" Target="../tags/tag29.xml"/><Relationship Id="rId18" Type="http://schemas.openxmlformats.org/officeDocument/2006/relationships/image" Target="../media/image3.svg"/><Relationship Id="rId17" Type="http://schemas.openxmlformats.org/officeDocument/2006/relationships/image" Target="../media/image2.png"/><Relationship Id="rId16" Type="http://schemas.openxmlformats.org/officeDocument/2006/relationships/tags" Target="../tags/tag28.xml"/><Relationship Id="rId15" Type="http://schemas.openxmlformats.org/officeDocument/2006/relationships/tags" Target="../tags/tag27.xml"/><Relationship Id="rId14" Type="http://schemas.openxmlformats.org/officeDocument/2006/relationships/tags" Target="../tags/tag26.xml"/><Relationship Id="rId13" Type="http://schemas.openxmlformats.org/officeDocument/2006/relationships/tags" Target="../tags/tag25.xml"/><Relationship Id="rId12" Type="http://schemas.openxmlformats.org/officeDocument/2006/relationships/tags" Target="../tags/tag24.xml"/><Relationship Id="rId11" Type="http://schemas.openxmlformats.org/officeDocument/2006/relationships/tags" Target="../tags/tag23.xml"/><Relationship Id="rId10" Type="http://schemas.openxmlformats.org/officeDocument/2006/relationships/tags" Target="../tags/tag22.xml"/><Relationship Id="rId1" Type="http://schemas.openxmlformats.org/officeDocument/2006/relationships/tags" Target="../tags/tag1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tags" Target="../tags/tag39.xml"/><Relationship Id="rId8" Type="http://schemas.openxmlformats.org/officeDocument/2006/relationships/tags" Target="../tags/tag38.xml"/><Relationship Id="rId7" Type="http://schemas.openxmlformats.org/officeDocument/2006/relationships/tags" Target="../tags/tag37.xml"/><Relationship Id="rId6" Type="http://schemas.openxmlformats.org/officeDocument/2006/relationships/tags" Target="../tags/tag36.xml"/><Relationship Id="rId5" Type="http://schemas.openxmlformats.org/officeDocument/2006/relationships/tags" Target="../tags/tag35.xml"/><Relationship Id="rId4" Type="http://schemas.openxmlformats.org/officeDocument/2006/relationships/tags" Target="../tags/tag34.xml"/><Relationship Id="rId30" Type="http://schemas.openxmlformats.org/officeDocument/2006/relationships/notesSlide" Target="../notesSlides/notesSlide9.xml"/><Relationship Id="rId3" Type="http://schemas.openxmlformats.org/officeDocument/2006/relationships/tags" Target="../tags/tag33.xml"/><Relationship Id="rId29" Type="http://schemas.openxmlformats.org/officeDocument/2006/relationships/slideLayout" Target="../slideLayouts/slideLayout1.xml"/><Relationship Id="rId28" Type="http://schemas.openxmlformats.org/officeDocument/2006/relationships/image" Target="../media/image10.svg"/><Relationship Id="rId27" Type="http://schemas.openxmlformats.org/officeDocument/2006/relationships/image" Target="../media/image9.png"/><Relationship Id="rId26" Type="http://schemas.openxmlformats.org/officeDocument/2006/relationships/image" Target="../media/image8.png"/><Relationship Id="rId25" Type="http://schemas.openxmlformats.org/officeDocument/2006/relationships/tags" Target="../tags/tag55.xml"/><Relationship Id="rId24" Type="http://schemas.openxmlformats.org/officeDocument/2006/relationships/tags" Target="../tags/tag54.xml"/><Relationship Id="rId23" Type="http://schemas.openxmlformats.org/officeDocument/2006/relationships/tags" Target="../tags/tag53.xml"/><Relationship Id="rId22" Type="http://schemas.openxmlformats.org/officeDocument/2006/relationships/tags" Target="../tags/tag52.xml"/><Relationship Id="rId21" Type="http://schemas.openxmlformats.org/officeDocument/2006/relationships/tags" Target="../tags/tag51.xml"/><Relationship Id="rId20" Type="http://schemas.openxmlformats.org/officeDocument/2006/relationships/tags" Target="../tags/tag50.xml"/><Relationship Id="rId2" Type="http://schemas.openxmlformats.org/officeDocument/2006/relationships/tags" Target="../tags/tag32.xml"/><Relationship Id="rId19" Type="http://schemas.openxmlformats.org/officeDocument/2006/relationships/tags" Target="../tags/tag49.xml"/><Relationship Id="rId18" Type="http://schemas.openxmlformats.org/officeDocument/2006/relationships/tags" Target="../tags/tag48.xml"/><Relationship Id="rId17" Type="http://schemas.openxmlformats.org/officeDocument/2006/relationships/tags" Target="../tags/tag47.xml"/><Relationship Id="rId16" Type="http://schemas.openxmlformats.org/officeDocument/2006/relationships/tags" Target="../tags/tag46.xml"/><Relationship Id="rId15" Type="http://schemas.openxmlformats.org/officeDocument/2006/relationships/tags" Target="../tags/tag45.xml"/><Relationship Id="rId14" Type="http://schemas.openxmlformats.org/officeDocument/2006/relationships/tags" Target="../tags/tag44.xml"/><Relationship Id="rId13" Type="http://schemas.openxmlformats.org/officeDocument/2006/relationships/tags" Target="../tags/tag43.xml"/><Relationship Id="rId12" Type="http://schemas.openxmlformats.org/officeDocument/2006/relationships/tags" Target="../tags/tag42.xml"/><Relationship Id="rId11" Type="http://schemas.openxmlformats.org/officeDocument/2006/relationships/tags" Target="../tags/tag41.xml"/><Relationship Id="rId10" Type="http://schemas.openxmlformats.org/officeDocument/2006/relationships/tags" Target="../tags/tag40.xml"/><Relationship Id="rId1" Type="http://schemas.openxmlformats.org/officeDocument/2006/relationships/tags" Target="../tags/tag31.xml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0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2.png"/><Relationship Id="rId1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1.xml"/><Relationship Id="rId3" Type="http://schemas.openxmlformats.org/officeDocument/2006/relationships/slideLayout" Target="../slideLayouts/slideLayout1.xml"/><Relationship Id="rId2" Type="http://schemas.openxmlformats.org/officeDocument/2006/relationships/tags" Target="../tags/tag56.xml"/><Relationship Id="rId1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4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D47A1"/>
              </a:gs>
              <a:gs pos="50000">
                <a:srgbClr val="1565C0"/>
              </a:gs>
              <a:gs pos="100000">
                <a:srgbClr val="1976D2"/>
              </a:gs>
            </a:gsLst>
            <a:lin ang="2700000" scaled="1"/>
          </a:gra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FFFFFF">
                  <a:alpha val="10000"/>
                </a:srgbClr>
              </a:gs>
              <a:gs pos="100000">
                <a:srgbClr val="FFFFFF">
                  <a:alpha val="0"/>
                </a:srgbClr>
              </a:gs>
            </a:gsLst>
            <a:lin ang="2700000" scaled="1"/>
          </a:gra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42A5F5">
                  <a:alpha val="15000"/>
                </a:srgbClr>
              </a:gs>
              <a:gs pos="100000">
                <a:srgbClr val="0D47A1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5" name="Freeform 5"/>
          <p:cNvSpPr/>
          <p:nvPr/>
        </p:nvSpPr>
        <p:spPr>
          <a:xfrm>
            <a:off x="0" y="5524500"/>
            <a:ext cx="12192000" cy="762000"/>
          </a:xfrm>
          <a:custGeom>
            <a:avLst/>
            <a:gdLst/>
            <a:ahLst/>
            <a:cxnLst/>
            <a:rect l="l" t="t" r="r" b="b"/>
            <a:pathLst>
              <a:path w="12192000" h="762000">
                <a:moveTo>
                  <a:pt x="0" y="381000"/>
                </a:moveTo>
                <a:cubicBezTo>
                  <a:pt x="2032000" y="0"/>
                  <a:pt x="4064000" y="0"/>
                  <a:pt x="6096000" y="381000"/>
                </a:cubicBezTo>
                <a:cubicBezTo>
                  <a:pt x="8128000" y="762000"/>
                  <a:pt x="10160000" y="762000"/>
                  <a:pt x="12192000" y="381000"/>
                </a:cubicBezTo>
              </a:path>
            </a:pathLst>
          </a:custGeom>
          <a:noFill/>
          <a:ln w="19050">
            <a:solidFill>
              <a:srgbClr val="FFFFFF">
                <a:alpha val="5000"/>
              </a:srgbClr>
            </a:solidFill>
          </a:ln>
        </p:spPr>
      </p:sp>
      <p:sp>
        <p:nvSpPr>
          <p:cNvPr id="6" name="Freeform 6"/>
          <p:cNvSpPr/>
          <p:nvPr/>
        </p:nvSpPr>
        <p:spPr>
          <a:xfrm>
            <a:off x="0" y="5873750"/>
            <a:ext cx="12192000" cy="793750"/>
          </a:xfrm>
          <a:custGeom>
            <a:avLst/>
            <a:gdLst/>
            <a:ahLst/>
            <a:cxnLst/>
            <a:rect l="l" t="t" r="r" b="b"/>
            <a:pathLst>
              <a:path w="12192000" h="793750">
                <a:moveTo>
                  <a:pt x="0" y="317500"/>
                </a:moveTo>
                <a:cubicBezTo>
                  <a:pt x="2032000" y="0"/>
                  <a:pt x="4064000" y="31750"/>
                  <a:pt x="6096000" y="412750"/>
                </a:cubicBezTo>
                <a:cubicBezTo>
                  <a:pt x="8128000" y="793750"/>
                  <a:pt x="10160000" y="730250"/>
                  <a:pt x="12192000" y="222250"/>
                </a:cubicBezTo>
              </a:path>
            </a:pathLst>
          </a:custGeom>
          <a:noFill/>
          <a:ln w="14288">
            <a:solidFill>
              <a:srgbClr val="FFFFFF">
                <a:alpha val="4000"/>
              </a:srgbClr>
            </a:solidFill>
          </a:ln>
        </p:spPr>
      </p:sp>
      <p:sp>
        <p:nvSpPr>
          <p:cNvPr id="7" name="Freeform 7"/>
          <p:cNvSpPr/>
          <p:nvPr/>
        </p:nvSpPr>
        <p:spPr>
          <a:xfrm>
            <a:off x="0" y="6223000"/>
            <a:ext cx="12192000" cy="666750"/>
          </a:xfrm>
          <a:custGeom>
            <a:avLst/>
            <a:gdLst/>
            <a:ahLst/>
            <a:cxnLst/>
            <a:rect l="l" t="t" r="r" b="b"/>
            <a:pathLst>
              <a:path w="12192000" h="666750">
                <a:moveTo>
                  <a:pt x="0" y="254000"/>
                </a:moveTo>
                <a:cubicBezTo>
                  <a:pt x="2032000" y="0"/>
                  <a:pt x="4064000" y="31750"/>
                  <a:pt x="6096000" y="349250"/>
                </a:cubicBezTo>
                <a:cubicBezTo>
                  <a:pt x="8128000" y="666750"/>
                  <a:pt x="10160000" y="603250"/>
                  <a:pt x="12192000" y="158750"/>
                </a:cubicBezTo>
              </a:path>
            </a:pathLst>
          </a:custGeom>
          <a:noFill/>
          <a:ln w="9525">
            <a:solidFill>
              <a:srgbClr val="FFFFFF">
                <a:alpha val="3000"/>
              </a:srgbClr>
            </a:solidFill>
          </a:ln>
        </p:spPr>
      </p:sp>
      <p:sp>
        <p:nvSpPr>
          <p:cNvPr id="8" name="Ellipse 8"/>
          <p:cNvSpPr/>
          <p:nvPr/>
        </p:nvSpPr>
        <p:spPr>
          <a:xfrm>
            <a:off x="8763000" y="-571500"/>
            <a:ext cx="3429000" cy="3429000"/>
          </a:xfrm>
          <a:prstGeom prst="ellipse">
            <a:avLst/>
          </a:prstGeom>
          <a:noFill/>
          <a:ln w="9525">
            <a:solidFill>
              <a:srgbClr val="FFFFFF">
                <a:alpha val="4000"/>
              </a:srgbClr>
            </a:solidFill>
          </a:ln>
        </p:spPr>
      </p:sp>
      <p:sp>
        <p:nvSpPr>
          <p:cNvPr id="9" name="Ellipse 9"/>
          <p:cNvSpPr/>
          <p:nvPr/>
        </p:nvSpPr>
        <p:spPr>
          <a:xfrm>
            <a:off x="9334500" y="0"/>
            <a:ext cx="2286000" cy="2286000"/>
          </a:xfrm>
          <a:prstGeom prst="ellipse">
            <a:avLst/>
          </a:prstGeom>
          <a:noFill/>
          <a:ln w="9525">
            <a:solidFill>
              <a:srgbClr val="FFFFFF">
                <a:alpha val="6000"/>
              </a:srgbClr>
            </a:solidFill>
          </a:ln>
        </p:spPr>
      </p:sp>
      <p:sp>
        <p:nvSpPr>
          <p:cNvPr id="10" name="Ellipse 10"/>
          <p:cNvSpPr/>
          <p:nvPr/>
        </p:nvSpPr>
        <p:spPr>
          <a:xfrm>
            <a:off x="952500" y="4572000"/>
            <a:ext cx="1905000" cy="1905000"/>
          </a:xfrm>
          <a:prstGeom prst="ellipse">
            <a:avLst/>
          </a:prstGeom>
          <a:noFill/>
          <a:ln w="9525">
            <a:solidFill>
              <a:srgbClr val="FFFFFF">
                <a:alpha val="4000"/>
              </a:srgbClr>
            </a:solidFill>
          </a:ln>
        </p:spPr>
      </p:sp>
      <p:sp>
        <p:nvSpPr>
          <p:cNvPr id="11" name="Rectangle 11"/>
          <p:cNvSpPr/>
          <p:nvPr/>
        </p:nvSpPr>
        <p:spPr>
          <a:xfrm>
            <a:off x="0" y="0"/>
            <a:ext cx="57150" cy="6858000"/>
          </a:xfrm>
          <a:prstGeom prst="rect">
            <a:avLst/>
          </a:prstGeom>
          <a:solidFill>
            <a:srgbClr val="FF6F00"/>
          </a:solidFill>
          <a:ln>
            <a:noFill/>
          </a:ln>
        </p:spPr>
      </p:sp>
      <p:sp>
        <p:nvSpPr>
          <p:cNvPr id="12" name="TextBox 12"/>
          <p:cNvSpPr txBox="1"/>
          <p:nvPr/>
        </p:nvSpPr>
        <p:spPr>
          <a:xfrm>
            <a:off x="354749" y="2329339"/>
            <a:ext cx="11482502" cy="11734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5775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RF-GPT: Teaching AI to See</a:t>
            </a:r>
            <a:endParaRPr lang="zh-CN" sz="5775" b="1" dirty="0">
              <a:solidFill>
                <a:srgbClr val="FFFFFF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2015269" y="3138964"/>
            <a:ext cx="8161462" cy="11734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5775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the Wireless World</a:t>
            </a:r>
            <a:endParaRPr lang="zh-CN" sz="5775" b="1" dirty="0">
              <a:solidFill>
                <a:srgbClr val="FFFFFF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4" name="Rectangle 14"/>
          <p:cNvSpPr/>
          <p:nvPr/>
        </p:nvSpPr>
        <p:spPr>
          <a:xfrm>
            <a:off x="5143500" y="4095750"/>
            <a:ext cx="1905000" cy="28575"/>
          </a:xfrm>
          <a:prstGeom prst="rect">
            <a:avLst/>
          </a:prstGeom>
          <a:solidFill>
            <a:srgbClr val="FF6F00"/>
          </a:solidFill>
          <a:ln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3741527" y="4241959"/>
            <a:ext cx="4708946" cy="4419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175" dirty="0">
                <a:solidFill>
                  <a:srgbClr val="BBDEFB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射频大模型 —— 让AI"看懂"无线电</a:t>
            </a:r>
            <a:endParaRPr lang="zh-CN" sz="2175" dirty="0">
              <a:solidFill>
                <a:srgbClr val="BBDEFB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1430631" y="5569268"/>
            <a:ext cx="9330738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dirty="0">
                <a:solidFill>
                  <a:srgbClr val="90CAF9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Hang Zou, Yu Tian, Bohao Wang, Lina Bariah, Samson Lasaulce, Chongwen Huang, Merouane Debbah</a:t>
            </a:r>
            <a:endParaRPr lang="zh-CN" sz="1350" dirty="0">
              <a:solidFill>
                <a:srgbClr val="90CAF9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2558034" y="5918835"/>
            <a:ext cx="707593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64B5F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arXiv:2602.14833 | Khalifa University / Zhejiang University / Universite de Lorraine</a:t>
            </a:r>
            <a:endParaRPr lang="zh-CN" sz="1200" dirty="0">
              <a:solidFill>
                <a:srgbClr val="64B5F6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5887974" y="6252210"/>
            <a:ext cx="41605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64B5F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2026</a:t>
            </a:r>
            <a:endParaRPr lang="zh-CN" sz="1200" dirty="0">
              <a:solidFill>
                <a:srgbClr val="64B5F6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4377055" y="4822190"/>
            <a:ext cx="343852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chemeClr val="bg1"/>
                </a:solidFill>
                <a:latin typeface="黑体" panose="02010609060101010101" charset="-122"/>
                <a:ea typeface="黑体" panose="02010609060101010101" charset="-122"/>
              </a:rPr>
              <a:t>第</a:t>
            </a:r>
            <a:r>
              <a:rPr lang="en-US" altLang="zh-CN">
                <a:solidFill>
                  <a:schemeClr val="bg1"/>
                </a:solidFill>
                <a:latin typeface="黑体" panose="02010609060101010101" charset="-122"/>
                <a:ea typeface="黑体" panose="02010609060101010101" charset="-122"/>
              </a:rPr>
              <a:t>36</a:t>
            </a:r>
            <a:r>
              <a:rPr lang="zh-CN" altLang="en-US">
                <a:solidFill>
                  <a:schemeClr val="bg1"/>
                </a:solidFill>
                <a:latin typeface="黑体" panose="02010609060101010101" charset="-122"/>
                <a:ea typeface="黑体" panose="02010609060101010101" charset="-122"/>
              </a:rPr>
              <a:t>组：</a:t>
            </a:r>
            <a:r>
              <a:rPr lang="en-US" altLang="zh-CN">
                <a:solidFill>
                  <a:schemeClr val="bg1"/>
                </a:solidFill>
                <a:latin typeface="黑体" panose="02010609060101010101" charset="-122"/>
                <a:ea typeface="黑体" panose="02010609060101010101" charset="-122"/>
              </a:rPr>
              <a:t> </a:t>
            </a:r>
            <a:r>
              <a:rPr lang="zh-CN" altLang="en-US">
                <a:solidFill>
                  <a:schemeClr val="bg1"/>
                </a:solidFill>
                <a:latin typeface="黑体" panose="02010609060101010101" charset="-122"/>
                <a:ea typeface="黑体" panose="02010609060101010101" charset="-122"/>
              </a:rPr>
              <a:t/>
            </a:r>
            <a:r>
              <a:rPr lang="en-US" altLang="zh-CN">
                <a:solidFill>
                  <a:schemeClr val="bg1"/>
                </a:solidFill>
                <a:latin typeface="黑体" panose="02010609060101010101" charset="-122"/>
                <a:ea typeface="黑体" panose="02010609060101010101" charset="-122"/>
              </a:rPr>
              <a:t> </a:t>
            </a:r>
            <a:r>
              <a:rPr lang="zh-CN" altLang="en-US">
                <a:solidFill>
                  <a:schemeClr val="bg1"/>
                </a:solidFill>
                <a:latin typeface="黑体" panose="02010609060101010101" charset="-122"/>
                <a:ea typeface="黑体" panose="02010609060101010101" charset="-122"/>
              </a:rPr>
              <a:t/>
            </a:r>
            <a:endParaRPr lang="zh-CN" altLang="en-US">
              <a:solidFill>
                <a:schemeClr val="bg1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1565C0"/>
          </a:solidFill>
          <a:ln>
            <a:noFill/>
          </a:ln>
        </p:spPr>
      </p:sp>
      <p:sp>
        <p:nvSpPr>
          <p:cNvPr id="5" name="Rectangle 5"/>
          <p:cNvSpPr/>
          <p:nvPr/>
        </p:nvSpPr>
        <p:spPr>
          <a:xfrm>
            <a:off x="571500" y="476250"/>
            <a:ext cx="57150" cy="342900"/>
          </a:xfrm>
          <a:prstGeom prst="rect">
            <a:avLst/>
          </a:prstGeom>
          <a:solidFill>
            <a:srgbClr val="1565C0"/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723900" y="419100"/>
            <a:ext cx="1916430" cy="609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26323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汇报提纲</a:t>
            </a:r>
            <a:endParaRPr lang="zh-CN" sz="3000" b="1" dirty="0">
              <a:solidFill>
                <a:srgbClr val="263238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746760" y="822960"/>
            <a:ext cx="696468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90A4A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OUTLINE</a:t>
            </a:r>
            <a:endParaRPr lang="zh-CN" sz="1200" dirty="0">
              <a:solidFill>
                <a:srgbClr val="90A4A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8" name="Rectangle 8"/>
          <p:cNvSpPr/>
          <p:nvPr/>
        </p:nvSpPr>
        <p:spPr>
          <a:xfrm>
            <a:off x="571500" y="1095375"/>
            <a:ext cx="11049000" cy="9525"/>
          </a:xfrm>
          <a:prstGeom prst="rect">
            <a:avLst/>
          </a:prstGeom>
          <a:solidFill>
            <a:srgbClr val="ECEFF1"/>
          </a:solidFill>
          <a:ln>
            <a:noFill/>
          </a:ln>
        </p:spPr>
      </p:sp>
      <p:sp>
        <p:nvSpPr>
          <p:cNvPr id="9" name="Freeform 9"/>
          <p:cNvSpPr/>
          <p:nvPr/>
        </p:nvSpPr>
        <p:spPr>
          <a:xfrm>
            <a:off x="571500" y="1333500"/>
            <a:ext cx="3429000" cy="2286000"/>
          </a:xfrm>
          <a:custGeom>
            <a:avLst/>
            <a:gdLst/>
            <a:ahLst/>
            <a:cxnLst/>
            <a:rect l="l" t="t" r="r" b="b"/>
            <a:pathLst>
              <a:path w="3429000" h="2286000">
                <a:moveTo>
                  <a:pt x="95250" y="0"/>
                </a:moveTo>
                <a:lnTo>
                  <a:pt x="3333750" y="0"/>
                </a:lnTo>
                <a:cubicBezTo>
                  <a:pt x="3386355" y="0"/>
                  <a:pt x="3429000" y="42645"/>
                  <a:pt x="3429000" y="95250"/>
                </a:cubicBezTo>
                <a:lnTo>
                  <a:pt x="3429000" y="2190750"/>
                </a:lnTo>
                <a:cubicBezTo>
                  <a:pt x="3429000" y="2243355"/>
                  <a:pt x="3386355" y="2286000"/>
                  <a:pt x="3333750" y="2286000"/>
                </a:cubicBezTo>
                <a:lnTo>
                  <a:pt x="95250" y="2286000"/>
                </a:lnTo>
                <a:cubicBezTo>
                  <a:pt x="42645" y="2286000"/>
                  <a:pt x="0" y="2243355"/>
                  <a:pt x="0" y="219075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F5F7FA"/>
          </a:solidFill>
          <a:ln>
            <a:noFill/>
          </a:ln>
        </p:spPr>
      </p:sp>
      <p:sp>
        <p:nvSpPr>
          <p:cNvPr id="10" name="Freeform 10"/>
          <p:cNvSpPr/>
          <p:nvPr/>
        </p:nvSpPr>
        <p:spPr>
          <a:xfrm>
            <a:off x="571500" y="1333500"/>
            <a:ext cx="3429000" cy="57150"/>
          </a:xfrm>
          <a:custGeom>
            <a:avLst/>
            <a:gdLst/>
            <a:ahLst/>
            <a:cxnLst/>
            <a:rect l="l" t="t" r="r" b="b"/>
            <a:pathLst>
              <a:path w="3429000" h="57150">
                <a:moveTo>
                  <a:pt x="28575" y="0"/>
                </a:moveTo>
                <a:lnTo>
                  <a:pt x="3400425" y="0"/>
                </a:lnTo>
                <a:cubicBezTo>
                  <a:pt x="3416207" y="0"/>
                  <a:pt x="3429000" y="12793"/>
                  <a:pt x="3429000" y="28575"/>
                </a:cubicBezTo>
                <a:lnTo>
                  <a:pt x="3429000" y="28575"/>
                </a:lnTo>
                <a:cubicBezTo>
                  <a:pt x="3429000" y="44357"/>
                  <a:pt x="3416207" y="57150"/>
                  <a:pt x="3400425" y="57150"/>
                </a:cubicBezTo>
                <a:lnTo>
                  <a:pt x="28575" y="57150"/>
                </a:lnTo>
                <a:cubicBezTo>
                  <a:pt x="12793" y="57150"/>
                  <a:pt x="0" y="44357"/>
                  <a:pt x="0" y="28575"/>
                </a:cubicBezTo>
                <a:lnTo>
                  <a:pt x="0" y="28575"/>
                </a:lnTo>
                <a:cubicBezTo>
                  <a:pt x="0" y="12793"/>
                  <a:pt x="12793" y="0"/>
                  <a:pt x="28575" y="0"/>
                </a:cubicBezTo>
                <a:close/>
              </a:path>
            </a:pathLst>
          </a:custGeom>
          <a:solidFill>
            <a:srgbClr val="1565C0"/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771525" y="1390650"/>
            <a:ext cx="467249" cy="609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565C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01</a:t>
            </a:r>
            <a:endParaRPr lang="zh-CN" sz="3000" b="1" dirty="0">
              <a:solidFill>
                <a:srgbClr val="1565C0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788670" y="1869758"/>
            <a:ext cx="1307068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26323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背景与动机</a:t>
            </a:r>
            <a:endParaRPr lang="zh-CN" sz="1650" b="1" dirty="0">
              <a:solidFill>
                <a:srgbClr val="263238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792480" y="2187892"/>
            <a:ext cx="220313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546E7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大模型的成功与射频缺席</a:t>
            </a:r>
            <a:endParaRPr lang="zh-CN" sz="1350" dirty="0">
              <a:solidFill>
                <a:srgbClr val="546E7A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792480" y="2426018"/>
            <a:ext cx="220313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546E7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传统射频智能的四重困境</a:t>
            </a:r>
            <a:endParaRPr lang="zh-CN" sz="1350" dirty="0">
              <a:solidFill>
                <a:srgbClr val="546E7A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792480" y="2664142"/>
            <a:ext cx="901827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546E7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RFLM愿景</a:t>
            </a:r>
            <a:endParaRPr lang="zh-CN" sz="1350" dirty="0">
              <a:solidFill>
                <a:srgbClr val="546E7A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6" name="Freeform 16"/>
          <p:cNvSpPr/>
          <p:nvPr/>
        </p:nvSpPr>
        <p:spPr>
          <a:xfrm>
            <a:off x="4381500" y="1333500"/>
            <a:ext cx="3429000" cy="2286000"/>
          </a:xfrm>
          <a:custGeom>
            <a:avLst/>
            <a:gdLst/>
            <a:ahLst/>
            <a:cxnLst/>
            <a:rect l="l" t="t" r="r" b="b"/>
            <a:pathLst>
              <a:path w="3429000" h="2286000">
                <a:moveTo>
                  <a:pt x="95250" y="0"/>
                </a:moveTo>
                <a:lnTo>
                  <a:pt x="3333750" y="0"/>
                </a:lnTo>
                <a:cubicBezTo>
                  <a:pt x="3386355" y="0"/>
                  <a:pt x="3429000" y="42645"/>
                  <a:pt x="3429000" y="95250"/>
                </a:cubicBezTo>
                <a:lnTo>
                  <a:pt x="3429000" y="2190750"/>
                </a:lnTo>
                <a:cubicBezTo>
                  <a:pt x="3429000" y="2243355"/>
                  <a:pt x="3386355" y="2286000"/>
                  <a:pt x="3333750" y="2286000"/>
                </a:cubicBezTo>
                <a:lnTo>
                  <a:pt x="95250" y="2286000"/>
                </a:lnTo>
                <a:cubicBezTo>
                  <a:pt x="42645" y="2286000"/>
                  <a:pt x="0" y="2243355"/>
                  <a:pt x="0" y="219075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F5F7FA"/>
          </a:solidFill>
          <a:ln>
            <a:noFill/>
          </a:ln>
        </p:spPr>
      </p:sp>
      <p:sp>
        <p:nvSpPr>
          <p:cNvPr id="17" name="Freeform 17"/>
          <p:cNvSpPr/>
          <p:nvPr/>
        </p:nvSpPr>
        <p:spPr>
          <a:xfrm>
            <a:off x="4381500" y="1333500"/>
            <a:ext cx="3429000" cy="57150"/>
          </a:xfrm>
          <a:custGeom>
            <a:avLst/>
            <a:gdLst/>
            <a:ahLst/>
            <a:cxnLst/>
            <a:rect l="l" t="t" r="r" b="b"/>
            <a:pathLst>
              <a:path w="3429000" h="57150">
                <a:moveTo>
                  <a:pt x="28575" y="0"/>
                </a:moveTo>
                <a:lnTo>
                  <a:pt x="3400425" y="0"/>
                </a:lnTo>
                <a:cubicBezTo>
                  <a:pt x="3416207" y="0"/>
                  <a:pt x="3429000" y="12793"/>
                  <a:pt x="3429000" y="28575"/>
                </a:cubicBezTo>
                <a:lnTo>
                  <a:pt x="3429000" y="28575"/>
                </a:lnTo>
                <a:cubicBezTo>
                  <a:pt x="3429000" y="44357"/>
                  <a:pt x="3416207" y="57150"/>
                  <a:pt x="3400425" y="57150"/>
                </a:cubicBezTo>
                <a:lnTo>
                  <a:pt x="28575" y="57150"/>
                </a:lnTo>
                <a:cubicBezTo>
                  <a:pt x="12793" y="57150"/>
                  <a:pt x="0" y="44357"/>
                  <a:pt x="0" y="28575"/>
                </a:cubicBezTo>
                <a:lnTo>
                  <a:pt x="0" y="28575"/>
                </a:lnTo>
                <a:cubicBezTo>
                  <a:pt x="0" y="12793"/>
                  <a:pt x="12793" y="0"/>
                  <a:pt x="28575" y="0"/>
                </a:cubicBezTo>
                <a:close/>
              </a:path>
            </a:pathLst>
          </a:custGeom>
          <a:solidFill>
            <a:srgbClr val="1565C0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4581525" y="1390650"/>
            <a:ext cx="582263" cy="609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565C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02</a:t>
            </a:r>
            <a:endParaRPr lang="zh-CN" sz="3000" b="1" dirty="0">
              <a:solidFill>
                <a:srgbClr val="1565C0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9" name="TextBox 19"/>
          <p:cNvSpPr txBox="1"/>
          <p:nvPr/>
        </p:nvSpPr>
        <p:spPr>
          <a:xfrm>
            <a:off x="4598670" y="1869758"/>
            <a:ext cx="1964950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26323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RF-GPT 核心思路</a:t>
            </a:r>
            <a:endParaRPr lang="zh-CN" sz="1650" b="1" dirty="0">
              <a:solidFill>
                <a:srgbClr val="263238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20" name="TextBox 20"/>
          <p:cNvSpPr txBox="1"/>
          <p:nvPr/>
        </p:nvSpPr>
        <p:spPr>
          <a:xfrm>
            <a:off x="4602480" y="2187892"/>
            <a:ext cx="121729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546E7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三大组件架构</a:t>
            </a:r>
            <a:endParaRPr lang="zh-CN" sz="1350" dirty="0">
              <a:solidFill>
                <a:srgbClr val="546E7A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21" name="TextBox 21"/>
          <p:cNvSpPr txBox="1"/>
          <p:nvPr/>
        </p:nvSpPr>
        <p:spPr>
          <a:xfrm>
            <a:off x="4602480" y="2426018"/>
            <a:ext cx="141446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546E7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为何选择频谱图</a:t>
            </a:r>
            <a:endParaRPr lang="zh-CN" sz="1350" dirty="0">
              <a:solidFill>
                <a:srgbClr val="546E7A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22" name="TextBox 22"/>
          <p:cNvSpPr txBox="1"/>
          <p:nvPr/>
        </p:nvSpPr>
        <p:spPr>
          <a:xfrm>
            <a:off x="4602480" y="2664142"/>
            <a:ext cx="1631347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546E7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类比：RF全科医生</a:t>
            </a:r>
            <a:endParaRPr lang="zh-CN" sz="1350" dirty="0">
              <a:solidFill>
                <a:srgbClr val="546E7A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23" name="Freeform 23"/>
          <p:cNvSpPr/>
          <p:nvPr/>
        </p:nvSpPr>
        <p:spPr>
          <a:xfrm>
            <a:off x="8191500" y="1333500"/>
            <a:ext cx="3429000" cy="2286000"/>
          </a:xfrm>
          <a:custGeom>
            <a:avLst/>
            <a:gdLst/>
            <a:ahLst/>
            <a:cxnLst/>
            <a:rect l="l" t="t" r="r" b="b"/>
            <a:pathLst>
              <a:path w="3429000" h="2286000">
                <a:moveTo>
                  <a:pt x="95250" y="0"/>
                </a:moveTo>
                <a:lnTo>
                  <a:pt x="3333750" y="0"/>
                </a:lnTo>
                <a:cubicBezTo>
                  <a:pt x="3386355" y="0"/>
                  <a:pt x="3429000" y="42645"/>
                  <a:pt x="3429000" y="95250"/>
                </a:cubicBezTo>
                <a:lnTo>
                  <a:pt x="3429000" y="2190750"/>
                </a:lnTo>
                <a:cubicBezTo>
                  <a:pt x="3429000" y="2243355"/>
                  <a:pt x="3386355" y="2286000"/>
                  <a:pt x="3333750" y="2286000"/>
                </a:cubicBezTo>
                <a:lnTo>
                  <a:pt x="95250" y="2286000"/>
                </a:lnTo>
                <a:cubicBezTo>
                  <a:pt x="42645" y="2286000"/>
                  <a:pt x="0" y="2243355"/>
                  <a:pt x="0" y="219075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F5F7FA"/>
          </a:solidFill>
          <a:ln>
            <a:noFill/>
          </a:ln>
        </p:spPr>
      </p:sp>
      <p:sp>
        <p:nvSpPr>
          <p:cNvPr id="24" name="Freeform 24"/>
          <p:cNvSpPr/>
          <p:nvPr/>
        </p:nvSpPr>
        <p:spPr>
          <a:xfrm>
            <a:off x="8191500" y="1333500"/>
            <a:ext cx="3429000" cy="57150"/>
          </a:xfrm>
          <a:custGeom>
            <a:avLst/>
            <a:gdLst/>
            <a:ahLst/>
            <a:cxnLst/>
            <a:rect l="l" t="t" r="r" b="b"/>
            <a:pathLst>
              <a:path w="3429000" h="57150">
                <a:moveTo>
                  <a:pt x="28575" y="0"/>
                </a:moveTo>
                <a:lnTo>
                  <a:pt x="3400425" y="0"/>
                </a:lnTo>
                <a:cubicBezTo>
                  <a:pt x="3416207" y="0"/>
                  <a:pt x="3429000" y="12793"/>
                  <a:pt x="3429000" y="28575"/>
                </a:cubicBezTo>
                <a:lnTo>
                  <a:pt x="3429000" y="28575"/>
                </a:lnTo>
                <a:cubicBezTo>
                  <a:pt x="3429000" y="44357"/>
                  <a:pt x="3416207" y="57150"/>
                  <a:pt x="3400425" y="57150"/>
                </a:cubicBezTo>
                <a:lnTo>
                  <a:pt x="28575" y="57150"/>
                </a:lnTo>
                <a:cubicBezTo>
                  <a:pt x="12793" y="57150"/>
                  <a:pt x="0" y="44357"/>
                  <a:pt x="0" y="28575"/>
                </a:cubicBezTo>
                <a:lnTo>
                  <a:pt x="0" y="28575"/>
                </a:lnTo>
                <a:cubicBezTo>
                  <a:pt x="0" y="12793"/>
                  <a:pt x="12793" y="0"/>
                  <a:pt x="28575" y="0"/>
                </a:cubicBezTo>
                <a:close/>
              </a:path>
            </a:pathLst>
          </a:custGeom>
          <a:solidFill>
            <a:srgbClr val="FF6F00"/>
          </a:solidFill>
          <a:ln>
            <a:noFill/>
          </a:ln>
        </p:spPr>
      </p:sp>
      <p:sp>
        <p:nvSpPr>
          <p:cNvPr id="25" name="TextBox 25"/>
          <p:cNvSpPr txBox="1"/>
          <p:nvPr/>
        </p:nvSpPr>
        <p:spPr>
          <a:xfrm>
            <a:off x="8391525" y="1390650"/>
            <a:ext cx="582263" cy="609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FF6F0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03</a:t>
            </a:r>
            <a:endParaRPr lang="zh-CN" sz="3000" b="1" dirty="0">
              <a:solidFill>
                <a:srgbClr val="FF6F00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26" name="TextBox 26"/>
          <p:cNvSpPr txBox="1"/>
          <p:nvPr/>
        </p:nvSpPr>
        <p:spPr>
          <a:xfrm>
            <a:off x="8408670" y="1869758"/>
            <a:ext cx="1560100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26323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数据合成管线</a:t>
            </a:r>
            <a:endParaRPr lang="zh-CN" sz="1650" b="1" dirty="0">
              <a:solidFill>
                <a:srgbClr val="263238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27" name="TextBox 27"/>
          <p:cNvSpPr txBox="1"/>
          <p:nvPr/>
        </p:nvSpPr>
        <p:spPr>
          <a:xfrm>
            <a:off x="8412480" y="2187892"/>
            <a:ext cx="200596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546E7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六种无线技术波形生成</a:t>
            </a:r>
            <a:endParaRPr lang="zh-CN" sz="1350" dirty="0">
              <a:solidFill>
                <a:srgbClr val="546E7A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28" name="TextBox 28"/>
          <p:cNvSpPr txBox="1"/>
          <p:nvPr/>
        </p:nvSpPr>
        <p:spPr>
          <a:xfrm>
            <a:off x="8412480" y="2426018"/>
            <a:ext cx="200596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546E7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自动化标注与指令合成</a:t>
            </a:r>
            <a:endParaRPr lang="zh-CN" sz="1350" dirty="0">
              <a:solidFill>
                <a:srgbClr val="546E7A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29" name="TextBox 29"/>
          <p:cNvSpPr txBox="1"/>
          <p:nvPr/>
        </p:nvSpPr>
        <p:spPr>
          <a:xfrm>
            <a:off x="8412480" y="2664142"/>
            <a:ext cx="2439734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546E7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零人工标注：62.5万指令对</a:t>
            </a:r>
            <a:endParaRPr lang="zh-CN" sz="1350" dirty="0">
              <a:solidFill>
                <a:srgbClr val="546E7A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30" name="Freeform 30"/>
          <p:cNvSpPr/>
          <p:nvPr/>
        </p:nvSpPr>
        <p:spPr>
          <a:xfrm>
            <a:off x="571500" y="3905250"/>
            <a:ext cx="3429000" cy="2286000"/>
          </a:xfrm>
          <a:custGeom>
            <a:avLst/>
            <a:gdLst/>
            <a:ahLst/>
            <a:cxnLst/>
            <a:rect l="l" t="t" r="r" b="b"/>
            <a:pathLst>
              <a:path w="3429000" h="2286000">
                <a:moveTo>
                  <a:pt x="95250" y="0"/>
                </a:moveTo>
                <a:lnTo>
                  <a:pt x="3333750" y="0"/>
                </a:lnTo>
                <a:cubicBezTo>
                  <a:pt x="3386355" y="0"/>
                  <a:pt x="3429000" y="42645"/>
                  <a:pt x="3429000" y="95250"/>
                </a:cubicBezTo>
                <a:lnTo>
                  <a:pt x="3429000" y="2190750"/>
                </a:lnTo>
                <a:cubicBezTo>
                  <a:pt x="3429000" y="2243355"/>
                  <a:pt x="3386355" y="2286000"/>
                  <a:pt x="3333750" y="2286000"/>
                </a:cubicBezTo>
                <a:lnTo>
                  <a:pt x="95250" y="2286000"/>
                </a:lnTo>
                <a:cubicBezTo>
                  <a:pt x="42645" y="2286000"/>
                  <a:pt x="0" y="2243355"/>
                  <a:pt x="0" y="219075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F5F7FA"/>
          </a:solidFill>
          <a:ln>
            <a:noFill/>
          </a:ln>
        </p:spPr>
      </p:sp>
      <p:sp>
        <p:nvSpPr>
          <p:cNvPr id="31" name="Freeform 31"/>
          <p:cNvSpPr/>
          <p:nvPr/>
        </p:nvSpPr>
        <p:spPr>
          <a:xfrm>
            <a:off x="571500" y="3905250"/>
            <a:ext cx="3429000" cy="57150"/>
          </a:xfrm>
          <a:custGeom>
            <a:avLst/>
            <a:gdLst/>
            <a:ahLst/>
            <a:cxnLst/>
            <a:rect l="l" t="t" r="r" b="b"/>
            <a:pathLst>
              <a:path w="3429000" h="57150">
                <a:moveTo>
                  <a:pt x="28575" y="0"/>
                </a:moveTo>
                <a:lnTo>
                  <a:pt x="3400425" y="0"/>
                </a:lnTo>
                <a:cubicBezTo>
                  <a:pt x="3416207" y="0"/>
                  <a:pt x="3429000" y="12793"/>
                  <a:pt x="3429000" y="28575"/>
                </a:cubicBezTo>
                <a:lnTo>
                  <a:pt x="3429000" y="28575"/>
                </a:lnTo>
                <a:cubicBezTo>
                  <a:pt x="3429000" y="44357"/>
                  <a:pt x="3416207" y="57150"/>
                  <a:pt x="3400425" y="57150"/>
                </a:cubicBezTo>
                <a:lnTo>
                  <a:pt x="28575" y="57150"/>
                </a:lnTo>
                <a:cubicBezTo>
                  <a:pt x="12793" y="57150"/>
                  <a:pt x="0" y="44357"/>
                  <a:pt x="0" y="28575"/>
                </a:cubicBezTo>
                <a:lnTo>
                  <a:pt x="0" y="28575"/>
                </a:lnTo>
                <a:cubicBezTo>
                  <a:pt x="0" y="12793"/>
                  <a:pt x="12793" y="0"/>
                  <a:pt x="28575" y="0"/>
                </a:cubicBezTo>
                <a:close/>
              </a:path>
            </a:pathLst>
          </a:custGeom>
          <a:solidFill>
            <a:srgbClr val="1565C0"/>
          </a:solidFill>
          <a:ln>
            <a:noFill/>
          </a:ln>
        </p:spPr>
      </p:sp>
      <p:sp>
        <p:nvSpPr>
          <p:cNvPr id="32" name="TextBox 32"/>
          <p:cNvSpPr txBox="1"/>
          <p:nvPr/>
        </p:nvSpPr>
        <p:spPr>
          <a:xfrm>
            <a:off x="771525" y="3962400"/>
            <a:ext cx="582263" cy="609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565C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04</a:t>
            </a:r>
            <a:endParaRPr lang="zh-CN" sz="3000" b="1" dirty="0">
              <a:solidFill>
                <a:srgbClr val="1565C0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33" name="TextBox 33"/>
          <p:cNvSpPr txBox="1"/>
          <p:nvPr/>
        </p:nvSpPr>
        <p:spPr>
          <a:xfrm>
            <a:off x="788670" y="4441508"/>
            <a:ext cx="1054036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26323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实验评估</a:t>
            </a:r>
            <a:endParaRPr lang="zh-CN" sz="1650" b="1" dirty="0">
              <a:solidFill>
                <a:srgbClr val="263238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34" name="TextBox 34"/>
          <p:cNvSpPr txBox="1"/>
          <p:nvPr/>
        </p:nvSpPr>
        <p:spPr>
          <a:xfrm>
            <a:off x="792480" y="4759642"/>
            <a:ext cx="200596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546E7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五大基准任务全面评测</a:t>
            </a:r>
            <a:endParaRPr lang="zh-CN" sz="1350" dirty="0">
              <a:solidFill>
                <a:srgbClr val="546E7A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35" name="TextBox 35"/>
          <p:cNvSpPr txBox="1"/>
          <p:nvPr/>
        </p:nvSpPr>
        <p:spPr>
          <a:xfrm>
            <a:off x="792480" y="4997768"/>
            <a:ext cx="2173557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546E7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通用VLM vs RF-GPT对比</a:t>
            </a:r>
            <a:endParaRPr lang="zh-CN" sz="1350" dirty="0">
              <a:solidFill>
                <a:srgbClr val="546E7A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36" name="TextBox 36"/>
          <p:cNvSpPr txBox="1"/>
          <p:nvPr/>
        </p:nvSpPr>
        <p:spPr>
          <a:xfrm>
            <a:off x="792480" y="5235892"/>
            <a:ext cx="161163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546E7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消融与鲁棒性分析</a:t>
            </a:r>
            <a:endParaRPr lang="zh-CN" sz="1350" dirty="0">
              <a:solidFill>
                <a:srgbClr val="546E7A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37" name="Freeform 37"/>
          <p:cNvSpPr/>
          <p:nvPr/>
        </p:nvSpPr>
        <p:spPr>
          <a:xfrm>
            <a:off x="4381500" y="3905250"/>
            <a:ext cx="3429000" cy="2286000"/>
          </a:xfrm>
          <a:custGeom>
            <a:avLst/>
            <a:gdLst/>
            <a:ahLst/>
            <a:cxnLst/>
            <a:rect l="l" t="t" r="r" b="b"/>
            <a:pathLst>
              <a:path w="3429000" h="2286000">
                <a:moveTo>
                  <a:pt x="95250" y="0"/>
                </a:moveTo>
                <a:lnTo>
                  <a:pt x="3333750" y="0"/>
                </a:lnTo>
                <a:cubicBezTo>
                  <a:pt x="3386355" y="0"/>
                  <a:pt x="3429000" y="42645"/>
                  <a:pt x="3429000" y="95250"/>
                </a:cubicBezTo>
                <a:lnTo>
                  <a:pt x="3429000" y="2190750"/>
                </a:lnTo>
                <a:cubicBezTo>
                  <a:pt x="3429000" y="2243355"/>
                  <a:pt x="3386355" y="2286000"/>
                  <a:pt x="3333750" y="2286000"/>
                </a:cubicBezTo>
                <a:lnTo>
                  <a:pt x="95250" y="2286000"/>
                </a:lnTo>
                <a:cubicBezTo>
                  <a:pt x="42645" y="2286000"/>
                  <a:pt x="0" y="2243355"/>
                  <a:pt x="0" y="219075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F5F7FA"/>
          </a:solidFill>
          <a:ln>
            <a:noFill/>
          </a:ln>
        </p:spPr>
      </p:sp>
      <p:sp>
        <p:nvSpPr>
          <p:cNvPr id="38" name="Freeform 38"/>
          <p:cNvSpPr/>
          <p:nvPr/>
        </p:nvSpPr>
        <p:spPr>
          <a:xfrm>
            <a:off x="4381500" y="3905250"/>
            <a:ext cx="3429000" cy="57150"/>
          </a:xfrm>
          <a:custGeom>
            <a:avLst/>
            <a:gdLst/>
            <a:ahLst/>
            <a:cxnLst/>
            <a:rect l="l" t="t" r="r" b="b"/>
            <a:pathLst>
              <a:path w="3429000" h="57150">
                <a:moveTo>
                  <a:pt x="28575" y="0"/>
                </a:moveTo>
                <a:lnTo>
                  <a:pt x="3400425" y="0"/>
                </a:lnTo>
                <a:cubicBezTo>
                  <a:pt x="3416207" y="0"/>
                  <a:pt x="3429000" y="12793"/>
                  <a:pt x="3429000" y="28575"/>
                </a:cubicBezTo>
                <a:lnTo>
                  <a:pt x="3429000" y="28575"/>
                </a:lnTo>
                <a:cubicBezTo>
                  <a:pt x="3429000" y="44357"/>
                  <a:pt x="3416207" y="57150"/>
                  <a:pt x="3400425" y="57150"/>
                </a:cubicBezTo>
                <a:lnTo>
                  <a:pt x="28575" y="57150"/>
                </a:lnTo>
                <a:cubicBezTo>
                  <a:pt x="12793" y="57150"/>
                  <a:pt x="0" y="44357"/>
                  <a:pt x="0" y="28575"/>
                </a:cubicBezTo>
                <a:lnTo>
                  <a:pt x="0" y="28575"/>
                </a:lnTo>
                <a:cubicBezTo>
                  <a:pt x="0" y="12793"/>
                  <a:pt x="12793" y="0"/>
                  <a:pt x="28575" y="0"/>
                </a:cubicBezTo>
                <a:close/>
              </a:path>
            </a:pathLst>
          </a:custGeom>
          <a:solidFill>
            <a:srgbClr val="1565C0"/>
          </a:solidFill>
          <a:ln>
            <a:noFill/>
          </a:ln>
        </p:spPr>
      </p:sp>
      <p:sp>
        <p:nvSpPr>
          <p:cNvPr id="39" name="TextBox 39"/>
          <p:cNvSpPr txBox="1"/>
          <p:nvPr/>
        </p:nvSpPr>
        <p:spPr>
          <a:xfrm>
            <a:off x="4581525" y="3962400"/>
            <a:ext cx="582263" cy="609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565C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05</a:t>
            </a:r>
            <a:endParaRPr lang="zh-CN" sz="3000" b="1" dirty="0">
              <a:solidFill>
                <a:srgbClr val="1565C0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40" name="TextBox 40"/>
          <p:cNvSpPr txBox="1"/>
          <p:nvPr/>
        </p:nvSpPr>
        <p:spPr>
          <a:xfrm>
            <a:off x="4598670" y="4441508"/>
            <a:ext cx="1560100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26323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相关工作对比</a:t>
            </a:r>
            <a:endParaRPr lang="zh-CN" sz="1650" b="1" dirty="0">
              <a:solidFill>
                <a:srgbClr val="263238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41" name="TextBox 41"/>
          <p:cNvSpPr txBox="1"/>
          <p:nvPr/>
        </p:nvSpPr>
        <p:spPr>
          <a:xfrm>
            <a:off x="4602480" y="4759642"/>
            <a:ext cx="1434179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546E7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RF基础模型对比</a:t>
            </a:r>
            <a:endParaRPr lang="zh-CN" sz="1350" dirty="0">
              <a:solidFill>
                <a:srgbClr val="546E7A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42" name="TextBox 42"/>
          <p:cNvSpPr txBox="1"/>
          <p:nvPr/>
        </p:nvSpPr>
        <p:spPr>
          <a:xfrm>
            <a:off x="4602480" y="4997768"/>
            <a:ext cx="1710214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546E7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Telecom LLMs对比</a:t>
            </a:r>
            <a:endParaRPr lang="zh-CN" sz="1350" dirty="0">
              <a:solidFill>
                <a:srgbClr val="546E7A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43" name="TextBox 43"/>
          <p:cNvSpPr txBox="1"/>
          <p:nvPr/>
        </p:nvSpPr>
        <p:spPr>
          <a:xfrm>
            <a:off x="4602480" y="5235892"/>
            <a:ext cx="1542621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546E7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与VLA模型的联系</a:t>
            </a:r>
            <a:endParaRPr lang="zh-CN" sz="1350" dirty="0">
              <a:solidFill>
                <a:srgbClr val="546E7A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44" name="Freeform 44"/>
          <p:cNvSpPr/>
          <p:nvPr/>
        </p:nvSpPr>
        <p:spPr>
          <a:xfrm>
            <a:off x="8191500" y="3905250"/>
            <a:ext cx="3429000" cy="2286000"/>
          </a:xfrm>
          <a:custGeom>
            <a:avLst/>
            <a:gdLst/>
            <a:ahLst/>
            <a:cxnLst/>
            <a:rect l="l" t="t" r="r" b="b"/>
            <a:pathLst>
              <a:path w="3429000" h="2286000">
                <a:moveTo>
                  <a:pt x="95250" y="0"/>
                </a:moveTo>
                <a:lnTo>
                  <a:pt x="3333750" y="0"/>
                </a:lnTo>
                <a:cubicBezTo>
                  <a:pt x="3386355" y="0"/>
                  <a:pt x="3429000" y="42645"/>
                  <a:pt x="3429000" y="95250"/>
                </a:cubicBezTo>
                <a:lnTo>
                  <a:pt x="3429000" y="2190750"/>
                </a:lnTo>
                <a:cubicBezTo>
                  <a:pt x="3429000" y="2243355"/>
                  <a:pt x="3386355" y="2286000"/>
                  <a:pt x="3333750" y="2286000"/>
                </a:cubicBezTo>
                <a:lnTo>
                  <a:pt x="95250" y="2286000"/>
                </a:lnTo>
                <a:cubicBezTo>
                  <a:pt x="42645" y="2286000"/>
                  <a:pt x="0" y="2243355"/>
                  <a:pt x="0" y="219075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F5F7FA"/>
          </a:solidFill>
          <a:ln>
            <a:noFill/>
          </a:ln>
        </p:spPr>
      </p:sp>
      <p:sp>
        <p:nvSpPr>
          <p:cNvPr id="45" name="Freeform 45"/>
          <p:cNvSpPr/>
          <p:nvPr/>
        </p:nvSpPr>
        <p:spPr>
          <a:xfrm>
            <a:off x="8191500" y="3905250"/>
            <a:ext cx="3429000" cy="57150"/>
          </a:xfrm>
          <a:custGeom>
            <a:avLst/>
            <a:gdLst/>
            <a:ahLst/>
            <a:cxnLst/>
            <a:rect l="l" t="t" r="r" b="b"/>
            <a:pathLst>
              <a:path w="3429000" h="57150">
                <a:moveTo>
                  <a:pt x="28575" y="0"/>
                </a:moveTo>
                <a:lnTo>
                  <a:pt x="3400425" y="0"/>
                </a:lnTo>
                <a:cubicBezTo>
                  <a:pt x="3416207" y="0"/>
                  <a:pt x="3429000" y="12793"/>
                  <a:pt x="3429000" y="28575"/>
                </a:cubicBezTo>
                <a:lnTo>
                  <a:pt x="3429000" y="28575"/>
                </a:lnTo>
                <a:cubicBezTo>
                  <a:pt x="3429000" y="44357"/>
                  <a:pt x="3416207" y="57150"/>
                  <a:pt x="3400425" y="57150"/>
                </a:cubicBezTo>
                <a:lnTo>
                  <a:pt x="28575" y="57150"/>
                </a:lnTo>
                <a:cubicBezTo>
                  <a:pt x="12793" y="57150"/>
                  <a:pt x="0" y="44357"/>
                  <a:pt x="0" y="28575"/>
                </a:cubicBezTo>
                <a:lnTo>
                  <a:pt x="0" y="28575"/>
                </a:lnTo>
                <a:cubicBezTo>
                  <a:pt x="0" y="12793"/>
                  <a:pt x="12793" y="0"/>
                  <a:pt x="28575" y="0"/>
                </a:cubicBezTo>
                <a:close/>
              </a:path>
            </a:pathLst>
          </a:custGeom>
          <a:solidFill>
            <a:srgbClr val="FF6F00"/>
          </a:solidFill>
          <a:ln>
            <a:noFill/>
          </a:ln>
        </p:spPr>
      </p:sp>
      <p:sp>
        <p:nvSpPr>
          <p:cNvPr id="46" name="TextBox 46"/>
          <p:cNvSpPr txBox="1"/>
          <p:nvPr/>
        </p:nvSpPr>
        <p:spPr>
          <a:xfrm>
            <a:off x="8391525" y="3962400"/>
            <a:ext cx="582263" cy="609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FF6F0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06</a:t>
            </a:r>
            <a:endParaRPr lang="zh-CN" sz="3000" b="1" dirty="0">
              <a:solidFill>
                <a:srgbClr val="FF6F00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47" name="TextBox 47"/>
          <p:cNvSpPr txBox="1"/>
          <p:nvPr/>
        </p:nvSpPr>
        <p:spPr>
          <a:xfrm>
            <a:off x="8408670" y="4441508"/>
            <a:ext cx="1307068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26323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总结与展望</a:t>
            </a:r>
            <a:endParaRPr lang="zh-CN" sz="1650" b="1" dirty="0">
              <a:solidFill>
                <a:srgbClr val="263238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48" name="TextBox 48"/>
          <p:cNvSpPr txBox="1"/>
          <p:nvPr/>
        </p:nvSpPr>
        <p:spPr>
          <a:xfrm>
            <a:off x="8412480" y="4759642"/>
            <a:ext cx="121729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546E7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三大贡献总结</a:t>
            </a:r>
            <a:endParaRPr lang="zh-CN" sz="1350" dirty="0">
              <a:solidFill>
                <a:srgbClr val="546E7A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49" name="TextBox 49"/>
          <p:cNvSpPr txBox="1"/>
          <p:nvPr/>
        </p:nvSpPr>
        <p:spPr>
          <a:xfrm>
            <a:off x="8412480" y="4997768"/>
            <a:ext cx="82296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546E7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当前局限</a:t>
            </a:r>
            <a:endParaRPr lang="zh-CN" sz="1350" dirty="0">
              <a:solidFill>
                <a:srgbClr val="546E7A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50" name="TextBox 50"/>
          <p:cNvSpPr txBox="1"/>
          <p:nvPr/>
        </p:nvSpPr>
        <p:spPr>
          <a:xfrm>
            <a:off x="8412480" y="5235892"/>
            <a:ext cx="82296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546E7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未来方向</a:t>
            </a:r>
            <a:endParaRPr lang="zh-CN" sz="1350" dirty="0">
              <a:solidFill>
                <a:srgbClr val="546E7A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51" name="Rectangle 51"/>
          <p:cNvSpPr/>
          <p:nvPr/>
        </p:nvSpPr>
        <p:spPr>
          <a:xfrm>
            <a:off x="571500" y="6667500"/>
            <a:ext cx="11049000" cy="9525"/>
          </a:xfrm>
          <a:prstGeom prst="rect">
            <a:avLst/>
          </a:prstGeom>
          <a:solidFill>
            <a:srgbClr val="ECEFF1"/>
          </a:solidFill>
          <a:ln>
            <a:noFill/>
          </a:ln>
        </p:spPr>
      </p:sp>
      <p:sp>
        <p:nvSpPr>
          <p:cNvPr id="52" name="TextBox 52"/>
          <p:cNvSpPr txBox="1"/>
          <p:nvPr/>
        </p:nvSpPr>
        <p:spPr>
          <a:xfrm>
            <a:off x="560070" y="6703695"/>
            <a:ext cx="133073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0A4A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RF-GPT Presentation</a:t>
            </a:r>
            <a:endParaRPr lang="zh-CN" sz="900" dirty="0">
              <a:solidFill>
                <a:srgbClr val="90A4A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53" name="TextBox 53"/>
          <p:cNvSpPr txBox="1"/>
          <p:nvPr/>
        </p:nvSpPr>
        <p:spPr>
          <a:xfrm>
            <a:off x="11582590" y="6703695"/>
            <a:ext cx="43034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90A4A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02 / 15</a:t>
            </a:r>
            <a:endParaRPr lang="zh-CN" sz="900" dirty="0">
              <a:solidFill>
                <a:srgbClr val="90A4A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1565C0">
                  <a:alpha val="8000"/>
                </a:srgbClr>
              </a:gs>
              <a:gs pos="100000">
                <a:srgbClr val="1565C0">
                  <a:alpha val="0"/>
                </a:srgbClr>
              </a:gs>
            </a:gsLst>
            <a:lin ang="2700000" scaled="1"/>
          </a:gra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1565C0"/>
          </a:solidFill>
          <a:ln>
            <a:noFill/>
          </a:ln>
        </p:spPr>
      </p:sp>
      <p:sp>
        <p:nvSpPr>
          <p:cNvPr id="5" name="Rectangle 5"/>
          <p:cNvSpPr/>
          <p:nvPr/>
        </p:nvSpPr>
        <p:spPr>
          <a:xfrm>
            <a:off x="571500" y="476250"/>
            <a:ext cx="57150" cy="342900"/>
          </a:xfrm>
          <a:prstGeom prst="rect">
            <a:avLst/>
          </a:prstGeom>
          <a:solidFill>
            <a:srgbClr val="1565C0"/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723900" y="419100"/>
            <a:ext cx="5596890" cy="609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26323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大模型的成功与缺失的一环</a:t>
            </a:r>
            <a:endParaRPr lang="zh-CN" sz="3000" b="1" dirty="0">
              <a:solidFill>
                <a:srgbClr val="263238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7" name="Rectangle 7"/>
          <p:cNvSpPr/>
          <p:nvPr/>
        </p:nvSpPr>
        <p:spPr>
          <a:xfrm>
            <a:off x="571500" y="1095375"/>
            <a:ext cx="11049000" cy="9525"/>
          </a:xfrm>
          <a:prstGeom prst="rect">
            <a:avLst/>
          </a:prstGeom>
          <a:solidFill>
            <a:srgbClr val="ECEFF1"/>
          </a:solidFill>
          <a:ln>
            <a:noFill/>
          </a:ln>
        </p:spPr>
      </p:sp>
      <p:sp>
        <p:nvSpPr>
          <p:cNvPr id="8" name="Freeform 8"/>
          <p:cNvSpPr/>
          <p:nvPr/>
        </p:nvSpPr>
        <p:spPr>
          <a:xfrm>
            <a:off x="571500" y="1428750"/>
            <a:ext cx="3429000" cy="4286250"/>
          </a:xfrm>
          <a:custGeom>
            <a:avLst/>
            <a:gdLst/>
            <a:ahLst/>
            <a:cxnLst/>
            <a:rect l="l" t="t" r="r" b="b"/>
            <a:pathLst>
              <a:path w="3429000" h="4286250">
                <a:moveTo>
                  <a:pt x="95250" y="0"/>
                </a:moveTo>
                <a:lnTo>
                  <a:pt x="3333750" y="0"/>
                </a:lnTo>
                <a:cubicBezTo>
                  <a:pt x="3386355" y="0"/>
                  <a:pt x="3429000" y="42645"/>
                  <a:pt x="3429000" y="95250"/>
                </a:cubicBezTo>
                <a:lnTo>
                  <a:pt x="3429000" y="4191000"/>
                </a:lnTo>
                <a:cubicBezTo>
                  <a:pt x="3429000" y="4243605"/>
                  <a:pt x="3386355" y="4286250"/>
                  <a:pt x="3333750" y="4286250"/>
                </a:cubicBezTo>
                <a:lnTo>
                  <a:pt x="95250" y="4286250"/>
                </a:lnTo>
                <a:cubicBezTo>
                  <a:pt x="42645" y="4286250"/>
                  <a:pt x="0" y="4243605"/>
                  <a:pt x="0" y="419100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F5F7FA"/>
          </a:solidFill>
          <a:ln>
            <a:noFill/>
          </a:ln>
        </p:spPr>
      </p:sp>
      <p:sp>
        <p:nvSpPr>
          <p:cNvPr id="9" name="Freeform 9"/>
          <p:cNvSpPr/>
          <p:nvPr/>
        </p:nvSpPr>
        <p:spPr>
          <a:xfrm>
            <a:off x="571500" y="1428750"/>
            <a:ext cx="3429000" cy="1714500"/>
          </a:xfrm>
          <a:custGeom>
            <a:avLst/>
            <a:gdLst/>
            <a:ahLst/>
            <a:cxnLst/>
            <a:rect l="l" t="t" r="r" b="b"/>
            <a:pathLst>
              <a:path w="3429000" h="1714500">
                <a:moveTo>
                  <a:pt x="95250" y="0"/>
                </a:moveTo>
                <a:lnTo>
                  <a:pt x="3333750" y="0"/>
                </a:lnTo>
                <a:cubicBezTo>
                  <a:pt x="3386355" y="0"/>
                  <a:pt x="3429000" y="42645"/>
                  <a:pt x="3429000" y="95250"/>
                </a:cubicBezTo>
                <a:lnTo>
                  <a:pt x="3429000" y="1619250"/>
                </a:lnTo>
                <a:cubicBezTo>
                  <a:pt x="3429000" y="1671855"/>
                  <a:pt x="3386355" y="1714500"/>
                  <a:pt x="3333750" y="1714500"/>
                </a:cubicBezTo>
                <a:lnTo>
                  <a:pt x="95250" y="1714500"/>
                </a:lnTo>
                <a:cubicBezTo>
                  <a:pt x="42645" y="1714500"/>
                  <a:pt x="0" y="1671855"/>
                  <a:pt x="0" y="161925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1565C0"/>
          </a:solidFill>
          <a:ln>
            <a:noFill/>
          </a:ln>
        </p:spPr>
      </p:sp>
      <p:sp>
        <p:nvSpPr>
          <p:cNvPr id="10" name="Rectangle 10"/>
          <p:cNvSpPr/>
          <p:nvPr/>
        </p:nvSpPr>
        <p:spPr>
          <a:xfrm>
            <a:off x="571500" y="3048000"/>
            <a:ext cx="3429000" cy="95250"/>
          </a:xfrm>
          <a:prstGeom prst="rect">
            <a:avLst/>
          </a:prstGeom>
          <a:solidFill>
            <a:srgbClr val="1565C0"/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1648477" y="1554956"/>
            <a:ext cx="1275046" cy="838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4125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LLM</a:t>
            </a:r>
            <a:endParaRPr lang="zh-CN" sz="4125" b="1" dirty="0">
              <a:solidFill>
                <a:srgbClr val="FFFFFF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1379434" y="2584132"/>
            <a:ext cx="1813131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大规模语言模型</a:t>
            </a:r>
            <a:endParaRPr lang="zh-CN" sz="1650" b="1" dirty="0">
              <a:solidFill>
                <a:srgbClr val="FFFFFF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789622" y="3354229"/>
            <a:ext cx="2627828" cy="3200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75" dirty="0">
                <a:solidFill>
                  <a:srgbClr val="26323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GPT-4o、Gemini、LLaMA</a:t>
            </a:r>
            <a:endParaRPr lang="zh-CN" sz="1575" dirty="0">
              <a:solidFill>
                <a:srgbClr val="263238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789622" y="3639979"/>
            <a:ext cx="2110264" cy="3200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75" dirty="0">
                <a:solidFill>
                  <a:srgbClr val="26323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文本生成、代码合成</a:t>
            </a:r>
            <a:endParaRPr lang="zh-CN" sz="1575" dirty="0">
              <a:solidFill>
                <a:srgbClr val="263238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789622" y="3925729"/>
            <a:ext cx="2110264" cy="3200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75" dirty="0">
                <a:solidFill>
                  <a:srgbClr val="26323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多步推理、工具使用</a:t>
            </a:r>
            <a:endParaRPr lang="zh-CN" sz="1575" dirty="0">
              <a:solidFill>
                <a:srgbClr val="263238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789622" y="4306729"/>
            <a:ext cx="1880235" cy="3200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75" dirty="0">
                <a:solidFill>
                  <a:srgbClr val="26323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自然语言交互界面</a:t>
            </a:r>
            <a:endParaRPr lang="zh-CN" sz="1575" dirty="0">
              <a:solidFill>
                <a:srgbClr val="263238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7" name="Freeform 17"/>
          <p:cNvSpPr/>
          <p:nvPr/>
        </p:nvSpPr>
        <p:spPr>
          <a:xfrm>
            <a:off x="4381500" y="1428750"/>
            <a:ext cx="3429000" cy="4286250"/>
          </a:xfrm>
          <a:custGeom>
            <a:avLst/>
            <a:gdLst/>
            <a:ahLst/>
            <a:cxnLst/>
            <a:rect l="l" t="t" r="r" b="b"/>
            <a:pathLst>
              <a:path w="3429000" h="4286250">
                <a:moveTo>
                  <a:pt x="95250" y="0"/>
                </a:moveTo>
                <a:lnTo>
                  <a:pt x="3333750" y="0"/>
                </a:lnTo>
                <a:cubicBezTo>
                  <a:pt x="3386355" y="0"/>
                  <a:pt x="3429000" y="42645"/>
                  <a:pt x="3429000" y="95250"/>
                </a:cubicBezTo>
                <a:lnTo>
                  <a:pt x="3429000" y="4191000"/>
                </a:lnTo>
                <a:cubicBezTo>
                  <a:pt x="3429000" y="4243605"/>
                  <a:pt x="3386355" y="4286250"/>
                  <a:pt x="3333750" y="4286250"/>
                </a:cubicBezTo>
                <a:lnTo>
                  <a:pt x="95250" y="4286250"/>
                </a:lnTo>
                <a:cubicBezTo>
                  <a:pt x="42645" y="4286250"/>
                  <a:pt x="0" y="4243605"/>
                  <a:pt x="0" y="419100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F5F7FA"/>
          </a:solidFill>
          <a:ln>
            <a:noFill/>
          </a:ln>
        </p:spPr>
      </p:sp>
      <p:sp>
        <p:nvSpPr>
          <p:cNvPr id="18" name="Freeform 18"/>
          <p:cNvSpPr/>
          <p:nvPr/>
        </p:nvSpPr>
        <p:spPr>
          <a:xfrm>
            <a:off x="4381500" y="1428750"/>
            <a:ext cx="3429000" cy="1714500"/>
          </a:xfrm>
          <a:custGeom>
            <a:avLst/>
            <a:gdLst/>
            <a:ahLst/>
            <a:cxnLst/>
            <a:rect l="l" t="t" r="r" b="b"/>
            <a:pathLst>
              <a:path w="3429000" h="1714500">
                <a:moveTo>
                  <a:pt x="95250" y="0"/>
                </a:moveTo>
                <a:lnTo>
                  <a:pt x="3333750" y="0"/>
                </a:lnTo>
                <a:cubicBezTo>
                  <a:pt x="3386355" y="0"/>
                  <a:pt x="3429000" y="42645"/>
                  <a:pt x="3429000" y="95250"/>
                </a:cubicBezTo>
                <a:lnTo>
                  <a:pt x="3429000" y="1619250"/>
                </a:lnTo>
                <a:cubicBezTo>
                  <a:pt x="3429000" y="1671855"/>
                  <a:pt x="3386355" y="1714500"/>
                  <a:pt x="3333750" y="1714500"/>
                </a:cubicBezTo>
                <a:lnTo>
                  <a:pt x="95250" y="1714500"/>
                </a:lnTo>
                <a:cubicBezTo>
                  <a:pt x="42645" y="1714500"/>
                  <a:pt x="0" y="1671855"/>
                  <a:pt x="0" y="161925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0D47A1"/>
          </a:solidFill>
          <a:ln>
            <a:noFill/>
          </a:ln>
        </p:spPr>
      </p:sp>
      <p:sp>
        <p:nvSpPr>
          <p:cNvPr id="19" name="Rectangle 19"/>
          <p:cNvSpPr/>
          <p:nvPr/>
        </p:nvSpPr>
        <p:spPr>
          <a:xfrm>
            <a:off x="4381500" y="3048000"/>
            <a:ext cx="3429000" cy="95250"/>
          </a:xfrm>
          <a:prstGeom prst="rect">
            <a:avLst/>
          </a:prstGeom>
          <a:solidFill>
            <a:srgbClr val="0D47A1"/>
          </a:solidFill>
          <a:ln>
            <a:noFill/>
          </a:ln>
        </p:spPr>
      </p:sp>
      <p:sp>
        <p:nvSpPr>
          <p:cNvPr id="20" name="TextBox 20"/>
          <p:cNvSpPr txBox="1"/>
          <p:nvPr/>
        </p:nvSpPr>
        <p:spPr>
          <a:xfrm>
            <a:off x="5458477" y="1554956"/>
            <a:ext cx="1275046" cy="838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4125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VLM</a:t>
            </a:r>
            <a:endParaRPr lang="zh-CN" sz="4125" b="1" dirty="0">
              <a:solidFill>
                <a:srgbClr val="FFFFFF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21" name="TextBox 21"/>
          <p:cNvSpPr txBox="1"/>
          <p:nvPr/>
        </p:nvSpPr>
        <p:spPr>
          <a:xfrm>
            <a:off x="5315950" y="2584132"/>
            <a:ext cx="1560100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视觉语言模型</a:t>
            </a:r>
            <a:endParaRPr lang="zh-CN" sz="1650" b="1" dirty="0">
              <a:solidFill>
                <a:srgbClr val="FFFFFF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22" name="TextBox 22"/>
          <p:cNvSpPr txBox="1"/>
          <p:nvPr/>
        </p:nvSpPr>
        <p:spPr>
          <a:xfrm>
            <a:off x="4599622" y="3354229"/>
            <a:ext cx="2581823" cy="3200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75" dirty="0">
                <a:solidFill>
                  <a:srgbClr val="26323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Qwen2.5-VL、InternVL</a:t>
            </a:r>
            <a:endParaRPr lang="zh-CN" sz="1575" dirty="0">
              <a:solidFill>
                <a:srgbClr val="263238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23" name="TextBox 23"/>
          <p:cNvSpPr txBox="1"/>
          <p:nvPr/>
        </p:nvSpPr>
        <p:spPr>
          <a:xfrm>
            <a:off x="4599622" y="3639979"/>
            <a:ext cx="1903238" cy="3200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75" dirty="0">
                <a:solidFill>
                  <a:srgbClr val="26323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"看懂"图像与视频</a:t>
            </a:r>
            <a:endParaRPr lang="zh-CN" sz="1575" dirty="0">
              <a:solidFill>
                <a:srgbClr val="263238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24" name="TextBox 24"/>
          <p:cNvSpPr txBox="1"/>
          <p:nvPr/>
        </p:nvSpPr>
        <p:spPr>
          <a:xfrm>
            <a:off x="4599622" y="3925729"/>
            <a:ext cx="2087261" cy="3200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75" dirty="0">
                <a:solidFill>
                  <a:srgbClr val="26323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Whisper"听懂"音频</a:t>
            </a:r>
            <a:endParaRPr lang="zh-CN" sz="1575" dirty="0">
              <a:solidFill>
                <a:srgbClr val="263238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25" name="TextBox 25"/>
          <p:cNvSpPr txBox="1"/>
          <p:nvPr/>
        </p:nvSpPr>
        <p:spPr>
          <a:xfrm>
            <a:off x="4599622" y="4306729"/>
            <a:ext cx="1650206" cy="3200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75" dirty="0">
                <a:solidFill>
                  <a:srgbClr val="26323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多模态推理能力</a:t>
            </a:r>
            <a:endParaRPr lang="zh-CN" sz="1575" dirty="0">
              <a:solidFill>
                <a:srgbClr val="263238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26" name="Freeform 26"/>
          <p:cNvSpPr/>
          <p:nvPr/>
        </p:nvSpPr>
        <p:spPr>
          <a:xfrm>
            <a:off x="8191500" y="1428750"/>
            <a:ext cx="3429000" cy="4286250"/>
          </a:xfrm>
          <a:custGeom>
            <a:avLst/>
            <a:gdLst/>
            <a:ahLst/>
            <a:cxnLst/>
            <a:rect l="l" t="t" r="r" b="b"/>
            <a:pathLst>
              <a:path w="3429000" h="4286250">
                <a:moveTo>
                  <a:pt x="95250" y="0"/>
                </a:moveTo>
                <a:lnTo>
                  <a:pt x="3333750" y="0"/>
                </a:lnTo>
                <a:cubicBezTo>
                  <a:pt x="3386355" y="0"/>
                  <a:pt x="3429000" y="42645"/>
                  <a:pt x="3429000" y="95250"/>
                </a:cubicBezTo>
                <a:lnTo>
                  <a:pt x="3429000" y="4191000"/>
                </a:lnTo>
                <a:cubicBezTo>
                  <a:pt x="3429000" y="4243605"/>
                  <a:pt x="3386355" y="4286250"/>
                  <a:pt x="3333750" y="4286250"/>
                </a:cubicBezTo>
                <a:lnTo>
                  <a:pt x="95250" y="4286250"/>
                </a:lnTo>
                <a:cubicBezTo>
                  <a:pt x="42645" y="4286250"/>
                  <a:pt x="0" y="4243605"/>
                  <a:pt x="0" y="419100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F5F7FA"/>
          </a:solidFill>
          <a:ln>
            <a:noFill/>
          </a:ln>
        </p:spPr>
      </p:sp>
      <p:sp>
        <p:nvSpPr>
          <p:cNvPr id="27" name="Freeform 27"/>
          <p:cNvSpPr/>
          <p:nvPr/>
        </p:nvSpPr>
        <p:spPr>
          <a:xfrm>
            <a:off x="8191500" y="1428750"/>
            <a:ext cx="3429000" cy="1714500"/>
          </a:xfrm>
          <a:custGeom>
            <a:avLst/>
            <a:gdLst/>
            <a:ahLst/>
            <a:cxnLst/>
            <a:rect l="l" t="t" r="r" b="b"/>
            <a:pathLst>
              <a:path w="3429000" h="1714500">
                <a:moveTo>
                  <a:pt x="95250" y="0"/>
                </a:moveTo>
                <a:lnTo>
                  <a:pt x="3333750" y="0"/>
                </a:lnTo>
                <a:cubicBezTo>
                  <a:pt x="3386355" y="0"/>
                  <a:pt x="3429000" y="42645"/>
                  <a:pt x="3429000" y="95250"/>
                </a:cubicBezTo>
                <a:lnTo>
                  <a:pt x="3429000" y="1619250"/>
                </a:lnTo>
                <a:cubicBezTo>
                  <a:pt x="3429000" y="1671855"/>
                  <a:pt x="3386355" y="1714500"/>
                  <a:pt x="3333750" y="1714500"/>
                </a:cubicBezTo>
                <a:lnTo>
                  <a:pt x="95250" y="1714500"/>
                </a:lnTo>
                <a:cubicBezTo>
                  <a:pt x="42645" y="1714500"/>
                  <a:pt x="0" y="1671855"/>
                  <a:pt x="0" y="161925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C62828"/>
          </a:solidFill>
          <a:ln>
            <a:noFill/>
          </a:ln>
        </p:spPr>
      </p:sp>
      <p:sp>
        <p:nvSpPr>
          <p:cNvPr id="28" name="Rectangle 28"/>
          <p:cNvSpPr/>
          <p:nvPr/>
        </p:nvSpPr>
        <p:spPr>
          <a:xfrm>
            <a:off x="8191500" y="3048000"/>
            <a:ext cx="3429000" cy="95250"/>
          </a:xfrm>
          <a:prstGeom prst="rect">
            <a:avLst/>
          </a:prstGeom>
          <a:solidFill>
            <a:srgbClr val="C62828"/>
          </a:solidFill>
          <a:ln>
            <a:noFill/>
          </a:ln>
        </p:spPr>
      </p:sp>
      <p:sp>
        <p:nvSpPr>
          <p:cNvPr id="29" name="TextBox 29"/>
          <p:cNvSpPr txBox="1"/>
          <p:nvPr/>
        </p:nvSpPr>
        <p:spPr>
          <a:xfrm>
            <a:off x="9505694" y="1554956"/>
            <a:ext cx="800612" cy="838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4125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RF</a:t>
            </a:r>
            <a:endParaRPr lang="zh-CN" sz="4125" b="1" dirty="0">
              <a:solidFill>
                <a:srgbClr val="FFFFFF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30" name="TextBox 30"/>
          <p:cNvSpPr txBox="1"/>
          <p:nvPr/>
        </p:nvSpPr>
        <p:spPr>
          <a:xfrm>
            <a:off x="9125950" y="2584132"/>
            <a:ext cx="1560100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射频信号缺席</a:t>
            </a:r>
            <a:endParaRPr lang="zh-CN" sz="1650" b="1" dirty="0">
              <a:solidFill>
                <a:srgbClr val="FFFFFF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31" name="TextBox 31"/>
          <p:cNvSpPr txBox="1"/>
          <p:nvPr/>
        </p:nvSpPr>
        <p:spPr>
          <a:xfrm>
            <a:off x="8409622" y="3354229"/>
            <a:ext cx="2110264" cy="3200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75" dirty="0">
                <a:solidFill>
                  <a:srgbClr val="26323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无线通信物理层信号</a:t>
            </a:r>
            <a:endParaRPr lang="zh-CN" sz="1575" dirty="0">
              <a:solidFill>
                <a:srgbClr val="263238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32" name="TextBox 32"/>
          <p:cNvSpPr txBox="1"/>
          <p:nvPr/>
        </p:nvSpPr>
        <p:spPr>
          <a:xfrm>
            <a:off x="8409622" y="3639979"/>
            <a:ext cx="2340292" cy="3200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75" dirty="0">
                <a:solidFill>
                  <a:srgbClr val="C6282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尚未被大模型原生支持</a:t>
            </a:r>
            <a:endParaRPr lang="zh-CN" sz="1575" dirty="0">
              <a:solidFill>
                <a:srgbClr val="C62828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33" name="TextBox 33"/>
          <p:cNvSpPr txBox="1"/>
          <p:nvPr/>
        </p:nvSpPr>
        <p:spPr>
          <a:xfrm>
            <a:off x="8412480" y="4045268"/>
            <a:ext cx="1020127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546E7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现有方法：</a:t>
            </a:r>
            <a:endParaRPr lang="zh-CN" sz="1350" dirty="0">
              <a:solidFill>
                <a:srgbClr val="546E7A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34" name="TextBox 34"/>
          <p:cNvSpPr txBox="1"/>
          <p:nvPr/>
        </p:nvSpPr>
        <p:spPr>
          <a:xfrm>
            <a:off x="8412480" y="4283392"/>
            <a:ext cx="2232708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546E7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任务特定 + 领域专用模型</a:t>
            </a:r>
            <a:endParaRPr lang="zh-CN" sz="1350" dirty="0">
              <a:solidFill>
                <a:srgbClr val="546E7A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35" name="TextBox 35"/>
          <p:cNvSpPr txBox="1"/>
          <p:nvPr/>
        </p:nvSpPr>
        <p:spPr>
          <a:xfrm>
            <a:off x="8412480" y="4521518"/>
            <a:ext cx="121729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546E7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缺少统一框架</a:t>
            </a:r>
            <a:endParaRPr lang="zh-CN" sz="1350" dirty="0">
              <a:solidFill>
                <a:srgbClr val="546E7A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36" name="Rectangle 36"/>
          <p:cNvSpPr/>
          <p:nvPr/>
        </p:nvSpPr>
        <p:spPr>
          <a:xfrm>
            <a:off x="571500" y="6667500"/>
            <a:ext cx="11049000" cy="9525"/>
          </a:xfrm>
          <a:prstGeom prst="rect">
            <a:avLst/>
          </a:prstGeom>
          <a:solidFill>
            <a:srgbClr val="ECEFF1"/>
          </a:solidFill>
          <a:ln>
            <a:noFill/>
          </a:ln>
        </p:spPr>
      </p:sp>
      <p:sp>
        <p:nvSpPr>
          <p:cNvPr id="37" name="TextBox 37"/>
          <p:cNvSpPr txBox="1"/>
          <p:nvPr/>
        </p:nvSpPr>
        <p:spPr>
          <a:xfrm>
            <a:off x="560070" y="6703695"/>
            <a:ext cx="133073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0A4A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RF-GPT Presentation</a:t>
            </a:r>
            <a:endParaRPr lang="zh-CN" sz="900" dirty="0">
              <a:solidFill>
                <a:srgbClr val="90A4A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38" name="TextBox 38"/>
          <p:cNvSpPr txBox="1"/>
          <p:nvPr/>
        </p:nvSpPr>
        <p:spPr>
          <a:xfrm>
            <a:off x="11582590" y="6703695"/>
            <a:ext cx="43034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90A4A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03 / 15</a:t>
            </a:r>
            <a:endParaRPr lang="zh-CN" sz="900" dirty="0">
              <a:solidFill>
                <a:srgbClr val="90A4A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1565C0">
                  <a:alpha val="6000"/>
                </a:srgbClr>
              </a:gs>
              <a:gs pos="100000">
                <a:srgbClr val="1565C0">
                  <a:alpha val="0"/>
                </a:srgbClr>
              </a:gs>
            </a:gsLst>
            <a:lin ang="6742808" scaled="1"/>
          </a:gra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1565C0"/>
          </a:solidFill>
          <a:ln>
            <a:noFill/>
          </a:ln>
        </p:spPr>
      </p:sp>
      <p:sp>
        <p:nvSpPr>
          <p:cNvPr id="5" name="Rectangle 5"/>
          <p:cNvSpPr/>
          <p:nvPr/>
        </p:nvSpPr>
        <p:spPr>
          <a:xfrm>
            <a:off x="571500" y="476250"/>
            <a:ext cx="57150" cy="342900"/>
          </a:xfrm>
          <a:prstGeom prst="rect">
            <a:avLst/>
          </a:prstGeom>
          <a:solidFill>
            <a:srgbClr val="1565C0"/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723900" y="419100"/>
            <a:ext cx="4216718" cy="609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26323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传统射频智能的困境</a:t>
            </a:r>
            <a:endParaRPr lang="zh-CN" sz="3000" b="1" dirty="0">
              <a:solidFill>
                <a:srgbClr val="263238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7" name="Rectangle 7"/>
          <p:cNvSpPr/>
          <p:nvPr/>
        </p:nvSpPr>
        <p:spPr>
          <a:xfrm>
            <a:off x="571500" y="1095375"/>
            <a:ext cx="11049000" cy="9525"/>
          </a:xfrm>
          <a:prstGeom prst="rect">
            <a:avLst/>
          </a:prstGeom>
          <a:solidFill>
            <a:srgbClr val="ECEFF1"/>
          </a:solidFill>
          <a:ln>
            <a:noFill/>
          </a:ln>
        </p:spPr>
      </p:sp>
      <p:sp>
        <p:nvSpPr>
          <p:cNvPr id="8" name="Freeform 8"/>
          <p:cNvSpPr/>
          <p:nvPr/>
        </p:nvSpPr>
        <p:spPr>
          <a:xfrm>
            <a:off x="762000" y="1428750"/>
            <a:ext cx="5048250" cy="2143125"/>
          </a:xfrm>
          <a:custGeom>
            <a:avLst/>
            <a:gdLst/>
            <a:ahLst/>
            <a:cxnLst/>
            <a:rect l="l" t="t" r="r" b="b"/>
            <a:pathLst>
              <a:path w="5048250" h="2143125">
                <a:moveTo>
                  <a:pt x="95250" y="0"/>
                </a:moveTo>
                <a:lnTo>
                  <a:pt x="4953000" y="0"/>
                </a:lnTo>
                <a:cubicBezTo>
                  <a:pt x="5005605" y="0"/>
                  <a:pt x="5048250" y="42645"/>
                  <a:pt x="5048250" y="95250"/>
                </a:cubicBezTo>
                <a:lnTo>
                  <a:pt x="5048250" y="2047875"/>
                </a:lnTo>
                <a:cubicBezTo>
                  <a:pt x="5048250" y="2100480"/>
                  <a:pt x="5005605" y="2143125"/>
                  <a:pt x="4953000" y="2143125"/>
                </a:cubicBezTo>
                <a:lnTo>
                  <a:pt x="95250" y="2143125"/>
                </a:lnTo>
                <a:cubicBezTo>
                  <a:pt x="42645" y="2143125"/>
                  <a:pt x="0" y="2100480"/>
                  <a:pt x="0" y="2047875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F5F7FA"/>
          </a:solidFill>
          <a:ln w="9525">
            <a:solidFill>
              <a:srgbClr val="E0E0E0"/>
            </a:solidFill>
          </a:ln>
        </p:spPr>
      </p:sp>
      <p:sp>
        <p:nvSpPr>
          <p:cNvPr id="9" name="Freeform 9"/>
          <p:cNvSpPr/>
          <p:nvPr/>
        </p:nvSpPr>
        <p:spPr>
          <a:xfrm>
            <a:off x="762000" y="1428750"/>
            <a:ext cx="5048250" cy="47625"/>
          </a:xfrm>
          <a:custGeom>
            <a:avLst/>
            <a:gdLst/>
            <a:ahLst/>
            <a:cxnLst/>
            <a:rect l="l" t="t" r="r" b="b"/>
            <a:pathLst>
              <a:path w="5048250" h="47625">
                <a:moveTo>
                  <a:pt x="23812" y="0"/>
                </a:moveTo>
                <a:lnTo>
                  <a:pt x="5024438" y="0"/>
                </a:lnTo>
                <a:cubicBezTo>
                  <a:pt x="5037589" y="0"/>
                  <a:pt x="5048250" y="10661"/>
                  <a:pt x="5048250" y="23812"/>
                </a:cubicBezTo>
                <a:lnTo>
                  <a:pt x="5048250" y="23812"/>
                </a:lnTo>
                <a:cubicBezTo>
                  <a:pt x="5048250" y="36964"/>
                  <a:pt x="5037589" y="47625"/>
                  <a:pt x="5024438" y="47625"/>
                </a:cubicBezTo>
                <a:lnTo>
                  <a:pt x="23812" y="47625"/>
                </a:lnTo>
                <a:cubicBezTo>
                  <a:pt x="10661" y="47625"/>
                  <a:pt x="0" y="36964"/>
                  <a:pt x="0" y="23812"/>
                </a:cubicBezTo>
                <a:lnTo>
                  <a:pt x="0" y="23812"/>
                </a:lnTo>
                <a:cubicBezTo>
                  <a:pt x="0" y="10661"/>
                  <a:pt x="10661" y="0"/>
                  <a:pt x="23812" y="0"/>
                </a:cubicBezTo>
                <a:close/>
              </a:path>
            </a:pathLst>
          </a:custGeom>
          <a:solidFill>
            <a:srgbClr val="C62828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1020128" y="1670209"/>
            <a:ext cx="338755" cy="4419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75" b="1" dirty="0">
                <a:solidFill>
                  <a:srgbClr val="C6282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01</a:t>
            </a:r>
            <a:endParaRPr lang="zh-CN" sz="2175" b="1" dirty="0">
              <a:solidFill>
                <a:srgbClr val="C62828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1501140" y="1710690"/>
            <a:ext cx="1701927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26323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任务特定模型</a:t>
            </a:r>
            <a:endParaRPr lang="zh-CN" sz="1800" b="1" dirty="0">
              <a:solidFill>
                <a:srgbClr val="263238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1028700" y="2076450"/>
            <a:ext cx="4879658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546E7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每种RF任务各自独立架构、独立数据集、独立训练</a:t>
            </a:r>
            <a:endParaRPr lang="zh-CN" sz="1500" dirty="0">
              <a:solidFill>
                <a:srgbClr val="546E7A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1028700" y="2362200"/>
            <a:ext cx="44196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546E7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调制识别、信道估计、波束选择各需不同模型</a:t>
            </a:r>
            <a:endParaRPr lang="zh-CN" sz="1500" dirty="0">
              <a:solidFill>
                <a:srgbClr val="546E7A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1028700" y="2647950"/>
            <a:ext cx="35433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546E7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跨任务复用几乎为零，重复建设严重</a:t>
            </a:r>
            <a:endParaRPr lang="zh-CN" sz="1500" dirty="0">
              <a:solidFill>
                <a:srgbClr val="546E7A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1032510" y="3108960"/>
            <a:ext cx="213360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90A4A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代码复用率低，维护成本高</a:t>
            </a:r>
            <a:endParaRPr lang="zh-CN" sz="1200" dirty="0">
              <a:solidFill>
                <a:srgbClr val="90A4A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6" name="Freeform 16"/>
          <p:cNvSpPr/>
          <p:nvPr/>
        </p:nvSpPr>
        <p:spPr>
          <a:xfrm>
            <a:off x="6381750" y="1428750"/>
            <a:ext cx="5048250" cy="2143125"/>
          </a:xfrm>
          <a:custGeom>
            <a:avLst/>
            <a:gdLst/>
            <a:ahLst/>
            <a:cxnLst/>
            <a:rect l="l" t="t" r="r" b="b"/>
            <a:pathLst>
              <a:path w="5048250" h="2143125">
                <a:moveTo>
                  <a:pt x="95250" y="0"/>
                </a:moveTo>
                <a:lnTo>
                  <a:pt x="4953000" y="0"/>
                </a:lnTo>
                <a:cubicBezTo>
                  <a:pt x="5005605" y="0"/>
                  <a:pt x="5048250" y="42645"/>
                  <a:pt x="5048250" y="95250"/>
                </a:cubicBezTo>
                <a:lnTo>
                  <a:pt x="5048250" y="2047875"/>
                </a:lnTo>
                <a:cubicBezTo>
                  <a:pt x="5048250" y="2100480"/>
                  <a:pt x="5005605" y="2143125"/>
                  <a:pt x="4953000" y="2143125"/>
                </a:cubicBezTo>
                <a:lnTo>
                  <a:pt x="95250" y="2143125"/>
                </a:lnTo>
                <a:cubicBezTo>
                  <a:pt x="42645" y="2143125"/>
                  <a:pt x="0" y="2100480"/>
                  <a:pt x="0" y="2047875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F5F7FA"/>
          </a:solidFill>
          <a:ln w="9525">
            <a:solidFill>
              <a:srgbClr val="E0E0E0"/>
            </a:solidFill>
          </a:ln>
        </p:spPr>
      </p:sp>
      <p:sp>
        <p:nvSpPr>
          <p:cNvPr id="17" name="Freeform 17"/>
          <p:cNvSpPr/>
          <p:nvPr/>
        </p:nvSpPr>
        <p:spPr>
          <a:xfrm>
            <a:off x="6381750" y="1428750"/>
            <a:ext cx="5048250" cy="47625"/>
          </a:xfrm>
          <a:custGeom>
            <a:avLst/>
            <a:gdLst/>
            <a:ahLst/>
            <a:cxnLst/>
            <a:rect l="l" t="t" r="r" b="b"/>
            <a:pathLst>
              <a:path w="5048250" h="47625">
                <a:moveTo>
                  <a:pt x="23812" y="0"/>
                </a:moveTo>
                <a:lnTo>
                  <a:pt x="5024438" y="0"/>
                </a:lnTo>
                <a:cubicBezTo>
                  <a:pt x="5037589" y="0"/>
                  <a:pt x="5048250" y="10661"/>
                  <a:pt x="5048250" y="23812"/>
                </a:cubicBezTo>
                <a:lnTo>
                  <a:pt x="5048250" y="23812"/>
                </a:lnTo>
                <a:cubicBezTo>
                  <a:pt x="5048250" y="36964"/>
                  <a:pt x="5037589" y="47625"/>
                  <a:pt x="5024438" y="47625"/>
                </a:cubicBezTo>
                <a:lnTo>
                  <a:pt x="23812" y="47625"/>
                </a:lnTo>
                <a:cubicBezTo>
                  <a:pt x="10661" y="47625"/>
                  <a:pt x="0" y="36964"/>
                  <a:pt x="0" y="23812"/>
                </a:cubicBezTo>
                <a:lnTo>
                  <a:pt x="0" y="23812"/>
                </a:lnTo>
                <a:cubicBezTo>
                  <a:pt x="0" y="10661"/>
                  <a:pt x="10661" y="0"/>
                  <a:pt x="23812" y="0"/>
                </a:cubicBezTo>
                <a:close/>
              </a:path>
            </a:pathLst>
          </a:custGeom>
          <a:solidFill>
            <a:srgbClr val="C62828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6639878" y="1670209"/>
            <a:ext cx="422141" cy="4419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75" b="1" dirty="0">
                <a:solidFill>
                  <a:srgbClr val="C6282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02</a:t>
            </a:r>
            <a:endParaRPr lang="zh-CN" sz="2175" b="1" dirty="0">
              <a:solidFill>
                <a:srgbClr val="C62828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9" name="TextBox 19"/>
          <p:cNvSpPr txBox="1"/>
          <p:nvPr/>
        </p:nvSpPr>
        <p:spPr>
          <a:xfrm>
            <a:off x="7120890" y="1710690"/>
            <a:ext cx="1701927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26323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数据标注昂贵</a:t>
            </a:r>
            <a:endParaRPr lang="zh-CN" sz="1800" b="1" dirty="0">
              <a:solidFill>
                <a:srgbClr val="263238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20" name="TextBox 20"/>
          <p:cNvSpPr txBox="1"/>
          <p:nvPr/>
        </p:nvSpPr>
        <p:spPr>
          <a:xfrm>
            <a:off x="6648450" y="2076450"/>
            <a:ext cx="450723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546E7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RF数据集需专家标注 + 专用硬件 + 长时间采集</a:t>
            </a:r>
            <a:endParaRPr lang="zh-CN" sz="1500" dirty="0">
              <a:solidFill>
                <a:srgbClr val="546E7A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21" name="TextBox 21"/>
          <p:cNvSpPr txBox="1"/>
          <p:nvPr/>
        </p:nvSpPr>
        <p:spPr>
          <a:xfrm>
            <a:off x="6648450" y="2362200"/>
            <a:ext cx="2447925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546E7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真实环境类别高度不平衡</a:t>
            </a:r>
            <a:endParaRPr lang="zh-CN" sz="1500" dirty="0">
              <a:solidFill>
                <a:srgbClr val="546E7A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22" name="TextBox 22"/>
          <p:cNvSpPr txBox="1"/>
          <p:nvPr/>
        </p:nvSpPr>
        <p:spPr>
          <a:xfrm>
            <a:off x="6648450" y="2647950"/>
            <a:ext cx="26670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546E7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罕见干扰模式几乎无法采集</a:t>
            </a:r>
            <a:endParaRPr lang="zh-CN" sz="1500" dirty="0">
              <a:solidFill>
                <a:srgbClr val="546E7A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23" name="TextBox 23"/>
          <p:cNvSpPr txBox="1"/>
          <p:nvPr/>
        </p:nvSpPr>
        <p:spPr>
          <a:xfrm>
            <a:off x="6652260" y="3108960"/>
            <a:ext cx="195834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90A4A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大规模监督学习难以实现</a:t>
            </a:r>
            <a:endParaRPr lang="zh-CN" sz="1200" dirty="0">
              <a:solidFill>
                <a:srgbClr val="90A4A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24" name="Freeform 24"/>
          <p:cNvSpPr/>
          <p:nvPr/>
        </p:nvSpPr>
        <p:spPr>
          <a:xfrm>
            <a:off x="762000" y="3905250"/>
            <a:ext cx="5048250" cy="2143125"/>
          </a:xfrm>
          <a:custGeom>
            <a:avLst/>
            <a:gdLst/>
            <a:ahLst/>
            <a:cxnLst/>
            <a:rect l="l" t="t" r="r" b="b"/>
            <a:pathLst>
              <a:path w="5048250" h="2143125">
                <a:moveTo>
                  <a:pt x="95250" y="0"/>
                </a:moveTo>
                <a:lnTo>
                  <a:pt x="4953000" y="0"/>
                </a:lnTo>
                <a:cubicBezTo>
                  <a:pt x="5005605" y="0"/>
                  <a:pt x="5048250" y="42645"/>
                  <a:pt x="5048250" y="95250"/>
                </a:cubicBezTo>
                <a:lnTo>
                  <a:pt x="5048250" y="2047875"/>
                </a:lnTo>
                <a:cubicBezTo>
                  <a:pt x="5048250" y="2100480"/>
                  <a:pt x="5005605" y="2143125"/>
                  <a:pt x="4953000" y="2143125"/>
                </a:cubicBezTo>
                <a:lnTo>
                  <a:pt x="95250" y="2143125"/>
                </a:lnTo>
                <a:cubicBezTo>
                  <a:pt x="42645" y="2143125"/>
                  <a:pt x="0" y="2100480"/>
                  <a:pt x="0" y="2047875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F5F7FA"/>
          </a:solidFill>
          <a:ln w="9525">
            <a:solidFill>
              <a:srgbClr val="E0E0E0"/>
            </a:solidFill>
          </a:ln>
        </p:spPr>
      </p:sp>
      <p:sp>
        <p:nvSpPr>
          <p:cNvPr id="25" name="Freeform 25"/>
          <p:cNvSpPr/>
          <p:nvPr/>
        </p:nvSpPr>
        <p:spPr>
          <a:xfrm>
            <a:off x="762000" y="3905250"/>
            <a:ext cx="5048250" cy="47625"/>
          </a:xfrm>
          <a:custGeom>
            <a:avLst/>
            <a:gdLst/>
            <a:ahLst/>
            <a:cxnLst/>
            <a:rect l="l" t="t" r="r" b="b"/>
            <a:pathLst>
              <a:path w="5048250" h="47625">
                <a:moveTo>
                  <a:pt x="23812" y="0"/>
                </a:moveTo>
                <a:lnTo>
                  <a:pt x="5024438" y="0"/>
                </a:lnTo>
                <a:cubicBezTo>
                  <a:pt x="5037589" y="0"/>
                  <a:pt x="5048250" y="10661"/>
                  <a:pt x="5048250" y="23812"/>
                </a:cubicBezTo>
                <a:lnTo>
                  <a:pt x="5048250" y="23812"/>
                </a:lnTo>
                <a:cubicBezTo>
                  <a:pt x="5048250" y="36964"/>
                  <a:pt x="5037589" y="47625"/>
                  <a:pt x="5024438" y="47625"/>
                </a:cubicBezTo>
                <a:lnTo>
                  <a:pt x="23812" y="47625"/>
                </a:lnTo>
                <a:cubicBezTo>
                  <a:pt x="10661" y="47625"/>
                  <a:pt x="0" y="36964"/>
                  <a:pt x="0" y="23812"/>
                </a:cubicBezTo>
                <a:lnTo>
                  <a:pt x="0" y="23812"/>
                </a:lnTo>
                <a:cubicBezTo>
                  <a:pt x="0" y="10661"/>
                  <a:pt x="10661" y="0"/>
                  <a:pt x="23812" y="0"/>
                </a:cubicBezTo>
                <a:close/>
              </a:path>
            </a:pathLst>
          </a:custGeom>
          <a:solidFill>
            <a:srgbClr val="C62828"/>
          </a:solidFill>
          <a:ln>
            <a:noFill/>
          </a:ln>
        </p:spPr>
      </p:sp>
      <p:sp>
        <p:nvSpPr>
          <p:cNvPr id="26" name="TextBox 26"/>
          <p:cNvSpPr txBox="1"/>
          <p:nvPr/>
        </p:nvSpPr>
        <p:spPr>
          <a:xfrm>
            <a:off x="1020128" y="4146709"/>
            <a:ext cx="422141" cy="4419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75" b="1" dirty="0">
                <a:solidFill>
                  <a:srgbClr val="C6282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03</a:t>
            </a:r>
            <a:endParaRPr lang="zh-CN" sz="2175" b="1" dirty="0">
              <a:solidFill>
                <a:srgbClr val="C62828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27" name="TextBox 27"/>
          <p:cNvSpPr txBox="1"/>
          <p:nvPr/>
        </p:nvSpPr>
        <p:spPr>
          <a:xfrm>
            <a:off x="1501140" y="4187190"/>
            <a:ext cx="1701927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26323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缺乏泛化能力</a:t>
            </a:r>
            <a:endParaRPr lang="zh-CN" sz="1800" b="1" dirty="0">
              <a:solidFill>
                <a:srgbClr val="263238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28" name="TextBox 28"/>
          <p:cNvSpPr txBox="1"/>
          <p:nvPr/>
        </p:nvSpPr>
        <p:spPr>
          <a:xfrm>
            <a:off x="1028700" y="4552950"/>
            <a:ext cx="4463415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546E7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一种SNR/信道条件下训练，换环境就性能骤降</a:t>
            </a:r>
            <a:endParaRPr lang="zh-CN" sz="1500" dirty="0">
              <a:solidFill>
                <a:srgbClr val="546E7A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29" name="TextBox 29"/>
          <p:cNvSpPr txBox="1"/>
          <p:nvPr/>
        </p:nvSpPr>
        <p:spPr>
          <a:xfrm>
            <a:off x="1028700" y="4838700"/>
            <a:ext cx="398145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546E7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硬件差异、信道变化直接影响模型准确率</a:t>
            </a:r>
            <a:endParaRPr lang="zh-CN" sz="1500" dirty="0">
              <a:solidFill>
                <a:srgbClr val="546E7A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30" name="TextBox 30"/>
          <p:cNvSpPr txBox="1"/>
          <p:nvPr/>
        </p:nvSpPr>
        <p:spPr>
          <a:xfrm>
            <a:off x="1028700" y="5124450"/>
            <a:ext cx="2447925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546E7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实际部署需反复重新训练</a:t>
            </a:r>
            <a:endParaRPr lang="zh-CN" sz="1500" dirty="0">
              <a:solidFill>
                <a:srgbClr val="546E7A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31" name="TextBox 31"/>
          <p:cNvSpPr txBox="1"/>
          <p:nvPr/>
        </p:nvSpPr>
        <p:spPr>
          <a:xfrm>
            <a:off x="1032510" y="5585460"/>
            <a:ext cx="195834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90A4A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换场景即失效，鲁棒性差</a:t>
            </a:r>
            <a:endParaRPr lang="zh-CN" sz="1200" dirty="0">
              <a:solidFill>
                <a:srgbClr val="90A4A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32" name="Freeform 32"/>
          <p:cNvSpPr/>
          <p:nvPr/>
        </p:nvSpPr>
        <p:spPr>
          <a:xfrm>
            <a:off x="6381750" y="3905250"/>
            <a:ext cx="5048250" cy="2143125"/>
          </a:xfrm>
          <a:custGeom>
            <a:avLst/>
            <a:gdLst/>
            <a:ahLst/>
            <a:cxnLst/>
            <a:rect l="l" t="t" r="r" b="b"/>
            <a:pathLst>
              <a:path w="5048250" h="2143125">
                <a:moveTo>
                  <a:pt x="95250" y="0"/>
                </a:moveTo>
                <a:lnTo>
                  <a:pt x="4953000" y="0"/>
                </a:lnTo>
                <a:cubicBezTo>
                  <a:pt x="5005605" y="0"/>
                  <a:pt x="5048250" y="42645"/>
                  <a:pt x="5048250" y="95250"/>
                </a:cubicBezTo>
                <a:lnTo>
                  <a:pt x="5048250" y="2047875"/>
                </a:lnTo>
                <a:cubicBezTo>
                  <a:pt x="5048250" y="2100480"/>
                  <a:pt x="5005605" y="2143125"/>
                  <a:pt x="4953000" y="2143125"/>
                </a:cubicBezTo>
                <a:lnTo>
                  <a:pt x="95250" y="2143125"/>
                </a:lnTo>
                <a:cubicBezTo>
                  <a:pt x="42645" y="2143125"/>
                  <a:pt x="0" y="2100480"/>
                  <a:pt x="0" y="2047875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F5F7FA"/>
          </a:solidFill>
          <a:ln w="9525">
            <a:solidFill>
              <a:srgbClr val="E0E0E0"/>
            </a:solidFill>
          </a:ln>
        </p:spPr>
      </p:sp>
      <p:sp>
        <p:nvSpPr>
          <p:cNvPr id="33" name="Freeform 33"/>
          <p:cNvSpPr/>
          <p:nvPr/>
        </p:nvSpPr>
        <p:spPr>
          <a:xfrm>
            <a:off x="6381750" y="3905250"/>
            <a:ext cx="5048250" cy="47625"/>
          </a:xfrm>
          <a:custGeom>
            <a:avLst/>
            <a:gdLst/>
            <a:ahLst/>
            <a:cxnLst/>
            <a:rect l="l" t="t" r="r" b="b"/>
            <a:pathLst>
              <a:path w="5048250" h="47625">
                <a:moveTo>
                  <a:pt x="23812" y="0"/>
                </a:moveTo>
                <a:lnTo>
                  <a:pt x="5024438" y="0"/>
                </a:lnTo>
                <a:cubicBezTo>
                  <a:pt x="5037589" y="0"/>
                  <a:pt x="5048250" y="10661"/>
                  <a:pt x="5048250" y="23812"/>
                </a:cubicBezTo>
                <a:lnTo>
                  <a:pt x="5048250" y="23812"/>
                </a:lnTo>
                <a:cubicBezTo>
                  <a:pt x="5048250" y="36964"/>
                  <a:pt x="5037589" y="47625"/>
                  <a:pt x="5024438" y="47625"/>
                </a:cubicBezTo>
                <a:lnTo>
                  <a:pt x="23812" y="47625"/>
                </a:lnTo>
                <a:cubicBezTo>
                  <a:pt x="10661" y="47625"/>
                  <a:pt x="0" y="36964"/>
                  <a:pt x="0" y="23812"/>
                </a:cubicBezTo>
                <a:lnTo>
                  <a:pt x="0" y="23812"/>
                </a:lnTo>
                <a:cubicBezTo>
                  <a:pt x="0" y="10661"/>
                  <a:pt x="10661" y="0"/>
                  <a:pt x="23812" y="0"/>
                </a:cubicBezTo>
                <a:close/>
              </a:path>
            </a:pathLst>
          </a:custGeom>
          <a:solidFill>
            <a:srgbClr val="C62828"/>
          </a:solidFill>
          <a:ln>
            <a:noFill/>
          </a:ln>
        </p:spPr>
      </p:sp>
      <p:sp>
        <p:nvSpPr>
          <p:cNvPr id="34" name="TextBox 34"/>
          <p:cNvSpPr txBox="1"/>
          <p:nvPr/>
        </p:nvSpPr>
        <p:spPr>
          <a:xfrm>
            <a:off x="6639878" y="4146709"/>
            <a:ext cx="422141" cy="4419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75" b="1" dirty="0">
                <a:solidFill>
                  <a:srgbClr val="C6282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04</a:t>
            </a:r>
            <a:endParaRPr lang="zh-CN" sz="2175" b="1" dirty="0">
              <a:solidFill>
                <a:srgbClr val="C62828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35" name="TextBox 35"/>
          <p:cNvSpPr txBox="1"/>
          <p:nvPr/>
        </p:nvSpPr>
        <p:spPr>
          <a:xfrm>
            <a:off x="7120890" y="4187190"/>
            <a:ext cx="1701927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26323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缺乏交互界面</a:t>
            </a:r>
            <a:endParaRPr lang="zh-CN" sz="1800" b="1" dirty="0">
              <a:solidFill>
                <a:srgbClr val="263238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36" name="TextBox 36"/>
          <p:cNvSpPr txBox="1"/>
          <p:nvPr/>
        </p:nvSpPr>
        <p:spPr>
          <a:xfrm>
            <a:off x="6648450" y="4552950"/>
            <a:ext cx="2907982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546E7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传统RF模型只输出标签或数值</a:t>
            </a:r>
            <a:endParaRPr lang="zh-CN" sz="1500" dirty="0">
              <a:solidFill>
                <a:srgbClr val="546E7A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37" name="TextBox 37"/>
          <p:cNvSpPr txBox="1"/>
          <p:nvPr/>
        </p:nvSpPr>
        <p:spPr>
          <a:xfrm>
            <a:off x="6648450" y="4838700"/>
            <a:ext cx="1812607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546E7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无法解释"为什么"</a:t>
            </a:r>
            <a:endParaRPr lang="zh-CN" sz="1500" dirty="0">
              <a:solidFill>
                <a:srgbClr val="546E7A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38" name="TextBox 38"/>
          <p:cNvSpPr txBox="1"/>
          <p:nvPr/>
        </p:nvSpPr>
        <p:spPr>
          <a:xfrm>
            <a:off x="6648450" y="5124450"/>
            <a:ext cx="17907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546E7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无法回答后续问题</a:t>
            </a:r>
            <a:endParaRPr lang="zh-CN" sz="1500" dirty="0">
              <a:solidFill>
                <a:srgbClr val="546E7A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39" name="TextBox 39"/>
          <p:cNvSpPr txBox="1"/>
          <p:nvPr/>
        </p:nvSpPr>
        <p:spPr>
          <a:xfrm>
            <a:off x="6652260" y="5585460"/>
            <a:ext cx="125730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90A4A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人机交互体验差</a:t>
            </a:r>
            <a:endParaRPr lang="zh-CN" sz="1200" dirty="0">
              <a:solidFill>
                <a:srgbClr val="90A4A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40" name="Rectangle 40"/>
          <p:cNvSpPr/>
          <p:nvPr/>
        </p:nvSpPr>
        <p:spPr>
          <a:xfrm>
            <a:off x="571500" y="6667500"/>
            <a:ext cx="11049000" cy="9525"/>
          </a:xfrm>
          <a:prstGeom prst="rect">
            <a:avLst/>
          </a:prstGeom>
          <a:solidFill>
            <a:srgbClr val="ECEFF1"/>
          </a:solidFill>
          <a:ln>
            <a:noFill/>
          </a:ln>
        </p:spPr>
      </p:sp>
      <p:sp>
        <p:nvSpPr>
          <p:cNvPr id="41" name="TextBox 41"/>
          <p:cNvSpPr txBox="1"/>
          <p:nvPr/>
        </p:nvSpPr>
        <p:spPr>
          <a:xfrm>
            <a:off x="560070" y="6703695"/>
            <a:ext cx="133073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0A4A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RF-GPT Presentation</a:t>
            </a:r>
            <a:endParaRPr lang="zh-CN" sz="900" dirty="0">
              <a:solidFill>
                <a:srgbClr val="90A4A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42" name="TextBox 42"/>
          <p:cNvSpPr txBox="1"/>
          <p:nvPr/>
        </p:nvSpPr>
        <p:spPr>
          <a:xfrm>
            <a:off x="11582590" y="6703695"/>
            <a:ext cx="43034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90A4A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04 / 15</a:t>
            </a:r>
            <a:endParaRPr lang="zh-CN" sz="900" dirty="0">
              <a:solidFill>
                <a:srgbClr val="90A4A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1565C0"/>
          </a:solidFill>
          <a:ln>
            <a:noFill/>
          </a:ln>
        </p:spPr>
      </p:sp>
      <p:sp>
        <p:nvSpPr>
          <p:cNvPr id="5" name="Rectangle 5"/>
          <p:cNvSpPr/>
          <p:nvPr/>
        </p:nvSpPr>
        <p:spPr>
          <a:xfrm>
            <a:off x="571500" y="476250"/>
            <a:ext cx="57150" cy="342900"/>
          </a:xfrm>
          <a:prstGeom prst="rect">
            <a:avLst/>
          </a:prstGeom>
          <a:solidFill>
            <a:srgbClr val="1565C0"/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723900" y="419100"/>
            <a:ext cx="3572637" cy="609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26323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RF-GPT 核心架构</a:t>
            </a:r>
            <a:endParaRPr lang="zh-CN" sz="3000" b="1" dirty="0">
              <a:solidFill>
                <a:srgbClr val="263238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7" name="Rectangle 7"/>
          <p:cNvSpPr/>
          <p:nvPr/>
        </p:nvSpPr>
        <p:spPr>
          <a:xfrm>
            <a:off x="571500" y="1095375"/>
            <a:ext cx="11049000" cy="9525"/>
          </a:xfrm>
          <a:prstGeom prst="rect">
            <a:avLst/>
          </a:prstGeom>
          <a:solidFill>
            <a:srgbClr val="ECEFF1"/>
          </a:solidFill>
          <a:ln>
            <a:noFill/>
          </a:ln>
        </p:spPr>
      </p:sp>
      <p:sp>
        <p:nvSpPr>
          <p:cNvPr id="32" name="Freeform 32"/>
          <p:cNvSpPr/>
          <p:nvPr/>
        </p:nvSpPr>
        <p:spPr>
          <a:xfrm>
            <a:off x="762000" y="3776980"/>
            <a:ext cx="10668000" cy="952500"/>
          </a:xfrm>
          <a:custGeom>
            <a:avLst/>
            <a:gdLst/>
            <a:ahLst/>
            <a:cxnLst/>
            <a:rect l="l" t="t" r="r" b="b"/>
            <a:pathLst>
              <a:path w="10668000" h="952500">
                <a:moveTo>
                  <a:pt x="95250" y="0"/>
                </a:moveTo>
                <a:lnTo>
                  <a:pt x="10572750" y="0"/>
                </a:lnTo>
                <a:cubicBezTo>
                  <a:pt x="10625355" y="0"/>
                  <a:pt x="10668000" y="42645"/>
                  <a:pt x="10668000" y="95250"/>
                </a:cubicBezTo>
                <a:lnTo>
                  <a:pt x="10668000" y="857250"/>
                </a:lnTo>
                <a:cubicBezTo>
                  <a:pt x="10668000" y="909855"/>
                  <a:pt x="10625355" y="952500"/>
                  <a:pt x="10572750" y="952500"/>
                </a:cubicBezTo>
                <a:lnTo>
                  <a:pt x="95250" y="952500"/>
                </a:lnTo>
                <a:cubicBezTo>
                  <a:pt x="42645" y="952500"/>
                  <a:pt x="0" y="909855"/>
                  <a:pt x="0" y="85725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F5F7FA"/>
          </a:solidFill>
          <a:ln w="9525">
            <a:solidFill>
              <a:srgbClr val="1565C0"/>
            </a:solidFill>
          </a:ln>
        </p:spPr>
      </p:sp>
      <p:sp>
        <p:nvSpPr>
          <p:cNvPr id="33" name="TextBox 33"/>
          <p:cNvSpPr txBox="1"/>
          <p:nvPr>
            <p:custDataLst>
              <p:tags r:id="rId1"/>
            </p:custDataLst>
          </p:nvPr>
        </p:nvSpPr>
        <p:spPr>
          <a:xfrm>
            <a:off x="1026795" y="3822382"/>
            <a:ext cx="1054036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1565C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关键洞察</a:t>
            </a:r>
            <a:endParaRPr lang="zh-CN" sz="1650" b="1" dirty="0">
              <a:solidFill>
                <a:srgbClr val="1565C0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34" name="TextBox 34"/>
          <p:cNvSpPr txBox="1"/>
          <p:nvPr/>
        </p:nvSpPr>
        <p:spPr>
          <a:xfrm>
            <a:off x="1028700" y="4143375"/>
            <a:ext cx="6906101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26323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RF信号 → 频谱图(图像) → 复用VLM视觉编码能力 → 轻量适配器注入LLM</a:t>
            </a:r>
            <a:endParaRPr lang="zh-CN" sz="1500" dirty="0">
              <a:solidFill>
                <a:srgbClr val="263238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35" name="Freeform 35"/>
          <p:cNvSpPr/>
          <p:nvPr/>
        </p:nvSpPr>
        <p:spPr>
          <a:xfrm>
            <a:off x="762000" y="4857750"/>
            <a:ext cx="10668000" cy="1143000"/>
          </a:xfrm>
          <a:custGeom>
            <a:avLst/>
            <a:gdLst/>
            <a:ahLst/>
            <a:cxnLst/>
            <a:rect l="l" t="t" r="r" b="b"/>
            <a:pathLst>
              <a:path w="10668000" h="1143000">
                <a:moveTo>
                  <a:pt x="95250" y="0"/>
                </a:moveTo>
                <a:lnTo>
                  <a:pt x="10572750" y="0"/>
                </a:lnTo>
                <a:cubicBezTo>
                  <a:pt x="10625355" y="0"/>
                  <a:pt x="10668000" y="42645"/>
                  <a:pt x="10668000" y="95250"/>
                </a:cubicBezTo>
                <a:lnTo>
                  <a:pt x="10668000" y="1047750"/>
                </a:lnTo>
                <a:cubicBezTo>
                  <a:pt x="10668000" y="1100355"/>
                  <a:pt x="10625355" y="1143000"/>
                  <a:pt x="10572750" y="1143000"/>
                </a:cubicBezTo>
                <a:lnTo>
                  <a:pt x="95250" y="1143000"/>
                </a:lnTo>
                <a:cubicBezTo>
                  <a:pt x="42645" y="1143000"/>
                  <a:pt x="0" y="1100355"/>
                  <a:pt x="0" y="104775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FFF8E1"/>
          </a:solidFill>
          <a:ln w="9525">
            <a:solidFill>
              <a:srgbClr val="FF6F00"/>
            </a:solidFill>
          </a:ln>
        </p:spPr>
      </p:sp>
      <p:sp>
        <p:nvSpPr>
          <p:cNvPr id="36" name="TextBox 36"/>
          <p:cNvSpPr txBox="1"/>
          <p:nvPr/>
        </p:nvSpPr>
        <p:spPr>
          <a:xfrm>
            <a:off x="1026795" y="5041582"/>
            <a:ext cx="419100" cy="25336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FF6F0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类比</a:t>
            </a:r>
            <a:endParaRPr lang="zh-CN" sz="1650" b="1" dirty="0">
              <a:solidFill>
                <a:srgbClr val="FF6F00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37" name="TextBox 37"/>
          <p:cNvSpPr txBox="1"/>
          <p:nvPr>
            <p:custDataLst>
              <p:tags r:id="rId2"/>
            </p:custDataLst>
          </p:nvPr>
        </p:nvSpPr>
        <p:spPr>
          <a:xfrm>
            <a:off x="1028700" y="5362575"/>
            <a:ext cx="827532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26323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就像医生看心电图（将心脏电信号转为二维图）来诊断病情，RF-GPT 将无线电波转为</a:t>
            </a:r>
            <a:endParaRPr lang="zh-CN" sz="1500" dirty="0">
              <a:solidFill>
                <a:srgbClr val="263238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38" name="TextBox 38"/>
          <p:cNvSpPr txBox="1"/>
          <p:nvPr/>
        </p:nvSpPr>
        <p:spPr>
          <a:xfrm>
            <a:off x="1028700" y="5629275"/>
            <a:ext cx="7289482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26323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频谱图来"诊断"无线环境。传统方法好比每个病都要重新学一套诊断工具。</a:t>
            </a:r>
            <a:endParaRPr lang="zh-CN" sz="1500" dirty="0">
              <a:solidFill>
                <a:srgbClr val="263238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39" name="Rectangle 39"/>
          <p:cNvSpPr/>
          <p:nvPr/>
        </p:nvSpPr>
        <p:spPr>
          <a:xfrm>
            <a:off x="571500" y="6667500"/>
            <a:ext cx="11049000" cy="9525"/>
          </a:xfrm>
          <a:prstGeom prst="rect">
            <a:avLst/>
          </a:prstGeom>
          <a:solidFill>
            <a:srgbClr val="ECEFF1"/>
          </a:solidFill>
          <a:ln>
            <a:noFill/>
          </a:ln>
        </p:spPr>
      </p:sp>
      <p:sp>
        <p:nvSpPr>
          <p:cNvPr id="40" name="TextBox 40"/>
          <p:cNvSpPr txBox="1"/>
          <p:nvPr/>
        </p:nvSpPr>
        <p:spPr>
          <a:xfrm>
            <a:off x="560070" y="6703695"/>
            <a:ext cx="133073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0A4A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RF-GPT Presentation</a:t>
            </a:r>
            <a:endParaRPr lang="zh-CN" sz="900" dirty="0">
              <a:solidFill>
                <a:srgbClr val="90A4A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41" name="TextBox 41"/>
          <p:cNvSpPr txBox="1"/>
          <p:nvPr/>
        </p:nvSpPr>
        <p:spPr>
          <a:xfrm>
            <a:off x="11582590" y="6703695"/>
            <a:ext cx="43034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90A4A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05 / 15</a:t>
            </a:r>
            <a:endParaRPr lang="zh-CN" sz="900" dirty="0">
              <a:solidFill>
                <a:srgbClr val="90A4A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pic>
        <p:nvPicPr>
          <p:cNvPr id="43" name="图片 4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900" y="855345"/>
            <a:ext cx="10858500" cy="279336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1565C0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571500" y="476250"/>
            <a:ext cx="57150" cy="342900"/>
          </a:xfrm>
          <a:prstGeom prst="rect">
            <a:avLst/>
          </a:prstGeom>
          <a:solidFill>
            <a:srgbClr val="1565C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723900" y="419100"/>
            <a:ext cx="6079950" cy="609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26323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为什么选频谱图而非原始IQ？</a:t>
            </a:r>
            <a:endParaRPr lang="zh-CN" sz="3000" b="1" dirty="0">
              <a:solidFill>
                <a:srgbClr val="263238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6" name="Rectangle 6"/>
          <p:cNvSpPr/>
          <p:nvPr/>
        </p:nvSpPr>
        <p:spPr>
          <a:xfrm>
            <a:off x="571500" y="1095375"/>
            <a:ext cx="11049000" cy="9525"/>
          </a:xfrm>
          <a:prstGeom prst="rect">
            <a:avLst/>
          </a:prstGeom>
          <a:solidFill>
            <a:srgbClr val="ECEFF1"/>
          </a:solidFill>
          <a:ln>
            <a:noFill/>
          </a:ln>
        </p:spPr>
      </p:sp>
      <p:sp>
        <p:nvSpPr>
          <p:cNvPr id="7" name="Freeform 7"/>
          <p:cNvSpPr/>
          <p:nvPr>
            <p:custDataLst>
              <p:tags r:id="rId1"/>
            </p:custDataLst>
          </p:nvPr>
        </p:nvSpPr>
        <p:spPr>
          <a:xfrm>
            <a:off x="571500" y="1333500"/>
            <a:ext cx="5334000" cy="857250"/>
          </a:xfrm>
          <a:custGeom>
            <a:avLst/>
            <a:gdLst/>
            <a:ahLst/>
            <a:cxnLst/>
            <a:rect l="l" t="t" r="r" b="b"/>
            <a:pathLst>
              <a:path w="5334000" h="857250">
                <a:moveTo>
                  <a:pt x="95250" y="0"/>
                </a:moveTo>
                <a:lnTo>
                  <a:pt x="5238750" y="0"/>
                </a:lnTo>
                <a:cubicBezTo>
                  <a:pt x="5291355" y="0"/>
                  <a:pt x="5334000" y="42645"/>
                  <a:pt x="5334000" y="95250"/>
                </a:cubicBezTo>
                <a:lnTo>
                  <a:pt x="5334000" y="762000"/>
                </a:lnTo>
                <a:cubicBezTo>
                  <a:pt x="5334000" y="814605"/>
                  <a:pt x="5291355" y="857250"/>
                  <a:pt x="5238750" y="857250"/>
                </a:cubicBezTo>
                <a:lnTo>
                  <a:pt x="95250" y="857250"/>
                </a:lnTo>
                <a:cubicBezTo>
                  <a:pt x="42645" y="857250"/>
                  <a:pt x="0" y="814605"/>
                  <a:pt x="0" y="76200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F5F7FA"/>
          </a:solidFill>
          <a:ln>
            <a:noFill/>
          </a:ln>
        </p:spPr>
      </p:sp>
      <p:sp>
        <p:nvSpPr>
          <p:cNvPr id="8" name="Ellipse 8"/>
          <p:cNvSpPr/>
          <p:nvPr>
            <p:custDataLst>
              <p:tags r:id="rId2"/>
            </p:custDataLst>
          </p:nvPr>
        </p:nvSpPr>
        <p:spPr>
          <a:xfrm>
            <a:off x="685800" y="1590675"/>
            <a:ext cx="342900" cy="342900"/>
          </a:xfrm>
          <a:prstGeom prst="ellipse">
            <a:avLst/>
          </a:prstGeom>
          <a:solidFill>
            <a:srgbClr val="1565C0"/>
          </a:solidFill>
          <a:ln>
            <a:noFill/>
          </a:ln>
        </p:spPr>
      </p:sp>
      <p:sp>
        <p:nvSpPr>
          <p:cNvPr id="9" name="TextBox 9"/>
          <p:cNvSpPr txBox="1"/>
          <p:nvPr>
            <p:custDataLst>
              <p:tags r:id="rId3"/>
            </p:custDataLst>
          </p:nvPr>
        </p:nvSpPr>
        <p:spPr>
          <a:xfrm>
            <a:off x="809051" y="1664018"/>
            <a:ext cx="96398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1</a:t>
            </a:r>
            <a:endParaRPr lang="zh-CN" sz="1350" b="1" dirty="0">
              <a:solidFill>
                <a:srgbClr val="FFFFFF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0" name="TextBox 10"/>
          <p:cNvSpPr txBox="1"/>
          <p:nvPr>
            <p:custDataLst>
              <p:tags r:id="rId4"/>
            </p:custDataLst>
          </p:nvPr>
        </p:nvSpPr>
        <p:spPr>
          <a:xfrm>
            <a:off x="1170622" y="1544479"/>
            <a:ext cx="1247656" cy="3200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75" b="1" dirty="0">
                <a:solidFill>
                  <a:srgbClr val="26323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计算可行性</a:t>
            </a:r>
            <a:endParaRPr lang="zh-CN" sz="1575" b="1" dirty="0">
              <a:solidFill>
                <a:srgbClr val="263238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1" name="TextBox 11"/>
          <p:cNvSpPr txBox="1"/>
          <p:nvPr>
            <p:custDataLst>
              <p:tags r:id="rId5"/>
            </p:custDataLst>
          </p:nvPr>
        </p:nvSpPr>
        <p:spPr>
          <a:xfrm>
            <a:off x="1173480" y="1854518"/>
            <a:ext cx="443112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546E7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IQ采样率过高，直接输入Transformer计算不可行</a:t>
            </a:r>
            <a:endParaRPr lang="zh-CN" sz="1350" dirty="0">
              <a:solidFill>
                <a:srgbClr val="546E7A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2" name="Freeform 12"/>
          <p:cNvSpPr/>
          <p:nvPr>
            <p:custDataLst>
              <p:tags r:id="rId6"/>
            </p:custDataLst>
          </p:nvPr>
        </p:nvSpPr>
        <p:spPr>
          <a:xfrm>
            <a:off x="571500" y="2333625"/>
            <a:ext cx="5334000" cy="857250"/>
          </a:xfrm>
          <a:custGeom>
            <a:avLst/>
            <a:gdLst/>
            <a:ahLst/>
            <a:cxnLst/>
            <a:rect l="l" t="t" r="r" b="b"/>
            <a:pathLst>
              <a:path w="5334000" h="857250">
                <a:moveTo>
                  <a:pt x="95250" y="0"/>
                </a:moveTo>
                <a:lnTo>
                  <a:pt x="5238750" y="0"/>
                </a:lnTo>
                <a:cubicBezTo>
                  <a:pt x="5291355" y="0"/>
                  <a:pt x="5334000" y="42645"/>
                  <a:pt x="5334000" y="95250"/>
                </a:cubicBezTo>
                <a:lnTo>
                  <a:pt x="5334000" y="762000"/>
                </a:lnTo>
                <a:cubicBezTo>
                  <a:pt x="5334000" y="814605"/>
                  <a:pt x="5291355" y="857250"/>
                  <a:pt x="5238750" y="857250"/>
                </a:cubicBezTo>
                <a:lnTo>
                  <a:pt x="95250" y="857250"/>
                </a:lnTo>
                <a:cubicBezTo>
                  <a:pt x="42645" y="857250"/>
                  <a:pt x="0" y="814605"/>
                  <a:pt x="0" y="76200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F5F7FA"/>
          </a:solidFill>
          <a:ln>
            <a:noFill/>
          </a:ln>
        </p:spPr>
      </p:sp>
      <p:sp>
        <p:nvSpPr>
          <p:cNvPr id="13" name="Ellipse 13"/>
          <p:cNvSpPr/>
          <p:nvPr>
            <p:custDataLst>
              <p:tags r:id="rId7"/>
            </p:custDataLst>
          </p:nvPr>
        </p:nvSpPr>
        <p:spPr>
          <a:xfrm>
            <a:off x="685800" y="2590800"/>
            <a:ext cx="342900" cy="342900"/>
          </a:xfrm>
          <a:prstGeom prst="ellipse">
            <a:avLst/>
          </a:prstGeom>
          <a:solidFill>
            <a:srgbClr val="1565C0"/>
          </a:solidFill>
          <a:ln>
            <a:noFill/>
          </a:ln>
        </p:spPr>
      </p:sp>
      <p:sp>
        <p:nvSpPr>
          <p:cNvPr id="14" name="TextBox 14"/>
          <p:cNvSpPr txBox="1"/>
          <p:nvPr>
            <p:custDataLst>
              <p:tags r:id="rId8"/>
            </p:custDataLst>
          </p:nvPr>
        </p:nvSpPr>
        <p:spPr>
          <a:xfrm>
            <a:off x="783173" y="2664142"/>
            <a:ext cx="148154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2</a:t>
            </a:r>
            <a:endParaRPr lang="zh-CN" sz="1350" b="1" dirty="0">
              <a:solidFill>
                <a:srgbClr val="FFFFFF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5" name="TextBox 15"/>
          <p:cNvSpPr txBox="1"/>
          <p:nvPr>
            <p:custDataLst>
              <p:tags r:id="rId9"/>
            </p:custDataLst>
          </p:nvPr>
        </p:nvSpPr>
        <p:spPr>
          <a:xfrm>
            <a:off x="1170622" y="2544604"/>
            <a:ext cx="1489186" cy="3200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75" b="1" dirty="0">
                <a:solidFill>
                  <a:srgbClr val="26323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天然时频表示</a:t>
            </a:r>
            <a:endParaRPr lang="zh-CN" sz="1575" b="1" dirty="0">
              <a:solidFill>
                <a:srgbClr val="263238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6" name="TextBox 16"/>
          <p:cNvSpPr txBox="1"/>
          <p:nvPr>
            <p:custDataLst>
              <p:tags r:id="rId10"/>
            </p:custDataLst>
          </p:nvPr>
        </p:nvSpPr>
        <p:spPr>
          <a:xfrm>
            <a:off x="1173480" y="2854642"/>
            <a:ext cx="3386138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546E7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调制方式、带宽、重叠呈现为几何特征</a:t>
            </a:r>
            <a:endParaRPr lang="zh-CN" sz="1350" dirty="0">
              <a:solidFill>
                <a:srgbClr val="546E7A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7" name="Freeform 17"/>
          <p:cNvSpPr/>
          <p:nvPr>
            <p:custDataLst>
              <p:tags r:id="rId11"/>
            </p:custDataLst>
          </p:nvPr>
        </p:nvSpPr>
        <p:spPr>
          <a:xfrm>
            <a:off x="571500" y="3333750"/>
            <a:ext cx="5334000" cy="857250"/>
          </a:xfrm>
          <a:custGeom>
            <a:avLst/>
            <a:gdLst/>
            <a:ahLst/>
            <a:cxnLst/>
            <a:rect l="l" t="t" r="r" b="b"/>
            <a:pathLst>
              <a:path w="5334000" h="857250">
                <a:moveTo>
                  <a:pt x="95250" y="0"/>
                </a:moveTo>
                <a:lnTo>
                  <a:pt x="5238750" y="0"/>
                </a:lnTo>
                <a:cubicBezTo>
                  <a:pt x="5291355" y="0"/>
                  <a:pt x="5334000" y="42645"/>
                  <a:pt x="5334000" y="95250"/>
                </a:cubicBezTo>
                <a:lnTo>
                  <a:pt x="5334000" y="762000"/>
                </a:lnTo>
                <a:cubicBezTo>
                  <a:pt x="5334000" y="814605"/>
                  <a:pt x="5291355" y="857250"/>
                  <a:pt x="5238750" y="857250"/>
                </a:cubicBezTo>
                <a:lnTo>
                  <a:pt x="95250" y="857250"/>
                </a:lnTo>
                <a:cubicBezTo>
                  <a:pt x="42645" y="857250"/>
                  <a:pt x="0" y="814605"/>
                  <a:pt x="0" y="76200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F5F7FA"/>
          </a:solidFill>
          <a:ln>
            <a:noFill/>
          </a:ln>
        </p:spPr>
      </p:sp>
      <p:sp>
        <p:nvSpPr>
          <p:cNvPr id="18" name="Ellipse 18"/>
          <p:cNvSpPr/>
          <p:nvPr>
            <p:custDataLst>
              <p:tags r:id="rId12"/>
            </p:custDataLst>
          </p:nvPr>
        </p:nvSpPr>
        <p:spPr>
          <a:xfrm>
            <a:off x="685800" y="3590925"/>
            <a:ext cx="342900" cy="342900"/>
          </a:xfrm>
          <a:prstGeom prst="ellipse">
            <a:avLst/>
          </a:prstGeom>
          <a:solidFill>
            <a:srgbClr val="1565C0"/>
          </a:solidFill>
          <a:ln>
            <a:noFill/>
          </a:ln>
        </p:spPr>
      </p:sp>
      <p:sp>
        <p:nvSpPr>
          <p:cNvPr id="19" name="TextBox 19"/>
          <p:cNvSpPr txBox="1"/>
          <p:nvPr>
            <p:custDataLst>
              <p:tags r:id="rId13"/>
            </p:custDataLst>
          </p:nvPr>
        </p:nvSpPr>
        <p:spPr>
          <a:xfrm>
            <a:off x="783173" y="3664268"/>
            <a:ext cx="148154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3</a:t>
            </a:r>
            <a:endParaRPr lang="zh-CN" sz="1350" b="1" dirty="0">
              <a:solidFill>
                <a:srgbClr val="FFFFFF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20" name="TextBox 20"/>
          <p:cNvSpPr txBox="1"/>
          <p:nvPr>
            <p:custDataLst>
              <p:tags r:id="rId14"/>
            </p:custDataLst>
          </p:nvPr>
        </p:nvSpPr>
        <p:spPr>
          <a:xfrm>
            <a:off x="1170622" y="3544729"/>
            <a:ext cx="1730716" cy="3200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75" b="1" dirty="0">
                <a:solidFill>
                  <a:srgbClr val="26323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复用预训练能力</a:t>
            </a:r>
            <a:endParaRPr lang="zh-CN" sz="1575" b="1" dirty="0">
              <a:solidFill>
                <a:srgbClr val="263238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21" name="TextBox 21"/>
          <p:cNvSpPr txBox="1"/>
          <p:nvPr>
            <p:custDataLst>
              <p:tags r:id="rId15"/>
            </p:custDataLst>
          </p:nvPr>
        </p:nvSpPr>
        <p:spPr>
          <a:xfrm>
            <a:off x="1173480" y="3854768"/>
            <a:ext cx="358330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546E7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视觉编码器可提取频谱图的通用语义结构</a:t>
            </a:r>
            <a:endParaRPr lang="zh-CN" sz="1350" dirty="0">
              <a:solidFill>
                <a:srgbClr val="546E7A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22" name="Freeform 22"/>
          <p:cNvSpPr/>
          <p:nvPr/>
        </p:nvSpPr>
        <p:spPr>
          <a:xfrm>
            <a:off x="571500" y="4547870"/>
            <a:ext cx="5334000" cy="762000"/>
          </a:xfrm>
          <a:custGeom>
            <a:avLst/>
            <a:gdLst/>
            <a:ahLst/>
            <a:cxnLst/>
            <a:rect l="l" t="t" r="r" b="b"/>
            <a:pathLst>
              <a:path w="5334000" h="762000">
                <a:moveTo>
                  <a:pt x="95250" y="0"/>
                </a:moveTo>
                <a:lnTo>
                  <a:pt x="5238750" y="0"/>
                </a:lnTo>
                <a:cubicBezTo>
                  <a:pt x="5291355" y="0"/>
                  <a:pt x="5334000" y="42645"/>
                  <a:pt x="5334000" y="95250"/>
                </a:cubicBezTo>
                <a:lnTo>
                  <a:pt x="5334000" y="666750"/>
                </a:lnTo>
                <a:cubicBezTo>
                  <a:pt x="5334000" y="719355"/>
                  <a:pt x="5291355" y="762000"/>
                  <a:pt x="5238750" y="762000"/>
                </a:cubicBezTo>
                <a:lnTo>
                  <a:pt x="95250" y="762000"/>
                </a:lnTo>
                <a:cubicBezTo>
                  <a:pt x="42645" y="762000"/>
                  <a:pt x="0" y="719355"/>
                  <a:pt x="0" y="66675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FFF3E0"/>
          </a:solidFill>
          <a:ln w="9525">
            <a:solidFill>
              <a:srgbClr val="FF6F00"/>
            </a:solidFill>
          </a:ln>
        </p:spPr>
        <p:txBody>
          <a:bodyPr/>
          <a:p>
            <a:endParaRPr lang="zh-CN" altLang="en-US"/>
          </a:p>
        </p:txBody>
      </p:sp>
      <p:sp>
        <p:nvSpPr>
          <p:cNvPr id="23" name="TextBox 23"/>
          <p:cNvSpPr txBox="1"/>
          <p:nvPr/>
        </p:nvSpPr>
        <p:spPr>
          <a:xfrm>
            <a:off x="840105" y="4569142"/>
            <a:ext cx="655368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E6510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局限性</a:t>
            </a:r>
            <a:endParaRPr lang="zh-CN" sz="1350" b="1" dirty="0">
              <a:solidFill>
                <a:srgbClr val="E65100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24" name="TextBox 24"/>
          <p:cNvSpPr txBox="1"/>
          <p:nvPr/>
        </p:nvSpPr>
        <p:spPr>
          <a:xfrm>
            <a:off x="842010" y="4842510"/>
            <a:ext cx="353568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46E7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丢失绝对相位信息；本文感知任务不依赖相位</a:t>
            </a:r>
            <a:endParaRPr lang="zh-CN" sz="1200" dirty="0">
              <a:solidFill>
                <a:srgbClr val="546E7A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27" name="Rectangle 27"/>
          <p:cNvSpPr/>
          <p:nvPr/>
        </p:nvSpPr>
        <p:spPr>
          <a:xfrm>
            <a:off x="6286500" y="1809750"/>
            <a:ext cx="5334000" cy="9525"/>
          </a:xfrm>
          <a:prstGeom prst="rect">
            <a:avLst/>
          </a:prstGeom>
          <a:solidFill>
            <a:srgbClr val="ECEFF1"/>
          </a:solidFill>
          <a:ln>
            <a:noFill/>
          </a:ln>
        </p:spPr>
      </p:sp>
      <p:sp>
        <p:nvSpPr>
          <p:cNvPr id="41" name="Rectangle 41"/>
          <p:cNvSpPr/>
          <p:nvPr/>
        </p:nvSpPr>
        <p:spPr>
          <a:xfrm>
            <a:off x="571500" y="6667500"/>
            <a:ext cx="11049000" cy="9525"/>
          </a:xfrm>
          <a:prstGeom prst="rect">
            <a:avLst/>
          </a:prstGeom>
          <a:solidFill>
            <a:srgbClr val="ECEFF1"/>
          </a:solidFill>
          <a:ln>
            <a:noFill/>
          </a:ln>
        </p:spPr>
      </p:sp>
      <p:sp>
        <p:nvSpPr>
          <p:cNvPr id="42" name="TextBox 42"/>
          <p:cNvSpPr txBox="1"/>
          <p:nvPr/>
        </p:nvSpPr>
        <p:spPr>
          <a:xfrm>
            <a:off x="560070" y="6703695"/>
            <a:ext cx="133073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0A4A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RF-GPT Presentation</a:t>
            </a:r>
            <a:endParaRPr lang="zh-CN" sz="900" dirty="0">
              <a:solidFill>
                <a:srgbClr val="90A4A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43" name="TextBox 43"/>
          <p:cNvSpPr txBox="1"/>
          <p:nvPr/>
        </p:nvSpPr>
        <p:spPr>
          <a:xfrm>
            <a:off x="11582590" y="6703695"/>
            <a:ext cx="43034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90A4A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06 / 15</a:t>
            </a:r>
            <a:endParaRPr lang="zh-CN" sz="900" dirty="0">
              <a:solidFill>
                <a:srgbClr val="90A4A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44" name="Freeform 22"/>
          <p:cNvSpPr/>
          <p:nvPr/>
        </p:nvSpPr>
        <p:spPr>
          <a:xfrm>
            <a:off x="6523990" y="1348740"/>
            <a:ext cx="5096510" cy="837565"/>
          </a:xfrm>
          <a:custGeom>
            <a:avLst/>
            <a:gdLst/>
            <a:ahLst/>
            <a:cxnLst/>
            <a:rect l="l" t="t" r="r" b="b"/>
            <a:pathLst>
              <a:path w="5334000" h="762000">
                <a:moveTo>
                  <a:pt x="95250" y="0"/>
                </a:moveTo>
                <a:lnTo>
                  <a:pt x="5238750" y="0"/>
                </a:lnTo>
                <a:cubicBezTo>
                  <a:pt x="5291355" y="0"/>
                  <a:pt x="5334000" y="42645"/>
                  <a:pt x="5334000" y="95250"/>
                </a:cubicBezTo>
                <a:lnTo>
                  <a:pt x="5334000" y="666750"/>
                </a:lnTo>
                <a:cubicBezTo>
                  <a:pt x="5334000" y="719355"/>
                  <a:pt x="5291355" y="762000"/>
                  <a:pt x="5238750" y="762000"/>
                </a:cubicBezTo>
                <a:lnTo>
                  <a:pt x="95250" y="762000"/>
                </a:lnTo>
                <a:cubicBezTo>
                  <a:pt x="42645" y="762000"/>
                  <a:pt x="0" y="719355"/>
                  <a:pt x="0" y="66675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 w="12700" cmpd="sng">
            <a:noFill/>
            <a:prstDash val="sysDot"/>
          </a:ln>
        </p:spPr>
        <p:txBody>
          <a:bodyPr/>
          <a:p>
            <a:endParaRPr lang="en-US" altLang="zh-CN" sz="14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5" name="Freeform 22"/>
          <p:cNvSpPr/>
          <p:nvPr/>
        </p:nvSpPr>
        <p:spPr>
          <a:xfrm>
            <a:off x="6523990" y="2353310"/>
            <a:ext cx="5096510" cy="837565"/>
          </a:xfrm>
          <a:custGeom>
            <a:avLst/>
            <a:gdLst/>
            <a:ahLst/>
            <a:cxnLst/>
            <a:rect l="l" t="t" r="r" b="b"/>
            <a:pathLst>
              <a:path w="5334000" h="762000">
                <a:moveTo>
                  <a:pt x="95250" y="0"/>
                </a:moveTo>
                <a:lnTo>
                  <a:pt x="5238750" y="0"/>
                </a:lnTo>
                <a:cubicBezTo>
                  <a:pt x="5291355" y="0"/>
                  <a:pt x="5334000" y="42645"/>
                  <a:pt x="5334000" y="95250"/>
                </a:cubicBezTo>
                <a:lnTo>
                  <a:pt x="5334000" y="666750"/>
                </a:lnTo>
                <a:cubicBezTo>
                  <a:pt x="5334000" y="719355"/>
                  <a:pt x="5291355" y="762000"/>
                  <a:pt x="5238750" y="762000"/>
                </a:cubicBezTo>
                <a:lnTo>
                  <a:pt x="95250" y="762000"/>
                </a:lnTo>
                <a:cubicBezTo>
                  <a:pt x="42645" y="762000"/>
                  <a:pt x="0" y="719355"/>
                  <a:pt x="0" y="66675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 w="9525">
            <a:noFill/>
          </a:ln>
        </p:spPr>
        <p:txBody>
          <a:bodyPr/>
          <a:p>
            <a:endParaRPr lang="zh-CN" altLang="en-US" sz="1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6" name="Freeform 22"/>
          <p:cNvSpPr/>
          <p:nvPr/>
        </p:nvSpPr>
        <p:spPr>
          <a:xfrm>
            <a:off x="6523990" y="3357880"/>
            <a:ext cx="5096510" cy="837565"/>
          </a:xfrm>
          <a:custGeom>
            <a:avLst/>
            <a:gdLst/>
            <a:ahLst/>
            <a:cxnLst/>
            <a:rect l="l" t="t" r="r" b="b"/>
            <a:pathLst>
              <a:path w="5334000" h="762000">
                <a:moveTo>
                  <a:pt x="95250" y="0"/>
                </a:moveTo>
                <a:lnTo>
                  <a:pt x="5238750" y="0"/>
                </a:lnTo>
                <a:cubicBezTo>
                  <a:pt x="5291355" y="0"/>
                  <a:pt x="5334000" y="42645"/>
                  <a:pt x="5334000" y="95250"/>
                </a:cubicBezTo>
                <a:lnTo>
                  <a:pt x="5334000" y="666750"/>
                </a:lnTo>
                <a:cubicBezTo>
                  <a:pt x="5334000" y="719355"/>
                  <a:pt x="5291355" y="762000"/>
                  <a:pt x="5238750" y="762000"/>
                </a:cubicBezTo>
                <a:lnTo>
                  <a:pt x="95250" y="762000"/>
                </a:lnTo>
                <a:cubicBezTo>
                  <a:pt x="42645" y="762000"/>
                  <a:pt x="0" y="719355"/>
                  <a:pt x="0" y="66675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 w="9525">
            <a:noFill/>
          </a:ln>
        </p:spPr>
        <p:txBody>
          <a:bodyPr/>
          <a:p>
            <a:endParaRPr lang="zh-CN" altLang="en-US"/>
          </a:p>
        </p:txBody>
      </p:sp>
      <p:sp>
        <p:nvSpPr>
          <p:cNvPr id="47" name="文本框 46"/>
          <p:cNvSpPr txBox="1"/>
          <p:nvPr/>
        </p:nvSpPr>
        <p:spPr>
          <a:xfrm>
            <a:off x="6623685" y="1515745"/>
            <a:ext cx="4996815" cy="6337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IQ </a:t>
            </a:r>
            <a:r>
              <a:rPr lang="zh-CN" altLang="en-US" sz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采样率动辄几十</a:t>
            </a:r>
            <a:r>
              <a:rPr lang="en-US" altLang="zh-CN" sz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MHz </a:t>
            </a:r>
            <a:r>
              <a:rPr lang="zh-CN" altLang="en-US" sz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甚至上百</a:t>
            </a:r>
            <a:r>
              <a:rPr lang="en-US" altLang="zh-CN" sz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MHz</a:t>
            </a:r>
            <a:r>
              <a:rPr lang="zh-CN" altLang="en-US" sz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，一个几毫秒的窗口就有数十万采样点。而</a:t>
            </a:r>
            <a:r>
              <a:rPr lang="en-US" altLang="zh-CN" sz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STFT </a:t>
            </a:r>
            <a:r>
              <a:rPr lang="zh-CN" altLang="en-US" sz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变换后，</a:t>
            </a:r>
            <a:r>
              <a:rPr lang="en-US" altLang="zh-CN" sz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512</a:t>
            </a:r>
            <a:r>
              <a:rPr lang="en-US" altLang="en-US" sz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×</a:t>
            </a:r>
            <a:r>
              <a:rPr lang="en-US" altLang="zh-CN" sz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512 </a:t>
            </a:r>
            <a:r>
              <a:rPr lang="zh-CN" altLang="en-US" sz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的频谱图通过</a:t>
            </a:r>
            <a:r>
              <a:rPr lang="en-US" altLang="zh-CN" sz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14</a:t>
            </a:r>
            <a:r>
              <a:rPr lang="en-US" altLang="en-US" sz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×</a:t>
            </a:r>
            <a:r>
              <a:rPr lang="en-US" altLang="zh-CN" sz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14 </a:t>
            </a:r>
            <a:r>
              <a:rPr lang="zh-CN" altLang="en-US" sz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的</a:t>
            </a:r>
            <a:r>
              <a:rPr lang="en-US" altLang="zh-CN" sz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patch </a:t>
            </a:r>
            <a:r>
              <a:rPr lang="zh-CN" altLang="en-US" sz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划分，只产生</a:t>
            </a:r>
            <a:r>
              <a:rPr lang="en-US" altLang="zh-CN" sz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1369 </a:t>
            </a:r>
            <a:r>
              <a:rPr lang="zh-CN" altLang="en-US" sz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个</a:t>
            </a:r>
            <a:r>
              <a:rPr lang="en-US" altLang="zh-CN" sz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token</a:t>
            </a:r>
            <a:endParaRPr lang="en-US" altLang="zh-CN" sz="12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endParaRPr lang="en-US" altLang="zh-CN" sz="12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8" name="文本框 47"/>
          <p:cNvSpPr txBox="1"/>
          <p:nvPr/>
        </p:nvSpPr>
        <p:spPr>
          <a:xfrm>
            <a:off x="6598920" y="2525395"/>
            <a:ext cx="498348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QPSK </a:t>
            </a:r>
            <a:r>
              <a:rPr lang="zh-CN" altLang="en-US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和</a:t>
            </a:r>
            <a:r>
              <a:rPr lang="en-US" altLang="zh-CN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16QAM </a:t>
            </a:r>
            <a:r>
              <a:rPr lang="zh-CN" altLang="en-US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的频谱图看起来不一样，</a:t>
            </a:r>
            <a:r>
              <a:rPr lang="en-US" altLang="zh-CN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CNN </a:t>
            </a:r>
            <a:r>
              <a:rPr lang="zh-CN" altLang="en-US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能直接捕捉这些差异。时频结构是一个很强的先验偏置。</a:t>
            </a:r>
            <a:endParaRPr lang="zh-CN" altLang="en-US" sz="12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endParaRPr lang="zh-CN" altLang="en-US" sz="12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9" name="文本框 48"/>
          <p:cNvSpPr txBox="1"/>
          <p:nvPr/>
        </p:nvSpPr>
        <p:spPr>
          <a:xfrm>
            <a:off x="6598920" y="3559810"/>
            <a:ext cx="498348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ViT </a:t>
            </a:r>
            <a:r>
              <a:rPr lang="zh-CN" altLang="en-US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在</a:t>
            </a:r>
            <a:r>
              <a:rPr lang="en-US" altLang="zh-CN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ImageNet </a:t>
            </a:r>
            <a:r>
              <a:rPr lang="zh-CN" altLang="en-US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等大规模自然图像上预训练过，已经具备提取通用语义结构的能力</a:t>
            </a:r>
            <a:r>
              <a:rPr lang="en-US" altLang="zh-CN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——</a:t>
            </a:r>
            <a:r>
              <a:rPr lang="zh-CN" altLang="en-US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边缘、纹理、形状、重复模式。</a:t>
            </a:r>
            <a:r>
              <a:rPr lang="zh-CN" altLang="en-US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不需要从头训练。</a:t>
            </a:r>
            <a:endParaRPr lang="zh-CN" altLang="en-US" sz="12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endParaRPr lang="zh-CN" altLang="en-US" sz="1200"/>
          </a:p>
        </p:txBody>
      </p:sp>
      <p:pic>
        <p:nvPicPr>
          <p:cNvPr id="50" name="图片 49" descr="箭头-燕尾-向右"/>
          <p:cNvPicPr>
            <a:picLocks noChangeAspect="1"/>
          </p:cNvPicPr>
          <p:nvPr>
            <p:custDataLst>
              <p:tags r:id="rId16"/>
            </p:custDataLst>
          </p:nvPr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5951855" y="1515745"/>
            <a:ext cx="525780" cy="525780"/>
          </a:xfrm>
          <a:prstGeom prst="rect">
            <a:avLst/>
          </a:prstGeom>
        </p:spPr>
      </p:pic>
      <p:pic>
        <p:nvPicPr>
          <p:cNvPr id="51" name="图片 50" descr="箭头-燕尾-向右"/>
          <p:cNvPicPr>
            <a:picLocks noChangeAspect="1"/>
          </p:cNvPicPr>
          <p:nvPr>
            <p:custDataLst>
              <p:tags r:id="rId19"/>
            </p:custDataLst>
          </p:nvPr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5989320" y="2452370"/>
            <a:ext cx="525780" cy="525780"/>
          </a:xfrm>
          <a:prstGeom prst="rect">
            <a:avLst/>
          </a:prstGeom>
        </p:spPr>
      </p:pic>
      <p:pic>
        <p:nvPicPr>
          <p:cNvPr id="52" name="图片 51" descr="箭头-燕尾-向右"/>
          <p:cNvPicPr>
            <a:picLocks noChangeAspect="1"/>
          </p:cNvPicPr>
          <p:nvPr>
            <p:custDataLst>
              <p:tags r:id="rId21"/>
            </p:custDataLst>
          </p:nvPr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5989320" y="3563620"/>
            <a:ext cx="525780" cy="52578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3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1565C0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571500" y="476250"/>
            <a:ext cx="57150" cy="342900"/>
          </a:xfrm>
          <a:prstGeom prst="rect">
            <a:avLst/>
          </a:prstGeom>
          <a:solidFill>
            <a:srgbClr val="1565C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723900" y="419100"/>
            <a:ext cx="5596890" cy="609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26323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自动化标注与指令合成管线</a:t>
            </a:r>
            <a:endParaRPr lang="zh-CN" sz="3000" b="1" dirty="0">
              <a:solidFill>
                <a:srgbClr val="263238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6" name="Rectangle 6"/>
          <p:cNvSpPr/>
          <p:nvPr/>
        </p:nvSpPr>
        <p:spPr>
          <a:xfrm>
            <a:off x="533400" y="1015365"/>
            <a:ext cx="11049000" cy="9525"/>
          </a:xfrm>
          <a:prstGeom prst="rect">
            <a:avLst/>
          </a:prstGeom>
          <a:solidFill>
            <a:srgbClr val="ECEFF1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8553450" y="1231582"/>
            <a:ext cx="1522145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26323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5 个信息层级</a:t>
            </a:r>
            <a:endParaRPr lang="zh-CN" sz="1650" b="1" dirty="0">
              <a:solidFill>
                <a:srgbClr val="263238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8439150" y="1524952"/>
            <a:ext cx="171354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90A4A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从宏观到微观的递进结构</a:t>
            </a:r>
            <a:endParaRPr lang="zh-CN" sz="1050" dirty="0">
              <a:solidFill>
                <a:srgbClr val="90A4A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2" name="Polygon 12"/>
          <p:cNvSpPr/>
          <p:nvPr/>
        </p:nvSpPr>
        <p:spPr>
          <a:xfrm>
            <a:off x="8177530" y="1905000"/>
            <a:ext cx="1960880" cy="457200"/>
          </a:xfrm>
          <a:custGeom>
            <a:avLst/>
            <a:gdLst/>
            <a:ahLst/>
            <a:cxnLst/>
            <a:rect l="l" t="t" r="r" b="b"/>
            <a:pathLst>
              <a:path w="1905000" h="457200">
                <a:moveTo>
                  <a:pt x="285750" y="0"/>
                </a:moveTo>
                <a:lnTo>
                  <a:pt x="1619250" y="0"/>
                </a:lnTo>
                <a:lnTo>
                  <a:pt x="1905000" y="457200"/>
                </a:lnTo>
                <a:lnTo>
                  <a:pt x="0" y="457200"/>
                </a:lnTo>
                <a:close/>
              </a:path>
            </a:pathLst>
          </a:custGeom>
          <a:solidFill>
            <a:srgbClr val="1565C0">
              <a:alpha val="90000"/>
            </a:srgbClr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8391695" y="2001838"/>
            <a:ext cx="1390309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摘要 Summary</a:t>
            </a:r>
            <a:endParaRPr lang="zh-CN" sz="1350" b="1" dirty="0">
              <a:solidFill>
                <a:srgbClr val="FFFFFF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4" name="Line 14"/>
          <p:cNvSpPr/>
          <p:nvPr/>
        </p:nvSpPr>
        <p:spPr>
          <a:xfrm>
            <a:off x="9145905" y="2362200"/>
            <a:ext cx="9525" cy="161925"/>
          </a:xfrm>
          <a:custGeom>
            <a:avLst/>
            <a:gdLst/>
            <a:ahLst/>
            <a:cxnLst/>
            <a:rect l="l" t="t" r="r" b="b"/>
            <a:pathLst>
              <a:path w="9525" h="161925">
                <a:moveTo>
                  <a:pt x="0" y="0"/>
                </a:moveTo>
                <a:lnTo>
                  <a:pt x="0" y="161925"/>
                </a:lnTo>
              </a:path>
            </a:pathLst>
          </a:custGeom>
          <a:noFill/>
          <a:ln w="19050">
            <a:solidFill>
              <a:srgbClr val="1565C0"/>
            </a:solidFill>
          </a:ln>
        </p:spPr>
      </p:sp>
      <p:sp>
        <p:nvSpPr>
          <p:cNvPr id="15" name="Polygon 15"/>
          <p:cNvSpPr/>
          <p:nvPr/>
        </p:nvSpPr>
        <p:spPr>
          <a:xfrm>
            <a:off x="9093835" y="2505075"/>
            <a:ext cx="114300" cy="66675"/>
          </a:xfrm>
          <a:custGeom>
            <a:avLst/>
            <a:gdLst/>
            <a:ahLst/>
            <a:cxnLst/>
            <a:rect l="l" t="t" r="r" b="b"/>
            <a:pathLst>
              <a:path w="114300" h="66675">
                <a:moveTo>
                  <a:pt x="0" y="0"/>
                </a:moveTo>
                <a:lnTo>
                  <a:pt x="57150" y="66675"/>
                </a:lnTo>
                <a:lnTo>
                  <a:pt x="114300" y="0"/>
                </a:lnTo>
                <a:close/>
              </a:path>
            </a:pathLst>
          </a:custGeom>
          <a:solidFill>
            <a:srgbClr val="1565C0"/>
          </a:solidFill>
          <a:ln>
            <a:noFill/>
          </a:ln>
        </p:spPr>
      </p:sp>
      <p:sp>
        <p:nvSpPr>
          <p:cNvPr id="16" name="Polygon 16"/>
          <p:cNvSpPr/>
          <p:nvPr/>
        </p:nvSpPr>
        <p:spPr>
          <a:xfrm>
            <a:off x="7943850" y="2571750"/>
            <a:ext cx="2348230" cy="428625"/>
          </a:xfrm>
          <a:custGeom>
            <a:avLst/>
            <a:gdLst/>
            <a:ahLst/>
            <a:cxnLst/>
            <a:rect l="l" t="t" r="r" b="b"/>
            <a:pathLst>
              <a:path w="1524000" h="428625">
                <a:moveTo>
                  <a:pt x="238125" y="0"/>
                </a:moveTo>
                <a:lnTo>
                  <a:pt x="1285875" y="0"/>
                </a:lnTo>
                <a:lnTo>
                  <a:pt x="1524000" y="428625"/>
                </a:lnTo>
                <a:lnTo>
                  <a:pt x="0" y="428625"/>
                </a:lnTo>
                <a:close/>
              </a:path>
            </a:pathLst>
          </a:custGeom>
          <a:solidFill>
            <a:srgbClr val="1976D2">
              <a:alpha val="90000"/>
            </a:srgbClr>
          </a:solidFill>
          <a:ln>
            <a:noFill/>
          </a:ln>
        </p:spPr>
      </p:sp>
      <p:sp>
        <p:nvSpPr>
          <p:cNvPr id="17" name="TextBox 17"/>
          <p:cNvSpPr txBox="1"/>
          <p:nvPr/>
        </p:nvSpPr>
        <p:spPr>
          <a:xfrm>
            <a:off x="8175003" y="2680335"/>
            <a:ext cx="1907515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全局视觉 Global Visual</a:t>
            </a:r>
            <a:endParaRPr lang="zh-CN" sz="1200" b="1" dirty="0">
              <a:solidFill>
                <a:srgbClr val="FFFFFF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8" name="Line 18"/>
          <p:cNvSpPr/>
          <p:nvPr/>
        </p:nvSpPr>
        <p:spPr>
          <a:xfrm flipH="1">
            <a:off x="8391525" y="3000375"/>
            <a:ext cx="753745" cy="161925"/>
          </a:xfrm>
          <a:custGeom>
            <a:avLst/>
            <a:gdLst/>
            <a:ahLst/>
            <a:cxnLst/>
            <a:rect l="l" t="t" r="r" b="b"/>
            <a:pathLst>
              <a:path w="9525" h="161925">
                <a:moveTo>
                  <a:pt x="0" y="0"/>
                </a:moveTo>
                <a:lnTo>
                  <a:pt x="0" y="161925"/>
                </a:lnTo>
              </a:path>
            </a:pathLst>
          </a:custGeom>
          <a:noFill/>
          <a:ln w="19050">
            <a:solidFill>
              <a:srgbClr val="1976D2"/>
            </a:solidFill>
          </a:ln>
        </p:spPr>
      </p:sp>
      <p:sp>
        <p:nvSpPr>
          <p:cNvPr id="19" name="Polygon 19"/>
          <p:cNvSpPr/>
          <p:nvPr/>
        </p:nvSpPr>
        <p:spPr>
          <a:xfrm>
            <a:off x="9093835" y="3143250"/>
            <a:ext cx="114300" cy="66675"/>
          </a:xfrm>
          <a:custGeom>
            <a:avLst/>
            <a:gdLst/>
            <a:ahLst/>
            <a:cxnLst/>
            <a:rect l="l" t="t" r="r" b="b"/>
            <a:pathLst>
              <a:path w="114300" h="66675">
                <a:moveTo>
                  <a:pt x="0" y="0"/>
                </a:moveTo>
                <a:lnTo>
                  <a:pt x="57150" y="66675"/>
                </a:lnTo>
                <a:lnTo>
                  <a:pt x="114300" y="0"/>
                </a:lnTo>
                <a:close/>
              </a:path>
            </a:pathLst>
          </a:custGeom>
          <a:solidFill>
            <a:srgbClr val="1976D2"/>
          </a:solidFill>
          <a:ln>
            <a:noFill/>
          </a:ln>
        </p:spPr>
      </p:sp>
      <p:sp>
        <p:nvSpPr>
          <p:cNvPr id="20" name="Polygon 20"/>
          <p:cNvSpPr/>
          <p:nvPr/>
        </p:nvSpPr>
        <p:spPr>
          <a:xfrm>
            <a:off x="7773670" y="3209925"/>
            <a:ext cx="2633345" cy="390525"/>
          </a:xfrm>
          <a:custGeom>
            <a:avLst/>
            <a:gdLst/>
            <a:ahLst/>
            <a:cxnLst/>
            <a:rect l="l" t="t" r="r" b="b"/>
            <a:pathLst>
              <a:path w="1143000" h="390525">
                <a:moveTo>
                  <a:pt x="190500" y="0"/>
                </a:moveTo>
                <a:lnTo>
                  <a:pt x="952500" y="0"/>
                </a:lnTo>
                <a:lnTo>
                  <a:pt x="1143000" y="390525"/>
                </a:lnTo>
                <a:lnTo>
                  <a:pt x="0" y="390525"/>
                </a:lnTo>
                <a:close/>
              </a:path>
            </a:pathLst>
          </a:custGeom>
          <a:solidFill>
            <a:srgbClr val="42A5F5">
              <a:alpha val="90000"/>
            </a:srgbClr>
          </a:solidFill>
          <a:ln>
            <a:noFill/>
          </a:ln>
        </p:spPr>
        <p:txBody>
          <a:bodyPr/>
          <a:p>
            <a:endParaRPr lang="zh-CN" altLang="en-US"/>
          </a:p>
        </p:txBody>
      </p:sp>
      <p:sp>
        <p:nvSpPr>
          <p:cNvPr id="21" name="TextBox 21"/>
          <p:cNvSpPr txBox="1"/>
          <p:nvPr/>
        </p:nvSpPr>
        <p:spPr>
          <a:xfrm>
            <a:off x="8007969" y="3328035"/>
            <a:ext cx="2284762" cy="1841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全局上下文 Global Context</a:t>
            </a:r>
            <a:endParaRPr lang="zh-CN" sz="1200" b="1" dirty="0">
              <a:solidFill>
                <a:srgbClr val="FFFFFF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22" name="Line 22"/>
          <p:cNvSpPr/>
          <p:nvPr/>
        </p:nvSpPr>
        <p:spPr>
          <a:xfrm>
            <a:off x="9155430" y="3600450"/>
            <a:ext cx="9525" cy="142875"/>
          </a:xfrm>
          <a:custGeom>
            <a:avLst/>
            <a:gdLst/>
            <a:ahLst/>
            <a:cxnLst/>
            <a:rect l="l" t="t" r="r" b="b"/>
            <a:pathLst>
              <a:path w="9525" h="142875">
                <a:moveTo>
                  <a:pt x="0" y="0"/>
                </a:moveTo>
                <a:lnTo>
                  <a:pt x="0" y="142875"/>
                </a:lnTo>
              </a:path>
            </a:pathLst>
          </a:custGeom>
          <a:noFill/>
          <a:ln w="19050">
            <a:solidFill>
              <a:srgbClr val="42A5F5"/>
            </a:solidFill>
          </a:ln>
        </p:spPr>
      </p:sp>
      <p:sp>
        <p:nvSpPr>
          <p:cNvPr id="23" name="Polygon 23"/>
          <p:cNvSpPr/>
          <p:nvPr/>
        </p:nvSpPr>
        <p:spPr>
          <a:xfrm>
            <a:off x="9093835" y="3724275"/>
            <a:ext cx="114300" cy="66675"/>
          </a:xfrm>
          <a:custGeom>
            <a:avLst/>
            <a:gdLst/>
            <a:ahLst/>
            <a:cxnLst/>
            <a:rect l="l" t="t" r="r" b="b"/>
            <a:pathLst>
              <a:path w="114300" h="66675">
                <a:moveTo>
                  <a:pt x="0" y="0"/>
                </a:moveTo>
                <a:lnTo>
                  <a:pt x="57150" y="66675"/>
                </a:lnTo>
                <a:lnTo>
                  <a:pt x="114300" y="0"/>
                </a:lnTo>
                <a:close/>
              </a:path>
            </a:pathLst>
          </a:custGeom>
          <a:solidFill>
            <a:srgbClr val="42A5F5"/>
          </a:solidFill>
          <a:ln>
            <a:noFill/>
          </a:ln>
        </p:spPr>
      </p:sp>
      <p:sp>
        <p:nvSpPr>
          <p:cNvPr id="24" name="Polygon 24"/>
          <p:cNvSpPr/>
          <p:nvPr/>
        </p:nvSpPr>
        <p:spPr>
          <a:xfrm>
            <a:off x="7787005" y="3790950"/>
            <a:ext cx="2620010" cy="352425"/>
          </a:xfrm>
          <a:custGeom>
            <a:avLst/>
            <a:gdLst/>
            <a:ahLst/>
            <a:cxnLst/>
            <a:rect l="l" t="t" r="r" b="b"/>
            <a:pathLst>
              <a:path w="857250" h="352425">
                <a:moveTo>
                  <a:pt x="142875" y="0"/>
                </a:moveTo>
                <a:lnTo>
                  <a:pt x="714375" y="0"/>
                </a:lnTo>
                <a:lnTo>
                  <a:pt x="857250" y="352425"/>
                </a:lnTo>
                <a:lnTo>
                  <a:pt x="0" y="352425"/>
                </a:lnTo>
                <a:close/>
              </a:path>
            </a:pathLst>
          </a:custGeom>
          <a:solidFill>
            <a:srgbClr val="FFA726">
              <a:alpha val="90000"/>
            </a:srgbClr>
          </a:solidFill>
          <a:ln>
            <a:noFill/>
          </a:ln>
        </p:spPr>
      </p:sp>
      <p:sp>
        <p:nvSpPr>
          <p:cNvPr id="25" name="TextBox 25"/>
          <p:cNvSpPr txBox="1"/>
          <p:nvPr/>
        </p:nvSpPr>
        <p:spPr>
          <a:xfrm>
            <a:off x="8168018" y="3890010"/>
            <a:ext cx="1907515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信号视觉 Signal Visual</a:t>
            </a:r>
            <a:endParaRPr lang="zh-CN" sz="1200" b="1" dirty="0">
              <a:solidFill>
                <a:srgbClr val="FFFFFF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26" name="Line 26"/>
          <p:cNvSpPr/>
          <p:nvPr/>
        </p:nvSpPr>
        <p:spPr>
          <a:xfrm>
            <a:off x="9135745" y="4124325"/>
            <a:ext cx="9525" cy="142875"/>
          </a:xfrm>
          <a:custGeom>
            <a:avLst/>
            <a:gdLst/>
            <a:ahLst/>
            <a:cxnLst/>
            <a:rect l="l" t="t" r="r" b="b"/>
            <a:pathLst>
              <a:path w="9525" h="142875">
                <a:moveTo>
                  <a:pt x="0" y="0"/>
                </a:moveTo>
                <a:lnTo>
                  <a:pt x="0" y="142875"/>
                </a:lnTo>
              </a:path>
            </a:pathLst>
          </a:custGeom>
          <a:noFill/>
          <a:ln w="19050">
            <a:solidFill>
              <a:srgbClr val="FFA726"/>
            </a:solidFill>
          </a:ln>
        </p:spPr>
      </p:sp>
      <p:sp>
        <p:nvSpPr>
          <p:cNvPr id="27" name="Polygon 27"/>
          <p:cNvSpPr/>
          <p:nvPr/>
        </p:nvSpPr>
        <p:spPr>
          <a:xfrm>
            <a:off x="9071610" y="4267200"/>
            <a:ext cx="114300" cy="66675"/>
          </a:xfrm>
          <a:custGeom>
            <a:avLst/>
            <a:gdLst/>
            <a:ahLst/>
            <a:cxnLst/>
            <a:rect l="l" t="t" r="r" b="b"/>
            <a:pathLst>
              <a:path w="114300" h="66675">
                <a:moveTo>
                  <a:pt x="0" y="0"/>
                </a:moveTo>
                <a:lnTo>
                  <a:pt x="57150" y="66675"/>
                </a:lnTo>
                <a:lnTo>
                  <a:pt x="114300" y="0"/>
                </a:lnTo>
                <a:close/>
              </a:path>
            </a:pathLst>
          </a:custGeom>
          <a:solidFill>
            <a:srgbClr val="FFA726"/>
          </a:solidFill>
          <a:ln>
            <a:noFill/>
          </a:ln>
        </p:spPr>
      </p:sp>
      <p:sp>
        <p:nvSpPr>
          <p:cNvPr id="28" name="Polygon 28"/>
          <p:cNvSpPr/>
          <p:nvPr/>
        </p:nvSpPr>
        <p:spPr>
          <a:xfrm>
            <a:off x="7652385" y="4333875"/>
            <a:ext cx="2902585" cy="333375"/>
          </a:xfrm>
          <a:custGeom>
            <a:avLst/>
            <a:gdLst/>
            <a:ahLst/>
            <a:cxnLst/>
            <a:rect l="l" t="t" r="r" b="b"/>
            <a:pathLst>
              <a:path w="628650" h="333375">
                <a:moveTo>
                  <a:pt x="104775" y="0"/>
                </a:moveTo>
                <a:lnTo>
                  <a:pt x="523875" y="0"/>
                </a:lnTo>
                <a:lnTo>
                  <a:pt x="628650" y="333375"/>
                </a:lnTo>
                <a:lnTo>
                  <a:pt x="0" y="333375"/>
                </a:lnTo>
                <a:close/>
              </a:path>
            </a:pathLst>
          </a:custGeom>
          <a:solidFill>
            <a:srgbClr val="E65100">
              <a:alpha val="90000"/>
            </a:srgbClr>
          </a:solidFill>
          <a:ln>
            <a:noFill/>
          </a:ln>
        </p:spPr>
      </p:sp>
      <p:sp>
        <p:nvSpPr>
          <p:cNvPr id="29" name="TextBox 29"/>
          <p:cNvSpPr txBox="1"/>
          <p:nvPr/>
        </p:nvSpPr>
        <p:spPr>
          <a:xfrm>
            <a:off x="7943850" y="4423410"/>
            <a:ext cx="2348230" cy="1841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信号上下文 Signal Context</a:t>
            </a:r>
            <a:endParaRPr lang="zh-CN" sz="1200" b="1" dirty="0">
              <a:solidFill>
                <a:srgbClr val="FFFFFF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30" name="TextBox 30"/>
          <p:cNvSpPr txBox="1"/>
          <p:nvPr/>
        </p:nvSpPr>
        <p:spPr>
          <a:xfrm>
            <a:off x="7522408" y="2062798"/>
            <a:ext cx="48557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b="1" dirty="0">
                <a:solidFill>
                  <a:srgbClr val="1565C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宏观 ▸</a:t>
            </a:r>
            <a:endParaRPr lang="zh-CN" sz="1050" b="1" dirty="0">
              <a:solidFill>
                <a:srgbClr val="1565C0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31" name="TextBox 31"/>
          <p:cNvSpPr txBox="1"/>
          <p:nvPr/>
        </p:nvSpPr>
        <p:spPr>
          <a:xfrm>
            <a:off x="7166808" y="4454207"/>
            <a:ext cx="48557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b="1" dirty="0">
                <a:solidFill>
                  <a:srgbClr val="E6510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微观 ▸</a:t>
            </a:r>
            <a:endParaRPr lang="zh-CN" sz="1050" b="1" dirty="0">
              <a:solidFill>
                <a:srgbClr val="E65100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46" name="Rectangle 46"/>
          <p:cNvSpPr/>
          <p:nvPr/>
        </p:nvSpPr>
        <p:spPr>
          <a:xfrm>
            <a:off x="571500" y="6667500"/>
            <a:ext cx="11049000" cy="9525"/>
          </a:xfrm>
          <a:prstGeom prst="rect">
            <a:avLst/>
          </a:prstGeom>
          <a:solidFill>
            <a:srgbClr val="ECEFF1"/>
          </a:solidFill>
          <a:ln>
            <a:noFill/>
          </a:ln>
        </p:spPr>
      </p:sp>
      <p:sp>
        <p:nvSpPr>
          <p:cNvPr id="47" name="TextBox 47"/>
          <p:cNvSpPr txBox="1"/>
          <p:nvPr/>
        </p:nvSpPr>
        <p:spPr>
          <a:xfrm>
            <a:off x="560070" y="6703695"/>
            <a:ext cx="467601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0A4A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RF-GPT Presentation | Fig.3 caption strategy &amp; Fig.4 instruction pipeline</a:t>
            </a:r>
            <a:endParaRPr lang="zh-CN" sz="900" dirty="0">
              <a:solidFill>
                <a:srgbClr val="90A4A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48" name="TextBox 48"/>
          <p:cNvSpPr txBox="1"/>
          <p:nvPr/>
        </p:nvSpPr>
        <p:spPr>
          <a:xfrm>
            <a:off x="11582590" y="6703695"/>
            <a:ext cx="43034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90A4A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08 / 15</a:t>
            </a:r>
            <a:endParaRPr lang="zh-CN" sz="900" dirty="0">
              <a:solidFill>
                <a:srgbClr val="90A4A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pic>
        <p:nvPicPr>
          <p:cNvPr id="50" name="图片 49" descr="12bc611f2da1834c7a9d9d9554bba12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900" y="1007745"/>
            <a:ext cx="7323455" cy="3259455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10407015" y="2002155"/>
            <a:ext cx="1273810" cy="23241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最粗粒度描述</a:t>
            </a:r>
            <a:endParaRPr lang="zh-CN" altLang="en-US" sz="1000">
              <a:solidFill>
                <a:schemeClr val="bg1">
                  <a:lumMod val="5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10537190" y="3926205"/>
            <a:ext cx="1526540" cy="34099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每个信号的可见特征</a:t>
            </a:r>
            <a:endParaRPr lang="zh-CN" altLang="en-US" sz="1000">
              <a:solidFill>
                <a:schemeClr val="bg1">
                  <a:lumMod val="5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9" name="文本框 48"/>
          <p:cNvSpPr txBox="1"/>
          <p:nvPr/>
        </p:nvSpPr>
        <p:spPr>
          <a:xfrm>
            <a:off x="10473055" y="2747010"/>
            <a:ext cx="1207135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频谱图的全局特征</a:t>
            </a:r>
            <a:endParaRPr lang="zh-CN" altLang="en-US" sz="1000">
              <a:solidFill>
                <a:schemeClr val="bg1">
                  <a:lumMod val="5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6" name="文本框 55"/>
          <p:cNvSpPr txBox="1"/>
          <p:nvPr/>
        </p:nvSpPr>
        <p:spPr>
          <a:xfrm>
            <a:off x="571500" y="5088890"/>
            <a:ext cx="10883265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457200"/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指令合成的流程是：</a:t>
            </a:r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Matlab </a:t>
            </a:r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工具箱生成标准合规的波形</a:t>
            </a:r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en-US" altLang="en-US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→</a:t>
            </a:r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同时记录全量元数据（波形配置、信道参数、噪声水平等）</a:t>
            </a:r>
            <a:r>
              <a:rPr lang="en-US" altLang="en-US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→</a:t>
            </a:r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确定性</a:t>
            </a:r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caption </a:t>
            </a:r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生成器把元数据转成结构化描述</a:t>
            </a:r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en-US" altLang="en-US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→</a:t>
            </a:r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最后用</a:t>
            </a:r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GPT-OSS-120B</a:t>
            </a:r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（一个强大的纯文本</a:t>
            </a:r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LLM</a:t>
            </a:r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）把描述转换为多样化的指令</a:t>
            </a:r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-</a:t>
            </a:r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答案对，覆盖描述、计数、重叠分析、结构化</a:t>
            </a:r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JSON </a:t>
            </a:r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输出等多种任务类型。</a:t>
            </a:r>
            <a:endParaRPr lang="zh-CN" altLang="en-US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1565C0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571500" y="476250"/>
            <a:ext cx="57150" cy="342900"/>
          </a:xfrm>
          <a:prstGeom prst="rect">
            <a:avLst/>
          </a:prstGeom>
          <a:solidFill>
            <a:srgbClr val="1565C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723900" y="419100"/>
            <a:ext cx="5136832" cy="609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26323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合成数据：六种无线技术</a:t>
            </a:r>
            <a:endParaRPr lang="zh-CN" sz="3000" b="1" dirty="0">
              <a:solidFill>
                <a:srgbClr val="263238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6" name="Rectangle 6"/>
          <p:cNvSpPr/>
          <p:nvPr/>
        </p:nvSpPr>
        <p:spPr>
          <a:xfrm>
            <a:off x="571500" y="1095375"/>
            <a:ext cx="11049000" cy="9525"/>
          </a:xfrm>
          <a:prstGeom prst="rect">
            <a:avLst/>
          </a:prstGeom>
          <a:solidFill>
            <a:srgbClr val="ECEFF1"/>
          </a:solidFill>
          <a:ln>
            <a:noFill/>
          </a:ln>
        </p:spPr>
      </p:sp>
      <p:sp>
        <p:nvSpPr>
          <p:cNvPr id="37" name="Freeform 37"/>
          <p:cNvSpPr/>
          <p:nvPr/>
        </p:nvSpPr>
        <p:spPr>
          <a:xfrm>
            <a:off x="571500" y="5600700"/>
            <a:ext cx="11049000" cy="952500"/>
          </a:xfrm>
          <a:custGeom>
            <a:avLst/>
            <a:gdLst/>
            <a:ahLst/>
            <a:cxnLst/>
            <a:rect l="l" t="t" r="r" b="b"/>
            <a:pathLst>
              <a:path w="11049000" h="952500">
                <a:moveTo>
                  <a:pt x="95250" y="0"/>
                </a:moveTo>
                <a:lnTo>
                  <a:pt x="10953750" y="0"/>
                </a:lnTo>
                <a:cubicBezTo>
                  <a:pt x="11006355" y="0"/>
                  <a:pt x="11049000" y="42645"/>
                  <a:pt x="11049000" y="95250"/>
                </a:cubicBezTo>
                <a:lnTo>
                  <a:pt x="11049000" y="857250"/>
                </a:lnTo>
                <a:cubicBezTo>
                  <a:pt x="11049000" y="909855"/>
                  <a:pt x="11006355" y="952500"/>
                  <a:pt x="10953750" y="952500"/>
                </a:cubicBezTo>
                <a:lnTo>
                  <a:pt x="95250" y="952500"/>
                </a:lnTo>
                <a:cubicBezTo>
                  <a:pt x="42645" y="952500"/>
                  <a:pt x="0" y="909855"/>
                  <a:pt x="0" y="85725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1565C0"/>
          </a:solidFill>
          <a:ln>
            <a:noFill/>
          </a:ln>
        </p:spPr>
      </p:sp>
      <p:sp>
        <p:nvSpPr>
          <p:cNvPr id="38" name="TextBox 38"/>
          <p:cNvSpPr txBox="1"/>
          <p:nvPr/>
        </p:nvSpPr>
        <p:spPr>
          <a:xfrm>
            <a:off x="4727805" y="5600541"/>
            <a:ext cx="2382060" cy="838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4125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~12,000</a:t>
            </a:r>
            <a:endParaRPr lang="zh-CN" sz="4125" b="1" dirty="0">
              <a:solidFill>
                <a:srgbClr val="FFFFFF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39" name="TextBox 39"/>
          <p:cNvSpPr txBox="1"/>
          <p:nvPr/>
        </p:nvSpPr>
        <p:spPr>
          <a:xfrm>
            <a:off x="5445062" y="6278563"/>
            <a:ext cx="901827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dirty="0">
                <a:solidFill>
                  <a:srgbClr val="BBDEFB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RF 场景数</a:t>
            </a:r>
            <a:endParaRPr lang="zh-CN" sz="1350" dirty="0">
              <a:solidFill>
                <a:srgbClr val="BBDEFB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40" name="TextBox 40"/>
          <p:cNvSpPr txBox="1"/>
          <p:nvPr/>
        </p:nvSpPr>
        <p:spPr>
          <a:xfrm>
            <a:off x="8096179" y="5600541"/>
            <a:ext cx="2888123" cy="838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4125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~625,000</a:t>
            </a:r>
            <a:endParaRPr lang="zh-CN" sz="4125" b="1" dirty="0">
              <a:solidFill>
                <a:srgbClr val="FFFFFF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41" name="TextBox 41"/>
          <p:cNvSpPr txBox="1"/>
          <p:nvPr/>
        </p:nvSpPr>
        <p:spPr>
          <a:xfrm>
            <a:off x="9095970" y="6278563"/>
            <a:ext cx="112857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dirty="0">
                <a:solidFill>
                  <a:srgbClr val="BBDEFB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指令-答案对</a:t>
            </a:r>
            <a:endParaRPr lang="zh-CN" sz="1350" dirty="0">
              <a:solidFill>
                <a:srgbClr val="BBDEFB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42" name="TextBox 42"/>
          <p:cNvSpPr txBox="1"/>
          <p:nvPr/>
        </p:nvSpPr>
        <p:spPr>
          <a:xfrm>
            <a:off x="2547968" y="5600541"/>
            <a:ext cx="452693" cy="838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4125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0</a:t>
            </a:r>
            <a:endParaRPr lang="zh-CN" sz="4125" b="1" dirty="0">
              <a:solidFill>
                <a:srgbClr val="FFFFFF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43" name="TextBox 43"/>
          <p:cNvSpPr txBox="1"/>
          <p:nvPr/>
        </p:nvSpPr>
        <p:spPr>
          <a:xfrm>
            <a:off x="2310130" y="6278563"/>
            <a:ext cx="82296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dirty="0">
                <a:solidFill>
                  <a:srgbClr val="BBDEFB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人工标注</a:t>
            </a:r>
            <a:endParaRPr lang="zh-CN" sz="1350" dirty="0">
              <a:solidFill>
                <a:srgbClr val="BBDEFB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44" name="Rectangle 44"/>
          <p:cNvSpPr/>
          <p:nvPr/>
        </p:nvSpPr>
        <p:spPr>
          <a:xfrm>
            <a:off x="571500" y="6667500"/>
            <a:ext cx="11049000" cy="9525"/>
          </a:xfrm>
          <a:prstGeom prst="rect">
            <a:avLst/>
          </a:prstGeom>
          <a:solidFill>
            <a:srgbClr val="ECEFF1"/>
          </a:solidFill>
          <a:ln>
            <a:noFill/>
          </a:ln>
        </p:spPr>
      </p:sp>
      <p:sp>
        <p:nvSpPr>
          <p:cNvPr id="45" name="TextBox 45"/>
          <p:cNvSpPr txBox="1"/>
          <p:nvPr/>
        </p:nvSpPr>
        <p:spPr>
          <a:xfrm>
            <a:off x="560070" y="6703695"/>
            <a:ext cx="133073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0A4A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RF-GPT Presentation</a:t>
            </a:r>
            <a:endParaRPr lang="zh-CN" sz="900" dirty="0">
              <a:solidFill>
                <a:srgbClr val="90A4A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46" name="TextBox 46"/>
          <p:cNvSpPr txBox="1"/>
          <p:nvPr/>
        </p:nvSpPr>
        <p:spPr>
          <a:xfrm>
            <a:off x="11582590" y="6703695"/>
            <a:ext cx="43034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90A4A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07 / 15</a:t>
            </a:r>
            <a:endParaRPr lang="zh-CN" sz="900" dirty="0">
              <a:solidFill>
                <a:srgbClr val="90A4A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pic>
        <p:nvPicPr>
          <p:cNvPr id="48" name="图片 47" descr="eff99a9c1d27386d76bf2e94cf12d74c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6395" y="1409700"/>
            <a:ext cx="4815840" cy="3375025"/>
          </a:xfrm>
          <a:prstGeom prst="rect">
            <a:avLst/>
          </a:prstGeom>
        </p:spPr>
      </p:pic>
      <p:sp>
        <p:nvSpPr>
          <p:cNvPr id="8" name="Freeform 7"/>
          <p:cNvSpPr/>
          <p:nvPr/>
        </p:nvSpPr>
        <p:spPr>
          <a:xfrm>
            <a:off x="6096000" y="1719580"/>
            <a:ext cx="1844040" cy="1272540"/>
          </a:xfrm>
          <a:custGeom>
            <a:avLst/>
            <a:gdLst/>
            <a:ahLst/>
            <a:cxnLst/>
            <a:rect l="l" t="t" r="r" b="b"/>
            <a:pathLst>
              <a:path w="3524250" h="1428750">
                <a:moveTo>
                  <a:pt x="95250" y="0"/>
                </a:moveTo>
                <a:lnTo>
                  <a:pt x="3429000" y="0"/>
                </a:lnTo>
                <a:cubicBezTo>
                  <a:pt x="3481605" y="0"/>
                  <a:pt x="3524250" y="42645"/>
                  <a:pt x="3524250" y="95250"/>
                </a:cubicBezTo>
                <a:lnTo>
                  <a:pt x="3524250" y="1333500"/>
                </a:lnTo>
                <a:cubicBezTo>
                  <a:pt x="3524250" y="1386105"/>
                  <a:pt x="3481605" y="1428750"/>
                  <a:pt x="3429000" y="1428750"/>
                </a:cubicBezTo>
                <a:lnTo>
                  <a:pt x="95250" y="1428750"/>
                </a:lnTo>
                <a:cubicBezTo>
                  <a:pt x="42645" y="1428750"/>
                  <a:pt x="0" y="1386105"/>
                  <a:pt x="0" y="133350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E3F2FD"/>
          </a:solidFill>
          <a:ln>
            <a:noFill/>
          </a:ln>
        </p:spPr>
      </p:sp>
      <p:sp>
        <p:nvSpPr>
          <p:cNvPr id="9" name="Freeform 7"/>
          <p:cNvSpPr/>
          <p:nvPr/>
        </p:nvSpPr>
        <p:spPr>
          <a:xfrm>
            <a:off x="8076565" y="1719580"/>
            <a:ext cx="1844040" cy="1266825"/>
          </a:xfrm>
          <a:custGeom>
            <a:avLst/>
            <a:gdLst/>
            <a:ahLst/>
            <a:cxnLst/>
            <a:rect l="l" t="t" r="r" b="b"/>
            <a:pathLst>
              <a:path w="3524250" h="1428750">
                <a:moveTo>
                  <a:pt x="95250" y="0"/>
                </a:moveTo>
                <a:lnTo>
                  <a:pt x="3429000" y="0"/>
                </a:lnTo>
                <a:cubicBezTo>
                  <a:pt x="3481605" y="0"/>
                  <a:pt x="3524250" y="42645"/>
                  <a:pt x="3524250" y="95250"/>
                </a:cubicBezTo>
                <a:lnTo>
                  <a:pt x="3524250" y="1333500"/>
                </a:lnTo>
                <a:cubicBezTo>
                  <a:pt x="3524250" y="1386105"/>
                  <a:pt x="3481605" y="1428750"/>
                  <a:pt x="3429000" y="1428750"/>
                </a:cubicBezTo>
                <a:lnTo>
                  <a:pt x="95250" y="1428750"/>
                </a:lnTo>
                <a:cubicBezTo>
                  <a:pt x="42645" y="1428750"/>
                  <a:pt x="0" y="1386105"/>
                  <a:pt x="0" y="133350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E3F2FD"/>
          </a:solidFill>
          <a:ln>
            <a:noFill/>
          </a:ln>
        </p:spPr>
        <p:txBody>
          <a:bodyPr/>
          <a:p>
            <a:endParaRPr lang="zh-CN" altLang="en-US"/>
          </a:p>
        </p:txBody>
      </p:sp>
      <p:sp>
        <p:nvSpPr>
          <p:cNvPr id="10" name="Freeform 7"/>
          <p:cNvSpPr/>
          <p:nvPr/>
        </p:nvSpPr>
        <p:spPr>
          <a:xfrm>
            <a:off x="10057130" y="1719580"/>
            <a:ext cx="1844040" cy="1266825"/>
          </a:xfrm>
          <a:custGeom>
            <a:avLst/>
            <a:gdLst/>
            <a:ahLst/>
            <a:cxnLst/>
            <a:rect l="l" t="t" r="r" b="b"/>
            <a:pathLst>
              <a:path w="3524250" h="1428750">
                <a:moveTo>
                  <a:pt x="95250" y="0"/>
                </a:moveTo>
                <a:lnTo>
                  <a:pt x="3429000" y="0"/>
                </a:lnTo>
                <a:cubicBezTo>
                  <a:pt x="3481605" y="0"/>
                  <a:pt x="3524250" y="42645"/>
                  <a:pt x="3524250" y="95250"/>
                </a:cubicBezTo>
                <a:lnTo>
                  <a:pt x="3524250" y="1333500"/>
                </a:lnTo>
                <a:cubicBezTo>
                  <a:pt x="3524250" y="1386105"/>
                  <a:pt x="3481605" y="1428750"/>
                  <a:pt x="3429000" y="1428750"/>
                </a:cubicBezTo>
                <a:lnTo>
                  <a:pt x="95250" y="1428750"/>
                </a:lnTo>
                <a:cubicBezTo>
                  <a:pt x="42645" y="1428750"/>
                  <a:pt x="0" y="1386105"/>
                  <a:pt x="0" y="133350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</p:sp>
      <p:sp>
        <p:nvSpPr>
          <p:cNvPr id="11" name="Freeform 7"/>
          <p:cNvSpPr/>
          <p:nvPr/>
        </p:nvSpPr>
        <p:spPr>
          <a:xfrm>
            <a:off x="6096000" y="3387090"/>
            <a:ext cx="1844040" cy="1190625"/>
          </a:xfrm>
          <a:custGeom>
            <a:avLst/>
            <a:gdLst/>
            <a:ahLst/>
            <a:cxnLst/>
            <a:rect l="l" t="t" r="r" b="b"/>
            <a:pathLst>
              <a:path w="3524250" h="1428750">
                <a:moveTo>
                  <a:pt x="95250" y="0"/>
                </a:moveTo>
                <a:lnTo>
                  <a:pt x="3429000" y="0"/>
                </a:lnTo>
                <a:cubicBezTo>
                  <a:pt x="3481605" y="0"/>
                  <a:pt x="3524250" y="42645"/>
                  <a:pt x="3524250" y="95250"/>
                </a:cubicBezTo>
                <a:lnTo>
                  <a:pt x="3524250" y="1333500"/>
                </a:lnTo>
                <a:cubicBezTo>
                  <a:pt x="3524250" y="1386105"/>
                  <a:pt x="3481605" y="1428750"/>
                  <a:pt x="3429000" y="1428750"/>
                </a:cubicBezTo>
                <a:lnTo>
                  <a:pt x="95250" y="1428750"/>
                </a:lnTo>
                <a:cubicBezTo>
                  <a:pt x="42645" y="1428750"/>
                  <a:pt x="0" y="1386105"/>
                  <a:pt x="0" y="133350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</p:sp>
      <p:sp>
        <p:nvSpPr>
          <p:cNvPr id="13" name="Freeform 7"/>
          <p:cNvSpPr/>
          <p:nvPr/>
        </p:nvSpPr>
        <p:spPr>
          <a:xfrm>
            <a:off x="8076565" y="3349625"/>
            <a:ext cx="1844040" cy="1233805"/>
          </a:xfrm>
          <a:custGeom>
            <a:avLst/>
            <a:gdLst/>
            <a:ahLst/>
            <a:cxnLst/>
            <a:rect l="l" t="t" r="r" b="b"/>
            <a:pathLst>
              <a:path w="3524250" h="1428750">
                <a:moveTo>
                  <a:pt x="95250" y="0"/>
                </a:moveTo>
                <a:lnTo>
                  <a:pt x="3429000" y="0"/>
                </a:lnTo>
                <a:cubicBezTo>
                  <a:pt x="3481605" y="0"/>
                  <a:pt x="3524250" y="42645"/>
                  <a:pt x="3524250" y="95250"/>
                </a:cubicBezTo>
                <a:lnTo>
                  <a:pt x="3524250" y="1333500"/>
                </a:lnTo>
                <a:cubicBezTo>
                  <a:pt x="3524250" y="1386105"/>
                  <a:pt x="3481605" y="1428750"/>
                  <a:pt x="3429000" y="1428750"/>
                </a:cubicBezTo>
                <a:lnTo>
                  <a:pt x="95250" y="1428750"/>
                </a:lnTo>
                <a:cubicBezTo>
                  <a:pt x="42645" y="1428750"/>
                  <a:pt x="0" y="1386105"/>
                  <a:pt x="0" y="133350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txBody>
          <a:bodyPr/>
          <a:p>
            <a:endParaRPr lang="zh-CN" altLang="en-US"/>
          </a:p>
        </p:txBody>
      </p:sp>
      <p:sp>
        <p:nvSpPr>
          <p:cNvPr id="14" name="Freeform 7"/>
          <p:cNvSpPr/>
          <p:nvPr/>
        </p:nvSpPr>
        <p:spPr>
          <a:xfrm>
            <a:off x="10057130" y="3361690"/>
            <a:ext cx="1844040" cy="1224280"/>
          </a:xfrm>
          <a:custGeom>
            <a:avLst/>
            <a:gdLst/>
            <a:ahLst/>
            <a:cxnLst/>
            <a:rect l="l" t="t" r="r" b="b"/>
            <a:pathLst>
              <a:path w="3524250" h="1428750">
                <a:moveTo>
                  <a:pt x="95250" y="0"/>
                </a:moveTo>
                <a:lnTo>
                  <a:pt x="3429000" y="0"/>
                </a:lnTo>
                <a:cubicBezTo>
                  <a:pt x="3481605" y="0"/>
                  <a:pt x="3524250" y="42645"/>
                  <a:pt x="3524250" y="95250"/>
                </a:cubicBezTo>
                <a:lnTo>
                  <a:pt x="3524250" y="1333500"/>
                </a:lnTo>
                <a:cubicBezTo>
                  <a:pt x="3524250" y="1386105"/>
                  <a:pt x="3481605" y="1428750"/>
                  <a:pt x="3429000" y="1428750"/>
                </a:cubicBezTo>
                <a:lnTo>
                  <a:pt x="95250" y="1428750"/>
                </a:lnTo>
                <a:cubicBezTo>
                  <a:pt x="42645" y="1428750"/>
                  <a:pt x="0" y="1386105"/>
                  <a:pt x="0" y="133350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txBody>
          <a:bodyPr/>
          <a:p>
            <a:endParaRPr lang="zh-CN" altLang="en-US"/>
          </a:p>
        </p:txBody>
      </p:sp>
      <p:sp>
        <p:nvSpPr>
          <p:cNvPr id="15" name="TextBox 8"/>
          <p:cNvSpPr txBox="1"/>
          <p:nvPr/>
        </p:nvSpPr>
        <p:spPr>
          <a:xfrm>
            <a:off x="6650117" y="1781810"/>
            <a:ext cx="735806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b="1" dirty="0">
                <a:solidFill>
                  <a:srgbClr val="1565C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5G NR</a:t>
            </a:r>
            <a:endParaRPr lang="zh-CN" sz="1800" b="1" dirty="0">
              <a:solidFill>
                <a:srgbClr val="1565C0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7" name="TextBox 13"/>
          <p:cNvSpPr txBox="1"/>
          <p:nvPr/>
        </p:nvSpPr>
        <p:spPr>
          <a:xfrm>
            <a:off x="8747997" y="1791335"/>
            <a:ext cx="501177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b="1" dirty="0">
                <a:solidFill>
                  <a:srgbClr val="1565C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LTE</a:t>
            </a:r>
            <a:endParaRPr lang="zh-CN" sz="1800" b="1" dirty="0">
              <a:solidFill>
                <a:srgbClr val="1565C0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10625684" y="1778635"/>
            <a:ext cx="708203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b="1" dirty="0">
                <a:solidFill>
                  <a:srgbClr val="2E7D32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UMTS</a:t>
            </a:r>
            <a:endParaRPr lang="zh-CN" sz="1800" b="1" dirty="0">
              <a:solidFill>
                <a:srgbClr val="2E7D32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23" name="TextBox 23"/>
          <p:cNvSpPr txBox="1"/>
          <p:nvPr/>
        </p:nvSpPr>
        <p:spPr>
          <a:xfrm>
            <a:off x="6662420" y="3428365"/>
            <a:ext cx="708025" cy="36703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ctr"/>
            <a:r>
              <a:rPr lang="zh-CN" sz="1800" b="1" dirty="0">
                <a:solidFill>
                  <a:srgbClr val="2E7D32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WLAN</a:t>
            </a:r>
            <a:endParaRPr lang="zh-CN" sz="1800" b="1" dirty="0">
              <a:solidFill>
                <a:srgbClr val="2E7D32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28" name="TextBox 28"/>
          <p:cNvSpPr txBox="1"/>
          <p:nvPr/>
        </p:nvSpPr>
        <p:spPr>
          <a:xfrm>
            <a:off x="8519633" y="3418205"/>
            <a:ext cx="956634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b="1" dirty="0">
                <a:solidFill>
                  <a:srgbClr val="E6510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DVB-S2</a:t>
            </a:r>
            <a:endParaRPr lang="zh-CN" sz="1800" b="1" dirty="0">
              <a:solidFill>
                <a:srgbClr val="E65100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33" name="TextBox 33"/>
          <p:cNvSpPr txBox="1"/>
          <p:nvPr/>
        </p:nvSpPr>
        <p:spPr>
          <a:xfrm>
            <a:off x="10277764" y="3396615"/>
            <a:ext cx="1343082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b="1" dirty="0">
                <a:solidFill>
                  <a:srgbClr val="E6510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Bluetooth</a:t>
            </a:r>
            <a:endParaRPr lang="zh-CN" sz="1800" b="1" dirty="0">
              <a:solidFill>
                <a:srgbClr val="E65100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9" name="TextBox 9"/>
          <p:cNvSpPr txBox="1"/>
          <p:nvPr/>
        </p:nvSpPr>
        <p:spPr>
          <a:xfrm>
            <a:off x="6096825" y="2114550"/>
            <a:ext cx="1809369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46E7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蜂窝通信 · 子载波间隔</a:t>
            </a:r>
            <a:endParaRPr lang="zh-CN" sz="1200" dirty="0">
              <a:solidFill>
                <a:srgbClr val="546E7A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20" name="TextBox 10"/>
          <p:cNvSpPr txBox="1"/>
          <p:nvPr/>
        </p:nvSpPr>
        <p:spPr>
          <a:xfrm>
            <a:off x="6096381" y="2352675"/>
            <a:ext cx="1748028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46E7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资源块分配 · SSB模式</a:t>
            </a:r>
            <a:endParaRPr lang="zh-CN" sz="1200" dirty="0">
              <a:solidFill>
                <a:srgbClr val="546E7A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21" name="TextBox 11"/>
          <p:cNvSpPr txBox="1"/>
          <p:nvPr/>
        </p:nvSpPr>
        <p:spPr>
          <a:xfrm>
            <a:off x="6156643" y="2590800"/>
            <a:ext cx="1739265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46E7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CSI-RS / SRS / PDCCH</a:t>
            </a:r>
            <a:endParaRPr lang="zh-CN" sz="1200" dirty="0">
              <a:solidFill>
                <a:srgbClr val="546E7A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22" name="TextBox 14"/>
          <p:cNvSpPr txBox="1"/>
          <p:nvPr/>
        </p:nvSpPr>
        <p:spPr>
          <a:xfrm>
            <a:off x="8234109" y="2105660"/>
            <a:ext cx="1528953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46E7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4G 蜂窝 · 带宽配置</a:t>
            </a:r>
            <a:endParaRPr lang="zh-CN" sz="1200" dirty="0">
              <a:solidFill>
                <a:srgbClr val="546E7A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24" name="TextBox 15"/>
          <p:cNvSpPr txBox="1"/>
          <p:nvPr/>
        </p:nvSpPr>
        <p:spPr>
          <a:xfrm>
            <a:off x="8269161" y="2358390"/>
            <a:ext cx="1458849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46E7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帧结构 · 参考信号</a:t>
            </a:r>
            <a:endParaRPr lang="zh-CN" sz="1200" dirty="0">
              <a:solidFill>
                <a:srgbClr val="546E7A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25" name="TextBox 16"/>
          <p:cNvSpPr txBox="1"/>
          <p:nvPr/>
        </p:nvSpPr>
        <p:spPr>
          <a:xfrm>
            <a:off x="8369935" y="2590800"/>
            <a:ext cx="125730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46E7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物理层完整实现</a:t>
            </a:r>
            <a:endParaRPr lang="zh-CN" sz="1200" dirty="0">
              <a:solidFill>
                <a:srgbClr val="546E7A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26" name="TextBox 19"/>
          <p:cNvSpPr txBox="1"/>
          <p:nvPr/>
        </p:nvSpPr>
        <p:spPr>
          <a:xfrm>
            <a:off x="10224833" y="2111375"/>
            <a:ext cx="1528953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46E7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3G 蜂窝 · 码分多址</a:t>
            </a:r>
            <a:endParaRPr lang="zh-CN" sz="1200" dirty="0">
              <a:solidFill>
                <a:srgbClr val="546E7A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27" name="TextBox 20"/>
          <p:cNvSpPr txBox="1"/>
          <p:nvPr/>
        </p:nvSpPr>
        <p:spPr>
          <a:xfrm>
            <a:off x="10496487" y="2355215"/>
            <a:ext cx="985647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46E7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WCDMA 配置</a:t>
            </a:r>
            <a:endParaRPr lang="zh-CN" sz="1200" dirty="0">
              <a:solidFill>
                <a:srgbClr val="546E7A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29" name="TextBox 21"/>
          <p:cNvSpPr txBox="1"/>
          <p:nvPr/>
        </p:nvSpPr>
        <p:spPr>
          <a:xfrm>
            <a:off x="10451465" y="2596515"/>
            <a:ext cx="116967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46E7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3GPP 标准符合</a:t>
            </a:r>
            <a:endParaRPr lang="zh-CN" sz="1200" dirty="0">
              <a:solidFill>
                <a:srgbClr val="546E7A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30" name="TextBox 24"/>
          <p:cNvSpPr txBox="1"/>
          <p:nvPr/>
        </p:nvSpPr>
        <p:spPr>
          <a:xfrm>
            <a:off x="6245162" y="3752215"/>
            <a:ext cx="1599057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46E7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802.11ax / 802.11be</a:t>
            </a:r>
            <a:endParaRPr lang="zh-CN" sz="1200" dirty="0">
              <a:solidFill>
                <a:srgbClr val="546E7A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31" name="TextBox 25"/>
          <p:cNvSpPr txBox="1"/>
          <p:nvPr/>
        </p:nvSpPr>
        <p:spPr>
          <a:xfrm>
            <a:off x="6333427" y="3976370"/>
            <a:ext cx="1336167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46E7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OFDMA 资源单元</a:t>
            </a:r>
            <a:endParaRPr lang="zh-CN" sz="1200" dirty="0">
              <a:solidFill>
                <a:srgbClr val="546E7A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32" name="TextBox 26"/>
          <p:cNvSpPr txBox="1"/>
          <p:nvPr/>
        </p:nvSpPr>
        <p:spPr>
          <a:xfrm>
            <a:off x="6465189" y="4231640"/>
            <a:ext cx="120472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46E7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MU-MIMO 配置</a:t>
            </a:r>
            <a:endParaRPr lang="zh-CN" sz="1200" dirty="0">
              <a:solidFill>
                <a:srgbClr val="546E7A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34" name="TextBox 29"/>
          <p:cNvSpPr txBox="1"/>
          <p:nvPr/>
        </p:nvSpPr>
        <p:spPr>
          <a:xfrm>
            <a:off x="8632190" y="3783965"/>
            <a:ext cx="73152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46E7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卫星通信</a:t>
            </a:r>
            <a:endParaRPr lang="zh-CN" sz="1200" dirty="0">
              <a:solidFill>
                <a:srgbClr val="546E7A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35" name="TextBox 30"/>
          <p:cNvSpPr txBox="1"/>
          <p:nvPr/>
        </p:nvSpPr>
        <p:spPr>
          <a:xfrm>
            <a:off x="8330565" y="3976370"/>
            <a:ext cx="143256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46E7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调制编码方案配置</a:t>
            </a:r>
            <a:endParaRPr lang="zh-CN" sz="1200" dirty="0">
              <a:solidFill>
                <a:srgbClr val="546E7A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36" name="TextBox 31"/>
          <p:cNvSpPr txBox="1"/>
          <p:nvPr/>
        </p:nvSpPr>
        <p:spPr>
          <a:xfrm>
            <a:off x="8519350" y="4220210"/>
            <a:ext cx="1108329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46E7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DVB-S2X 标准</a:t>
            </a:r>
            <a:endParaRPr lang="zh-CN" sz="1200" dirty="0">
              <a:solidFill>
                <a:srgbClr val="546E7A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47" name="TextBox 34"/>
          <p:cNvSpPr txBox="1"/>
          <p:nvPr/>
        </p:nvSpPr>
        <p:spPr>
          <a:xfrm>
            <a:off x="10427335" y="3762375"/>
            <a:ext cx="90678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46E7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短距离通信</a:t>
            </a:r>
            <a:endParaRPr lang="zh-CN" sz="1200" dirty="0">
              <a:solidFill>
                <a:srgbClr val="546E7A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49" name="TextBox 35"/>
          <p:cNvSpPr txBox="1"/>
          <p:nvPr/>
        </p:nvSpPr>
        <p:spPr>
          <a:xfrm>
            <a:off x="10496550" y="3987800"/>
            <a:ext cx="73152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46E7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跳频模式</a:t>
            </a:r>
            <a:endParaRPr lang="zh-CN" sz="1200" dirty="0">
              <a:solidFill>
                <a:srgbClr val="546E7A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50" name="TextBox 36"/>
          <p:cNvSpPr txBox="1"/>
          <p:nvPr/>
        </p:nvSpPr>
        <p:spPr>
          <a:xfrm>
            <a:off x="10399395" y="4220210"/>
            <a:ext cx="108204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46E7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BR/EDR 与 LE</a:t>
            </a:r>
            <a:endParaRPr lang="zh-CN" sz="1200" dirty="0">
              <a:solidFill>
                <a:srgbClr val="546E7A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1565C0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571500" y="476250"/>
            <a:ext cx="57150" cy="342900"/>
          </a:xfrm>
          <a:prstGeom prst="rect">
            <a:avLst/>
          </a:prstGeom>
          <a:solidFill>
            <a:srgbClr val="1565C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723900" y="419100"/>
            <a:ext cx="4193715" cy="609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26323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通用VLM毫无RF先验</a:t>
            </a:r>
            <a:endParaRPr lang="zh-CN" sz="3000" b="1" dirty="0">
              <a:solidFill>
                <a:srgbClr val="263238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6" name="Rectangle 6"/>
          <p:cNvSpPr/>
          <p:nvPr/>
        </p:nvSpPr>
        <p:spPr>
          <a:xfrm>
            <a:off x="571500" y="1095375"/>
            <a:ext cx="11049000" cy="9525"/>
          </a:xfrm>
          <a:prstGeom prst="rect">
            <a:avLst/>
          </a:prstGeom>
          <a:solidFill>
            <a:srgbClr val="ECEFF1"/>
          </a:solidFill>
          <a:ln>
            <a:noFill/>
          </a:ln>
        </p:spPr>
      </p:sp>
      <p:sp>
        <p:nvSpPr>
          <p:cNvPr id="7" name="Freeform 7"/>
          <p:cNvSpPr/>
          <p:nvPr/>
        </p:nvSpPr>
        <p:spPr>
          <a:xfrm>
            <a:off x="571500" y="1285875"/>
            <a:ext cx="5334000" cy="1634490"/>
          </a:xfrm>
          <a:custGeom>
            <a:avLst/>
            <a:gdLst/>
            <a:ahLst/>
            <a:cxnLst/>
            <a:rect l="l" t="t" r="r" b="b"/>
            <a:pathLst>
              <a:path w="5334000" h="1905000">
                <a:moveTo>
                  <a:pt x="95250" y="0"/>
                </a:moveTo>
                <a:lnTo>
                  <a:pt x="5238750" y="0"/>
                </a:lnTo>
                <a:cubicBezTo>
                  <a:pt x="5291355" y="0"/>
                  <a:pt x="5334000" y="42645"/>
                  <a:pt x="5334000" y="95250"/>
                </a:cubicBezTo>
                <a:lnTo>
                  <a:pt x="5334000" y="1809750"/>
                </a:lnTo>
                <a:cubicBezTo>
                  <a:pt x="5334000" y="1862355"/>
                  <a:pt x="5291355" y="1905000"/>
                  <a:pt x="5238750" y="1905000"/>
                </a:cubicBezTo>
                <a:lnTo>
                  <a:pt x="95250" y="1905000"/>
                </a:lnTo>
                <a:cubicBezTo>
                  <a:pt x="42645" y="1905000"/>
                  <a:pt x="0" y="1862355"/>
                  <a:pt x="0" y="180975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FFEBEE"/>
          </a:solidFill>
          <a:ln>
            <a:noFill/>
          </a:ln>
        </p:spPr>
      </p:sp>
      <p:sp>
        <p:nvSpPr>
          <p:cNvPr id="8" name="Freeform 8"/>
          <p:cNvSpPr/>
          <p:nvPr/>
        </p:nvSpPr>
        <p:spPr>
          <a:xfrm>
            <a:off x="571500" y="1285875"/>
            <a:ext cx="5334000" cy="47625"/>
          </a:xfrm>
          <a:custGeom>
            <a:avLst/>
            <a:gdLst/>
            <a:ahLst/>
            <a:cxnLst/>
            <a:rect l="l" t="t" r="r" b="b"/>
            <a:pathLst>
              <a:path w="5334000" h="47625">
                <a:moveTo>
                  <a:pt x="23812" y="0"/>
                </a:moveTo>
                <a:lnTo>
                  <a:pt x="5310188" y="0"/>
                </a:lnTo>
                <a:cubicBezTo>
                  <a:pt x="5323339" y="0"/>
                  <a:pt x="5334000" y="10661"/>
                  <a:pt x="5334000" y="23812"/>
                </a:cubicBezTo>
                <a:lnTo>
                  <a:pt x="5334000" y="23812"/>
                </a:lnTo>
                <a:cubicBezTo>
                  <a:pt x="5334000" y="36964"/>
                  <a:pt x="5323339" y="47625"/>
                  <a:pt x="5310188" y="47625"/>
                </a:cubicBezTo>
                <a:lnTo>
                  <a:pt x="23812" y="47625"/>
                </a:lnTo>
                <a:cubicBezTo>
                  <a:pt x="10661" y="47625"/>
                  <a:pt x="0" y="36964"/>
                  <a:pt x="0" y="23812"/>
                </a:cubicBezTo>
                <a:lnTo>
                  <a:pt x="0" y="23812"/>
                </a:lnTo>
                <a:cubicBezTo>
                  <a:pt x="0" y="10661"/>
                  <a:pt x="10661" y="0"/>
                  <a:pt x="23812" y="0"/>
                </a:cubicBezTo>
                <a:close/>
              </a:path>
            </a:pathLst>
          </a:custGeom>
          <a:solidFill>
            <a:srgbClr val="C62828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1678257" y="1504950"/>
            <a:ext cx="3120485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C6282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Qwen2.5-VL-7B（通用VLM）</a:t>
            </a:r>
            <a:endParaRPr lang="zh-CN" sz="1500" b="1" dirty="0">
              <a:solidFill>
                <a:srgbClr val="C62828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746760" y="1823085"/>
            <a:ext cx="4508373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46E7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"这个频谱图显示了多种射频信号。中央区域有几条突出的</a:t>
            </a:r>
            <a:endParaRPr lang="zh-CN" sz="1200" dirty="0">
              <a:solidFill>
                <a:srgbClr val="546E7A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746760" y="2013585"/>
            <a:ext cx="4254246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46E7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垂直线…可能是业余电台或雷达系统的窄带传输…右侧有</a:t>
            </a:r>
            <a:endParaRPr lang="zh-CN" sz="1200" dirty="0">
              <a:solidFill>
                <a:srgbClr val="546E7A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746760" y="2204085"/>
            <a:ext cx="1450086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46E7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较弱的弥散线条…"</a:t>
            </a:r>
            <a:endParaRPr lang="zh-CN" sz="1200" dirty="0">
              <a:solidFill>
                <a:srgbClr val="546E7A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744855" y="2521268"/>
            <a:ext cx="2508249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C6282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→ 输出笼统、无RF具体信息</a:t>
            </a:r>
            <a:endParaRPr lang="zh-CN" sz="1350" b="1" dirty="0">
              <a:solidFill>
                <a:srgbClr val="C62828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22" name="TextBox 22"/>
          <p:cNvSpPr txBox="1"/>
          <p:nvPr/>
        </p:nvSpPr>
        <p:spPr>
          <a:xfrm>
            <a:off x="741045" y="3441382"/>
            <a:ext cx="2066163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26323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五大基准任务概览</a:t>
            </a:r>
            <a:endParaRPr lang="zh-CN" sz="1650" b="1" dirty="0">
              <a:solidFill>
                <a:srgbClr val="263238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23" name="Freeform 23"/>
          <p:cNvSpPr/>
          <p:nvPr>
            <p:custDataLst>
              <p:tags r:id="rId1"/>
            </p:custDataLst>
          </p:nvPr>
        </p:nvSpPr>
        <p:spPr>
          <a:xfrm>
            <a:off x="571500" y="3810000"/>
            <a:ext cx="3524250" cy="857250"/>
          </a:xfrm>
          <a:custGeom>
            <a:avLst/>
            <a:gdLst/>
            <a:ahLst/>
            <a:cxnLst/>
            <a:rect l="l" t="t" r="r" b="b"/>
            <a:pathLst>
              <a:path w="3524250" h="857250">
                <a:moveTo>
                  <a:pt x="76200" y="0"/>
                </a:moveTo>
                <a:lnTo>
                  <a:pt x="3448050" y="0"/>
                </a:lnTo>
                <a:cubicBezTo>
                  <a:pt x="3490134" y="0"/>
                  <a:pt x="3524250" y="34116"/>
                  <a:pt x="3524250" y="76200"/>
                </a:cubicBezTo>
                <a:lnTo>
                  <a:pt x="3524250" y="781050"/>
                </a:lnTo>
                <a:cubicBezTo>
                  <a:pt x="3524250" y="823134"/>
                  <a:pt x="3490134" y="857250"/>
                  <a:pt x="3448050" y="857250"/>
                </a:cubicBezTo>
                <a:lnTo>
                  <a:pt x="76200" y="857250"/>
                </a:lnTo>
                <a:cubicBezTo>
                  <a:pt x="34116" y="857250"/>
                  <a:pt x="0" y="823134"/>
                  <a:pt x="0" y="78105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5F7FA"/>
          </a:solidFill>
          <a:ln>
            <a:noFill/>
          </a:ln>
        </p:spPr>
      </p:sp>
      <p:sp>
        <p:nvSpPr>
          <p:cNvPr id="24" name="Ellipse 24"/>
          <p:cNvSpPr/>
          <p:nvPr>
            <p:custDataLst>
              <p:tags r:id="rId2"/>
            </p:custDataLst>
          </p:nvPr>
        </p:nvSpPr>
        <p:spPr>
          <a:xfrm>
            <a:off x="704850" y="4086225"/>
            <a:ext cx="304800" cy="304800"/>
          </a:xfrm>
          <a:prstGeom prst="ellipse">
            <a:avLst/>
          </a:prstGeom>
          <a:solidFill>
            <a:srgbClr val="1565C0"/>
          </a:solidFill>
          <a:ln>
            <a:noFill/>
          </a:ln>
        </p:spPr>
      </p:sp>
      <p:sp>
        <p:nvSpPr>
          <p:cNvPr id="25" name="TextBox 25"/>
          <p:cNvSpPr txBox="1"/>
          <p:nvPr>
            <p:custDataLst>
              <p:tags r:id="rId3"/>
            </p:custDataLst>
          </p:nvPr>
        </p:nvSpPr>
        <p:spPr>
          <a:xfrm>
            <a:off x="814407" y="4156710"/>
            <a:ext cx="85687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1</a:t>
            </a:r>
            <a:endParaRPr lang="zh-CN" sz="1200" b="1" dirty="0">
              <a:solidFill>
                <a:srgbClr val="FFFFFF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26" name="TextBox 26"/>
          <p:cNvSpPr txBox="1"/>
          <p:nvPr>
            <p:custDataLst>
              <p:tags r:id="rId4"/>
            </p:custDataLst>
          </p:nvPr>
        </p:nvSpPr>
        <p:spPr>
          <a:xfrm>
            <a:off x="1125855" y="3950018"/>
            <a:ext cx="572557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26323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WBMC</a:t>
            </a:r>
            <a:endParaRPr lang="zh-CN" sz="1350" b="1" dirty="0">
              <a:solidFill>
                <a:srgbClr val="263238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27" name="TextBox 27"/>
          <p:cNvSpPr txBox="1"/>
          <p:nvPr>
            <p:custDataLst>
              <p:tags r:id="rId5"/>
            </p:custDataLst>
          </p:nvPr>
        </p:nvSpPr>
        <p:spPr>
          <a:xfrm>
            <a:off x="1129665" y="4220528"/>
            <a:ext cx="262599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46E7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宽带调制分类（Easy/Medium/Hard）</a:t>
            </a:r>
            <a:endParaRPr lang="zh-CN" sz="1050" dirty="0">
              <a:solidFill>
                <a:srgbClr val="546E7A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28" name="Freeform 28"/>
          <p:cNvSpPr/>
          <p:nvPr>
            <p:custDataLst>
              <p:tags r:id="rId6"/>
            </p:custDataLst>
          </p:nvPr>
        </p:nvSpPr>
        <p:spPr>
          <a:xfrm>
            <a:off x="4333875" y="3810000"/>
            <a:ext cx="3524250" cy="857250"/>
          </a:xfrm>
          <a:custGeom>
            <a:avLst/>
            <a:gdLst/>
            <a:ahLst/>
            <a:cxnLst/>
            <a:rect l="l" t="t" r="r" b="b"/>
            <a:pathLst>
              <a:path w="3524250" h="857250">
                <a:moveTo>
                  <a:pt x="76200" y="0"/>
                </a:moveTo>
                <a:lnTo>
                  <a:pt x="3448050" y="0"/>
                </a:lnTo>
                <a:cubicBezTo>
                  <a:pt x="3490134" y="0"/>
                  <a:pt x="3524250" y="34116"/>
                  <a:pt x="3524250" y="76200"/>
                </a:cubicBezTo>
                <a:lnTo>
                  <a:pt x="3524250" y="781050"/>
                </a:lnTo>
                <a:cubicBezTo>
                  <a:pt x="3524250" y="823134"/>
                  <a:pt x="3490134" y="857250"/>
                  <a:pt x="3448050" y="857250"/>
                </a:cubicBezTo>
                <a:lnTo>
                  <a:pt x="76200" y="857250"/>
                </a:lnTo>
                <a:cubicBezTo>
                  <a:pt x="34116" y="857250"/>
                  <a:pt x="0" y="823134"/>
                  <a:pt x="0" y="78105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5F7FA"/>
          </a:solidFill>
          <a:ln>
            <a:noFill/>
          </a:ln>
        </p:spPr>
      </p:sp>
      <p:sp>
        <p:nvSpPr>
          <p:cNvPr id="29" name="Ellipse 29"/>
          <p:cNvSpPr/>
          <p:nvPr>
            <p:custDataLst>
              <p:tags r:id="rId7"/>
            </p:custDataLst>
          </p:nvPr>
        </p:nvSpPr>
        <p:spPr>
          <a:xfrm>
            <a:off x="4467225" y="4086225"/>
            <a:ext cx="304800" cy="304800"/>
          </a:xfrm>
          <a:prstGeom prst="ellipse">
            <a:avLst/>
          </a:prstGeom>
          <a:solidFill>
            <a:srgbClr val="1565C0"/>
          </a:solidFill>
          <a:ln>
            <a:noFill/>
          </a:ln>
        </p:spPr>
      </p:sp>
      <p:sp>
        <p:nvSpPr>
          <p:cNvPr id="30" name="TextBox 30"/>
          <p:cNvSpPr txBox="1"/>
          <p:nvPr>
            <p:custDataLst>
              <p:tags r:id="rId8"/>
            </p:custDataLst>
          </p:nvPr>
        </p:nvSpPr>
        <p:spPr>
          <a:xfrm>
            <a:off x="4553779" y="4156710"/>
            <a:ext cx="131693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2</a:t>
            </a:r>
            <a:endParaRPr lang="zh-CN" sz="1200" b="1" dirty="0">
              <a:solidFill>
                <a:srgbClr val="FFFFFF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31" name="TextBox 31"/>
          <p:cNvSpPr txBox="1"/>
          <p:nvPr>
            <p:custDataLst>
              <p:tags r:id="rId9"/>
            </p:custDataLst>
          </p:nvPr>
        </p:nvSpPr>
        <p:spPr>
          <a:xfrm>
            <a:off x="4888230" y="3950018"/>
            <a:ext cx="572557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26323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WBOD</a:t>
            </a:r>
            <a:endParaRPr lang="zh-CN" sz="1350" b="1" dirty="0">
              <a:solidFill>
                <a:srgbClr val="263238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32" name="TextBox 32"/>
          <p:cNvSpPr txBox="1"/>
          <p:nvPr>
            <p:custDataLst>
              <p:tags r:id="rId10"/>
            </p:custDataLst>
          </p:nvPr>
        </p:nvSpPr>
        <p:spPr>
          <a:xfrm>
            <a:off x="4892040" y="4220528"/>
            <a:ext cx="195124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46E7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宽带重叠检测（时域/频域）</a:t>
            </a:r>
            <a:endParaRPr lang="zh-CN" sz="1050" dirty="0">
              <a:solidFill>
                <a:srgbClr val="546E7A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33" name="Freeform 33"/>
          <p:cNvSpPr/>
          <p:nvPr>
            <p:custDataLst>
              <p:tags r:id="rId11"/>
            </p:custDataLst>
          </p:nvPr>
        </p:nvSpPr>
        <p:spPr>
          <a:xfrm>
            <a:off x="8096250" y="3810000"/>
            <a:ext cx="3524250" cy="857250"/>
          </a:xfrm>
          <a:custGeom>
            <a:avLst/>
            <a:gdLst/>
            <a:ahLst/>
            <a:cxnLst/>
            <a:rect l="l" t="t" r="r" b="b"/>
            <a:pathLst>
              <a:path w="3524250" h="857250">
                <a:moveTo>
                  <a:pt x="76200" y="0"/>
                </a:moveTo>
                <a:lnTo>
                  <a:pt x="3448050" y="0"/>
                </a:lnTo>
                <a:cubicBezTo>
                  <a:pt x="3490134" y="0"/>
                  <a:pt x="3524250" y="34116"/>
                  <a:pt x="3524250" y="76200"/>
                </a:cubicBezTo>
                <a:lnTo>
                  <a:pt x="3524250" y="781050"/>
                </a:lnTo>
                <a:cubicBezTo>
                  <a:pt x="3524250" y="823134"/>
                  <a:pt x="3490134" y="857250"/>
                  <a:pt x="3448050" y="857250"/>
                </a:cubicBezTo>
                <a:lnTo>
                  <a:pt x="76200" y="857250"/>
                </a:lnTo>
                <a:cubicBezTo>
                  <a:pt x="34116" y="857250"/>
                  <a:pt x="0" y="823134"/>
                  <a:pt x="0" y="78105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5F7FA"/>
          </a:solidFill>
          <a:ln>
            <a:noFill/>
          </a:ln>
        </p:spPr>
      </p:sp>
      <p:sp>
        <p:nvSpPr>
          <p:cNvPr id="34" name="Ellipse 34"/>
          <p:cNvSpPr/>
          <p:nvPr>
            <p:custDataLst>
              <p:tags r:id="rId12"/>
            </p:custDataLst>
          </p:nvPr>
        </p:nvSpPr>
        <p:spPr>
          <a:xfrm>
            <a:off x="8229600" y="4086225"/>
            <a:ext cx="304800" cy="304800"/>
          </a:xfrm>
          <a:prstGeom prst="ellipse">
            <a:avLst/>
          </a:prstGeom>
          <a:solidFill>
            <a:srgbClr val="1565C0"/>
          </a:solidFill>
          <a:ln>
            <a:noFill/>
          </a:ln>
        </p:spPr>
      </p:sp>
      <p:sp>
        <p:nvSpPr>
          <p:cNvPr id="35" name="TextBox 35"/>
          <p:cNvSpPr txBox="1"/>
          <p:nvPr>
            <p:custDataLst>
              <p:tags r:id="rId13"/>
            </p:custDataLst>
          </p:nvPr>
        </p:nvSpPr>
        <p:spPr>
          <a:xfrm>
            <a:off x="8316154" y="4156710"/>
            <a:ext cx="131693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3</a:t>
            </a:r>
            <a:endParaRPr lang="zh-CN" sz="1200" b="1" dirty="0">
              <a:solidFill>
                <a:srgbClr val="FFFFFF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36" name="TextBox 36"/>
          <p:cNvSpPr txBox="1"/>
          <p:nvPr>
            <p:custDataLst>
              <p:tags r:id="rId14"/>
            </p:custDataLst>
          </p:nvPr>
        </p:nvSpPr>
        <p:spPr>
          <a:xfrm>
            <a:off x="8650605" y="3950018"/>
            <a:ext cx="417288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26323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WTR</a:t>
            </a:r>
            <a:endParaRPr lang="zh-CN" sz="1350" b="1" dirty="0">
              <a:solidFill>
                <a:srgbClr val="263238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37" name="TextBox 37"/>
          <p:cNvSpPr txBox="1"/>
          <p:nvPr>
            <p:custDataLst>
              <p:tags r:id="rId15"/>
            </p:custDataLst>
          </p:nvPr>
        </p:nvSpPr>
        <p:spPr>
          <a:xfrm>
            <a:off x="8654415" y="4220528"/>
            <a:ext cx="179789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46E7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无线技术识别（6种技术）</a:t>
            </a:r>
            <a:endParaRPr lang="zh-CN" sz="1050" dirty="0">
              <a:solidFill>
                <a:srgbClr val="546E7A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38" name="Freeform 38"/>
          <p:cNvSpPr/>
          <p:nvPr>
            <p:custDataLst>
              <p:tags r:id="rId16"/>
            </p:custDataLst>
          </p:nvPr>
        </p:nvSpPr>
        <p:spPr>
          <a:xfrm>
            <a:off x="1983105" y="4857750"/>
            <a:ext cx="3524250" cy="857250"/>
          </a:xfrm>
          <a:custGeom>
            <a:avLst/>
            <a:gdLst/>
            <a:ahLst/>
            <a:cxnLst/>
            <a:rect l="l" t="t" r="r" b="b"/>
            <a:pathLst>
              <a:path w="3524250" h="857250">
                <a:moveTo>
                  <a:pt x="76200" y="0"/>
                </a:moveTo>
                <a:lnTo>
                  <a:pt x="3448050" y="0"/>
                </a:lnTo>
                <a:cubicBezTo>
                  <a:pt x="3490134" y="0"/>
                  <a:pt x="3524250" y="34116"/>
                  <a:pt x="3524250" y="76200"/>
                </a:cubicBezTo>
                <a:lnTo>
                  <a:pt x="3524250" y="781050"/>
                </a:lnTo>
                <a:cubicBezTo>
                  <a:pt x="3524250" y="823134"/>
                  <a:pt x="3490134" y="857250"/>
                  <a:pt x="3448050" y="857250"/>
                </a:cubicBezTo>
                <a:lnTo>
                  <a:pt x="76200" y="857250"/>
                </a:lnTo>
                <a:cubicBezTo>
                  <a:pt x="34116" y="857250"/>
                  <a:pt x="0" y="823134"/>
                  <a:pt x="0" y="78105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5F7FA"/>
          </a:solidFill>
          <a:ln>
            <a:noFill/>
          </a:ln>
        </p:spPr>
      </p:sp>
      <p:sp>
        <p:nvSpPr>
          <p:cNvPr id="39" name="Ellipse 39"/>
          <p:cNvSpPr/>
          <p:nvPr>
            <p:custDataLst>
              <p:tags r:id="rId17"/>
            </p:custDataLst>
          </p:nvPr>
        </p:nvSpPr>
        <p:spPr>
          <a:xfrm>
            <a:off x="1983105" y="4963795"/>
            <a:ext cx="304800" cy="304800"/>
          </a:xfrm>
          <a:prstGeom prst="ellipse">
            <a:avLst/>
          </a:prstGeom>
          <a:solidFill>
            <a:srgbClr val="1565C0"/>
          </a:solidFill>
          <a:ln>
            <a:noFill/>
          </a:ln>
        </p:spPr>
      </p:sp>
      <p:sp>
        <p:nvSpPr>
          <p:cNvPr id="40" name="TextBox 40"/>
          <p:cNvSpPr txBox="1"/>
          <p:nvPr>
            <p:custDataLst>
              <p:tags r:id="rId18"/>
            </p:custDataLst>
          </p:nvPr>
        </p:nvSpPr>
        <p:spPr>
          <a:xfrm>
            <a:off x="2066484" y="5024755"/>
            <a:ext cx="131693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4</a:t>
            </a:r>
            <a:endParaRPr lang="zh-CN" sz="1200" b="1" dirty="0">
              <a:solidFill>
                <a:srgbClr val="FFFFFF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41" name="TextBox 41"/>
          <p:cNvSpPr txBox="1"/>
          <p:nvPr>
            <p:custDataLst>
              <p:tags r:id="rId19"/>
            </p:custDataLst>
          </p:nvPr>
        </p:nvSpPr>
        <p:spPr>
          <a:xfrm>
            <a:off x="2555240" y="4993958"/>
            <a:ext cx="53115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26323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WNUC</a:t>
            </a:r>
            <a:endParaRPr lang="zh-CN" sz="1350" b="1" dirty="0">
              <a:solidFill>
                <a:srgbClr val="263238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42" name="TextBox 42"/>
          <p:cNvSpPr txBox="1"/>
          <p:nvPr>
            <p:custDataLst>
              <p:tags r:id="rId20"/>
            </p:custDataLst>
          </p:nvPr>
        </p:nvSpPr>
        <p:spPr>
          <a:xfrm>
            <a:off x="2593975" y="5268278"/>
            <a:ext cx="116147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46E7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WLAN用户数估计</a:t>
            </a:r>
            <a:endParaRPr lang="zh-CN" sz="1050" dirty="0">
              <a:solidFill>
                <a:srgbClr val="546E7A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43" name="Freeform 43"/>
          <p:cNvSpPr/>
          <p:nvPr>
            <p:custDataLst>
              <p:tags r:id="rId21"/>
            </p:custDataLst>
          </p:nvPr>
        </p:nvSpPr>
        <p:spPr>
          <a:xfrm>
            <a:off x="6191885" y="4857750"/>
            <a:ext cx="3524250" cy="857250"/>
          </a:xfrm>
          <a:custGeom>
            <a:avLst/>
            <a:gdLst/>
            <a:ahLst/>
            <a:cxnLst/>
            <a:rect l="l" t="t" r="r" b="b"/>
            <a:pathLst>
              <a:path w="3524250" h="857250">
                <a:moveTo>
                  <a:pt x="76200" y="0"/>
                </a:moveTo>
                <a:lnTo>
                  <a:pt x="3448050" y="0"/>
                </a:lnTo>
                <a:cubicBezTo>
                  <a:pt x="3490134" y="0"/>
                  <a:pt x="3524250" y="34116"/>
                  <a:pt x="3524250" y="76200"/>
                </a:cubicBezTo>
                <a:lnTo>
                  <a:pt x="3524250" y="781050"/>
                </a:lnTo>
                <a:cubicBezTo>
                  <a:pt x="3524250" y="823134"/>
                  <a:pt x="3490134" y="857250"/>
                  <a:pt x="3448050" y="857250"/>
                </a:cubicBezTo>
                <a:lnTo>
                  <a:pt x="76200" y="857250"/>
                </a:lnTo>
                <a:cubicBezTo>
                  <a:pt x="34116" y="857250"/>
                  <a:pt x="0" y="823134"/>
                  <a:pt x="0" y="78105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5F7FA"/>
          </a:solidFill>
          <a:ln>
            <a:noFill/>
          </a:ln>
        </p:spPr>
      </p:sp>
      <p:sp>
        <p:nvSpPr>
          <p:cNvPr id="44" name="Ellipse 44"/>
          <p:cNvSpPr/>
          <p:nvPr>
            <p:custDataLst>
              <p:tags r:id="rId22"/>
            </p:custDataLst>
          </p:nvPr>
        </p:nvSpPr>
        <p:spPr>
          <a:xfrm>
            <a:off x="6374130" y="4994275"/>
            <a:ext cx="304800" cy="304800"/>
          </a:xfrm>
          <a:prstGeom prst="ellipse">
            <a:avLst/>
          </a:prstGeom>
          <a:solidFill>
            <a:srgbClr val="1565C0"/>
          </a:solidFill>
          <a:ln>
            <a:noFill/>
          </a:ln>
        </p:spPr>
      </p:sp>
      <p:sp>
        <p:nvSpPr>
          <p:cNvPr id="45" name="TextBox 45"/>
          <p:cNvSpPr txBox="1"/>
          <p:nvPr>
            <p:custDataLst>
              <p:tags r:id="rId23"/>
            </p:custDataLst>
          </p:nvPr>
        </p:nvSpPr>
        <p:spPr>
          <a:xfrm>
            <a:off x="6460684" y="5073015"/>
            <a:ext cx="131693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5</a:t>
            </a:r>
            <a:endParaRPr lang="zh-CN" sz="1200" b="1" dirty="0">
              <a:solidFill>
                <a:srgbClr val="FFFFFF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46" name="TextBox 46"/>
          <p:cNvSpPr txBox="1"/>
          <p:nvPr>
            <p:custDataLst>
              <p:tags r:id="rId24"/>
            </p:custDataLst>
          </p:nvPr>
        </p:nvSpPr>
        <p:spPr>
          <a:xfrm>
            <a:off x="6843395" y="4994275"/>
            <a:ext cx="438150" cy="22733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/>
            <a:r>
              <a:rPr lang="zh-CN" sz="1350" b="1" dirty="0">
                <a:solidFill>
                  <a:srgbClr val="26323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NRIE</a:t>
            </a:r>
            <a:endParaRPr lang="zh-CN" sz="1350" b="1" dirty="0">
              <a:solidFill>
                <a:srgbClr val="263238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47" name="TextBox 47"/>
          <p:cNvSpPr txBox="1"/>
          <p:nvPr>
            <p:custDataLst>
              <p:tags r:id="rId25"/>
            </p:custDataLst>
          </p:nvPr>
        </p:nvSpPr>
        <p:spPr>
          <a:xfrm>
            <a:off x="6938010" y="5268278"/>
            <a:ext cx="102346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46E7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5G NR信息提取</a:t>
            </a:r>
            <a:endParaRPr lang="zh-CN" sz="1050" dirty="0">
              <a:solidFill>
                <a:srgbClr val="546E7A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48" name="Freeform 48"/>
          <p:cNvSpPr/>
          <p:nvPr/>
        </p:nvSpPr>
        <p:spPr>
          <a:xfrm>
            <a:off x="2530475" y="5846445"/>
            <a:ext cx="6186805" cy="669290"/>
          </a:xfrm>
          <a:custGeom>
            <a:avLst/>
            <a:gdLst/>
            <a:ahLst/>
            <a:cxnLst/>
            <a:rect l="l" t="t" r="r" b="b"/>
            <a:pathLst>
              <a:path w="3524250" h="857250">
                <a:moveTo>
                  <a:pt x="76200" y="0"/>
                </a:moveTo>
                <a:lnTo>
                  <a:pt x="3448050" y="0"/>
                </a:lnTo>
                <a:cubicBezTo>
                  <a:pt x="3490134" y="0"/>
                  <a:pt x="3524250" y="34116"/>
                  <a:pt x="3524250" y="76200"/>
                </a:cubicBezTo>
                <a:lnTo>
                  <a:pt x="3524250" y="781050"/>
                </a:lnTo>
                <a:cubicBezTo>
                  <a:pt x="3524250" y="823134"/>
                  <a:pt x="3490134" y="857250"/>
                  <a:pt x="3448050" y="857250"/>
                </a:cubicBezTo>
                <a:lnTo>
                  <a:pt x="76200" y="857250"/>
                </a:lnTo>
                <a:cubicBezTo>
                  <a:pt x="34116" y="857250"/>
                  <a:pt x="0" y="823134"/>
                  <a:pt x="0" y="78105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FF3E0"/>
          </a:solidFill>
          <a:ln w="9525">
            <a:solidFill>
              <a:srgbClr val="FF6F00"/>
            </a:solidFill>
          </a:ln>
        </p:spPr>
      </p:sp>
      <p:sp>
        <p:nvSpPr>
          <p:cNvPr id="49" name="TextBox 49"/>
          <p:cNvSpPr txBox="1"/>
          <p:nvPr/>
        </p:nvSpPr>
        <p:spPr>
          <a:xfrm>
            <a:off x="4798934" y="5969317"/>
            <a:ext cx="1245391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E6510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通用VLM表现</a:t>
            </a:r>
            <a:endParaRPr lang="zh-CN" sz="1350" b="1" dirty="0">
              <a:solidFill>
                <a:srgbClr val="E65100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50" name="TextBox 50"/>
          <p:cNvSpPr txBox="1"/>
          <p:nvPr/>
        </p:nvSpPr>
        <p:spPr>
          <a:xfrm>
            <a:off x="4467161" y="6243320"/>
            <a:ext cx="2124837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C6282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全部接近随机猜测（&lt;10%）</a:t>
            </a:r>
            <a:endParaRPr lang="zh-CN" sz="1200" dirty="0">
              <a:solidFill>
                <a:srgbClr val="C62828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51" name="Rectangle 51"/>
          <p:cNvSpPr/>
          <p:nvPr/>
        </p:nvSpPr>
        <p:spPr>
          <a:xfrm>
            <a:off x="571500" y="6667500"/>
            <a:ext cx="11049000" cy="9525"/>
          </a:xfrm>
          <a:prstGeom prst="rect">
            <a:avLst/>
          </a:prstGeom>
          <a:solidFill>
            <a:srgbClr val="ECEFF1"/>
          </a:solidFill>
          <a:ln>
            <a:noFill/>
          </a:ln>
        </p:spPr>
      </p:sp>
      <p:sp>
        <p:nvSpPr>
          <p:cNvPr id="52" name="TextBox 52"/>
          <p:cNvSpPr txBox="1"/>
          <p:nvPr/>
        </p:nvSpPr>
        <p:spPr>
          <a:xfrm>
            <a:off x="560070" y="6703695"/>
            <a:ext cx="133073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0A4A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RF-GPT Presentation</a:t>
            </a:r>
            <a:endParaRPr lang="zh-CN" sz="900" dirty="0">
              <a:solidFill>
                <a:srgbClr val="90A4A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53" name="TextBox 53"/>
          <p:cNvSpPr txBox="1"/>
          <p:nvPr/>
        </p:nvSpPr>
        <p:spPr>
          <a:xfrm>
            <a:off x="11582590" y="6703695"/>
            <a:ext cx="43034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90A4A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09 / 15</a:t>
            </a:r>
            <a:endParaRPr lang="zh-CN" sz="900" dirty="0">
              <a:solidFill>
                <a:srgbClr val="90A4A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pic>
        <p:nvPicPr>
          <p:cNvPr id="55" name="图片 54" descr="694341a94f0599c05c8fb675843b86e8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6938010" y="789940"/>
            <a:ext cx="4682490" cy="2651125"/>
          </a:xfrm>
          <a:prstGeom prst="rect">
            <a:avLst/>
          </a:prstGeom>
        </p:spPr>
      </p:pic>
      <p:pic>
        <p:nvPicPr>
          <p:cNvPr id="56" name="图片 55" descr="边框向右箭头"/>
          <p:cNvPicPr>
            <a:picLocks noChangeAspect="1"/>
          </p:cNvPicPr>
          <p:nvPr/>
        </p:nvPicPr>
        <p:blipFill>
          <a:blip r:embed="rId27"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6191885" y="1510030"/>
            <a:ext cx="1471295" cy="1471295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4" name="文本框 13"/>
          <p:cNvSpPr txBox="1"/>
          <p:nvPr/>
        </p:nvSpPr>
        <p:spPr>
          <a:xfrm>
            <a:off x="628650" y="2981325"/>
            <a:ext cx="638810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600" b="1">
                <a:latin typeface="微软雅黑" panose="020B0503020204020204" charset="-122"/>
                <a:ea typeface="微软雅黑" panose="020B0503020204020204" charset="-122"/>
              </a:rPr>
              <a:t>为此，论文构建了一套</a:t>
            </a:r>
            <a:r>
              <a:rPr lang="en-US" altLang="zh-CN" sz="1600" b="1">
                <a:latin typeface="微软雅黑" panose="020B0503020204020204" charset="-122"/>
                <a:ea typeface="微软雅黑" panose="020B0503020204020204" charset="-122"/>
              </a:rPr>
              <a:t>RF</a:t>
            </a:r>
            <a:r>
              <a:rPr lang="zh-CN" altLang="en-US" sz="1600" b="1">
                <a:latin typeface="微软雅黑" panose="020B0503020204020204" charset="-122"/>
                <a:ea typeface="微软雅黑" panose="020B0503020204020204" charset="-122"/>
              </a:rPr>
              <a:t>信号</a:t>
            </a:r>
            <a:r>
              <a:rPr lang="zh-CN" altLang="en-US" sz="1600" b="1">
                <a:latin typeface="微软雅黑" panose="020B0503020204020204" charset="-122"/>
                <a:ea typeface="微软雅黑" panose="020B0503020204020204" charset="-122"/>
              </a:rPr>
              <a:t>识别评价基准：</a:t>
            </a:r>
            <a:endParaRPr lang="zh-CN" altLang="en-US" sz="1600" b="1"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1565C0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571500" y="476250"/>
            <a:ext cx="57150" cy="342900"/>
          </a:xfrm>
          <a:prstGeom prst="rect">
            <a:avLst/>
          </a:prstGeom>
          <a:solidFill>
            <a:srgbClr val="1565C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723900" y="419100"/>
            <a:ext cx="5136832" cy="609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26323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调制分类与重叠检测结果</a:t>
            </a:r>
            <a:endParaRPr lang="zh-CN" sz="3000" b="1" dirty="0">
              <a:solidFill>
                <a:srgbClr val="263238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6" name="Rectangle 6"/>
          <p:cNvSpPr/>
          <p:nvPr/>
        </p:nvSpPr>
        <p:spPr>
          <a:xfrm>
            <a:off x="571500" y="1095375"/>
            <a:ext cx="11049000" cy="9525"/>
          </a:xfrm>
          <a:prstGeom prst="rect">
            <a:avLst/>
          </a:prstGeom>
          <a:solidFill>
            <a:srgbClr val="ECEFF1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739140" y="1282065"/>
            <a:ext cx="2737056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565C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WBMC — 宽带调制分类</a:t>
            </a:r>
            <a:endParaRPr lang="zh-CN" sz="1800" b="1" dirty="0">
              <a:solidFill>
                <a:srgbClr val="1565C0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8" name="Freeform 8"/>
          <p:cNvSpPr/>
          <p:nvPr/>
        </p:nvSpPr>
        <p:spPr>
          <a:xfrm>
            <a:off x="571500" y="1666875"/>
            <a:ext cx="5334000" cy="400050"/>
          </a:xfrm>
          <a:custGeom>
            <a:avLst/>
            <a:gdLst/>
            <a:ahLst/>
            <a:cxnLst/>
            <a:rect l="l" t="t" r="r" b="b"/>
            <a:pathLst>
              <a:path w="5334000" h="400050">
                <a:moveTo>
                  <a:pt x="38100" y="0"/>
                </a:moveTo>
                <a:lnTo>
                  <a:pt x="5295900" y="0"/>
                </a:lnTo>
                <a:cubicBezTo>
                  <a:pt x="5316942" y="0"/>
                  <a:pt x="5334000" y="17058"/>
                  <a:pt x="5334000" y="38100"/>
                </a:cubicBezTo>
                <a:lnTo>
                  <a:pt x="5334000" y="361950"/>
                </a:lnTo>
                <a:cubicBezTo>
                  <a:pt x="5334000" y="382992"/>
                  <a:pt x="5316942" y="400050"/>
                  <a:pt x="5295900" y="400050"/>
                </a:cubicBezTo>
                <a:lnTo>
                  <a:pt x="38100" y="400050"/>
                </a:lnTo>
                <a:cubicBezTo>
                  <a:pt x="17058" y="400050"/>
                  <a:pt x="0" y="382992"/>
                  <a:pt x="0" y="36195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1565C0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1769094" y="1778318"/>
            <a:ext cx="44834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任务</a:t>
            </a:r>
            <a:endParaRPr lang="zh-CN" sz="1350" b="1" dirty="0">
              <a:solidFill>
                <a:srgbClr val="FFFFFF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3476245" y="1778318"/>
            <a:ext cx="83134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通用VLM</a:t>
            </a:r>
            <a:endParaRPr lang="zh-CN" sz="1350" b="1" dirty="0">
              <a:solidFill>
                <a:srgbClr val="FFFFFF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4754936" y="1778318"/>
            <a:ext cx="1059068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RF-GPT-7B</a:t>
            </a:r>
            <a:endParaRPr lang="zh-CN" sz="1350" b="1" dirty="0">
              <a:solidFill>
                <a:srgbClr val="FFFFFF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2" name="Freeform 12"/>
          <p:cNvSpPr/>
          <p:nvPr/>
        </p:nvSpPr>
        <p:spPr>
          <a:xfrm>
            <a:off x="571500" y="2066925"/>
            <a:ext cx="5334000" cy="400050"/>
          </a:xfrm>
          <a:custGeom>
            <a:avLst/>
            <a:gdLst/>
            <a:ahLst/>
            <a:cxnLst/>
            <a:rect l="l" t="t" r="r" b="b"/>
            <a:pathLst>
              <a:path w="5334000" h="400050">
                <a:moveTo>
                  <a:pt x="38100" y="0"/>
                </a:moveTo>
                <a:lnTo>
                  <a:pt x="5295900" y="0"/>
                </a:lnTo>
                <a:cubicBezTo>
                  <a:pt x="5316942" y="0"/>
                  <a:pt x="5334000" y="17058"/>
                  <a:pt x="5334000" y="38100"/>
                </a:cubicBezTo>
                <a:lnTo>
                  <a:pt x="5334000" y="361950"/>
                </a:lnTo>
                <a:cubicBezTo>
                  <a:pt x="5334000" y="382992"/>
                  <a:pt x="5316942" y="400050"/>
                  <a:pt x="5295900" y="400050"/>
                </a:cubicBezTo>
                <a:lnTo>
                  <a:pt x="38100" y="400050"/>
                </a:lnTo>
                <a:cubicBezTo>
                  <a:pt x="17058" y="400050"/>
                  <a:pt x="0" y="382992"/>
                  <a:pt x="0" y="36195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F5F7FA"/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1316355" y="2178368"/>
            <a:ext cx="1848231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26323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Easy（识别调制族）</a:t>
            </a:r>
            <a:endParaRPr lang="zh-CN" sz="1350" dirty="0">
              <a:solidFill>
                <a:srgbClr val="263238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3657886" y="2178368"/>
            <a:ext cx="468058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dirty="0">
                <a:solidFill>
                  <a:srgbClr val="C6282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7.0%</a:t>
            </a:r>
            <a:endParaRPr lang="zh-CN" sz="1350" dirty="0">
              <a:solidFill>
                <a:srgbClr val="C62828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4982029" y="2178368"/>
            <a:ext cx="603611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2E7D32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82.4%</a:t>
            </a:r>
            <a:endParaRPr lang="zh-CN" sz="1350" b="1" dirty="0">
              <a:solidFill>
                <a:srgbClr val="2E7D32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6" name="Freeform 16"/>
          <p:cNvSpPr/>
          <p:nvPr/>
        </p:nvSpPr>
        <p:spPr>
          <a:xfrm>
            <a:off x="571500" y="2466975"/>
            <a:ext cx="5334000" cy="400050"/>
          </a:xfrm>
          <a:custGeom>
            <a:avLst/>
            <a:gdLst/>
            <a:ahLst/>
            <a:cxnLst/>
            <a:rect l="l" t="t" r="r" b="b"/>
            <a:pathLst>
              <a:path w="5334000" h="400050">
                <a:moveTo>
                  <a:pt x="38100" y="0"/>
                </a:moveTo>
                <a:lnTo>
                  <a:pt x="5295900" y="0"/>
                </a:lnTo>
                <a:cubicBezTo>
                  <a:pt x="5316942" y="0"/>
                  <a:pt x="5334000" y="17058"/>
                  <a:pt x="5334000" y="38100"/>
                </a:cubicBezTo>
                <a:lnTo>
                  <a:pt x="5334000" y="361950"/>
                </a:lnTo>
                <a:cubicBezTo>
                  <a:pt x="5334000" y="382992"/>
                  <a:pt x="5316942" y="400050"/>
                  <a:pt x="5295900" y="400050"/>
                </a:cubicBezTo>
                <a:lnTo>
                  <a:pt x="38100" y="400050"/>
                </a:lnTo>
                <a:cubicBezTo>
                  <a:pt x="17058" y="400050"/>
                  <a:pt x="0" y="382992"/>
                  <a:pt x="0" y="36195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F5F7FA"/>
          </a:solidFill>
          <a:ln>
            <a:noFill/>
          </a:ln>
        </p:spPr>
      </p:sp>
      <p:sp>
        <p:nvSpPr>
          <p:cNvPr id="17" name="TextBox 17"/>
          <p:cNvSpPr txBox="1"/>
          <p:nvPr/>
        </p:nvSpPr>
        <p:spPr>
          <a:xfrm>
            <a:off x="1316355" y="2578418"/>
            <a:ext cx="209469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26323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Medium（精确调制类）</a:t>
            </a:r>
            <a:endParaRPr lang="zh-CN" sz="1350" dirty="0">
              <a:solidFill>
                <a:srgbClr val="263238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3657886" y="2578418"/>
            <a:ext cx="468058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dirty="0">
                <a:solidFill>
                  <a:srgbClr val="C6282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5.3%</a:t>
            </a:r>
            <a:endParaRPr lang="zh-CN" sz="1350" dirty="0">
              <a:solidFill>
                <a:srgbClr val="C62828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9" name="TextBox 19"/>
          <p:cNvSpPr txBox="1"/>
          <p:nvPr/>
        </p:nvSpPr>
        <p:spPr>
          <a:xfrm>
            <a:off x="4981394" y="2578418"/>
            <a:ext cx="603611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2E7D32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74.2%</a:t>
            </a:r>
            <a:endParaRPr lang="zh-CN" sz="1350" b="1" dirty="0">
              <a:solidFill>
                <a:srgbClr val="2E7D32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20" name="Freeform 20"/>
          <p:cNvSpPr/>
          <p:nvPr/>
        </p:nvSpPr>
        <p:spPr>
          <a:xfrm>
            <a:off x="571500" y="2867025"/>
            <a:ext cx="5334000" cy="400050"/>
          </a:xfrm>
          <a:custGeom>
            <a:avLst/>
            <a:gdLst/>
            <a:ahLst/>
            <a:cxnLst/>
            <a:rect l="l" t="t" r="r" b="b"/>
            <a:pathLst>
              <a:path w="5334000" h="400050">
                <a:moveTo>
                  <a:pt x="38100" y="0"/>
                </a:moveTo>
                <a:lnTo>
                  <a:pt x="5295900" y="0"/>
                </a:lnTo>
                <a:cubicBezTo>
                  <a:pt x="5316942" y="0"/>
                  <a:pt x="5334000" y="17058"/>
                  <a:pt x="5334000" y="38100"/>
                </a:cubicBezTo>
                <a:lnTo>
                  <a:pt x="5334000" y="361950"/>
                </a:lnTo>
                <a:cubicBezTo>
                  <a:pt x="5334000" y="382992"/>
                  <a:pt x="5316942" y="400050"/>
                  <a:pt x="5295900" y="400050"/>
                </a:cubicBezTo>
                <a:lnTo>
                  <a:pt x="38100" y="400050"/>
                </a:lnTo>
                <a:cubicBezTo>
                  <a:pt x="17058" y="400050"/>
                  <a:pt x="0" y="382992"/>
                  <a:pt x="0" y="36195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F5F7FA"/>
          </a:solidFill>
          <a:ln>
            <a:noFill/>
          </a:ln>
        </p:spPr>
      </p:sp>
      <p:sp>
        <p:nvSpPr>
          <p:cNvPr id="21" name="TextBox 21"/>
          <p:cNvSpPr txBox="1"/>
          <p:nvPr/>
        </p:nvSpPr>
        <p:spPr>
          <a:xfrm>
            <a:off x="1316355" y="2978468"/>
            <a:ext cx="1848231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26323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Hard（全列表识别）</a:t>
            </a:r>
            <a:endParaRPr lang="zh-CN" sz="1350" dirty="0">
              <a:solidFill>
                <a:srgbClr val="263238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22" name="TextBox 22"/>
          <p:cNvSpPr txBox="1"/>
          <p:nvPr/>
        </p:nvSpPr>
        <p:spPr>
          <a:xfrm>
            <a:off x="3657886" y="2992438"/>
            <a:ext cx="468058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dirty="0">
                <a:solidFill>
                  <a:srgbClr val="C6282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3.0%</a:t>
            </a:r>
            <a:endParaRPr lang="zh-CN" sz="1350" dirty="0">
              <a:solidFill>
                <a:srgbClr val="C62828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23" name="TextBox 23"/>
          <p:cNvSpPr txBox="1"/>
          <p:nvPr/>
        </p:nvSpPr>
        <p:spPr>
          <a:xfrm>
            <a:off x="4982029" y="2978468"/>
            <a:ext cx="603611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2E7D32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47.8%</a:t>
            </a:r>
            <a:endParaRPr lang="zh-CN" sz="1350" b="1" dirty="0">
              <a:solidFill>
                <a:srgbClr val="2E7D32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24" name="TextBox 24"/>
          <p:cNvSpPr txBox="1"/>
          <p:nvPr/>
        </p:nvSpPr>
        <p:spPr>
          <a:xfrm>
            <a:off x="748665" y="3363278"/>
            <a:ext cx="400616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90A4A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RF-GPT识别信号数量准确率 ≈ 98%，通用VLM几乎全部失败</a:t>
            </a:r>
            <a:endParaRPr lang="zh-CN" sz="1050" dirty="0">
              <a:solidFill>
                <a:srgbClr val="90A4A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25" name="Rectangle 25"/>
          <p:cNvSpPr/>
          <p:nvPr/>
        </p:nvSpPr>
        <p:spPr>
          <a:xfrm>
            <a:off x="6096000" y="1333500"/>
            <a:ext cx="9525" cy="4857750"/>
          </a:xfrm>
          <a:prstGeom prst="rect">
            <a:avLst/>
          </a:prstGeom>
          <a:solidFill>
            <a:srgbClr val="ECEFF1"/>
          </a:solidFill>
          <a:ln>
            <a:noFill/>
          </a:ln>
        </p:spPr>
      </p:sp>
      <p:sp>
        <p:nvSpPr>
          <p:cNvPr id="26" name="TextBox 26"/>
          <p:cNvSpPr txBox="1"/>
          <p:nvPr/>
        </p:nvSpPr>
        <p:spPr>
          <a:xfrm>
            <a:off x="6454140" y="1282065"/>
            <a:ext cx="2737056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565C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WBOD — 宽带重叠检测</a:t>
            </a:r>
            <a:endParaRPr lang="zh-CN" sz="1800" b="1" dirty="0">
              <a:solidFill>
                <a:srgbClr val="1565C0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27" name="Freeform 27"/>
          <p:cNvSpPr/>
          <p:nvPr/>
        </p:nvSpPr>
        <p:spPr>
          <a:xfrm>
            <a:off x="6286500" y="1666875"/>
            <a:ext cx="5334000" cy="400050"/>
          </a:xfrm>
          <a:custGeom>
            <a:avLst/>
            <a:gdLst/>
            <a:ahLst/>
            <a:cxnLst/>
            <a:rect l="l" t="t" r="r" b="b"/>
            <a:pathLst>
              <a:path w="5334000" h="400050">
                <a:moveTo>
                  <a:pt x="38100" y="0"/>
                </a:moveTo>
                <a:lnTo>
                  <a:pt x="5295900" y="0"/>
                </a:lnTo>
                <a:cubicBezTo>
                  <a:pt x="5316942" y="0"/>
                  <a:pt x="5334000" y="17058"/>
                  <a:pt x="5334000" y="38100"/>
                </a:cubicBezTo>
                <a:lnTo>
                  <a:pt x="5334000" y="361950"/>
                </a:lnTo>
                <a:cubicBezTo>
                  <a:pt x="5334000" y="382992"/>
                  <a:pt x="5316942" y="400050"/>
                  <a:pt x="5295900" y="400050"/>
                </a:cubicBezTo>
                <a:lnTo>
                  <a:pt x="38100" y="400050"/>
                </a:lnTo>
                <a:cubicBezTo>
                  <a:pt x="17058" y="400050"/>
                  <a:pt x="0" y="382992"/>
                  <a:pt x="0" y="36195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1565C0"/>
          </a:solidFill>
          <a:ln>
            <a:noFill/>
          </a:ln>
        </p:spPr>
      </p:sp>
      <p:sp>
        <p:nvSpPr>
          <p:cNvPr id="28" name="TextBox 28"/>
          <p:cNvSpPr txBox="1"/>
          <p:nvPr/>
        </p:nvSpPr>
        <p:spPr>
          <a:xfrm>
            <a:off x="7598394" y="1778318"/>
            <a:ext cx="44834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任务</a:t>
            </a:r>
            <a:endParaRPr lang="zh-CN" sz="1350" b="1" dirty="0">
              <a:solidFill>
                <a:srgbClr val="FFFFFF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29" name="TextBox 29"/>
          <p:cNvSpPr txBox="1"/>
          <p:nvPr/>
        </p:nvSpPr>
        <p:spPr>
          <a:xfrm>
            <a:off x="9323325" y="1778318"/>
            <a:ext cx="83134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通用VLM</a:t>
            </a:r>
            <a:endParaRPr lang="zh-CN" sz="1350" b="1" dirty="0">
              <a:solidFill>
                <a:srgbClr val="FFFFFF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30" name="TextBox 30"/>
          <p:cNvSpPr txBox="1"/>
          <p:nvPr/>
        </p:nvSpPr>
        <p:spPr>
          <a:xfrm>
            <a:off x="10482001" y="1778318"/>
            <a:ext cx="1059068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RF-GPT-7B</a:t>
            </a:r>
            <a:endParaRPr lang="zh-CN" sz="1350" b="1" dirty="0">
              <a:solidFill>
                <a:srgbClr val="FFFFFF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31" name="Freeform 31"/>
          <p:cNvSpPr/>
          <p:nvPr/>
        </p:nvSpPr>
        <p:spPr>
          <a:xfrm>
            <a:off x="6286500" y="2066925"/>
            <a:ext cx="5334000" cy="400050"/>
          </a:xfrm>
          <a:custGeom>
            <a:avLst/>
            <a:gdLst/>
            <a:ahLst/>
            <a:cxnLst/>
            <a:rect l="l" t="t" r="r" b="b"/>
            <a:pathLst>
              <a:path w="5334000" h="400050">
                <a:moveTo>
                  <a:pt x="38100" y="0"/>
                </a:moveTo>
                <a:lnTo>
                  <a:pt x="5295900" y="0"/>
                </a:lnTo>
                <a:cubicBezTo>
                  <a:pt x="5316942" y="0"/>
                  <a:pt x="5334000" y="17058"/>
                  <a:pt x="5334000" y="38100"/>
                </a:cubicBezTo>
                <a:lnTo>
                  <a:pt x="5334000" y="361950"/>
                </a:lnTo>
                <a:cubicBezTo>
                  <a:pt x="5334000" y="382992"/>
                  <a:pt x="5316942" y="400050"/>
                  <a:pt x="5295900" y="400050"/>
                </a:cubicBezTo>
                <a:lnTo>
                  <a:pt x="38100" y="400050"/>
                </a:lnTo>
                <a:cubicBezTo>
                  <a:pt x="17058" y="400050"/>
                  <a:pt x="0" y="382992"/>
                  <a:pt x="0" y="36195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F5F7FA"/>
          </a:solidFill>
          <a:ln>
            <a:noFill/>
          </a:ln>
        </p:spPr>
      </p:sp>
      <p:sp>
        <p:nvSpPr>
          <p:cNvPr id="32" name="TextBox 32"/>
          <p:cNvSpPr txBox="1"/>
          <p:nvPr/>
        </p:nvSpPr>
        <p:spPr>
          <a:xfrm>
            <a:off x="7031355" y="2178368"/>
            <a:ext cx="2045398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26323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Easy（全局重叠类别）</a:t>
            </a:r>
            <a:endParaRPr lang="zh-CN" sz="1350" dirty="0">
              <a:solidFill>
                <a:srgbClr val="263238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33" name="TextBox 33"/>
          <p:cNvSpPr txBox="1"/>
          <p:nvPr/>
        </p:nvSpPr>
        <p:spPr>
          <a:xfrm>
            <a:off x="9593231" y="2178368"/>
            <a:ext cx="468058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dirty="0">
                <a:solidFill>
                  <a:srgbClr val="C6282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~25%</a:t>
            </a:r>
            <a:endParaRPr lang="zh-CN" sz="1350" dirty="0">
              <a:solidFill>
                <a:srgbClr val="C62828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34" name="TextBox 34"/>
          <p:cNvSpPr txBox="1"/>
          <p:nvPr/>
        </p:nvSpPr>
        <p:spPr>
          <a:xfrm>
            <a:off x="10736243" y="2178368"/>
            <a:ext cx="55185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2E7D32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91.5%</a:t>
            </a:r>
            <a:endParaRPr lang="zh-CN" sz="1350" b="1" dirty="0">
              <a:solidFill>
                <a:srgbClr val="2E7D32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35" name="Freeform 35"/>
          <p:cNvSpPr/>
          <p:nvPr/>
        </p:nvSpPr>
        <p:spPr>
          <a:xfrm>
            <a:off x="6286500" y="2466975"/>
            <a:ext cx="5334000" cy="400050"/>
          </a:xfrm>
          <a:custGeom>
            <a:avLst/>
            <a:gdLst/>
            <a:ahLst/>
            <a:cxnLst/>
            <a:rect l="l" t="t" r="r" b="b"/>
            <a:pathLst>
              <a:path w="5334000" h="400050">
                <a:moveTo>
                  <a:pt x="38100" y="0"/>
                </a:moveTo>
                <a:lnTo>
                  <a:pt x="5295900" y="0"/>
                </a:lnTo>
                <a:cubicBezTo>
                  <a:pt x="5316942" y="0"/>
                  <a:pt x="5334000" y="17058"/>
                  <a:pt x="5334000" y="38100"/>
                </a:cubicBezTo>
                <a:lnTo>
                  <a:pt x="5334000" y="361950"/>
                </a:lnTo>
                <a:cubicBezTo>
                  <a:pt x="5334000" y="382992"/>
                  <a:pt x="5316942" y="400050"/>
                  <a:pt x="5295900" y="400050"/>
                </a:cubicBezTo>
                <a:lnTo>
                  <a:pt x="38100" y="400050"/>
                </a:lnTo>
                <a:cubicBezTo>
                  <a:pt x="17058" y="400050"/>
                  <a:pt x="0" y="382992"/>
                  <a:pt x="0" y="36195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F5F7FA"/>
          </a:solidFill>
          <a:ln>
            <a:noFill/>
          </a:ln>
        </p:spPr>
      </p:sp>
      <p:sp>
        <p:nvSpPr>
          <p:cNvPr id="36" name="TextBox 36"/>
          <p:cNvSpPr txBox="1"/>
          <p:nvPr/>
        </p:nvSpPr>
        <p:spPr>
          <a:xfrm>
            <a:off x="7031355" y="2578418"/>
            <a:ext cx="2291858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26323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Medium（成对重叠类别）</a:t>
            </a:r>
            <a:endParaRPr lang="zh-CN" sz="1350" dirty="0">
              <a:solidFill>
                <a:srgbClr val="263238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37" name="TextBox 37"/>
          <p:cNvSpPr txBox="1"/>
          <p:nvPr/>
        </p:nvSpPr>
        <p:spPr>
          <a:xfrm>
            <a:off x="9609741" y="2578418"/>
            <a:ext cx="468058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dirty="0">
                <a:solidFill>
                  <a:srgbClr val="C6282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~30%</a:t>
            </a:r>
            <a:endParaRPr lang="zh-CN" sz="1350" dirty="0">
              <a:solidFill>
                <a:srgbClr val="C62828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38" name="TextBox 38"/>
          <p:cNvSpPr txBox="1"/>
          <p:nvPr/>
        </p:nvSpPr>
        <p:spPr>
          <a:xfrm>
            <a:off x="10735764" y="2578418"/>
            <a:ext cx="603611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2E7D32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87.6%</a:t>
            </a:r>
            <a:endParaRPr lang="zh-CN" sz="1350" b="1" dirty="0">
              <a:solidFill>
                <a:srgbClr val="2E7D32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39" name="Freeform 39"/>
          <p:cNvSpPr/>
          <p:nvPr/>
        </p:nvSpPr>
        <p:spPr>
          <a:xfrm>
            <a:off x="6286500" y="2867025"/>
            <a:ext cx="5334000" cy="400050"/>
          </a:xfrm>
          <a:custGeom>
            <a:avLst/>
            <a:gdLst/>
            <a:ahLst/>
            <a:cxnLst/>
            <a:rect l="l" t="t" r="r" b="b"/>
            <a:pathLst>
              <a:path w="5334000" h="400050">
                <a:moveTo>
                  <a:pt x="38100" y="0"/>
                </a:moveTo>
                <a:lnTo>
                  <a:pt x="5295900" y="0"/>
                </a:lnTo>
                <a:cubicBezTo>
                  <a:pt x="5316942" y="0"/>
                  <a:pt x="5334000" y="17058"/>
                  <a:pt x="5334000" y="38100"/>
                </a:cubicBezTo>
                <a:lnTo>
                  <a:pt x="5334000" y="361950"/>
                </a:lnTo>
                <a:cubicBezTo>
                  <a:pt x="5334000" y="382992"/>
                  <a:pt x="5316942" y="400050"/>
                  <a:pt x="5295900" y="400050"/>
                </a:cubicBezTo>
                <a:lnTo>
                  <a:pt x="38100" y="400050"/>
                </a:lnTo>
                <a:cubicBezTo>
                  <a:pt x="17058" y="400050"/>
                  <a:pt x="0" y="382992"/>
                  <a:pt x="0" y="36195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F5F7FA"/>
          </a:solidFill>
          <a:ln>
            <a:noFill/>
          </a:ln>
        </p:spPr>
      </p:sp>
      <p:sp>
        <p:nvSpPr>
          <p:cNvPr id="40" name="TextBox 40"/>
          <p:cNvSpPr txBox="1"/>
          <p:nvPr/>
        </p:nvSpPr>
        <p:spPr>
          <a:xfrm>
            <a:off x="7031355" y="2978468"/>
            <a:ext cx="2045398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26323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Hard（重叠程度量化）</a:t>
            </a:r>
            <a:endParaRPr lang="zh-CN" sz="1350" dirty="0">
              <a:solidFill>
                <a:srgbClr val="263238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41" name="TextBox 41"/>
          <p:cNvSpPr txBox="1"/>
          <p:nvPr/>
        </p:nvSpPr>
        <p:spPr>
          <a:xfrm>
            <a:off x="9643277" y="2978468"/>
            <a:ext cx="418767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dirty="0">
                <a:solidFill>
                  <a:srgbClr val="C6282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~12%</a:t>
            </a:r>
            <a:endParaRPr lang="zh-CN" sz="1350" dirty="0">
              <a:solidFill>
                <a:srgbClr val="C62828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42" name="TextBox 42"/>
          <p:cNvSpPr txBox="1"/>
          <p:nvPr/>
        </p:nvSpPr>
        <p:spPr>
          <a:xfrm>
            <a:off x="10787678" y="2978468"/>
            <a:ext cx="55185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2E7D32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71.7%</a:t>
            </a:r>
            <a:endParaRPr lang="zh-CN" sz="1350" b="1" dirty="0">
              <a:solidFill>
                <a:srgbClr val="2E7D32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43" name="TextBox 43"/>
          <p:cNvSpPr txBox="1"/>
          <p:nvPr/>
        </p:nvSpPr>
        <p:spPr>
          <a:xfrm>
            <a:off x="6463665" y="3363278"/>
            <a:ext cx="293270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90A4A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通用VLM倾向于预测"无重叠"造成偏低分数</a:t>
            </a:r>
            <a:endParaRPr lang="zh-CN" sz="1050" dirty="0">
              <a:solidFill>
                <a:srgbClr val="90A4A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44" name="Freeform 44"/>
          <p:cNvSpPr/>
          <p:nvPr/>
        </p:nvSpPr>
        <p:spPr>
          <a:xfrm>
            <a:off x="571500" y="5715000"/>
            <a:ext cx="11049000" cy="571500"/>
          </a:xfrm>
          <a:custGeom>
            <a:avLst/>
            <a:gdLst/>
            <a:ahLst/>
            <a:cxnLst/>
            <a:rect l="l" t="t" r="r" b="b"/>
            <a:pathLst>
              <a:path w="11049000" h="571500">
                <a:moveTo>
                  <a:pt x="76200" y="0"/>
                </a:moveTo>
                <a:lnTo>
                  <a:pt x="10972800" y="0"/>
                </a:lnTo>
                <a:cubicBezTo>
                  <a:pt x="11014884" y="0"/>
                  <a:pt x="11049000" y="34116"/>
                  <a:pt x="11049000" y="76200"/>
                </a:cubicBezTo>
                <a:lnTo>
                  <a:pt x="11049000" y="495300"/>
                </a:lnTo>
                <a:cubicBezTo>
                  <a:pt x="11049000" y="537384"/>
                  <a:pt x="11014884" y="571500"/>
                  <a:pt x="10972800" y="571500"/>
                </a:cubicBezTo>
                <a:lnTo>
                  <a:pt x="76200" y="571500"/>
                </a:lnTo>
                <a:cubicBezTo>
                  <a:pt x="34116" y="571500"/>
                  <a:pt x="0" y="537384"/>
                  <a:pt x="0" y="4953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E3F2FD"/>
          </a:solidFill>
          <a:ln>
            <a:noFill/>
          </a:ln>
        </p:spPr>
      </p:sp>
      <p:sp>
        <p:nvSpPr>
          <p:cNvPr id="45" name="TextBox 45"/>
          <p:cNvSpPr txBox="1"/>
          <p:nvPr/>
        </p:nvSpPr>
        <p:spPr>
          <a:xfrm>
            <a:off x="2599134" y="5886450"/>
            <a:ext cx="6993731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dirty="0">
                <a:solidFill>
                  <a:srgbClr val="1565C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RF-GPT 在两大基准上全面超越通用 VLM，且在信号数量识别上近乎完美</a:t>
            </a:r>
            <a:endParaRPr lang="zh-CN" sz="1500" dirty="0">
              <a:solidFill>
                <a:srgbClr val="1565C0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46" name="Rectangle 46"/>
          <p:cNvSpPr/>
          <p:nvPr/>
        </p:nvSpPr>
        <p:spPr>
          <a:xfrm>
            <a:off x="571500" y="6667500"/>
            <a:ext cx="11049000" cy="9525"/>
          </a:xfrm>
          <a:prstGeom prst="rect">
            <a:avLst/>
          </a:prstGeom>
          <a:solidFill>
            <a:srgbClr val="ECEFF1"/>
          </a:solidFill>
          <a:ln>
            <a:noFill/>
          </a:ln>
        </p:spPr>
      </p:sp>
      <p:sp>
        <p:nvSpPr>
          <p:cNvPr id="47" name="TextBox 47"/>
          <p:cNvSpPr txBox="1"/>
          <p:nvPr/>
        </p:nvSpPr>
        <p:spPr>
          <a:xfrm>
            <a:off x="560070" y="6703695"/>
            <a:ext cx="133073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0A4A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RF-GPT Presentation</a:t>
            </a:r>
            <a:endParaRPr lang="zh-CN" sz="900" dirty="0">
              <a:solidFill>
                <a:srgbClr val="90A4A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48" name="TextBox 48"/>
          <p:cNvSpPr txBox="1"/>
          <p:nvPr/>
        </p:nvSpPr>
        <p:spPr>
          <a:xfrm>
            <a:off x="11615452" y="6703695"/>
            <a:ext cx="39747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90A4A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10 / 15</a:t>
            </a:r>
            <a:endParaRPr lang="zh-CN" sz="900" dirty="0">
              <a:solidFill>
                <a:srgbClr val="90A4A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pic>
        <p:nvPicPr>
          <p:cNvPr id="50" name="图片 49" descr="0f8c991e09ed55ff3ee48552d482630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9005" y="3531870"/>
            <a:ext cx="3825875" cy="2183130"/>
          </a:xfrm>
          <a:prstGeom prst="rect">
            <a:avLst/>
          </a:prstGeom>
        </p:spPr>
      </p:pic>
      <p:pic>
        <p:nvPicPr>
          <p:cNvPr id="51" name="图片 50" descr="360b0d9042951feb6e546b7e88edf0a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47205" y="3549650"/>
            <a:ext cx="3888740" cy="216535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1565C0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571500" y="476250"/>
            <a:ext cx="57150" cy="342900"/>
          </a:xfrm>
          <a:prstGeom prst="rect">
            <a:avLst/>
          </a:prstGeom>
          <a:solidFill>
            <a:srgbClr val="1565C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723900" y="419100"/>
            <a:ext cx="7161086" cy="609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26323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技术识别 / 用户计数 / NR信息提取</a:t>
            </a:r>
            <a:endParaRPr lang="zh-CN" sz="3000" b="1" dirty="0">
              <a:solidFill>
                <a:srgbClr val="263238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6" name="Rectangle 6"/>
          <p:cNvSpPr/>
          <p:nvPr/>
        </p:nvSpPr>
        <p:spPr>
          <a:xfrm>
            <a:off x="571500" y="1095375"/>
            <a:ext cx="11049000" cy="9525"/>
          </a:xfrm>
          <a:prstGeom prst="rect">
            <a:avLst/>
          </a:prstGeom>
          <a:solidFill>
            <a:srgbClr val="ECEFF1"/>
          </a:solidFill>
          <a:ln>
            <a:noFill/>
          </a:ln>
        </p:spPr>
      </p:sp>
      <p:sp>
        <p:nvSpPr>
          <p:cNvPr id="7" name="Freeform 7"/>
          <p:cNvSpPr/>
          <p:nvPr/>
        </p:nvSpPr>
        <p:spPr>
          <a:xfrm>
            <a:off x="571500" y="1285875"/>
            <a:ext cx="3524250" cy="4953000"/>
          </a:xfrm>
          <a:custGeom>
            <a:avLst/>
            <a:gdLst/>
            <a:ahLst/>
            <a:cxnLst/>
            <a:rect l="l" t="t" r="r" b="b"/>
            <a:pathLst>
              <a:path w="3524250" h="4953000">
                <a:moveTo>
                  <a:pt x="95250" y="0"/>
                </a:moveTo>
                <a:lnTo>
                  <a:pt x="3429000" y="0"/>
                </a:lnTo>
                <a:cubicBezTo>
                  <a:pt x="3481605" y="0"/>
                  <a:pt x="3524250" y="42645"/>
                  <a:pt x="3524250" y="95250"/>
                </a:cubicBezTo>
                <a:lnTo>
                  <a:pt x="3524250" y="4857750"/>
                </a:lnTo>
                <a:cubicBezTo>
                  <a:pt x="3524250" y="4910355"/>
                  <a:pt x="3481605" y="4953000"/>
                  <a:pt x="3429000" y="4953000"/>
                </a:cubicBezTo>
                <a:lnTo>
                  <a:pt x="95250" y="4953000"/>
                </a:lnTo>
                <a:cubicBezTo>
                  <a:pt x="42645" y="4953000"/>
                  <a:pt x="0" y="4910355"/>
                  <a:pt x="0" y="485775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F5F7FA"/>
          </a:solidFill>
          <a:ln>
            <a:noFill/>
          </a:ln>
        </p:spPr>
      </p:sp>
      <p:sp>
        <p:nvSpPr>
          <p:cNvPr id="8" name="Freeform 8"/>
          <p:cNvSpPr/>
          <p:nvPr/>
        </p:nvSpPr>
        <p:spPr>
          <a:xfrm>
            <a:off x="571500" y="1285875"/>
            <a:ext cx="3524250" cy="1714500"/>
          </a:xfrm>
          <a:custGeom>
            <a:avLst/>
            <a:gdLst/>
            <a:ahLst/>
            <a:cxnLst/>
            <a:rect l="l" t="t" r="r" b="b"/>
            <a:pathLst>
              <a:path w="3524250" h="1714500">
                <a:moveTo>
                  <a:pt x="95250" y="0"/>
                </a:moveTo>
                <a:lnTo>
                  <a:pt x="3429000" y="0"/>
                </a:lnTo>
                <a:cubicBezTo>
                  <a:pt x="3481605" y="0"/>
                  <a:pt x="3524250" y="42645"/>
                  <a:pt x="3524250" y="95250"/>
                </a:cubicBezTo>
                <a:lnTo>
                  <a:pt x="3524250" y="1619250"/>
                </a:lnTo>
                <a:cubicBezTo>
                  <a:pt x="3524250" y="1671855"/>
                  <a:pt x="3481605" y="1714500"/>
                  <a:pt x="3429000" y="1714500"/>
                </a:cubicBezTo>
                <a:lnTo>
                  <a:pt x="95250" y="1714500"/>
                </a:lnTo>
                <a:cubicBezTo>
                  <a:pt x="42645" y="1714500"/>
                  <a:pt x="0" y="1671855"/>
                  <a:pt x="0" y="161925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E3F2FD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571500" y="2905125"/>
            <a:ext cx="3524250" cy="95250"/>
          </a:xfrm>
          <a:prstGeom prst="rect">
            <a:avLst/>
          </a:prstGeom>
          <a:solidFill>
            <a:srgbClr val="E3F2FD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2055433" y="1663065"/>
            <a:ext cx="556384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b="1" dirty="0">
                <a:solidFill>
                  <a:srgbClr val="1565C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WTR</a:t>
            </a:r>
            <a:endParaRPr lang="zh-CN" sz="1800" b="1" dirty="0">
              <a:solidFill>
                <a:srgbClr val="1565C0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1724978" y="1997392"/>
            <a:ext cx="121729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dirty="0">
                <a:solidFill>
                  <a:srgbClr val="26323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无线技术识别</a:t>
            </a:r>
            <a:endParaRPr lang="zh-CN" sz="1350" dirty="0">
              <a:solidFill>
                <a:srgbClr val="263238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1237482" y="2221706"/>
            <a:ext cx="2192286" cy="838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4125" b="1" dirty="0">
                <a:solidFill>
                  <a:srgbClr val="1565C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99.64%</a:t>
            </a:r>
            <a:endParaRPr lang="zh-CN" sz="4125" b="1" dirty="0">
              <a:solidFill>
                <a:srgbClr val="1565C0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792480" y="3140392"/>
            <a:ext cx="1628389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26323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6种技术 + 上下行</a:t>
            </a:r>
            <a:endParaRPr lang="zh-CN" sz="1350" b="1" dirty="0">
              <a:solidFill>
                <a:srgbClr val="263238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794385" y="3442335"/>
            <a:ext cx="1581531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46E7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5G NR / LTE / UMTS</a:t>
            </a:r>
            <a:endParaRPr lang="zh-CN" sz="1200" dirty="0">
              <a:solidFill>
                <a:srgbClr val="546E7A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794385" y="3661410"/>
            <a:ext cx="225628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46E7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WLAN / DVB-S2 / Bluetooth</a:t>
            </a:r>
            <a:endParaRPr lang="zh-CN" sz="1200" dirty="0">
              <a:solidFill>
                <a:srgbClr val="546E7A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20" name="Freeform 20"/>
          <p:cNvSpPr/>
          <p:nvPr/>
        </p:nvSpPr>
        <p:spPr>
          <a:xfrm>
            <a:off x="4333875" y="1285875"/>
            <a:ext cx="3524250" cy="4953000"/>
          </a:xfrm>
          <a:custGeom>
            <a:avLst/>
            <a:gdLst/>
            <a:ahLst/>
            <a:cxnLst/>
            <a:rect l="l" t="t" r="r" b="b"/>
            <a:pathLst>
              <a:path w="3524250" h="4953000">
                <a:moveTo>
                  <a:pt x="95250" y="0"/>
                </a:moveTo>
                <a:lnTo>
                  <a:pt x="3429000" y="0"/>
                </a:lnTo>
                <a:cubicBezTo>
                  <a:pt x="3481605" y="0"/>
                  <a:pt x="3524250" y="42645"/>
                  <a:pt x="3524250" y="95250"/>
                </a:cubicBezTo>
                <a:lnTo>
                  <a:pt x="3524250" y="4857750"/>
                </a:lnTo>
                <a:cubicBezTo>
                  <a:pt x="3524250" y="4910355"/>
                  <a:pt x="3481605" y="4953000"/>
                  <a:pt x="3429000" y="4953000"/>
                </a:cubicBezTo>
                <a:lnTo>
                  <a:pt x="95250" y="4953000"/>
                </a:lnTo>
                <a:cubicBezTo>
                  <a:pt x="42645" y="4953000"/>
                  <a:pt x="0" y="4910355"/>
                  <a:pt x="0" y="485775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F5F7FA"/>
          </a:solidFill>
          <a:ln>
            <a:noFill/>
          </a:ln>
        </p:spPr>
      </p:sp>
      <p:sp>
        <p:nvSpPr>
          <p:cNvPr id="21" name="Freeform 21"/>
          <p:cNvSpPr/>
          <p:nvPr/>
        </p:nvSpPr>
        <p:spPr>
          <a:xfrm>
            <a:off x="4333875" y="1285875"/>
            <a:ext cx="3524250" cy="1714500"/>
          </a:xfrm>
          <a:custGeom>
            <a:avLst/>
            <a:gdLst/>
            <a:ahLst/>
            <a:cxnLst/>
            <a:rect l="l" t="t" r="r" b="b"/>
            <a:pathLst>
              <a:path w="3524250" h="1714500">
                <a:moveTo>
                  <a:pt x="95250" y="0"/>
                </a:moveTo>
                <a:lnTo>
                  <a:pt x="3429000" y="0"/>
                </a:lnTo>
                <a:cubicBezTo>
                  <a:pt x="3481605" y="0"/>
                  <a:pt x="3524250" y="42645"/>
                  <a:pt x="3524250" y="95250"/>
                </a:cubicBezTo>
                <a:lnTo>
                  <a:pt x="3524250" y="1619250"/>
                </a:lnTo>
                <a:cubicBezTo>
                  <a:pt x="3524250" y="1671855"/>
                  <a:pt x="3481605" y="1714500"/>
                  <a:pt x="3429000" y="1714500"/>
                </a:cubicBezTo>
                <a:lnTo>
                  <a:pt x="95250" y="1714500"/>
                </a:lnTo>
                <a:cubicBezTo>
                  <a:pt x="42645" y="1714500"/>
                  <a:pt x="0" y="1671855"/>
                  <a:pt x="0" y="161925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FFF3E0"/>
          </a:solidFill>
          <a:ln>
            <a:noFill/>
          </a:ln>
        </p:spPr>
      </p:sp>
      <p:sp>
        <p:nvSpPr>
          <p:cNvPr id="22" name="Rectangle 22"/>
          <p:cNvSpPr/>
          <p:nvPr/>
        </p:nvSpPr>
        <p:spPr>
          <a:xfrm>
            <a:off x="4333875" y="2905125"/>
            <a:ext cx="3524250" cy="95250"/>
          </a:xfrm>
          <a:prstGeom prst="rect">
            <a:avLst/>
          </a:prstGeom>
          <a:solidFill>
            <a:srgbClr val="FFF3E0"/>
          </a:solidFill>
          <a:ln>
            <a:noFill/>
          </a:ln>
        </p:spPr>
      </p:sp>
      <p:sp>
        <p:nvSpPr>
          <p:cNvPr id="23" name="TextBox 23"/>
          <p:cNvSpPr txBox="1"/>
          <p:nvPr/>
        </p:nvSpPr>
        <p:spPr>
          <a:xfrm>
            <a:off x="5741899" y="1663065"/>
            <a:ext cx="708203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b="1" dirty="0">
                <a:solidFill>
                  <a:srgbClr val="E6510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WNUC</a:t>
            </a:r>
            <a:endParaRPr lang="zh-CN" sz="1800" b="1" dirty="0">
              <a:solidFill>
                <a:srgbClr val="E65100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24" name="TextBox 24"/>
          <p:cNvSpPr txBox="1"/>
          <p:nvPr/>
        </p:nvSpPr>
        <p:spPr>
          <a:xfrm>
            <a:off x="5349335" y="1997392"/>
            <a:ext cx="1493329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dirty="0">
                <a:solidFill>
                  <a:srgbClr val="26323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WLAN用户数估计</a:t>
            </a:r>
            <a:endParaRPr lang="zh-CN" sz="1350" dirty="0">
              <a:solidFill>
                <a:srgbClr val="263238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25" name="TextBox 25"/>
          <p:cNvSpPr txBox="1"/>
          <p:nvPr/>
        </p:nvSpPr>
        <p:spPr>
          <a:xfrm>
            <a:off x="5079564" y="2221706"/>
            <a:ext cx="2034141" cy="838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4125" b="1" dirty="0">
                <a:solidFill>
                  <a:srgbClr val="E6510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70.17%</a:t>
            </a:r>
            <a:endParaRPr lang="zh-CN" sz="4125" b="1" dirty="0">
              <a:solidFill>
                <a:srgbClr val="E65100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26" name="TextBox 26"/>
          <p:cNvSpPr txBox="1"/>
          <p:nvPr/>
        </p:nvSpPr>
        <p:spPr>
          <a:xfrm>
            <a:off x="4554855" y="3140392"/>
            <a:ext cx="2228850" cy="20764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altLang="zh-CN" sz="1350" b="1" dirty="0">
                <a:solidFill>
                  <a:srgbClr val="26323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WLAN</a:t>
            </a:r>
            <a:r>
              <a:rPr lang="zh-CN" altLang="en-US" sz="1350" b="1" dirty="0">
                <a:solidFill>
                  <a:srgbClr val="26323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用户计数（两大场景）</a:t>
            </a:r>
            <a:endParaRPr lang="zh-CN" altLang="en-US" sz="1350" b="1" dirty="0">
              <a:solidFill>
                <a:srgbClr val="263238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33" name="Freeform 33"/>
          <p:cNvSpPr/>
          <p:nvPr/>
        </p:nvSpPr>
        <p:spPr>
          <a:xfrm>
            <a:off x="8096250" y="1285875"/>
            <a:ext cx="3524250" cy="4953000"/>
          </a:xfrm>
          <a:custGeom>
            <a:avLst/>
            <a:gdLst/>
            <a:ahLst/>
            <a:cxnLst/>
            <a:rect l="l" t="t" r="r" b="b"/>
            <a:pathLst>
              <a:path w="3524250" h="4953000">
                <a:moveTo>
                  <a:pt x="95250" y="0"/>
                </a:moveTo>
                <a:lnTo>
                  <a:pt x="3429000" y="0"/>
                </a:lnTo>
                <a:cubicBezTo>
                  <a:pt x="3481605" y="0"/>
                  <a:pt x="3524250" y="42645"/>
                  <a:pt x="3524250" y="95250"/>
                </a:cubicBezTo>
                <a:lnTo>
                  <a:pt x="3524250" y="4857750"/>
                </a:lnTo>
                <a:cubicBezTo>
                  <a:pt x="3524250" y="4910355"/>
                  <a:pt x="3481605" y="4953000"/>
                  <a:pt x="3429000" y="4953000"/>
                </a:cubicBezTo>
                <a:lnTo>
                  <a:pt x="95250" y="4953000"/>
                </a:lnTo>
                <a:cubicBezTo>
                  <a:pt x="42645" y="4953000"/>
                  <a:pt x="0" y="4910355"/>
                  <a:pt x="0" y="485775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F5F7FA"/>
          </a:solidFill>
          <a:ln>
            <a:noFill/>
          </a:ln>
        </p:spPr>
      </p:sp>
      <p:sp>
        <p:nvSpPr>
          <p:cNvPr id="34" name="Freeform 34"/>
          <p:cNvSpPr/>
          <p:nvPr/>
        </p:nvSpPr>
        <p:spPr>
          <a:xfrm>
            <a:off x="8096250" y="1285875"/>
            <a:ext cx="3524250" cy="1714500"/>
          </a:xfrm>
          <a:custGeom>
            <a:avLst/>
            <a:gdLst/>
            <a:ahLst/>
            <a:cxnLst/>
            <a:rect l="l" t="t" r="r" b="b"/>
            <a:pathLst>
              <a:path w="3524250" h="1714500">
                <a:moveTo>
                  <a:pt x="95250" y="0"/>
                </a:moveTo>
                <a:lnTo>
                  <a:pt x="3429000" y="0"/>
                </a:lnTo>
                <a:cubicBezTo>
                  <a:pt x="3481605" y="0"/>
                  <a:pt x="3524250" y="42645"/>
                  <a:pt x="3524250" y="95250"/>
                </a:cubicBezTo>
                <a:lnTo>
                  <a:pt x="3524250" y="1619250"/>
                </a:lnTo>
                <a:cubicBezTo>
                  <a:pt x="3524250" y="1671855"/>
                  <a:pt x="3481605" y="1714500"/>
                  <a:pt x="3429000" y="1714500"/>
                </a:cubicBezTo>
                <a:lnTo>
                  <a:pt x="95250" y="1714500"/>
                </a:lnTo>
                <a:cubicBezTo>
                  <a:pt x="42645" y="1714500"/>
                  <a:pt x="0" y="1671855"/>
                  <a:pt x="0" y="161925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E8F5E9"/>
          </a:solidFill>
          <a:ln>
            <a:noFill/>
          </a:ln>
        </p:spPr>
      </p:sp>
      <p:sp>
        <p:nvSpPr>
          <p:cNvPr id="35" name="Rectangle 35"/>
          <p:cNvSpPr/>
          <p:nvPr/>
        </p:nvSpPr>
        <p:spPr>
          <a:xfrm>
            <a:off x="8096250" y="2905125"/>
            <a:ext cx="3524250" cy="95250"/>
          </a:xfrm>
          <a:prstGeom prst="rect">
            <a:avLst/>
          </a:prstGeom>
          <a:solidFill>
            <a:srgbClr val="E8F5E9"/>
          </a:solidFill>
          <a:ln>
            <a:noFill/>
          </a:ln>
        </p:spPr>
      </p:sp>
      <p:sp>
        <p:nvSpPr>
          <p:cNvPr id="36" name="TextBox 36"/>
          <p:cNvSpPr txBox="1"/>
          <p:nvPr/>
        </p:nvSpPr>
        <p:spPr>
          <a:xfrm>
            <a:off x="9566381" y="1663065"/>
            <a:ext cx="583987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b="1" dirty="0">
                <a:solidFill>
                  <a:srgbClr val="2E7D32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NRIE</a:t>
            </a:r>
            <a:endParaRPr lang="zh-CN" sz="1800" b="1" dirty="0">
              <a:solidFill>
                <a:srgbClr val="2E7D32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37" name="TextBox 37"/>
          <p:cNvSpPr txBox="1"/>
          <p:nvPr/>
        </p:nvSpPr>
        <p:spPr>
          <a:xfrm>
            <a:off x="9200436" y="1997392"/>
            <a:ext cx="1315879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dirty="0">
                <a:solidFill>
                  <a:srgbClr val="26323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5G NR信息提取</a:t>
            </a:r>
            <a:endParaRPr lang="zh-CN" sz="1350" dirty="0">
              <a:solidFill>
                <a:srgbClr val="263238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38" name="TextBox 38"/>
          <p:cNvSpPr txBox="1"/>
          <p:nvPr/>
        </p:nvSpPr>
        <p:spPr>
          <a:xfrm>
            <a:off x="8317230" y="3140392"/>
            <a:ext cx="862393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26323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关键指标</a:t>
            </a:r>
            <a:endParaRPr lang="zh-CN" sz="1350" b="1" dirty="0">
              <a:solidFill>
                <a:srgbClr val="263238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39" name="Freeform 39"/>
          <p:cNvSpPr/>
          <p:nvPr/>
        </p:nvSpPr>
        <p:spPr>
          <a:xfrm>
            <a:off x="8334375" y="3429000"/>
            <a:ext cx="3048000" cy="333375"/>
          </a:xfrm>
          <a:custGeom>
            <a:avLst/>
            <a:gdLst/>
            <a:ahLst/>
            <a:cxnLst/>
            <a:rect l="l" t="t" r="r" b="b"/>
            <a:pathLst>
              <a:path w="3048000" h="333375">
                <a:moveTo>
                  <a:pt x="38100" y="0"/>
                </a:moveTo>
                <a:lnTo>
                  <a:pt x="3009900" y="0"/>
                </a:lnTo>
                <a:cubicBezTo>
                  <a:pt x="3030942" y="0"/>
                  <a:pt x="3048000" y="17058"/>
                  <a:pt x="3048000" y="38100"/>
                </a:cubicBezTo>
                <a:lnTo>
                  <a:pt x="3048000" y="295275"/>
                </a:lnTo>
                <a:cubicBezTo>
                  <a:pt x="3048000" y="316317"/>
                  <a:pt x="3030942" y="333375"/>
                  <a:pt x="3009900" y="333375"/>
                </a:cubicBezTo>
                <a:lnTo>
                  <a:pt x="38100" y="333375"/>
                </a:lnTo>
                <a:cubicBezTo>
                  <a:pt x="17058" y="333375"/>
                  <a:pt x="0" y="316317"/>
                  <a:pt x="0" y="295275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E8F5E9"/>
          </a:solidFill>
          <a:ln>
            <a:noFill/>
          </a:ln>
        </p:spPr>
      </p:sp>
      <p:sp>
        <p:nvSpPr>
          <p:cNvPr id="40" name="TextBox 40"/>
          <p:cNvSpPr txBox="1"/>
          <p:nvPr/>
        </p:nvSpPr>
        <p:spPr>
          <a:xfrm>
            <a:off x="8462010" y="3528060"/>
            <a:ext cx="722757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26323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SCS 识别</a:t>
            </a:r>
            <a:endParaRPr lang="zh-CN" sz="1200" dirty="0">
              <a:solidFill>
                <a:srgbClr val="263238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41" name="TextBox 41"/>
          <p:cNvSpPr txBox="1"/>
          <p:nvPr/>
        </p:nvSpPr>
        <p:spPr>
          <a:xfrm>
            <a:off x="10514290" y="3511868"/>
            <a:ext cx="55185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350" b="1" dirty="0">
                <a:solidFill>
                  <a:srgbClr val="2E7D32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99.1%</a:t>
            </a:r>
            <a:endParaRPr lang="zh-CN" sz="1350" b="1" dirty="0">
              <a:solidFill>
                <a:srgbClr val="2E7D32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42" name="Freeform 42"/>
          <p:cNvSpPr/>
          <p:nvPr/>
        </p:nvSpPr>
        <p:spPr>
          <a:xfrm>
            <a:off x="8334375" y="3810000"/>
            <a:ext cx="3048000" cy="333375"/>
          </a:xfrm>
          <a:custGeom>
            <a:avLst/>
            <a:gdLst/>
            <a:ahLst/>
            <a:cxnLst/>
            <a:rect l="l" t="t" r="r" b="b"/>
            <a:pathLst>
              <a:path w="3048000" h="333375">
                <a:moveTo>
                  <a:pt x="38100" y="0"/>
                </a:moveTo>
                <a:lnTo>
                  <a:pt x="3009900" y="0"/>
                </a:lnTo>
                <a:cubicBezTo>
                  <a:pt x="3030942" y="0"/>
                  <a:pt x="3048000" y="17058"/>
                  <a:pt x="3048000" y="38100"/>
                </a:cubicBezTo>
                <a:lnTo>
                  <a:pt x="3048000" y="295275"/>
                </a:lnTo>
                <a:cubicBezTo>
                  <a:pt x="3048000" y="316317"/>
                  <a:pt x="3030942" y="333375"/>
                  <a:pt x="3009900" y="333375"/>
                </a:cubicBezTo>
                <a:lnTo>
                  <a:pt x="38100" y="333375"/>
                </a:lnTo>
                <a:cubicBezTo>
                  <a:pt x="17058" y="333375"/>
                  <a:pt x="0" y="316317"/>
                  <a:pt x="0" y="295275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E8F5E9"/>
          </a:solidFill>
          <a:ln>
            <a:noFill/>
          </a:ln>
        </p:spPr>
      </p:sp>
      <p:sp>
        <p:nvSpPr>
          <p:cNvPr id="43" name="TextBox 43"/>
          <p:cNvSpPr txBox="1"/>
          <p:nvPr/>
        </p:nvSpPr>
        <p:spPr>
          <a:xfrm>
            <a:off x="8462010" y="3909060"/>
            <a:ext cx="1073277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26323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SSB 模式识别</a:t>
            </a:r>
            <a:endParaRPr lang="zh-CN" sz="1200" dirty="0">
              <a:solidFill>
                <a:srgbClr val="263238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44" name="TextBox 44"/>
          <p:cNvSpPr txBox="1"/>
          <p:nvPr/>
        </p:nvSpPr>
        <p:spPr>
          <a:xfrm>
            <a:off x="10462534" y="3892868"/>
            <a:ext cx="603611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350" b="1" dirty="0">
                <a:solidFill>
                  <a:srgbClr val="2E7D32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98.2%</a:t>
            </a:r>
            <a:endParaRPr lang="zh-CN" sz="1350" b="1" dirty="0">
              <a:solidFill>
                <a:srgbClr val="2E7D32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45" name="Freeform 45"/>
          <p:cNvSpPr/>
          <p:nvPr/>
        </p:nvSpPr>
        <p:spPr>
          <a:xfrm>
            <a:off x="8334375" y="4191000"/>
            <a:ext cx="3048000" cy="333375"/>
          </a:xfrm>
          <a:custGeom>
            <a:avLst/>
            <a:gdLst/>
            <a:ahLst/>
            <a:cxnLst/>
            <a:rect l="l" t="t" r="r" b="b"/>
            <a:pathLst>
              <a:path w="3048000" h="333375">
                <a:moveTo>
                  <a:pt x="38100" y="0"/>
                </a:moveTo>
                <a:lnTo>
                  <a:pt x="3009900" y="0"/>
                </a:lnTo>
                <a:cubicBezTo>
                  <a:pt x="3030942" y="0"/>
                  <a:pt x="3048000" y="17058"/>
                  <a:pt x="3048000" y="38100"/>
                </a:cubicBezTo>
                <a:lnTo>
                  <a:pt x="3048000" y="295275"/>
                </a:lnTo>
                <a:cubicBezTo>
                  <a:pt x="3048000" y="316317"/>
                  <a:pt x="3030942" y="333375"/>
                  <a:pt x="3009900" y="333375"/>
                </a:cubicBezTo>
                <a:lnTo>
                  <a:pt x="38100" y="333375"/>
                </a:lnTo>
                <a:cubicBezTo>
                  <a:pt x="17058" y="333375"/>
                  <a:pt x="0" y="316317"/>
                  <a:pt x="0" y="295275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F5F7FA"/>
          </a:solidFill>
          <a:ln>
            <a:noFill/>
          </a:ln>
        </p:spPr>
      </p:sp>
      <p:sp>
        <p:nvSpPr>
          <p:cNvPr id="46" name="TextBox 46"/>
          <p:cNvSpPr txBox="1"/>
          <p:nvPr/>
        </p:nvSpPr>
        <p:spPr>
          <a:xfrm>
            <a:off x="8462010" y="4290060"/>
            <a:ext cx="626364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26323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UE 计数</a:t>
            </a:r>
            <a:endParaRPr lang="zh-CN" sz="1200" dirty="0">
              <a:solidFill>
                <a:srgbClr val="263238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47" name="TextBox 47"/>
          <p:cNvSpPr txBox="1"/>
          <p:nvPr/>
        </p:nvSpPr>
        <p:spPr>
          <a:xfrm>
            <a:off x="10538936" y="4273868"/>
            <a:ext cx="527209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350" dirty="0">
                <a:solidFill>
                  <a:srgbClr val="1565C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69.1%</a:t>
            </a:r>
            <a:endParaRPr lang="zh-CN" sz="1350" dirty="0">
              <a:solidFill>
                <a:srgbClr val="1565C0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48" name="Freeform 48"/>
          <p:cNvSpPr/>
          <p:nvPr/>
        </p:nvSpPr>
        <p:spPr>
          <a:xfrm>
            <a:off x="8334375" y="4572000"/>
            <a:ext cx="3048000" cy="333375"/>
          </a:xfrm>
          <a:custGeom>
            <a:avLst/>
            <a:gdLst/>
            <a:ahLst/>
            <a:cxnLst/>
            <a:rect l="l" t="t" r="r" b="b"/>
            <a:pathLst>
              <a:path w="3048000" h="333375">
                <a:moveTo>
                  <a:pt x="38100" y="0"/>
                </a:moveTo>
                <a:lnTo>
                  <a:pt x="3009900" y="0"/>
                </a:lnTo>
                <a:cubicBezTo>
                  <a:pt x="3030942" y="0"/>
                  <a:pt x="3048000" y="17058"/>
                  <a:pt x="3048000" y="38100"/>
                </a:cubicBezTo>
                <a:lnTo>
                  <a:pt x="3048000" y="295275"/>
                </a:lnTo>
                <a:cubicBezTo>
                  <a:pt x="3048000" y="316317"/>
                  <a:pt x="3030942" y="333375"/>
                  <a:pt x="3009900" y="333375"/>
                </a:cubicBezTo>
                <a:lnTo>
                  <a:pt x="38100" y="333375"/>
                </a:lnTo>
                <a:cubicBezTo>
                  <a:pt x="17058" y="333375"/>
                  <a:pt x="0" y="316317"/>
                  <a:pt x="0" y="295275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F5F7FA"/>
          </a:solidFill>
          <a:ln>
            <a:noFill/>
          </a:ln>
        </p:spPr>
      </p:sp>
      <p:sp>
        <p:nvSpPr>
          <p:cNvPr id="49" name="TextBox 49"/>
          <p:cNvSpPr txBox="1"/>
          <p:nvPr/>
        </p:nvSpPr>
        <p:spPr>
          <a:xfrm>
            <a:off x="8462010" y="4671060"/>
            <a:ext cx="968121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26323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CSI-RS 计数</a:t>
            </a:r>
            <a:endParaRPr lang="zh-CN" sz="1200" dirty="0">
              <a:solidFill>
                <a:srgbClr val="263238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50" name="TextBox 50"/>
          <p:cNvSpPr txBox="1"/>
          <p:nvPr/>
        </p:nvSpPr>
        <p:spPr>
          <a:xfrm>
            <a:off x="10489644" y="4654868"/>
            <a:ext cx="576501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350" dirty="0">
                <a:solidFill>
                  <a:srgbClr val="1565C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57.2%</a:t>
            </a:r>
            <a:endParaRPr lang="zh-CN" sz="1350" dirty="0">
              <a:solidFill>
                <a:srgbClr val="1565C0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51" name="Freeform 51"/>
          <p:cNvSpPr/>
          <p:nvPr/>
        </p:nvSpPr>
        <p:spPr>
          <a:xfrm>
            <a:off x="8334375" y="4953000"/>
            <a:ext cx="3048000" cy="333375"/>
          </a:xfrm>
          <a:custGeom>
            <a:avLst/>
            <a:gdLst/>
            <a:ahLst/>
            <a:cxnLst/>
            <a:rect l="l" t="t" r="r" b="b"/>
            <a:pathLst>
              <a:path w="3048000" h="333375">
                <a:moveTo>
                  <a:pt x="38100" y="0"/>
                </a:moveTo>
                <a:lnTo>
                  <a:pt x="3009900" y="0"/>
                </a:lnTo>
                <a:cubicBezTo>
                  <a:pt x="3030942" y="0"/>
                  <a:pt x="3048000" y="17058"/>
                  <a:pt x="3048000" y="38100"/>
                </a:cubicBezTo>
                <a:lnTo>
                  <a:pt x="3048000" y="295275"/>
                </a:lnTo>
                <a:cubicBezTo>
                  <a:pt x="3048000" y="316317"/>
                  <a:pt x="3030942" y="333375"/>
                  <a:pt x="3009900" y="333375"/>
                </a:cubicBezTo>
                <a:lnTo>
                  <a:pt x="38100" y="333375"/>
                </a:lnTo>
                <a:cubicBezTo>
                  <a:pt x="17058" y="333375"/>
                  <a:pt x="0" y="316317"/>
                  <a:pt x="0" y="295275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F5F7FA"/>
          </a:solidFill>
          <a:ln>
            <a:noFill/>
          </a:ln>
        </p:spPr>
      </p:sp>
      <p:sp>
        <p:nvSpPr>
          <p:cNvPr id="52" name="TextBox 52"/>
          <p:cNvSpPr txBox="1"/>
          <p:nvPr/>
        </p:nvSpPr>
        <p:spPr>
          <a:xfrm>
            <a:off x="8462010" y="5052060"/>
            <a:ext cx="722757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26323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SRS 计数</a:t>
            </a:r>
            <a:endParaRPr lang="zh-CN" sz="1200" dirty="0">
              <a:solidFill>
                <a:srgbClr val="263238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53" name="TextBox 53"/>
          <p:cNvSpPr txBox="1"/>
          <p:nvPr/>
        </p:nvSpPr>
        <p:spPr>
          <a:xfrm>
            <a:off x="10489644" y="5035868"/>
            <a:ext cx="576501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350" dirty="0">
                <a:solidFill>
                  <a:srgbClr val="1565C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59.2%</a:t>
            </a:r>
            <a:endParaRPr lang="zh-CN" sz="1350" dirty="0">
              <a:solidFill>
                <a:srgbClr val="1565C0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54" name="TextBox 54"/>
          <p:cNvSpPr txBox="1"/>
          <p:nvPr/>
        </p:nvSpPr>
        <p:spPr>
          <a:xfrm>
            <a:off x="8321040" y="5458778"/>
            <a:ext cx="1437513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C6282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通用VLM: 平均 ~20%</a:t>
            </a:r>
            <a:endParaRPr lang="zh-CN" sz="1050" dirty="0">
              <a:solidFill>
                <a:srgbClr val="C62828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55" name="Rectangle 55"/>
          <p:cNvSpPr/>
          <p:nvPr/>
        </p:nvSpPr>
        <p:spPr>
          <a:xfrm>
            <a:off x="571500" y="6667500"/>
            <a:ext cx="11049000" cy="9525"/>
          </a:xfrm>
          <a:prstGeom prst="rect">
            <a:avLst/>
          </a:prstGeom>
          <a:solidFill>
            <a:srgbClr val="ECEFF1"/>
          </a:solidFill>
          <a:ln>
            <a:noFill/>
          </a:ln>
        </p:spPr>
      </p:sp>
      <p:sp>
        <p:nvSpPr>
          <p:cNvPr id="56" name="TextBox 56"/>
          <p:cNvSpPr txBox="1"/>
          <p:nvPr/>
        </p:nvSpPr>
        <p:spPr>
          <a:xfrm>
            <a:off x="560070" y="6703695"/>
            <a:ext cx="133073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0A4A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RF-GPT Presentation</a:t>
            </a:r>
            <a:endParaRPr lang="zh-CN" sz="900" dirty="0">
              <a:solidFill>
                <a:srgbClr val="90A4A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57" name="TextBox 57"/>
          <p:cNvSpPr txBox="1"/>
          <p:nvPr/>
        </p:nvSpPr>
        <p:spPr>
          <a:xfrm>
            <a:off x="11648313" y="6703695"/>
            <a:ext cx="36461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90A4A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11 / 15</a:t>
            </a:r>
            <a:endParaRPr lang="zh-CN" sz="900" dirty="0">
              <a:solidFill>
                <a:srgbClr val="90A4A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pic>
        <p:nvPicPr>
          <p:cNvPr id="58" name="图片 57" descr="79202d0bc7be308fb6e2bd4fa25b1fa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3900" y="3893185"/>
            <a:ext cx="2978150" cy="2408555"/>
          </a:xfrm>
          <a:prstGeom prst="rect">
            <a:avLst/>
          </a:prstGeom>
        </p:spPr>
      </p:pic>
      <p:graphicFrame>
        <p:nvGraphicFramePr>
          <p:cNvPr id="61" name="表格 60"/>
          <p:cNvGraphicFramePr/>
          <p:nvPr>
            <p:custDataLst>
              <p:tags r:id="rId2"/>
            </p:custDataLst>
          </p:nvPr>
        </p:nvGraphicFramePr>
        <p:xfrm>
          <a:off x="4342130" y="4191000"/>
          <a:ext cx="3392805" cy="17843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0935"/>
                <a:gridCol w="1130935"/>
                <a:gridCol w="1130935"/>
              </a:tblGrid>
              <a:tr h="447040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easy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hard</a:t>
                      </a:r>
                      <a:endParaRPr lang="en-US" altLang="zh-CN"/>
                    </a:p>
                  </a:txBody>
                  <a:tcPr/>
                </a:tc>
              </a:tr>
              <a:tr h="66865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RF-GPT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88%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55–60%</a:t>
                      </a:r>
                      <a:endParaRPr lang="en-US" altLang="zh-CN"/>
                    </a:p>
                  </a:txBody>
                  <a:tcPr/>
                </a:tc>
              </a:tr>
              <a:tr h="66865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通用</a:t>
                      </a:r>
                      <a:r>
                        <a:rPr lang="en-US" altLang="zh-CN"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VLM</a:t>
                      </a:r>
                      <a:endParaRPr lang="en-US" altLang="zh-CN">
                        <a:latin typeface="黑体" panose="02010609060101010101" charset="-122"/>
                        <a:ea typeface="黑体" panose="02010609060101010101" charset="-122"/>
                        <a:cs typeface="黑体" panose="02010609060101010101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23%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&lt;14%</a:t>
                      </a:r>
                      <a:endParaRPr lang="en-US" altLang="zh-CN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6" name="TextBox 14"/>
          <p:cNvSpPr txBox="1"/>
          <p:nvPr/>
        </p:nvSpPr>
        <p:spPr>
          <a:xfrm>
            <a:off x="4554855" y="3414395"/>
            <a:ext cx="2712720" cy="1841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altLang="zh-CN" sz="1200" dirty="0">
                <a:solidFill>
                  <a:srgbClr val="546E7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802.11ax</a:t>
            </a:r>
            <a:r>
              <a:rPr lang="zh-CN" altLang="en-US" sz="1200" dirty="0">
                <a:solidFill>
                  <a:srgbClr val="546E7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：</a:t>
            </a:r>
            <a:r>
              <a:rPr lang="en-US" altLang="zh-CN" sz="1200" dirty="0">
                <a:solidFill>
                  <a:srgbClr val="546E7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75.9% (Easy) / 55.4% (Hard)</a:t>
            </a:r>
            <a:endParaRPr lang="en-US" altLang="zh-CN" sz="1200" dirty="0">
              <a:solidFill>
                <a:srgbClr val="546E7A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7" name="TextBox 14"/>
          <p:cNvSpPr txBox="1"/>
          <p:nvPr/>
        </p:nvSpPr>
        <p:spPr>
          <a:xfrm>
            <a:off x="4554855" y="3649345"/>
            <a:ext cx="2720975" cy="1841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altLang="zh-CN" sz="1200" dirty="0">
                <a:solidFill>
                  <a:srgbClr val="546E7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802.11be</a:t>
            </a:r>
            <a:r>
              <a:rPr lang="zh-CN" altLang="en-US" sz="1200" dirty="0">
                <a:solidFill>
                  <a:srgbClr val="546E7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：</a:t>
            </a:r>
            <a:r>
              <a:rPr lang="en-US" altLang="zh-CN" sz="1200" dirty="0">
                <a:solidFill>
                  <a:srgbClr val="546E7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88.1% (Easy) / 59.6% (Hard)</a:t>
            </a:r>
            <a:endParaRPr lang="en-US" altLang="zh-CN" sz="1200" dirty="0">
              <a:solidFill>
                <a:srgbClr val="546E7A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1565C0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571500" y="476250"/>
            <a:ext cx="57150" cy="342900"/>
          </a:xfrm>
          <a:prstGeom prst="rect">
            <a:avLst/>
          </a:prstGeom>
          <a:solidFill>
            <a:srgbClr val="1565C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723900" y="419100"/>
            <a:ext cx="1524000" cy="46164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26323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消融实验</a:t>
            </a:r>
            <a:endParaRPr lang="zh-CN" sz="3000" b="1" dirty="0">
              <a:solidFill>
                <a:srgbClr val="263238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6" name="Rectangle 6"/>
          <p:cNvSpPr/>
          <p:nvPr/>
        </p:nvSpPr>
        <p:spPr>
          <a:xfrm>
            <a:off x="571500" y="1095375"/>
            <a:ext cx="11049000" cy="9525"/>
          </a:xfrm>
          <a:prstGeom prst="rect">
            <a:avLst/>
          </a:prstGeom>
          <a:solidFill>
            <a:srgbClr val="ECEFF1"/>
          </a:solidFill>
          <a:ln>
            <a:noFill/>
          </a:ln>
        </p:spPr>
      </p:sp>
      <p:sp>
        <p:nvSpPr>
          <p:cNvPr id="7" name="Freeform 7"/>
          <p:cNvSpPr/>
          <p:nvPr/>
        </p:nvSpPr>
        <p:spPr>
          <a:xfrm>
            <a:off x="571500" y="1285875"/>
            <a:ext cx="3524250" cy="4953000"/>
          </a:xfrm>
          <a:custGeom>
            <a:avLst/>
            <a:gdLst/>
            <a:ahLst/>
            <a:cxnLst/>
            <a:rect l="l" t="t" r="r" b="b"/>
            <a:pathLst>
              <a:path w="3524250" h="4953000">
                <a:moveTo>
                  <a:pt x="95250" y="0"/>
                </a:moveTo>
                <a:lnTo>
                  <a:pt x="3429000" y="0"/>
                </a:lnTo>
                <a:cubicBezTo>
                  <a:pt x="3481605" y="0"/>
                  <a:pt x="3524250" y="42645"/>
                  <a:pt x="3524250" y="95250"/>
                </a:cubicBezTo>
                <a:lnTo>
                  <a:pt x="3524250" y="4857750"/>
                </a:lnTo>
                <a:cubicBezTo>
                  <a:pt x="3524250" y="4910355"/>
                  <a:pt x="3481605" y="4953000"/>
                  <a:pt x="3429000" y="4953000"/>
                </a:cubicBezTo>
                <a:lnTo>
                  <a:pt x="95250" y="4953000"/>
                </a:lnTo>
                <a:cubicBezTo>
                  <a:pt x="42645" y="4953000"/>
                  <a:pt x="0" y="4910355"/>
                  <a:pt x="0" y="485775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F5F7FA"/>
          </a:solidFill>
          <a:ln>
            <a:noFill/>
          </a:ln>
        </p:spPr>
      </p:sp>
      <p:sp>
        <p:nvSpPr>
          <p:cNvPr id="8" name="Freeform 8"/>
          <p:cNvSpPr/>
          <p:nvPr/>
        </p:nvSpPr>
        <p:spPr>
          <a:xfrm>
            <a:off x="571500" y="1285875"/>
            <a:ext cx="3524250" cy="1238250"/>
          </a:xfrm>
          <a:custGeom>
            <a:avLst/>
            <a:gdLst/>
            <a:ahLst/>
            <a:cxnLst/>
            <a:rect l="l" t="t" r="r" b="b"/>
            <a:pathLst>
              <a:path w="3524250" h="1238250">
                <a:moveTo>
                  <a:pt x="95250" y="0"/>
                </a:moveTo>
                <a:lnTo>
                  <a:pt x="3429000" y="0"/>
                </a:lnTo>
                <a:cubicBezTo>
                  <a:pt x="3481605" y="0"/>
                  <a:pt x="3524250" y="42645"/>
                  <a:pt x="3524250" y="95250"/>
                </a:cubicBezTo>
                <a:lnTo>
                  <a:pt x="3524250" y="1143000"/>
                </a:lnTo>
                <a:cubicBezTo>
                  <a:pt x="3524250" y="1195605"/>
                  <a:pt x="3481605" y="1238250"/>
                  <a:pt x="3429000" y="1238250"/>
                </a:cubicBezTo>
                <a:lnTo>
                  <a:pt x="95250" y="1238250"/>
                </a:lnTo>
                <a:cubicBezTo>
                  <a:pt x="42645" y="1238250"/>
                  <a:pt x="0" y="1195605"/>
                  <a:pt x="0" y="114300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1565C0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571500" y="2428875"/>
            <a:ext cx="3524250" cy="95250"/>
          </a:xfrm>
          <a:prstGeom prst="rect">
            <a:avLst/>
          </a:prstGeom>
          <a:solidFill>
            <a:srgbClr val="1565C0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1620679" y="1567815"/>
            <a:ext cx="1425892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鲁棒性分析</a:t>
            </a:r>
            <a:endParaRPr lang="zh-CN" sz="1800" b="1" dirty="0">
              <a:solidFill>
                <a:srgbClr val="FFFFFF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1433322" y="1946910"/>
            <a:ext cx="1800606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BBDEFB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对常见RF损伤的抵抗力</a:t>
            </a:r>
            <a:endParaRPr lang="zh-CN" sz="1200" dirty="0">
              <a:solidFill>
                <a:srgbClr val="BBDEFB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792480" y="2664142"/>
            <a:ext cx="1721551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26323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测试 4 种损伤类型</a:t>
            </a:r>
            <a:endParaRPr lang="zh-CN" sz="1350" b="1" dirty="0">
              <a:solidFill>
                <a:srgbClr val="263238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3" name="Freeform 13"/>
          <p:cNvSpPr/>
          <p:nvPr/>
        </p:nvSpPr>
        <p:spPr>
          <a:xfrm>
            <a:off x="809625" y="3048000"/>
            <a:ext cx="3048000" cy="333375"/>
          </a:xfrm>
          <a:custGeom>
            <a:avLst/>
            <a:gdLst/>
            <a:ahLst/>
            <a:cxnLst/>
            <a:rect l="l" t="t" r="r" b="b"/>
            <a:pathLst>
              <a:path w="3048000" h="333375">
                <a:moveTo>
                  <a:pt x="38100" y="0"/>
                </a:moveTo>
                <a:lnTo>
                  <a:pt x="3009900" y="0"/>
                </a:lnTo>
                <a:cubicBezTo>
                  <a:pt x="3030942" y="0"/>
                  <a:pt x="3048000" y="17058"/>
                  <a:pt x="3048000" y="38100"/>
                </a:cubicBezTo>
                <a:lnTo>
                  <a:pt x="3048000" y="295275"/>
                </a:lnTo>
                <a:cubicBezTo>
                  <a:pt x="3048000" y="316317"/>
                  <a:pt x="3030942" y="333375"/>
                  <a:pt x="3009900" y="333375"/>
                </a:cubicBezTo>
                <a:lnTo>
                  <a:pt x="38100" y="333375"/>
                </a:lnTo>
                <a:cubicBezTo>
                  <a:pt x="17058" y="333375"/>
                  <a:pt x="0" y="316317"/>
                  <a:pt x="0" y="295275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E8F5E9"/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937260" y="3147060"/>
            <a:ext cx="1406271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2E7D32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CFO（载波频偏）</a:t>
            </a:r>
            <a:endParaRPr lang="zh-CN" sz="1200" dirty="0">
              <a:solidFill>
                <a:srgbClr val="2E7D32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2727960" y="3147060"/>
            <a:ext cx="90678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200" dirty="0">
                <a:solidFill>
                  <a:srgbClr val="2E7D32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几乎无影响</a:t>
            </a:r>
            <a:endParaRPr lang="zh-CN" sz="1200" dirty="0">
              <a:solidFill>
                <a:srgbClr val="2E7D32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6" name="Freeform 16"/>
          <p:cNvSpPr/>
          <p:nvPr/>
        </p:nvSpPr>
        <p:spPr>
          <a:xfrm>
            <a:off x="809625" y="3429000"/>
            <a:ext cx="3048000" cy="333375"/>
          </a:xfrm>
          <a:custGeom>
            <a:avLst/>
            <a:gdLst/>
            <a:ahLst/>
            <a:cxnLst/>
            <a:rect l="l" t="t" r="r" b="b"/>
            <a:pathLst>
              <a:path w="3048000" h="333375">
                <a:moveTo>
                  <a:pt x="38100" y="0"/>
                </a:moveTo>
                <a:lnTo>
                  <a:pt x="3009900" y="0"/>
                </a:lnTo>
                <a:cubicBezTo>
                  <a:pt x="3030942" y="0"/>
                  <a:pt x="3048000" y="17058"/>
                  <a:pt x="3048000" y="38100"/>
                </a:cubicBezTo>
                <a:lnTo>
                  <a:pt x="3048000" y="295275"/>
                </a:lnTo>
                <a:cubicBezTo>
                  <a:pt x="3048000" y="316317"/>
                  <a:pt x="3030942" y="333375"/>
                  <a:pt x="3009900" y="333375"/>
                </a:cubicBezTo>
                <a:lnTo>
                  <a:pt x="38100" y="333375"/>
                </a:lnTo>
                <a:cubicBezTo>
                  <a:pt x="17058" y="333375"/>
                  <a:pt x="0" y="316317"/>
                  <a:pt x="0" y="295275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E8F5E9"/>
          </a:solidFill>
          <a:ln>
            <a:noFill/>
          </a:ln>
        </p:spPr>
      </p:sp>
      <p:sp>
        <p:nvSpPr>
          <p:cNvPr id="17" name="TextBox 17"/>
          <p:cNvSpPr txBox="1"/>
          <p:nvPr/>
        </p:nvSpPr>
        <p:spPr>
          <a:xfrm>
            <a:off x="937260" y="3528060"/>
            <a:ext cx="1450086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2E7D32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PA（功放非线性）</a:t>
            </a:r>
            <a:endParaRPr lang="zh-CN" sz="1200" dirty="0">
              <a:solidFill>
                <a:srgbClr val="2E7D32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3253740" y="3528060"/>
            <a:ext cx="38100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200" dirty="0">
                <a:solidFill>
                  <a:srgbClr val="2E7D32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微降</a:t>
            </a:r>
            <a:endParaRPr lang="zh-CN" sz="1200" dirty="0">
              <a:solidFill>
                <a:srgbClr val="2E7D32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9" name="Freeform 19"/>
          <p:cNvSpPr/>
          <p:nvPr/>
        </p:nvSpPr>
        <p:spPr>
          <a:xfrm>
            <a:off x="809625" y="3810000"/>
            <a:ext cx="3048000" cy="333375"/>
          </a:xfrm>
          <a:custGeom>
            <a:avLst/>
            <a:gdLst/>
            <a:ahLst/>
            <a:cxnLst/>
            <a:rect l="l" t="t" r="r" b="b"/>
            <a:pathLst>
              <a:path w="3048000" h="333375">
                <a:moveTo>
                  <a:pt x="38100" y="0"/>
                </a:moveTo>
                <a:lnTo>
                  <a:pt x="3009900" y="0"/>
                </a:lnTo>
                <a:cubicBezTo>
                  <a:pt x="3030942" y="0"/>
                  <a:pt x="3048000" y="17058"/>
                  <a:pt x="3048000" y="38100"/>
                </a:cubicBezTo>
                <a:lnTo>
                  <a:pt x="3048000" y="295275"/>
                </a:lnTo>
                <a:cubicBezTo>
                  <a:pt x="3048000" y="316317"/>
                  <a:pt x="3030942" y="333375"/>
                  <a:pt x="3009900" y="333375"/>
                </a:cubicBezTo>
                <a:lnTo>
                  <a:pt x="38100" y="333375"/>
                </a:lnTo>
                <a:cubicBezTo>
                  <a:pt x="17058" y="333375"/>
                  <a:pt x="0" y="316317"/>
                  <a:pt x="0" y="295275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FFF3E0"/>
          </a:solidFill>
          <a:ln>
            <a:noFill/>
          </a:ln>
        </p:spPr>
      </p:sp>
      <p:sp>
        <p:nvSpPr>
          <p:cNvPr id="20" name="TextBox 20"/>
          <p:cNvSpPr txBox="1"/>
          <p:nvPr/>
        </p:nvSpPr>
        <p:spPr>
          <a:xfrm>
            <a:off x="937260" y="3909060"/>
            <a:ext cx="1371219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E6510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TDL（多径信道）</a:t>
            </a:r>
            <a:endParaRPr lang="zh-CN" sz="1200" dirty="0">
              <a:solidFill>
                <a:srgbClr val="E65100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21" name="TextBox 21"/>
          <p:cNvSpPr txBox="1"/>
          <p:nvPr/>
        </p:nvSpPr>
        <p:spPr>
          <a:xfrm>
            <a:off x="2903220" y="3909060"/>
            <a:ext cx="73152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200" dirty="0">
                <a:solidFill>
                  <a:srgbClr val="E6510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中等下降</a:t>
            </a:r>
            <a:endParaRPr lang="zh-CN" sz="1200" dirty="0">
              <a:solidFill>
                <a:srgbClr val="E65100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22" name="Freeform 22"/>
          <p:cNvSpPr/>
          <p:nvPr/>
        </p:nvSpPr>
        <p:spPr>
          <a:xfrm>
            <a:off x="809625" y="4191000"/>
            <a:ext cx="3048000" cy="333375"/>
          </a:xfrm>
          <a:custGeom>
            <a:avLst/>
            <a:gdLst/>
            <a:ahLst/>
            <a:cxnLst/>
            <a:rect l="l" t="t" r="r" b="b"/>
            <a:pathLst>
              <a:path w="3048000" h="333375">
                <a:moveTo>
                  <a:pt x="38100" y="0"/>
                </a:moveTo>
                <a:lnTo>
                  <a:pt x="3009900" y="0"/>
                </a:lnTo>
                <a:cubicBezTo>
                  <a:pt x="3030942" y="0"/>
                  <a:pt x="3048000" y="17058"/>
                  <a:pt x="3048000" y="38100"/>
                </a:cubicBezTo>
                <a:lnTo>
                  <a:pt x="3048000" y="295275"/>
                </a:lnTo>
                <a:cubicBezTo>
                  <a:pt x="3048000" y="316317"/>
                  <a:pt x="3030942" y="333375"/>
                  <a:pt x="3009900" y="333375"/>
                </a:cubicBezTo>
                <a:lnTo>
                  <a:pt x="38100" y="333375"/>
                </a:lnTo>
                <a:cubicBezTo>
                  <a:pt x="17058" y="333375"/>
                  <a:pt x="0" y="316317"/>
                  <a:pt x="0" y="295275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FFEBEE"/>
          </a:solidFill>
          <a:ln>
            <a:noFill/>
          </a:ln>
        </p:spPr>
      </p:sp>
      <p:sp>
        <p:nvSpPr>
          <p:cNvPr id="23" name="TextBox 23"/>
          <p:cNvSpPr txBox="1"/>
          <p:nvPr/>
        </p:nvSpPr>
        <p:spPr>
          <a:xfrm>
            <a:off x="937260" y="4290060"/>
            <a:ext cx="792861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C6282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IQ 不平衡</a:t>
            </a:r>
            <a:endParaRPr lang="zh-CN" sz="1200" dirty="0">
              <a:solidFill>
                <a:srgbClr val="C62828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24" name="TextBox 24"/>
          <p:cNvSpPr txBox="1"/>
          <p:nvPr/>
        </p:nvSpPr>
        <p:spPr>
          <a:xfrm>
            <a:off x="2447544" y="4290060"/>
            <a:ext cx="1187196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200" dirty="0">
                <a:solidFill>
                  <a:srgbClr val="C6282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最严重 (-6pp)</a:t>
            </a:r>
            <a:endParaRPr lang="zh-CN" sz="1200" dirty="0">
              <a:solidFill>
                <a:srgbClr val="C62828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25" name="TextBox 25"/>
          <p:cNvSpPr txBox="1"/>
          <p:nvPr/>
        </p:nvSpPr>
        <p:spPr>
          <a:xfrm>
            <a:off x="792480" y="4801552"/>
            <a:ext cx="233462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90A4A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IQ不平衡产生镜像频率成分，直接</a:t>
            </a:r>
            <a:endParaRPr lang="zh-CN" sz="1050" dirty="0">
              <a:solidFill>
                <a:srgbClr val="90A4A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26" name="TextBox 26"/>
          <p:cNvSpPr txBox="1"/>
          <p:nvPr/>
        </p:nvSpPr>
        <p:spPr>
          <a:xfrm>
            <a:off x="827405" y="5014912"/>
            <a:ext cx="156019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90A4A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干扰视觉结构计数能力</a:t>
            </a:r>
            <a:endParaRPr lang="zh-CN" sz="1050" dirty="0">
              <a:solidFill>
                <a:srgbClr val="90A4A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27" name="Freeform 27"/>
          <p:cNvSpPr/>
          <p:nvPr/>
        </p:nvSpPr>
        <p:spPr>
          <a:xfrm>
            <a:off x="4333875" y="1285875"/>
            <a:ext cx="3524250" cy="4953000"/>
          </a:xfrm>
          <a:custGeom>
            <a:avLst/>
            <a:gdLst/>
            <a:ahLst/>
            <a:cxnLst/>
            <a:rect l="l" t="t" r="r" b="b"/>
            <a:pathLst>
              <a:path w="3524250" h="4953000">
                <a:moveTo>
                  <a:pt x="95250" y="0"/>
                </a:moveTo>
                <a:lnTo>
                  <a:pt x="3429000" y="0"/>
                </a:lnTo>
                <a:cubicBezTo>
                  <a:pt x="3481605" y="0"/>
                  <a:pt x="3524250" y="42645"/>
                  <a:pt x="3524250" y="95250"/>
                </a:cubicBezTo>
                <a:lnTo>
                  <a:pt x="3524250" y="4857750"/>
                </a:lnTo>
                <a:cubicBezTo>
                  <a:pt x="3524250" y="4910355"/>
                  <a:pt x="3481605" y="4953000"/>
                  <a:pt x="3429000" y="4953000"/>
                </a:cubicBezTo>
                <a:lnTo>
                  <a:pt x="95250" y="4953000"/>
                </a:lnTo>
                <a:cubicBezTo>
                  <a:pt x="42645" y="4953000"/>
                  <a:pt x="0" y="4910355"/>
                  <a:pt x="0" y="485775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F5F7FA"/>
          </a:solidFill>
          <a:ln>
            <a:noFill/>
          </a:ln>
        </p:spPr>
      </p:sp>
      <p:sp>
        <p:nvSpPr>
          <p:cNvPr id="28" name="Freeform 28"/>
          <p:cNvSpPr/>
          <p:nvPr/>
        </p:nvSpPr>
        <p:spPr>
          <a:xfrm>
            <a:off x="4333875" y="1285875"/>
            <a:ext cx="3524250" cy="1238250"/>
          </a:xfrm>
          <a:custGeom>
            <a:avLst/>
            <a:gdLst/>
            <a:ahLst/>
            <a:cxnLst/>
            <a:rect l="l" t="t" r="r" b="b"/>
            <a:pathLst>
              <a:path w="3524250" h="1238250">
                <a:moveTo>
                  <a:pt x="95250" y="0"/>
                </a:moveTo>
                <a:lnTo>
                  <a:pt x="3429000" y="0"/>
                </a:lnTo>
                <a:cubicBezTo>
                  <a:pt x="3481605" y="0"/>
                  <a:pt x="3524250" y="42645"/>
                  <a:pt x="3524250" y="95250"/>
                </a:cubicBezTo>
                <a:lnTo>
                  <a:pt x="3524250" y="1143000"/>
                </a:lnTo>
                <a:cubicBezTo>
                  <a:pt x="3524250" y="1195605"/>
                  <a:pt x="3481605" y="1238250"/>
                  <a:pt x="3429000" y="1238250"/>
                </a:cubicBezTo>
                <a:lnTo>
                  <a:pt x="95250" y="1238250"/>
                </a:lnTo>
                <a:cubicBezTo>
                  <a:pt x="42645" y="1238250"/>
                  <a:pt x="0" y="1195605"/>
                  <a:pt x="0" y="114300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0D47A1"/>
          </a:solidFill>
          <a:ln>
            <a:noFill/>
          </a:ln>
        </p:spPr>
      </p:sp>
      <p:sp>
        <p:nvSpPr>
          <p:cNvPr id="29" name="Rectangle 29"/>
          <p:cNvSpPr/>
          <p:nvPr/>
        </p:nvSpPr>
        <p:spPr>
          <a:xfrm>
            <a:off x="4333875" y="2428875"/>
            <a:ext cx="3524250" cy="95250"/>
          </a:xfrm>
          <a:prstGeom prst="rect">
            <a:avLst/>
          </a:prstGeom>
          <a:solidFill>
            <a:srgbClr val="0D47A1"/>
          </a:solidFill>
          <a:ln>
            <a:noFill/>
          </a:ln>
        </p:spPr>
      </p:sp>
      <p:sp>
        <p:nvSpPr>
          <p:cNvPr id="30" name="TextBox 30"/>
          <p:cNvSpPr txBox="1"/>
          <p:nvPr/>
        </p:nvSpPr>
        <p:spPr>
          <a:xfrm>
            <a:off x="4713670" y="1567815"/>
            <a:ext cx="2764660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vs CNN/Transformer</a:t>
            </a:r>
            <a:endParaRPr lang="zh-CN" sz="1800" b="1" dirty="0">
              <a:solidFill>
                <a:srgbClr val="FFFFFF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31" name="TextBox 31"/>
          <p:cNvSpPr txBox="1"/>
          <p:nvPr/>
        </p:nvSpPr>
        <p:spPr>
          <a:xfrm>
            <a:off x="5305234" y="1946910"/>
            <a:ext cx="1581531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BBDEFB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与非LLM基线的对比</a:t>
            </a:r>
            <a:endParaRPr lang="zh-CN" sz="1200" dirty="0">
              <a:solidFill>
                <a:srgbClr val="BBDEFB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32" name="Freeform 32"/>
          <p:cNvSpPr/>
          <p:nvPr/>
        </p:nvSpPr>
        <p:spPr>
          <a:xfrm>
            <a:off x="4572000" y="2619375"/>
            <a:ext cx="3048000" cy="704850"/>
          </a:xfrm>
          <a:custGeom>
            <a:avLst/>
            <a:gdLst/>
            <a:ahLst/>
            <a:cxnLst/>
            <a:rect l="l" t="t" r="r" b="b"/>
            <a:pathLst>
              <a:path w="3048000" h="476250">
                <a:moveTo>
                  <a:pt x="57150" y="0"/>
                </a:moveTo>
                <a:lnTo>
                  <a:pt x="2990850" y="0"/>
                </a:lnTo>
                <a:cubicBezTo>
                  <a:pt x="3022413" y="0"/>
                  <a:pt x="3048000" y="25587"/>
                  <a:pt x="3048000" y="57150"/>
                </a:cubicBezTo>
                <a:lnTo>
                  <a:pt x="3048000" y="419100"/>
                </a:lnTo>
                <a:cubicBezTo>
                  <a:pt x="3048000" y="450663"/>
                  <a:pt x="3022413" y="476250"/>
                  <a:pt x="2990850" y="476250"/>
                </a:cubicBezTo>
                <a:lnTo>
                  <a:pt x="57150" y="476250"/>
                </a:lnTo>
                <a:cubicBezTo>
                  <a:pt x="25587" y="476250"/>
                  <a:pt x="0" y="450663"/>
                  <a:pt x="0" y="41910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1565C0"/>
          </a:solidFill>
          <a:ln>
            <a:noFill/>
          </a:ln>
        </p:spPr>
        <p:txBody>
          <a:bodyPr/>
          <a:p>
            <a:endParaRPr lang="zh-CN" altLang="en-US"/>
          </a:p>
        </p:txBody>
      </p:sp>
      <p:sp>
        <p:nvSpPr>
          <p:cNvPr id="33" name="TextBox 33"/>
          <p:cNvSpPr txBox="1"/>
          <p:nvPr/>
        </p:nvSpPr>
        <p:spPr>
          <a:xfrm>
            <a:off x="4932557" y="2771775"/>
            <a:ext cx="2326886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RF-GPT-7B (3 epoch)</a:t>
            </a:r>
            <a:endParaRPr lang="zh-CN" sz="1500" b="1" dirty="0">
              <a:solidFill>
                <a:srgbClr val="FFFFFF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34" name="TextBox 34"/>
          <p:cNvSpPr txBox="1"/>
          <p:nvPr/>
        </p:nvSpPr>
        <p:spPr>
          <a:xfrm>
            <a:off x="5504358" y="3073718"/>
            <a:ext cx="1183284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chemeClr val="bg1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76.96% NRIE</a:t>
            </a:r>
            <a:endParaRPr lang="zh-CN" sz="1350" b="1" dirty="0">
              <a:solidFill>
                <a:schemeClr val="bg1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35" name="Freeform 35"/>
          <p:cNvSpPr/>
          <p:nvPr/>
        </p:nvSpPr>
        <p:spPr>
          <a:xfrm>
            <a:off x="4572000" y="3390900"/>
            <a:ext cx="3048000" cy="561975"/>
          </a:xfrm>
          <a:custGeom>
            <a:avLst/>
            <a:gdLst/>
            <a:ahLst/>
            <a:cxnLst/>
            <a:rect l="l" t="t" r="r" b="b"/>
            <a:pathLst>
              <a:path w="3048000" h="476250">
                <a:moveTo>
                  <a:pt x="57150" y="0"/>
                </a:moveTo>
                <a:lnTo>
                  <a:pt x="2990850" y="0"/>
                </a:lnTo>
                <a:cubicBezTo>
                  <a:pt x="3022413" y="0"/>
                  <a:pt x="3048000" y="25587"/>
                  <a:pt x="3048000" y="57150"/>
                </a:cubicBezTo>
                <a:lnTo>
                  <a:pt x="3048000" y="419100"/>
                </a:lnTo>
                <a:cubicBezTo>
                  <a:pt x="3048000" y="450663"/>
                  <a:pt x="3022413" y="476250"/>
                  <a:pt x="2990850" y="476250"/>
                </a:cubicBezTo>
                <a:lnTo>
                  <a:pt x="57150" y="476250"/>
                </a:lnTo>
                <a:cubicBezTo>
                  <a:pt x="25587" y="476250"/>
                  <a:pt x="0" y="450663"/>
                  <a:pt x="0" y="41910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F5F7FA"/>
          </a:solidFill>
          <a:ln w="9525">
            <a:solidFill>
              <a:srgbClr val="B0BEC5"/>
            </a:solidFill>
          </a:ln>
        </p:spPr>
      </p:sp>
      <p:sp>
        <p:nvSpPr>
          <p:cNvPr id="36" name="TextBox 36"/>
          <p:cNvSpPr txBox="1"/>
          <p:nvPr/>
        </p:nvSpPr>
        <p:spPr>
          <a:xfrm>
            <a:off x="5285256" y="3440747"/>
            <a:ext cx="1621488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dirty="0">
                <a:solidFill>
                  <a:srgbClr val="546E7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ViT-H (30 epoch)</a:t>
            </a:r>
            <a:endParaRPr lang="zh-CN" sz="1350" dirty="0">
              <a:solidFill>
                <a:srgbClr val="546E7A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37" name="TextBox 37"/>
          <p:cNvSpPr txBox="1"/>
          <p:nvPr/>
        </p:nvSpPr>
        <p:spPr>
          <a:xfrm>
            <a:off x="5752894" y="3715067"/>
            <a:ext cx="684943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dirty="0">
                <a:solidFill>
                  <a:srgbClr val="546E7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76.39%</a:t>
            </a:r>
            <a:endParaRPr lang="zh-CN" sz="1350" dirty="0">
              <a:solidFill>
                <a:srgbClr val="546E7A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38" name="Freeform 38"/>
          <p:cNvSpPr/>
          <p:nvPr/>
        </p:nvSpPr>
        <p:spPr>
          <a:xfrm>
            <a:off x="4572000" y="4048125"/>
            <a:ext cx="3048000" cy="599440"/>
          </a:xfrm>
          <a:custGeom>
            <a:avLst/>
            <a:gdLst/>
            <a:ahLst/>
            <a:cxnLst/>
            <a:rect l="l" t="t" r="r" b="b"/>
            <a:pathLst>
              <a:path w="3048000" h="476250">
                <a:moveTo>
                  <a:pt x="57150" y="0"/>
                </a:moveTo>
                <a:lnTo>
                  <a:pt x="2990850" y="0"/>
                </a:lnTo>
                <a:cubicBezTo>
                  <a:pt x="3022413" y="0"/>
                  <a:pt x="3048000" y="25587"/>
                  <a:pt x="3048000" y="57150"/>
                </a:cubicBezTo>
                <a:lnTo>
                  <a:pt x="3048000" y="419100"/>
                </a:lnTo>
                <a:cubicBezTo>
                  <a:pt x="3048000" y="450663"/>
                  <a:pt x="3022413" y="476250"/>
                  <a:pt x="2990850" y="476250"/>
                </a:cubicBezTo>
                <a:lnTo>
                  <a:pt x="57150" y="476250"/>
                </a:lnTo>
                <a:cubicBezTo>
                  <a:pt x="25587" y="476250"/>
                  <a:pt x="0" y="450663"/>
                  <a:pt x="0" y="41910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F5F7FA"/>
          </a:solidFill>
          <a:ln w="9525">
            <a:solidFill>
              <a:srgbClr val="B0BEC5"/>
            </a:solidFill>
          </a:ln>
        </p:spPr>
      </p:sp>
      <p:sp>
        <p:nvSpPr>
          <p:cNvPr id="39" name="TextBox 39"/>
          <p:cNvSpPr txBox="1"/>
          <p:nvPr/>
        </p:nvSpPr>
        <p:spPr>
          <a:xfrm>
            <a:off x="5305576" y="4143692"/>
            <a:ext cx="1621488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dirty="0">
                <a:solidFill>
                  <a:srgbClr val="546E7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ViT-B (30 epoch)</a:t>
            </a:r>
            <a:endParaRPr lang="zh-CN" sz="1350" dirty="0">
              <a:solidFill>
                <a:srgbClr val="546E7A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40" name="TextBox 40"/>
          <p:cNvSpPr txBox="1"/>
          <p:nvPr/>
        </p:nvSpPr>
        <p:spPr>
          <a:xfrm>
            <a:off x="5753529" y="4359592"/>
            <a:ext cx="684943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dirty="0">
                <a:solidFill>
                  <a:srgbClr val="546E7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72.34%</a:t>
            </a:r>
            <a:endParaRPr lang="zh-CN" sz="1350" dirty="0">
              <a:solidFill>
                <a:srgbClr val="546E7A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41" name="Freeform 41"/>
          <p:cNvSpPr/>
          <p:nvPr/>
        </p:nvSpPr>
        <p:spPr>
          <a:xfrm>
            <a:off x="4572000" y="4782820"/>
            <a:ext cx="3048000" cy="628015"/>
          </a:xfrm>
          <a:custGeom>
            <a:avLst/>
            <a:gdLst/>
            <a:ahLst/>
            <a:cxnLst/>
            <a:rect l="l" t="t" r="r" b="b"/>
            <a:pathLst>
              <a:path w="3048000" h="476250">
                <a:moveTo>
                  <a:pt x="57150" y="0"/>
                </a:moveTo>
                <a:lnTo>
                  <a:pt x="2990850" y="0"/>
                </a:lnTo>
                <a:cubicBezTo>
                  <a:pt x="3022413" y="0"/>
                  <a:pt x="3048000" y="25587"/>
                  <a:pt x="3048000" y="57150"/>
                </a:cubicBezTo>
                <a:lnTo>
                  <a:pt x="3048000" y="419100"/>
                </a:lnTo>
                <a:cubicBezTo>
                  <a:pt x="3048000" y="450663"/>
                  <a:pt x="3022413" y="476250"/>
                  <a:pt x="2990850" y="476250"/>
                </a:cubicBezTo>
                <a:lnTo>
                  <a:pt x="57150" y="476250"/>
                </a:lnTo>
                <a:cubicBezTo>
                  <a:pt x="25587" y="476250"/>
                  <a:pt x="0" y="450663"/>
                  <a:pt x="0" y="41910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F5F7FA"/>
          </a:solidFill>
          <a:ln w="9525">
            <a:solidFill>
              <a:srgbClr val="B0BEC5"/>
            </a:solidFill>
          </a:ln>
        </p:spPr>
      </p:sp>
      <p:sp>
        <p:nvSpPr>
          <p:cNvPr id="42" name="TextBox 42"/>
          <p:cNvSpPr txBox="1"/>
          <p:nvPr/>
        </p:nvSpPr>
        <p:spPr>
          <a:xfrm>
            <a:off x="4928449" y="4801552"/>
            <a:ext cx="2331291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dirty="0">
                <a:solidFill>
                  <a:srgbClr val="546E7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EfficientNet (30 epoch)</a:t>
            </a:r>
            <a:endParaRPr lang="zh-CN" sz="1350" dirty="0">
              <a:solidFill>
                <a:srgbClr val="546E7A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43" name="TextBox 43"/>
          <p:cNvSpPr txBox="1"/>
          <p:nvPr/>
        </p:nvSpPr>
        <p:spPr>
          <a:xfrm>
            <a:off x="5753529" y="5075872"/>
            <a:ext cx="684943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dirty="0">
                <a:solidFill>
                  <a:srgbClr val="546E7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70.85%</a:t>
            </a:r>
            <a:endParaRPr lang="zh-CN" sz="1350" dirty="0">
              <a:solidFill>
                <a:srgbClr val="546E7A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44" name="TextBox 44"/>
          <p:cNvSpPr txBox="1"/>
          <p:nvPr/>
        </p:nvSpPr>
        <p:spPr>
          <a:xfrm>
            <a:off x="4558665" y="5582602"/>
            <a:ext cx="224261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1565C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RF-GPT-7B 仅用 3 epoch 即超越</a:t>
            </a:r>
            <a:endParaRPr lang="zh-CN" sz="1050" dirty="0">
              <a:solidFill>
                <a:srgbClr val="1565C0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45" name="TextBox 45"/>
          <p:cNvSpPr txBox="1"/>
          <p:nvPr/>
        </p:nvSpPr>
        <p:spPr>
          <a:xfrm>
            <a:off x="4558665" y="5795962"/>
            <a:ext cx="216593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1565C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ViT-H 30 epoch，数据效率极高</a:t>
            </a:r>
            <a:endParaRPr lang="zh-CN" sz="1050" dirty="0">
              <a:solidFill>
                <a:srgbClr val="1565C0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46" name="Freeform 46"/>
          <p:cNvSpPr/>
          <p:nvPr/>
        </p:nvSpPr>
        <p:spPr>
          <a:xfrm>
            <a:off x="8096250" y="1285875"/>
            <a:ext cx="3524250" cy="4953000"/>
          </a:xfrm>
          <a:custGeom>
            <a:avLst/>
            <a:gdLst/>
            <a:ahLst/>
            <a:cxnLst/>
            <a:rect l="l" t="t" r="r" b="b"/>
            <a:pathLst>
              <a:path w="3524250" h="4953000">
                <a:moveTo>
                  <a:pt x="95250" y="0"/>
                </a:moveTo>
                <a:lnTo>
                  <a:pt x="3429000" y="0"/>
                </a:lnTo>
                <a:cubicBezTo>
                  <a:pt x="3481605" y="0"/>
                  <a:pt x="3524250" y="42645"/>
                  <a:pt x="3524250" y="95250"/>
                </a:cubicBezTo>
                <a:lnTo>
                  <a:pt x="3524250" y="4857750"/>
                </a:lnTo>
                <a:cubicBezTo>
                  <a:pt x="3524250" y="4910355"/>
                  <a:pt x="3481605" y="4953000"/>
                  <a:pt x="3429000" y="4953000"/>
                </a:cubicBezTo>
                <a:lnTo>
                  <a:pt x="95250" y="4953000"/>
                </a:lnTo>
                <a:cubicBezTo>
                  <a:pt x="42645" y="4953000"/>
                  <a:pt x="0" y="4910355"/>
                  <a:pt x="0" y="485775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F5F7FA"/>
          </a:solidFill>
          <a:ln>
            <a:noFill/>
          </a:ln>
        </p:spPr>
      </p:sp>
      <p:sp>
        <p:nvSpPr>
          <p:cNvPr id="47" name="Freeform 47"/>
          <p:cNvSpPr/>
          <p:nvPr/>
        </p:nvSpPr>
        <p:spPr>
          <a:xfrm>
            <a:off x="8096250" y="1285875"/>
            <a:ext cx="3524250" cy="1238250"/>
          </a:xfrm>
          <a:custGeom>
            <a:avLst/>
            <a:gdLst/>
            <a:ahLst/>
            <a:cxnLst/>
            <a:rect l="l" t="t" r="r" b="b"/>
            <a:pathLst>
              <a:path w="3524250" h="1238250">
                <a:moveTo>
                  <a:pt x="95250" y="0"/>
                </a:moveTo>
                <a:lnTo>
                  <a:pt x="3429000" y="0"/>
                </a:lnTo>
                <a:cubicBezTo>
                  <a:pt x="3481605" y="0"/>
                  <a:pt x="3524250" y="42645"/>
                  <a:pt x="3524250" y="95250"/>
                </a:cubicBezTo>
                <a:lnTo>
                  <a:pt x="3524250" y="1143000"/>
                </a:lnTo>
                <a:cubicBezTo>
                  <a:pt x="3524250" y="1195605"/>
                  <a:pt x="3481605" y="1238250"/>
                  <a:pt x="3429000" y="1238250"/>
                </a:cubicBezTo>
                <a:lnTo>
                  <a:pt x="95250" y="1238250"/>
                </a:lnTo>
                <a:cubicBezTo>
                  <a:pt x="42645" y="1238250"/>
                  <a:pt x="0" y="1195605"/>
                  <a:pt x="0" y="114300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FF6F00"/>
          </a:solidFill>
          <a:ln>
            <a:noFill/>
          </a:ln>
        </p:spPr>
      </p:sp>
      <p:sp>
        <p:nvSpPr>
          <p:cNvPr id="48" name="Rectangle 48"/>
          <p:cNvSpPr/>
          <p:nvPr/>
        </p:nvSpPr>
        <p:spPr>
          <a:xfrm>
            <a:off x="8096250" y="2428875"/>
            <a:ext cx="3524250" cy="95250"/>
          </a:xfrm>
          <a:prstGeom prst="rect">
            <a:avLst/>
          </a:prstGeom>
          <a:solidFill>
            <a:srgbClr val="FF6F00"/>
          </a:solidFill>
          <a:ln>
            <a:noFill/>
          </a:ln>
        </p:spPr>
      </p:sp>
      <p:sp>
        <p:nvSpPr>
          <p:cNvPr id="49" name="TextBox 49"/>
          <p:cNvSpPr txBox="1"/>
          <p:nvPr/>
        </p:nvSpPr>
        <p:spPr>
          <a:xfrm>
            <a:off x="9145429" y="1567815"/>
            <a:ext cx="1425892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分辨率影响</a:t>
            </a:r>
            <a:endParaRPr lang="zh-CN" sz="1800" b="1" dirty="0">
              <a:solidFill>
                <a:srgbClr val="FFFFFF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50" name="TextBox 50"/>
          <p:cNvSpPr txBox="1"/>
          <p:nvPr/>
        </p:nvSpPr>
        <p:spPr>
          <a:xfrm>
            <a:off x="9142095" y="1946910"/>
            <a:ext cx="143256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FFF8E1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频谱图分辨率实验</a:t>
            </a:r>
            <a:endParaRPr lang="zh-CN" sz="1200" dirty="0">
              <a:solidFill>
                <a:srgbClr val="FFF8E1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51" name="Freeform 51"/>
          <p:cNvSpPr/>
          <p:nvPr/>
        </p:nvSpPr>
        <p:spPr>
          <a:xfrm>
            <a:off x="8334375" y="2667000"/>
            <a:ext cx="3048000" cy="428625"/>
          </a:xfrm>
          <a:custGeom>
            <a:avLst/>
            <a:gdLst/>
            <a:ahLst/>
            <a:cxnLst/>
            <a:rect l="l" t="t" r="r" b="b"/>
            <a:pathLst>
              <a:path w="3048000" h="428625">
                <a:moveTo>
                  <a:pt x="57150" y="0"/>
                </a:moveTo>
                <a:lnTo>
                  <a:pt x="2990850" y="0"/>
                </a:lnTo>
                <a:cubicBezTo>
                  <a:pt x="3022413" y="0"/>
                  <a:pt x="3048000" y="25587"/>
                  <a:pt x="3048000" y="57150"/>
                </a:cubicBezTo>
                <a:lnTo>
                  <a:pt x="3048000" y="371475"/>
                </a:lnTo>
                <a:cubicBezTo>
                  <a:pt x="3048000" y="403038"/>
                  <a:pt x="3022413" y="428625"/>
                  <a:pt x="2990850" y="428625"/>
                </a:cubicBezTo>
                <a:lnTo>
                  <a:pt x="57150" y="428625"/>
                </a:lnTo>
                <a:cubicBezTo>
                  <a:pt x="25587" y="428625"/>
                  <a:pt x="0" y="403038"/>
                  <a:pt x="0" y="371475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F5F7FA"/>
          </a:solidFill>
          <a:ln w="9525">
            <a:solidFill>
              <a:srgbClr val="B0BEC5"/>
            </a:solidFill>
          </a:ln>
        </p:spPr>
      </p:sp>
      <p:sp>
        <p:nvSpPr>
          <p:cNvPr id="52" name="TextBox 52"/>
          <p:cNvSpPr txBox="1"/>
          <p:nvPr/>
        </p:nvSpPr>
        <p:spPr>
          <a:xfrm>
            <a:off x="8460105" y="2759392"/>
            <a:ext cx="91168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26323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224 × 224</a:t>
            </a:r>
            <a:endParaRPr lang="zh-CN" sz="1350" dirty="0">
              <a:solidFill>
                <a:srgbClr val="263238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53" name="TextBox 53"/>
          <p:cNvSpPr txBox="1"/>
          <p:nvPr/>
        </p:nvSpPr>
        <p:spPr>
          <a:xfrm>
            <a:off x="10584894" y="2759392"/>
            <a:ext cx="576501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350" dirty="0">
                <a:solidFill>
                  <a:srgbClr val="546E7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72.9%</a:t>
            </a:r>
            <a:endParaRPr lang="zh-CN" sz="1350" dirty="0">
              <a:solidFill>
                <a:srgbClr val="546E7A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54" name="Freeform 54"/>
          <p:cNvSpPr/>
          <p:nvPr/>
        </p:nvSpPr>
        <p:spPr>
          <a:xfrm>
            <a:off x="8334375" y="3190875"/>
            <a:ext cx="3048000" cy="428625"/>
          </a:xfrm>
          <a:custGeom>
            <a:avLst/>
            <a:gdLst/>
            <a:ahLst/>
            <a:cxnLst/>
            <a:rect l="l" t="t" r="r" b="b"/>
            <a:pathLst>
              <a:path w="3048000" h="428625">
                <a:moveTo>
                  <a:pt x="57150" y="0"/>
                </a:moveTo>
                <a:lnTo>
                  <a:pt x="2990850" y="0"/>
                </a:lnTo>
                <a:cubicBezTo>
                  <a:pt x="3022413" y="0"/>
                  <a:pt x="3048000" y="25587"/>
                  <a:pt x="3048000" y="57150"/>
                </a:cubicBezTo>
                <a:lnTo>
                  <a:pt x="3048000" y="371475"/>
                </a:lnTo>
                <a:cubicBezTo>
                  <a:pt x="3048000" y="403038"/>
                  <a:pt x="3022413" y="428625"/>
                  <a:pt x="2990850" y="428625"/>
                </a:cubicBezTo>
                <a:lnTo>
                  <a:pt x="57150" y="428625"/>
                </a:lnTo>
                <a:cubicBezTo>
                  <a:pt x="25587" y="428625"/>
                  <a:pt x="0" y="403038"/>
                  <a:pt x="0" y="371475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F5F7FA"/>
          </a:solidFill>
          <a:ln w="9525">
            <a:solidFill>
              <a:srgbClr val="B0BEC5"/>
            </a:solidFill>
          </a:ln>
        </p:spPr>
      </p:sp>
      <p:sp>
        <p:nvSpPr>
          <p:cNvPr id="55" name="TextBox 55"/>
          <p:cNvSpPr txBox="1"/>
          <p:nvPr/>
        </p:nvSpPr>
        <p:spPr>
          <a:xfrm>
            <a:off x="8460105" y="3283268"/>
            <a:ext cx="91168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26323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384 × 384</a:t>
            </a:r>
            <a:endParaRPr lang="zh-CN" sz="1350" dirty="0">
              <a:solidFill>
                <a:srgbClr val="263238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56" name="TextBox 56"/>
          <p:cNvSpPr txBox="1"/>
          <p:nvPr/>
        </p:nvSpPr>
        <p:spPr>
          <a:xfrm>
            <a:off x="10584894" y="3283268"/>
            <a:ext cx="576501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350" dirty="0">
                <a:solidFill>
                  <a:srgbClr val="1565C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78.7%</a:t>
            </a:r>
            <a:endParaRPr lang="zh-CN" sz="1350" dirty="0">
              <a:solidFill>
                <a:srgbClr val="1565C0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57" name="Freeform 57"/>
          <p:cNvSpPr/>
          <p:nvPr/>
        </p:nvSpPr>
        <p:spPr>
          <a:xfrm>
            <a:off x="8334375" y="3714750"/>
            <a:ext cx="3048000" cy="428625"/>
          </a:xfrm>
          <a:custGeom>
            <a:avLst/>
            <a:gdLst/>
            <a:ahLst/>
            <a:cxnLst/>
            <a:rect l="l" t="t" r="r" b="b"/>
            <a:pathLst>
              <a:path w="3048000" h="428625">
                <a:moveTo>
                  <a:pt x="57150" y="0"/>
                </a:moveTo>
                <a:lnTo>
                  <a:pt x="2990850" y="0"/>
                </a:lnTo>
                <a:cubicBezTo>
                  <a:pt x="3022413" y="0"/>
                  <a:pt x="3048000" y="25587"/>
                  <a:pt x="3048000" y="57150"/>
                </a:cubicBezTo>
                <a:lnTo>
                  <a:pt x="3048000" y="371475"/>
                </a:lnTo>
                <a:cubicBezTo>
                  <a:pt x="3048000" y="403038"/>
                  <a:pt x="3022413" y="428625"/>
                  <a:pt x="2990850" y="428625"/>
                </a:cubicBezTo>
                <a:lnTo>
                  <a:pt x="57150" y="428625"/>
                </a:lnTo>
                <a:cubicBezTo>
                  <a:pt x="25587" y="428625"/>
                  <a:pt x="0" y="403038"/>
                  <a:pt x="0" y="371475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E3F2FD"/>
          </a:solidFill>
          <a:ln>
            <a:noFill/>
          </a:ln>
        </p:spPr>
      </p:sp>
      <p:sp>
        <p:nvSpPr>
          <p:cNvPr id="58" name="TextBox 58"/>
          <p:cNvSpPr txBox="1"/>
          <p:nvPr/>
        </p:nvSpPr>
        <p:spPr>
          <a:xfrm>
            <a:off x="8460105" y="3807142"/>
            <a:ext cx="1680146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1565C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512 × 512（选用）</a:t>
            </a:r>
            <a:endParaRPr lang="zh-CN" sz="1350" b="1" dirty="0">
              <a:solidFill>
                <a:srgbClr val="1565C0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59" name="TextBox 59"/>
          <p:cNvSpPr txBox="1"/>
          <p:nvPr/>
        </p:nvSpPr>
        <p:spPr>
          <a:xfrm>
            <a:off x="10557784" y="3807142"/>
            <a:ext cx="603611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350" b="1" dirty="0">
                <a:solidFill>
                  <a:srgbClr val="1565C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82.4%</a:t>
            </a:r>
            <a:endParaRPr lang="zh-CN" sz="1350" b="1" dirty="0">
              <a:solidFill>
                <a:srgbClr val="1565C0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60" name="TextBox 60"/>
          <p:cNvSpPr txBox="1"/>
          <p:nvPr/>
        </p:nvSpPr>
        <p:spPr>
          <a:xfrm>
            <a:off x="9338653" y="4282440"/>
            <a:ext cx="1039444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b="1" dirty="0">
                <a:solidFill>
                  <a:srgbClr val="FF6F0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+9.5 pp</a:t>
            </a:r>
            <a:endParaRPr lang="zh-CN" sz="1800" b="1" dirty="0">
              <a:solidFill>
                <a:srgbClr val="FF6F00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61" name="Freeform 61"/>
          <p:cNvSpPr/>
          <p:nvPr/>
        </p:nvSpPr>
        <p:spPr>
          <a:xfrm>
            <a:off x="9156065" y="4572000"/>
            <a:ext cx="1428750" cy="142875"/>
          </a:xfrm>
          <a:custGeom>
            <a:avLst/>
            <a:gdLst/>
            <a:ahLst/>
            <a:cxnLst/>
            <a:rect l="l" t="t" r="r" b="b"/>
            <a:pathLst>
              <a:path w="1428750" h="142875">
                <a:moveTo>
                  <a:pt x="0" y="142875"/>
                </a:moveTo>
                <a:lnTo>
                  <a:pt x="714375" y="0"/>
                </a:lnTo>
                <a:lnTo>
                  <a:pt x="1428750" y="142875"/>
                </a:lnTo>
              </a:path>
            </a:pathLst>
          </a:custGeom>
          <a:noFill/>
          <a:ln w="19050">
            <a:solidFill>
              <a:srgbClr val="FF6F00"/>
            </a:solidFill>
          </a:ln>
        </p:spPr>
      </p:sp>
      <p:sp>
        <p:nvSpPr>
          <p:cNvPr id="62" name="Polygon 62"/>
          <p:cNvSpPr/>
          <p:nvPr/>
        </p:nvSpPr>
        <p:spPr>
          <a:xfrm>
            <a:off x="10572750" y="4686935"/>
            <a:ext cx="95250" cy="57150"/>
          </a:xfrm>
          <a:custGeom>
            <a:avLst/>
            <a:gdLst/>
            <a:ahLst/>
            <a:cxnLst/>
            <a:rect l="l" t="t" r="r" b="b"/>
            <a:pathLst>
              <a:path w="95250" h="57150">
                <a:moveTo>
                  <a:pt x="0" y="0"/>
                </a:moveTo>
                <a:lnTo>
                  <a:pt x="95250" y="28575"/>
                </a:lnTo>
                <a:lnTo>
                  <a:pt x="0" y="57150"/>
                </a:lnTo>
                <a:close/>
              </a:path>
            </a:pathLst>
          </a:custGeom>
          <a:solidFill>
            <a:srgbClr val="FF6F00"/>
          </a:solidFill>
          <a:ln>
            <a:noFill/>
          </a:ln>
        </p:spPr>
      </p:sp>
      <p:sp>
        <p:nvSpPr>
          <p:cNvPr id="63" name="TextBox 63"/>
          <p:cNvSpPr txBox="1"/>
          <p:nvPr/>
        </p:nvSpPr>
        <p:spPr>
          <a:xfrm>
            <a:off x="8321040" y="4934902"/>
            <a:ext cx="248031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90A4A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更高分辨率保留更多判别性时频细节</a:t>
            </a:r>
            <a:endParaRPr lang="zh-CN" sz="1050" dirty="0">
              <a:solidFill>
                <a:srgbClr val="90A4A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64" name="TextBox 64"/>
          <p:cNvSpPr txBox="1"/>
          <p:nvPr/>
        </p:nvSpPr>
        <p:spPr>
          <a:xfrm>
            <a:off x="8321040" y="5125402"/>
            <a:ext cx="222727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90A4A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但 token 数增加，推理成本更高</a:t>
            </a:r>
            <a:endParaRPr lang="zh-CN" sz="1050" dirty="0">
              <a:solidFill>
                <a:srgbClr val="90A4A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65" name="Rectangle 65"/>
          <p:cNvSpPr/>
          <p:nvPr/>
        </p:nvSpPr>
        <p:spPr>
          <a:xfrm>
            <a:off x="571500" y="6667500"/>
            <a:ext cx="11049000" cy="9525"/>
          </a:xfrm>
          <a:prstGeom prst="rect">
            <a:avLst/>
          </a:prstGeom>
          <a:solidFill>
            <a:srgbClr val="ECEFF1"/>
          </a:solidFill>
          <a:ln>
            <a:noFill/>
          </a:ln>
        </p:spPr>
      </p:sp>
      <p:sp>
        <p:nvSpPr>
          <p:cNvPr id="66" name="TextBox 66"/>
          <p:cNvSpPr txBox="1"/>
          <p:nvPr/>
        </p:nvSpPr>
        <p:spPr>
          <a:xfrm>
            <a:off x="560070" y="6703695"/>
            <a:ext cx="133073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0A4A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RF-GPT Presentation</a:t>
            </a:r>
            <a:endParaRPr lang="zh-CN" sz="900" dirty="0">
              <a:solidFill>
                <a:srgbClr val="90A4A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67" name="TextBox 67"/>
          <p:cNvSpPr txBox="1"/>
          <p:nvPr/>
        </p:nvSpPr>
        <p:spPr>
          <a:xfrm>
            <a:off x="11615452" y="6703695"/>
            <a:ext cx="39747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90A4A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12 / 15</a:t>
            </a:r>
            <a:endParaRPr lang="zh-CN" sz="900" dirty="0">
              <a:solidFill>
                <a:srgbClr val="90A4A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1565C0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571500" y="476250"/>
            <a:ext cx="57150" cy="342900"/>
          </a:xfrm>
          <a:prstGeom prst="rect">
            <a:avLst/>
          </a:prstGeom>
          <a:solidFill>
            <a:srgbClr val="1565C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723900" y="419100"/>
            <a:ext cx="3296602" cy="609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26323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与相关工作对比</a:t>
            </a:r>
            <a:endParaRPr lang="zh-CN" sz="3000" b="1" dirty="0">
              <a:solidFill>
                <a:srgbClr val="263238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6" name="Rectangle 6"/>
          <p:cNvSpPr/>
          <p:nvPr/>
        </p:nvSpPr>
        <p:spPr>
          <a:xfrm>
            <a:off x="571500" y="1095375"/>
            <a:ext cx="11049000" cy="9525"/>
          </a:xfrm>
          <a:prstGeom prst="rect">
            <a:avLst/>
          </a:prstGeom>
          <a:solidFill>
            <a:srgbClr val="ECEFF1"/>
          </a:solidFill>
          <a:ln>
            <a:noFill/>
          </a:ln>
        </p:spPr>
      </p:sp>
      <p:sp>
        <p:nvSpPr>
          <p:cNvPr id="7" name="Freeform 7"/>
          <p:cNvSpPr/>
          <p:nvPr/>
        </p:nvSpPr>
        <p:spPr>
          <a:xfrm>
            <a:off x="571500" y="1285875"/>
            <a:ext cx="3524250" cy="2286000"/>
          </a:xfrm>
          <a:custGeom>
            <a:avLst/>
            <a:gdLst/>
            <a:ahLst/>
            <a:cxnLst/>
            <a:rect l="l" t="t" r="r" b="b"/>
            <a:pathLst>
              <a:path w="3524250" h="2286000">
                <a:moveTo>
                  <a:pt x="95250" y="0"/>
                </a:moveTo>
                <a:lnTo>
                  <a:pt x="3429000" y="0"/>
                </a:lnTo>
                <a:cubicBezTo>
                  <a:pt x="3481605" y="0"/>
                  <a:pt x="3524250" y="42645"/>
                  <a:pt x="3524250" y="95250"/>
                </a:cubicBezTo>
                <a:lnTo>
                  <a:pt x="3524250" y="2190750"/>
                </a:lnTo>
                <a:cubicBezTo>
                  <a:pt x="3524250" y="2243355"/>
                  <a:pt x="3481605" y="2286000"/>
                  <a:pt x="3429000" y="2286000"/>
                </a:cubicBezTo>
                <a:lnTo>
                  <a:pt x="95250" y="2286000"/>
                </a:lnTo>
                <a:cubicBezTo>
                  <a:pt x="42645" y="2286000"/>
                  <a:pt x="0" y="2243355"/>
                  <a:pt x="0" y="219075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F5F7FA"/>
          </a:solidFill>
          <a:ln>
            <a:noFill/>
          </a:ln>
        </p:spPr>
      </p:sp>
      <p:sp>
        <p:nvSpPr>
          <p:cNvPr id="8" name="Freeform 8"/>
          <p:cNvSpPr/>
          <p:nvPr/>
        </p:nvSpPr>
        <p:spPr>
          <a:xfrm>
            <a:off x="571500" y="1285875"/>
            <a:ext cx="3524250" cy="47625"/>
          </a:xfrm>
          <a:custGeom>
            <a:avLst/>
            <a:gdLst/>
            <a:ahLst/>
            <a:cxnLst/>
            <a:rect l="l" t="t" r="r" b="b"/>
            <a:pathLst>
              <a:path w="3524250" h="47625">
                <a:moveTo>
                  <a:pt x="23812" y="0"/>
                </a:moveTo>
                <a:lnTo>
                  <a:pt x="3500438" y="0"/>
                </a:lnTo>
                <a:cubicBezTo>
                  <a:pt x="3513589" y="0"/>
                  <a:pt x="3524250" y="10661"/>
                  <a:pt x="3524250" y="23812"/>
                </a:cubicBezTo>
                <a:lnTo>
                  <a:pt x="3524250" y="23812"/>
                </a:lnTo>
                <a:cubicBezTo>
                  <a:pt x="3524250" y="36964"/>
                  <a:pt x="3513589" y="47625"/>
                  <a:pt x="3500438" y="47625"/>
                </a:cubicBezTo>
                <a:lnTo>
                  <a:pt x="23812" y="47625"/>
                </a:lnTo>
                <a:cubicBezTo>
                  <a:pt x="10661" y="47625"/>
                  <a:pt x="0" y="36964"/>
                  <a:pt x="0" y="23812"/>
                </a:cubicBezTo>
                <a:lnTo>
                  <a:pt x="0" y="23812"/>
                </a:lnTo>
                <a:cubicBezTo>
                  <a:pt x="0" y="10661"/>
                  <a:pt x="10661" y="0"/>
                  <a:pt x="23812" y="0"/>
                </a:cubicBezTo>
                <a:close/>
              </a:path>
            </a:pathLst>
          </a:custGeom>
          <a:solidFill>
            <a:srgbClr val="1565C0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1629485" y="1488758"/>
            <a:ext cx="1408281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b="1" dirty="0">
                <a:solidFill>
                  <a:srgbClr val="1565C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RF 基础模型</a:t>
            </a:r>
            <a:endParaRPr lang="zh-CN" sz="1650" b="1" dirty="0">
              <a:solidFill>
                <a:srgbClr val="1565C0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792480" y="1806892"/>
            <a:ext cx="458693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26323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WFM</a:t>
            </a:r>
            <a:endParaRPr lang="zh-CN" sz="1350" b="1" dirty="0">
              <a:solidFill>
                <a:srgbClr val="263238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794385" y="2042160"/>
            <a:ext cx="2205990" cy="1841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indent="457200" algn="l"/>
            <a:r>
              <a:rPr lang="zh-CN" sz="1200" dirty="0">
                <a:solidFill>
                  <a:srgbClr val="546E7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通用RF表征 + 任务特定头</a:t>
            </a:r>
            <a:endParaRPr lang="zh-CN" sz="1200" dirty="0">
              <a:solidFill>
                <a:srgbClr val="546E7A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792480" y="2311718"/>
            <a:ext cx="458693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26323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LWM</a:t>
            </a:r>
            <a:endParaRPr lang="zh-CN" sz="1350" b="1" dirty="0">
              <a:solidFill>
                <a:srgbClr val="263238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794385" y="2546985"/>
            <a:ext cx="143256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46E7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信道建模基础模型</a:t>
            </a:r>
            <a:endParaRPr lang="zh-CN" sz="1200" dirty="0">
              <a:solidFill>
                <a:srgbClr val="546E7A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792480" y="2816542"/>
            <a:ext cx="1224689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26323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WirelessGPT</a:t>
            </a:r>
            <a:endParaRPr lang="zh-CN" sz="1350" b="1" dirty="0">
              <a:solidFill>
                <a:srgbClr val="263238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794385" y="3051810"/>
            <a:ext cx="125730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46E7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多任务学习框架</a:t>
            </a:r>
            <a:endParaRPr lang="zh-CN" sz="1200" dirty="0">
              <a:solidFill>
                <a:srgbClr val="546E7A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796290" y="3315652"/>
            <a:ext cx="202025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C6282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每任务仍需单独微调或输出头</a:t>
            </a:r>
            <a:endParaRPr lang="zh-CN" sz="1050" dirty="0">
              <a:solidFill>
                <a:srgbClr val="C62828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7" name="Freeform 17"/>
          <p:cNvSpPr/>
          <p:nvPr/>
        </p:nvSpPr>
        <p:spPr>
          <a:xfrm>
            <a:off x="4333875" y="1285875"/>
            <a:ext cx="3524250" cy="2286000"/>
          </a:xfrm>
          <a:custGeom>
            <a:avLst/>
            <a:gdLst/>
            <a:ahLst/>
            <a:cxnLst/>
            <a:rect l="l" t="t" r="r" b="b"/>
            <a:pathLst>
              <a:path w="3524250" h="2286000">
                <a:moveTo>
                  <a:pt x="95250" y="0"/>
                </a:moveTo>
                <a:lnTo>
                  <a:pt x="3429000" y="0"/>
                </a:lnTo>
                <a:cubicBezTo>
                  <a:pt x="3481605" y="0"/>
                  <a:pt x="3524250" y="42645"/>
                  <a:pt x="3524250" y="95250"/>
                </a:cubicBezTo>
                <a:lnTo>
                  <a:pt x="3524250" y="2190750"/>
                </a:lnTo>
                <a:cubicBezTo>
                  <a:pt x="3524250" y="2243355"/>
                  <a:pt x="3481605" y="2286000"/>
                  <a:pt x="3429000" y="2286000"/>
                </a:cubicBezTo>
                <a:lnTo>
                  <a:pt x="95250" y="2286000"/>
                </a:lnTo>
                <a:cubicBezTo>
                  <a:pt x="42645" y="2286000"/>
                  <a:pt x="0" y="2243355"/>
                  <a:pt x="0" y="219075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F5F7FA"/>
          </a:solidFill>
          <a:ln>
            <a:noFill/>
          </a:ln>
        </p:spPr>
      </p:sp>
      <p:sp>
        <p:nvSpPr>
          <p:cNvPr id="18" name="Freeform 18"/>
          <p:cNvSpPr/>
          <p:nvPr/>
        </p:nvSpPr>
        <p:spPr>
          <a:xfrm>
            <a:off x="4333875" y="1285875"/>
            <a:ext cx="3524250" cy="47625"/>
          </a:xfrm>
          <a:custGeom>
            <a:avLst/>
            <a:gdLst/>
            <a:ahLst/>
            <a:cxnLst/>
            <a:rect l="l" t="t" r="r" b="b"/>
            <a:pathLst>
              <a:path w="3524250" h="47625">
                <a:moveTo>
                  <a:pt x="23812" y="0"/>
                </a:moveTo>
                <a:lnTo>
                  <a:pt x="3500438" y="0"/>
                </a:lnTo>
                <a:cubicBezTo>
                  <a:pt x="3513589" y="0"/>
                  <a:pt x="3524250" y="10661"/>
                  <a:pt x="3524250" y="23812"/>
                </a:cubicBezTo>
                <a:lnTo>
                  <a:pt x="3524250" y="23812"/>
                </a:lnTo>
                <a:cubicBezTo>
                  <a:pt x="3524250" y="36964"/>
                  <a:pt x="3513589" y="47625"/>
                  <a:pt x="3500438" y="47625"/>
                </a:cubicBezTo>
                <a:lnTo>
                  <a:pt x="23812" y="47625"/>
                </a:lnTo>
                <a:cubicBezTo>
                  <a:pt x="10661" y="47625"/>
                  <a:pt x="0" y="36964"/>
                  <a:pt x="0" y="23812"/>
                </a:cubicBezTo>
                <a:lnTo>
                  <a:pt x="0" y="23812"/>
                </a:lnTo>
                <a:cubicBezTo>
                  <a:pt x="0" y="10661"/>
                  <a:pt x="10661" y="0"/>
                  <a:pt x="23812" y="0"/>
                </a:cubicBezTo>
                <a:close/>
              </a:path>
            </a:pathLst>
          </a:custGeom>
          <a:solidFill>
            <a:srgbClr val="FF6F00"/>
          </a:solidFill>
          <a:ln>
            <a:noFill/>
          </a:ln>
        </p:spPr>
      </p:sp>
      <p:sp>
        <p:nvSpPr>
          <p:cNvPr id="19" name="TextBox 19"/>
          <p:cNvSpPr txBox="1"/>
          <p:nvPr/>
        </p:nvSpPr>
        <p:spPr>
          <a:xfrm>
            <a:off x="5252692" y="1488758"/>
            <a:ext cx="1686616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b="1" dirty="0">
                <a:solidFill>
                  <a:srgbClr val="E6510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Telecom LLMs</a:t>
            </a:r>
            <a:endParaRPr lang="zh-CN" sz="1650" b="1" dirty="0">
              <a:solidFill>
                <a:srgbClr val="E65100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20" name="TextBox 20"/>
          <p:cNvSpPr txBox="1"/>
          <p:nvPr/>
        </p:nvSpPr>
        <p:spPr>
          <a:xfrm>
            <a:off x="4554855" y="1806892"/>
            <a:ext cx="1162581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26323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TelecomGPT</a:t>
            </a:r>
            <a:endParaRPr lang="zh-CN" sz="1350" b="1" dirty="0">
              <a:solidFill>
                <a:srgbClr val="263238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21" name="TextBox 21"/>
          <p:cNvSpPr txBox="1"/>
          <p:nvPr/>
        </p:nvSpPr>
        <p:spPr>
          <a:xfrm>
            <a:off x="4556760" y="2042160"/>
            <a:ext cx="2028444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46E7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告警、KPI、日志、配置表</a:t>
            </a:r>
            <a:endParaRPr lang="zh-CN" sz="1200" dirty="0">
              <a:solidFill>
                <a:srgbClr val="546E7A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22" name="TextBox 22"/>
          <p:cNvSpPr txBox="1"/>
          <p:nvPr/>
        </p:nvSpPr>
        <p:spPr>
          <a:xfrm>
            <a:off x="4554855" y="2311718"/>
            <a:ext cx="179401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26323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LLM4Telecom 系列</a:t>
            </a:r>
            <a:endParaRPr lang="zh-CN" sz="1350" b="1" dirty="0">
              <a:solidFill>
                <a:srgbClr val="263238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23" name="TextBox 23"/>
          <p:cNvSpPr txBox="1"/>
          <p:nvPr/>
        </p:nvSpPr>
        <p:spPr>
          <a:xfrm>
            <a:off x="4556760" y="2546985"/>
            <a:ext cx="2019681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46E7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OSS/BSS 数据、网络管理</a:t>
            </a:r>
            <a:endParaRPr lang="zh-CN" sz="1200" dirty="0">
              <a:solidFill>
                <a:srgbClr val="546E7A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24" name="TextBox 24"/>
          <p:cNvSpPr txBox="1"/>
          <p:nvPr/>
        </p:nvSpPr>
        <p:spPr>
          <a:xfrm>
            <a:off x="4558665" y="2934652"/>
            <a:ext cx="2342293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C6282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文本中心，无法处理物理层RF信号</a:t>
            </a:r>
            <a:endParaRPr lang="zh-CN" sz="1050" dirty="0">
              <a:solidFill>
                <a:srgbClr val="C62828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25" name="TextBox 25"/>
          <p:cNvSpPr txBox="1"/>
          <p:nvPr/>
        </p:nvSpPr>
        <p:spPr>
          <a:xfrm>
            <a:off x="4558665" y="3144202"/>
            <a:ext cx="1299496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C6282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与RF-GPT形成互补</a:t>
            </a:r>
            <a:endParaRPr lang="zh-CN" sz="1050" dirty="0">
              <a:solidFill>
                <a:srgbClr val="C62828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26" name="Freeform 26"/>
          <p:cNvSpPr/>
          <p:nvPr/>
        </p:nvSpPr>
        <p:spPr>
          <a:xfrm>
            <a:off x="8096250" y="1285875"/>
            <a:ext cx="3524250" cy="2286000"/>
          </a:xfrm>
          <a:custGeom>
            <a:avLst/>
            <a:gdLst/>
            <a:ahLst/>
            <a:cxnLst/>
            <a:rect l="l" t="t" r="r" b="b"/>
            <a:pathLst>
              <a:path w="3524250" h="2286000">
                <a:moveTo>
                  <a:pt x="95250" y="0"/>
                </a:moveTo>
                <a:lnTo>
                  <a:pt x="3429000" y="0"/>
                </a:lnTo>
                <a:cubicBezTo>
                  <a:pt x="3481605" y="0"/>
                  <a:pt x="3524250" y="42645"/>
                  <a:pt x="3524250" y="95250"/>
                </a:cubicBezTo>
                <a:lnTo>
                  <a:pt x="3524250" y="2190750"/>
                </a:lnTo>
                <a:cubicBezTo>
                  <a:pt x="3524250" y="2243355"/>
                  <a:pt x="3481605" y="2286000"/>
                  <a:pt x="3429000" y="2286000"/>
                </a:cubicBezTo>
                <a:lnTo>
                  <a:pt x="95250" y="2286000"/>
                </a:lnTo>
                <a:cubicBezTo>
                  <a:pt x="42645" y="2286000"/>
                  <a:pt x="0" y="2243355"/>
                  <a:pt x="0" y="219075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F5F7FA"/>
          </a:solidFill>
          <a:ln>
            <a:noFill/>
          </a:ln>
        </p:spPr>
      </p:sp>
      <p:sp>
        <p:nvSpPr>
          <p:cNvPr id="27" name="Freeform 27"/>
          <p:cNvSpPr/>
          <p:nvPr/>
        </p:nvSpPr>
        <p:spPr>
          <a:xfrm>
            <a:off x="8096250" y="1285875"/>
            <a:ext cx="3524250" cy="47625"/>
          </a:xfrm>
          <a:custGeom>
            <a:avLst/>
            <a:gdLst/>
            <a:ahLst/>
            <a:cxnLst/>
            <a:rect l="l" t="t" r="r" b="b"/>
            <a:pathLst>
              <a:path w="3524250" h="47625">
                <a:moveTo>
                  <a:pt x="23812" y="0"/>
                </a:moveTo>
                <a:lnTo>
                  <a:pt x="3500438" y="0"/>
                </a:lnTo>
                <a:cubicBezTo>
                  <a:pt x="3513589" y="0"/>
                  <a:pt x="3524250" y="10661"/>
                  <a:pt x="3524250" y="23812"/>
                </a:cubicBezTo>
                <a:lnTo>
                  <a:pt x="3524250" y="23812"/>
                </a:lnTo>
                <a:cubicBezTo>
                  <a:pt x="3524250" y="36964"/>
                  <a:pt x="3513589" y="47625"/>
                  <a:pt x="3500438" y="47625"/>
                </a:cubicBezTo>
                <a:lnTo>
                  <a:pt x="23812" y="47625"/>
                </a:lnTo>
                <a:cubicBezTo>
                  <a:pt x="10661" y="47625"/>
                  <a:pt x="0" y="36964"/>
                  <a:pt x="0" y="23812"/>
                </a:cubicBezTo>
                <a:lnTo>
                  <a:pt x="0" y="23812"/>
                </a:lnTo>
                <a:cubicBezTo>
                  <a:pt x="0" y="10661"/>
                  <a:pt x="10661" y="0"/>
                  <a:pt x="23812" y="0"/>
                </a:cubicBezTo>
                <a:close/>
              </a:path>
            </a:pathLst>
          </a:custGeom>
          <a:solidFill>
            <a:srgbClr val="2E7D32"/>
          </a:solidFill>
          <a:ln>
            <a:noFill/>
          </a:ln>
        </p:spPr>
      </p:sp>
      <p:sp>
        <p:nvSpPr>
          <p:cNvPr id="28" name="TextBox 28"/>
          <p:cNvSpPr txBox="1"/>
          <p:nvPr/>
        </p:nvSpPr>
        <p:spPr>
          <a:xfrm>
            <a:off x="8958135" y="1488758"/>
            <a:ext cx="1800480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b="1" dirty="0">
                <a:solidFill>
                  <a:srgbClr val="2E7D32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VLA 模型的启示</a:t>
            </a:r>
            <a:endParaRPr lang="zh-CN" sz="1650" b="1" dirty="0">
              <a:solidFill>
                <a:srgbClr val="2E7D32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29" name="TextBox 29"/>
          <p:cNvSpPr txBox="1"/>
          <p:nvPr/>
        </p:nvSpPr>
        <p:spPr>
          <a:xfrm>
            <a:off x="8317230" y="1806892"/>
            <a:ext cx="1452417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26323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RT-2 / PaLM-E</a:t>
            </a:r>
            <a:endParaRPr lang="zh-CN" sz="1350" b="1" dirty="0">
              <a:solidFill>
                <a:srgbClr val="263238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30" name="TextBox 30"/>
          <p:cNvSpPr txBox="1"/>
          <p:nvPr/>
        </p:nvSpPr>
        <p:spPr>
          <a:xfrm>
            <a:off x="8319135" y="2042160"/>
            <a:ext cx="1932051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46E7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将VLM扩展到机器人控制</a:t>
            </a:r>
            <a:endParaRPr lang="zh-CN" sz="1200" dirty="0">
              <a:solidFill>
                <a:srgbClr val="546E7A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31" name="TextBox 31"/>
          <p:cNvSpPr txBox="1"/>
          <p:nvPr/>
        </p:nvSpPr>
        <p:spPr>
          <a:xfrm>
            <a:off x="8319135" y="2327910"/>
            <a:ext cx="125730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26323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核心理念一致：</a:t>
            </a:r>
            <a:endParaRPr lang="zh-CN" sz="1200" dirty="0">
              <a:solidFill>
                <a:srgbClr val="263238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32" name="TextBox 32"/>
          <p:cNvSpPr txBox="1"/>
          <p:nvPr/>
        </p:nvSpPr>
        <p:spPr>
          <a:xfrm>
            <a:off x="8319135" y="2546985"/>
            <a:ext cx="195834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46E7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预训练VLM + 轻量适配器</a:t>
            </a:r>
            <a:endParaRPr lang="zh-CN" sz="1200" dirty="0">
              <a:solidFill>
                <a:srgbClr val="546E7A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33" name="TextBox 33"/>
          <p:cNvSpPr txBox="1"/>
          <p:nvPr/>
        </p:nvSpPr>
        <p:spPr>
          <a:xfrm>
            <a:off x="8319135" y="2766060"/>
            <a:ext cx="1896999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46E7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注入新模态（动作/RF）</a:t>
            </a:r>
            <a:endParaRPr lang="zh-CN" sz="1200" dirty="0">
              <a:solidFill>
                <a:srgbClr val="546E7A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34" name="TextBox 34"/>
          <p:cNvSpPr txBox="1"/>
          <p:nvPr/>
        </p:nvSpPr>
        <p:spPr>
          <a:xfrm>
            <a:off x="8321040" y="3125152"/>
            <a:ext cx="169054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2E7D32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RF-GPT 借鉴了 VLA 范式</a:t>
            </a:r>
            <a:endParaRPr lang="zh-CN" sz="1050" dirty="0">
              <a:solidFill>
                <a:srgbClr val="2E7D32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35" name="Freeform 35"/>
          <p:cNvSpPr/>
          <p:nvPr/>
        </p:nvSpPr>
        <p:spPr>
          <a:xfrm>
            <a:off x="571500" y="3905250"/>
            <a:ext cx="11049000" cy="952500"/>
          </a:xfrm>
          <a:custGeom>
            <a:avLst/>
            <a:gdLst/>
            <a:ahLst/>
            <a:cxnLst/>
            <a:rect l="l" t="t" r="r" b="b"/>
            <a:pathLst>
              <a:path w="11049000" h="952500">
                <a:moveTo>
                  <a:pt x="95250" y="0"/>
                </a:moveTo>
                <a:lnTo>
                  <a:pt x="10953750" y="0"/>
                </a:lnTo>
                <a:cubicBezTo>
                  <a:pt x="11006355" y="0"/>
                  <a:pt x="11049000" y="42645"/>
                  <a:pt x="11049000" y="95250"/>
                </a:cubicBezTo>
                <a:lnTo>
                  <a:pt x="11049000" y="857250"/>
                </a:lnTo>
                <a:cubicBezTo>
                  <a:pt x="11049000" y="909855"/>
                  <a:pt x="11006355" y="952500"/>
                  <a:pt x="10953750" y="952500"/>
                </a:cubicBezTo>
                <a:lnTo>
                  <a:pt x="95250" y="952500"/>
                </a:lnTo>
                <a:cubicBezTo>
                  <a:pt x="42645" y="952500"/>
                  <a:pt x="0" y="909855"/>
                  <a:pt x="0" y="85725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E3F2FD"/>
          </a:solidFill>
          <a:ln>
            <a:noFill/>
          </a:ln>
        </p:spPr>
      </p:sp>
      <p:sp>
        <p:nvSpPr>
          <p:cNvPr id="36" name="TextBox 36"/>
          <p:cNvSpPr txBox="1"/>
          <p:nvPr/>
        </p:nvSpPr>
        <p:spPr>
          <a:xfrm>
            <a:off x="5162226" y="4091940"/>
            <a:ext cx="1867548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b="1" dirty="0">
                <a:solidFill>
                  <a:srgbClr val="1565C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RF-GPT 的突破</a:t>
            </a:r>
            <a:endParaRPr lang="zh-CN" sz="1800" b="1" dirty="0">
              <a:solidFill>
                <a:srgbClr val="1565C0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37" name="TextBox 37"/>
          <p:cNvSpPr txBox="1"/>
          <p:nvPr/>
        </p:nvSpPr>
        <p:spPr>
          <a:xfrm>
            <a:off x="2297906" y="4457700"/>
            <a:ext cx="7596187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dirty="0">
                <a:solidFill>
                  <a:srgbClr val="26323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首个通过语言指令统一多种 RF 任务的模型，无需修改架构，只需改变 prompt</a:t>
            </a:r>
            <a:endParaRPr lang="zh-CN" sz="1500" dirty="0">
              <a:solidFill>
                <a:srgbClr val="263238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38" name="TextBox 38"/>
          <p:cNvSpPr txBox="1"/>
          <p:nvPr/>
        </p:nvSpPr>
        <p:spPr>
          <a:xfrm>
            <a:off x="741045" y="5108258"/>
            <a:ext cx="1054036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26323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对比总结</a:t>
            </a:r>
            <a:endParaRPr lang="zh-CN" sz="1650" b="1" dirty="0">
              <a:solidFill>
                <a:srgbClr val="263238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40" name="TextBox 40"/>
          <p:cNvSpPr txBox="1"/>
          <p:nvPr/>
        </p:nvSpPr>
        <p:spPr>
          <a:xfrm>
            <a:off x="1705737" y="5604510"/>
            <a:ext cx="398526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方法</a:t>
            </a:r>
            <a:endParaRPr lang="zh-CN" sz="1200" b="1" dirty="0">
              <a:solidFill>
                <a:srgbClr val="FFFFFF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42" name="TextBox 42"/>
          <p:cNvSpPr txBox="1"/>
          <p:nvPr/>
        </p:nvSpPr>
        <p:spPr>
          <a:xfrm>
            <a:off x="3766699" y="5604510"/>
            <a:ext cx="600951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RF感知</a:t>
            </a:r>
            <a:endParaRPr lang="zh-CN" sz="1200" b="1" dirty="0">
              <a:solidFill>
                <a:srgbClr val="FFFFFF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69" name="Rectangle 69"/>
          <p:cNvSpPr/>
          <p:nvPr/>
        </p:nvSpPr>
        <p:spPr>
          <a:xfrm>
            <a:off x="571500" y="6667500"/>
            <a:ext cx="11049000" cy="9525"/>
          </a:xfrm>
          <a:prstGeom prst="rect">
            <a:avLst/>
          </a:prstGeom>
          <a:solidFill>
            <a:srgbClr val="ECEFF1"/>
          </a:solidFill>
          <a:ln>
            <a:noFill/>
          </a:ln>
        </p:spPr>
      </p:sp>
      <p:sp>
        <p:nvSpPr>
          <p:cNvPr id="70" name="TextBox 70"/>
          <p:cNvSpPr txBox="1"/>
          <p:nvPr/>
        </p:nvSpPr>
        <p:spPr>
          <a:xfrm>
            <a:off x="560070" y="6703695"/>
            <a:ext cx="133073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0A4A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RF-GPT Presentation</a:t>
            </a:r>
            <a:endParaRPr lang="zh-CN" sz="900" dirty="0">
              <a:solidFill>
                <a:srgbClr val="90A4A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71" name="TextBox 71"/>
          <p:cNvSpPr txBox="1"/>
          <p:nvPr/>
        </p:nvSpPr>
        <p:spPr>
          <a:xfrm>
            <a:off x="11615452" y="6703695"/>
            <a:ext cx="39747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90A4A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13 / 15</a:t>
            </a:r>
            <a:endParaRPr lang="zh-CN" sz="900" dirty="0">
              <a:solidFill>
                <a:srgbClr val="90A4A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pic>
        <p:nvPicPr>
          <p:cNvPr id="72" name="图片 7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50950" y="5344795"/>
            <a:ext cx="10233660" cy="132270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1565C0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571500" y="476250"/>
            <a:ext cx="57150" cy="342900"/>
          </a:xfrm>
          <a:prstGeom prst="rect">
            <a:avLst/>
          </a:prstGeom>
          <a:solidFill>
            <a:srgbClr val="1565C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723900" y="419100"/>
            <a:ext cx="2376487" cy="609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26323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总结与展望</a:t>
            </a:r>
            <a:endParaRPr lang="zh-CN" sz="3000" b="1" dirty="0">
              <a:solidFill>
                <a:srgbClr val="263238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6" name="Rectangle 6"/>
          <p:cNvSpPr/>
          <p:nvPr/>
        </p:nvSpPr>
        <p:spPr>
          <a:xfrm>
            <a:off x="571500" y="1095375"/>
            <a:ext cx="11049000" cy="9525"/>
          </a:xfrm>
          <a:prstGeom prst="rect">
            <a:avLst/>
          </a:prstGeom>
          <a:solidFill>
            <a:srgbClr val="ECEFF1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739140" y="1329690"/>
            <a:ext cx="1149858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565C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三大贡献</a:t>
            </a:r>
            <a:endParaRPr lang="zh-CN" sz="1800" b="1" dirty="0">
              <a:solidFill>
                <a:srgbClr val="1565C0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8" name="Freeform 8"/>
          <p:cNvSpPr/>
          <p:nvPr/>
        </p:nvSpPr>
        <p:spPr>
          <a:xfrm>
            <a:off x="571500" y="1714500"/>
            <a:ext cx="3524250" cy="1524000"/>
          </a:xfrm>
          <a:custGeom>
            <a:avLst/>
            <a:gdLst/>
            <a:ahLst/>
            <a:cxnLst/>
            <a:rect l="l" t="t" r="r" b="b"/>
            <a:pathLst>
              <a:path w="3524250" h="1524000">
                <a:moveTo>
                  <a:pt x="95250" y="0"/>
                </a:moveTo>
                <a:lnTo>
                  <a:pt x="3429000" y="0"/>
                </a:lnTo>
                <a:cubicBezTo>
                  <a:pt x="3481605" y="0"/>
                  <a:pt x="3524250" y="42645"/>
                  <a:pt x="3524250" y="95250"/>
                </a:cubicBezTo>
                <a:lnTo>
                  <a:pt x="3524250" y="1428750"/>
                </a:lnTo>
                <a:cubicBezTo>
                  <a:pt x="3524250" y="1481355"/>
                  <a:pt x="3481605" y="1524000"/>
                  <a:pt x="3429000" y="1524000"/>
                </a:cubicBezTo>
                <a:lnTo>
                  <a:pt x="95250" y="1524000"/>
                </a:lnTo>
                <a:cubicBezTo>
                  <a:pt x="42645" y="1524000"/>
                  <a:pt x="0" y="1481355"/>
                  <a:pt x="0" y="142875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E3F2FD"/>
          </a:solidFill>
          <a:ln>
            <a:noFill/>
          </a:ln>
        </p:spPr>
      </p:sp>
      <p:sp>
        <p:nvSpPr>
          <p:cNvPr id="9" name="Ellipse 9"/>
          <p:cNvSpPr/>
          <p:nvPr/>
        </p:nvSpPr>
        <p:spPr>
          <a:xfrm>
            <a:off x="666750" y="1905000"/>
            <a:ext cx="381000" cy="381000"/>
          </a:xfrm>
          <a:prstGeom prst="ellipse">
            <a:avLst/>
          </a:prstGeom>
          <a:solidFill>
            <a:srgbClr val="1565C0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803696" y="1990725"/>
            <a:ext cx="107109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1</a:t>
            </a:r>
            <a:endParaRPr lang="zh-CN" sz="1500" b="1" dirty="0">
              <a:solidFill>
                <a:srgbClr val="FFFFFF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1219200" y="1885950"/>
            <a:ext cx="1119235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1565C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RFLM 概念</a:t>
            </a:r>
            <a:endParaRPr lang="zh-CN" sz="1500" b="1" dirty="0">
              <a:solidFill>
                <a:srgbClr val="1565C0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1141095" y="2190750"/>
            <a:ext cx="178308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26323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提出射频语言模型概念</a:t>
            </a:r>
            <a:endParaRPr lang="zh-CN" sz="1200" dirty="0">
              <a:solidFill>
                <a:srgbClr val="263238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1141095" y="2434590"/>
            <a:ext cx="1537716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26323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RF-GPT 首次实现：</a:t>
            </a:r>
            <a:endParaRPr lang="zh-CN" sz="1200" dirty="0">
              <a:solidFill>
                <a:srgbClr val="263238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1141095" y="2678430"/>
            <a:ext cx="1704213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26323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频谱图 + VLM → RFLM</a:t>
            </a:r>
            <a:endParaRPr lang="zh-CN" sz="1200" dirty="0">
              <a:solidFill>
                <a:srgbClr val="263238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5" name="Freeform 15"/>
          <p:cNvSpPr/>
          <p:nvPr/>
        </p:nvSpPr>
        <p:spPr>
          <a:xfrm>
            <a:off x="4333875" y="1714500"/>
            <a:ext cx="3524250" cy="1524000"/>
          </a:xfrm>
          <a:custGeom>
            <a:avLst/>
            <a:gdLst/>
            <a:ahLst/>
            <a:cxnLst/>
            <a:rect l="l" t="t" r="r" b="b"/>
            <a:pathLst>
              <a:path w="3524250" h="1524000">
                <a:moveTo>
                  <a:pt x="95250" y="0"/>
                </a:moveTo>
                <a:lnTo>
                  <a:pt x="3429000" y="0"/>
                </a:lnTo>
                <a:cubicBezTo>
                  <a:pt x="3481605" y="0"/>
                  <a:pt x="3524250" y="42645"/>
                  <a:pt x="3524250" y="95250"/>
                </a:cubicBezTo>
                <a:lnTo>
                  <a:pt x="3524250" y="1428750"/>
                </a:lnTo>
                <a:cubicBezTo>
                  <a:pt x="3524250" y="1481355"/>
                  <a:pt x="3481605" y="1524000"/>
                  <a:pt x="3429000" y="1524000"/>
                </a:cubicBezTo>
                <a:lnTo>
                  <a:pt x="95250" y="1524000"/>
                </a:lnTo>
                <a:cubicBezTo>
                  <a:pt x="42645" y="1524000"/>
                  <a:pt x="0" y="1481355"/>
                  <a:pt x="0" y="142875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E3F2FD"/>
          </a:solidFill>
          <a:ln>
            <a:noFill/>
          </a:ln>
        </p:spPr>
      </p:sp>
      <p:sp>
        <p:nvSpPr>
          <p:cNvPr id="16" name="Ellipse 16"/>
          <p:cNvSpPr/>
          <p:nvPr/>
        </p:nvSpPr>
        <p:spPr>
          <a:xfrm>
            <a:off x="4429125" y="1905000"/>
            <a:ext cx="381000" cy="381000"/>
          </a:xfrm>
          <a:prstGeom prst="ellipse">
            <a:avLst/>
          </a:prstGeom>
          <a:solidFill>
            <a:srgbClr val="1565C0"/>
          </a:solidFill>
          <a:ln>
            <a:noFill/>
          </a:ln>
        </p:spPr>
      </p:sp>
      <p:sp>
        <p:nvSpPr>
          <p:cNvPr id="17" name="TextBox 17"/>
          <p:cNvSpPr txBox="1"/>
          <p:nvPr/>
        </p:nvSpPr>
        <p:spPr>
          <a:xfrm>
            <a:off x="4537317" y="1990725"/>
            <a:ext cx="164616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2</a:t>
            </a:r>
            <a:endParaRPr lang="zh-CN" sz="1500" b="1" dirty="0">
              <a:solidFill>
                <a:srgbClr val="FFFFFF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4981575" y="1885950"/>
            <a:ext cx="1418272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1565C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合成数据管线</a:t>
            </a:r>
            <a:endParaRPr lang="zh-CN" sz="1500" b="1" dirty="0">
              <a:solidFill>
                <a:srgbClr val="1565C0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9" name="TextBox 19"/>
          <p:cNvSpPr txBox="1"/>
          <p:nvPr/>
        </p:nvSpPr>
        <p:spPr>
          <a:xfrm>
            <a:off x="4835525" y="2217420"/>
            <a:ext cx="173050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26323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6种技术 × 自动化标注</a:t>
            </a:r>
            <a:endParaRPr lang="zh-CN" sz="1200" dirty="0">
              <a:solidFill>
                <a:srgbClr val="263238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20" name="TextBox 20"/>
          <p:cNvSpPr txBox="1"/>
          <p:nvPr/>
        </p:nvSpPr>
        <p:spPr>
          <a:xfrm>
            <a:off x="4835525" y="2434590"/>
            <a:ext cx="1564005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26323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12K场景 / 625K指令</a:t>
            </a:r>
            <a:endParaRPr lang="zh-CN" sz="1200" dirty="0">
              <a:solidFill>
                <a:srgbClr val="263238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21" name="TextBox 21"/>
          <p:cNvSpPr txBox="1"/>
          <p:nvPr/>
        </p:nvSpPr>
        <p:spPr>
          <a:xfrm>
            <a:off x="4835525" y="2678430"/>
            <a:ext cx="90678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26323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零人工标注</a:t>
            </a:r>
            <a:endParaRPr lang="zh-CN" sz="1200" dirty="0">
              <a:solidFill>
                <a:srgbClr val="263238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22" name="Freeform 22"/>
          <p:cNvSpPr/>
          <p:nvPr/>
        </p:nvSpPr>
        <p:spPr>
          <a:xfrm>
            <a:off x="8096250" y="1714500"/>
            <a:ext cx="3524250" cy="1524000"/>
          </a:xfrm>
          <a:custGeom>
            <a:avLst/>
            <a:gdLst/>
            <a:ahLst/>
            <a:cxnLst/>
            <a:rect l="l" t="t" r="r" b="b"/>
            <a:pathLst>
              <a:path w="3524250" h="1524000">
                <a:moveTo>
                  <a:pt x="95250" y="0"/>
                </a:moveTo>
                <a:lnTo>
                  <a:pt x="3429000" y="0"/>
                </a:lnTo>
                <a:cubicBezTo>
                  <a:pt x="3481605" y="0"/>
                  <a:pt x="3524250" y="42645"/>
                  <a:pt x="3524250" y="95250"/>
                </a:cubicBezTo>
                <a:lnTo>
                  <a:pt x="3524250" y="1428750"/>
                </a:lnTo>
                <a:cubicBezTo>
                  <a:pt x="3524250" y="1481355"/>
                  <a:pt x="3481605" y="1524000"/>
                  <a:pt x="3429000" y="1524000"/>
                </a:cubicBezTo>
                <a:lnTo>
                  <a:pt x="95250" y="1524000"/>
                </a:lnTo>
                <a:cubicBezTo>
                  <a:pt x="42645" y="1524000"/>
                  <a:pt x="0" y="1481355"/>
                  <a:pt x="0" y="142875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E3F2FD"/>
          </a:solidFill>
          <a:ln>
            <a:noFill/>
          </a:ln>
        </p:spPr>
      </p:sp>
      <p:sp>
        <p:nvSpPr>
          <p:cNvPr id="23" name="Ellipse 23"/>
          <p:cNvSpPr/>
          <p:nvPr/>
        </p:nvSpPr>
        <p:spPr>
          <a:xfrm>
            <a:off x="8191500" y="1905000"/>
            <a:ext cx="381000" cy="381000"/>
          </a:xfrm>
          <a:prstGeom prst="ellipse">
            <a:avLst/>
          </a:prstGeom>
          <a:solidFill>
            <a:srgbClr val="1565C0"/>
          </a:solidFill>
          <a:ln>
            <a:noFill/>
          </a:ln>
        </p:spPr>
      </p:sp>
      <p:sp>
        <p:nvSpPr>
          <p:cNvPr id="24" name="TextBox 24"/>
          <p:cNvSpPr txBox="1"/>
          <p:nvPr/>
        </p:nvSpPr>
        <p:spPr>
          <a:xfrm>
            <a:off x="8299692" y="1990725"/>
            <a:ext cx="164616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3</a:t>
            </a:r>
            <a:endParaRPr lang="zh-CN" sz="1500" b="1" dirty="0">
              <a:solidFill>
                <a:srgbClr val="FFFFFF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25" name="TextBox 25"/>
          <p:cNvSpPr txBox="1"/>
          <p:nvPr/>
        </p:nvSpPr>
        <p:spPr>
          <a:xfrm>
            <a:off x="8743950" y="1885950"/>
            <a:ext cx="958215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1565C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全面超越</a:t>
            </a:r>
            <a:endParaRPr lang="zh-CN" sz="1500" b="1" dirty="0">
              <a:solidFill>
                <a:srgbClr val="1565C0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26" name="TextBox 26"/>
          <p:cNvSpPr txBox="1"/>
          <p:nvPr/>
        </p:nvSpPr>
        <p:spPr>
          <a:xfrm>
            <a:off x="8594725" y="2232660"/>
            <a:ext cx="125730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26323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多任务统一架构</a:t>
            </a:r>
            <a:endParaRPr lang="zh-CN" sz="1200" dirty="0">
              <a:solidFill>
                <a:srgbClr val="263238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27" name="TextBox 27"/>
          <p:cNvSpPr txBox="1"/>
          <p:nvPr/>
        </p:nvSpPr>
        <p:spPr>
          <a:xfrm>
            <a:off x="8594725" y="2476500"/>
            <a:ext cx="1406271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26323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全面超越通用VLM</a:t>
            </a:r>
            <a:endParaRPr lang="zh-CN" sz="1200" dirty="0">
              <a:solidFill>
                <a:srgbClr val="263238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28" name="TextBox 28"/>
          <p:cNvSpPr txBox="1"/>
          <p:nvPr/>
        </p:nvSpPr>
        <p:spPr>
          <a:xfrm>
            <a:off x="8594725" y="2678430"/>
            <a:ext cx="2387727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26323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数据效率超CNN/Transformer</a:t>
            </a:r>
            <a:endParaRPr lang="zh-CN" sz="1200" dirty="0">
              <a:solidFill>
                <a:srgbClr val="263238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29" name="TextBox 29"/>
          <p:cNvSpPr txBox="1"/>
          <p:nvPr/>
        </p:nvSpPr>
        <p:spPr>
          <a:xfrm>
            <a:off x="741045" y="3489008"/>
            <a:ext cx="1054036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C6282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当前局限</a:t>
            </a:r>
            <a:endParaRPr lang="zh-CN" sz="1650" b="1" dirty="0">
              <a:solidFill>
                <a:srgbClr val="C62828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30" name="Ellipse 30"/>
          <p:cNvSpPr/>
          <p:nvPr/>
        </p:nvSpPr>
        <p:spPr>
          <a:xfrm>
            <a:off x="762000" y="3905250"/>
            <a:ext cx="95250" cy="95250"/>
          </a:xfrm>
          <a:prstGeom prst="ellipse">
            <a:avLst/>
          </a:prstGeom>
          <a:solidFill>
            <a:srgbClr val="C62828"/>
          </a:solidFill>
          <a:ln>
            <a:noFill/>
          </a:ln>
        </p:spPr>
      </p:sp>
      <p:sp>
        <p:nvSpPr>
          <p:cNvPr id="31" name="TextBox 31"/>
          <p:cNvSpPr txBox="1"/>
          <p:nvPr/>
        </p:nvSpPr>
        <p:spPr>
          <a:xfrm>
            <a:off x="935355" y="3854768"/>
            <a:ext cx="279463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546E7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纯合成数据，未在真实空口验证</a:t>
            </a:r>
            <a:endParaRPr lang="zh-CN" sz="1350" dirty="0">
              <a:solidFill>
                <a:srgbClr val="546E7A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32" name="Ellipse 32"/>
          <p:cNvSpPr/>
          <p:nvPr/>
        </p:nvSpPr>
        <p:spPr>
          <a:xfrm>
            <a:off x="762000" y="4191000"/>
            <a:ext cx="95250" cy="95250"/>
          </a:xfrm>
          <a:prstGeom prst="ellipse">
            <a:avLst/>
          </a:prstGeom>
          <a:solidFill>
            <a:srgbClr val="C62828"/>
          </a:solidFill>
          <a:ln>
            <a:noFill/>
          </a:ln>
        </p:spPr>
      </p:sp>
      <p:sp>
        <p:nvSpPr>
          <p:cNvPr id="33" name="TextBox 33"/>
          <p:cNvSpPr txBox="1"/>
          <p:nvPr/>
        </p:nvSpPr>
        <p:spPr>
          <a:xfrm>
            <a:off x="935355" y="4140518"/>
            <a:ext cx="3198828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546E7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仅单输入频谱图，不支持MIMO/ISAC</a:t>
            </a:r>
            <a:endParaRPr lang="zh-CN" sz="1350" dirty="0">
              <a:solidFill>
                <a:srgbClr val="546E7A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34" name="Ellipse 34"/>
          <p:cNvSpPr/>
          <p:nvPr/>
        </p:nvSpPr>
        <p:spPr>
          <a:xfrm>
            <a:off x="762000" y="4476750"/>
            <a:ext cx="95250" cy="95250"/>
          </a:xfrm>
          <a:prstGeom prst="ellipse">
            <a:avLst/>
          </a:prstGeom>
          <a:solidFill>
            <a:srgbClr val="C62828"/>
          </a:solidFill>
          <a:ln>
            <a:noFill/>
          </a:ln>
        </p:spPr>
      </p:sp>
      <p:sp>
        <p:nvSpPr>
          <p:cNvPr id="35" name="TextBox 35"/>
          <p:cNvSpPr txBox="1"/>
          <p:nvPr/>
        </p:nvSpPr>
        <p:spPr>
          <a:xfrm>
            <a:off x="935355" y="4426268"/>
            <a:ext cx="3760756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546E7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细粒度NR特征（PTRS/CORESET）尚未覆盖</a:t>
            </a:r>
            <a:endParaRPr lang="zh-CN" sz="1350" dirty="0">
              <a:solidFill>
                <a:srgbClr val="546E7A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36" name="TextBox 36"/>
          <p:cNvSpPr txBox="1"/>
          <p:nvPr/>
        </p:nvSpPr>
        <p:spPr>
          <a:xfrm>
            <a:off x="6075045" y="3489008"/>
            <a:ext cx="1054036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1565C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未来方向</a:t>
            </a:r>
            <a:endParaRPr lang="zh-CN" sz="1650" b="1" dirty="0">
              <a:solidFill>
                <a:srgbClr val="1565C0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37" name="Freeform 37"/>
          <p:cNvSpPr/>
          <p:nvPr/>
        </p:nvSpPr>
        <p:spPr>
          <a:xfrm>
            <a:off x="6096000" y="3857625"/>
            <a:ext cx="5524500" cy="333375"/>
          </a:xfrm>
          <a:custGeom>
            <a:avLst/>
            <a:gdLst/>
            <a:ahLst/>
            <a:cxnLst/>
            <a:rect l="l" t="t" r="r" b="b"/>
            <a:pathLst>
              <a:path w="5524500" h="333375">
                <a:moveTo>
                  <a:pt x="57150" y="0"/>
                </a:moveTo>
                <a:lnTo>
                  <a:pt x="5467350" y="0"/>
                </a:lnTo>
                <a:cubicBezTo>
                  <a:pt x="5498913" y="0"/>
                  <a:pt x="5524500" y="25587"/>
                  <a:pt x="5524500" y="57150"/>
                </a:cubicBezTo>
                <a:lnTo>
                  <a:pt x="5524500" y="276225"/>
                </a:lnTo>
                <a:cubicBezTo>
                  <a:pt x="5524500" y="307788"/>
                  <a:pt x="5498913" y="333375"/>
                  <a:pt x="5467350" y="333375"/>
                </a:cubicBezTo>
                <a:lnTo>
                  <a:pt x="57150" y="333375"/>
                </a:lnTo>
                <a:cubicBezTo>
                  <a:pt x="25587" y="333375"/>
                  <a:pt x="0" y="307788"/>
                  <a:pt x="0" y="276225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E3F2FD"/>
          </a:solidFill>
          <a:ln>
            <a:noFill/>
          </a:ln>
        </p:spPr>
      </p:sp>
      <p:sp>
        <p:nvSpPr>
          <p:cNvPr id="38" name="TextBox 38"/>
          <p:cNvSpPr txBox="1"/>
          <p:nvPr/>
        </p:nvSpPr>
        <p:spPr>
          <a:xfrm>
            <a:off x="6269355" y="3940492"/>
            <a:ext cx="321854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565C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真实空口数据 + 合成预训练联合训练</a:t>
            </a:r>
            <a:endParaRPr lang="zh-CN" sz="1350" dirty="0">
              <a:solidFill>
                <a:srgbClr val="1565C0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39" name="Freeform 39"/>
          <p:cNvSpPr/>
          <p:nvPr/>
        </p:nvSpPr>
        <p:spPr>
          <a:xfrm>
            <a:off x="6096000" y="4286250"/>
            <a:ext cx="5524500" cy="333375"/>
          </a:xfrm>
          <a:custGeom>
            <a:avLst/>
            <a:gdLst/>
            <a:ahLst/>
            <a:cxnLst/>
            <a:rect l="l" t="t" r="r" b="b"/>
            <a:pathLst>
              <a:path w="5524500" h="333375">
                <a:moveTo>
                  <a:pt x="57150" y="0"/>
                </a:moveTo>
                <a:lnTo>
                  <a:pt x="5467350" y="0"/>
                </a:lnTo>
                <a:cubicBezTo>
                  <a:pt x="5498913" y="0"/>
                  <a:pt x="5524500" y="25587"/>
                  <a:pt x="5524500" y="57150"/>
                </a:cubicBezTo>
                <a:lnTo>
                  <a:pt x="5524500" y="276225"/>
                </a:lnTo>
                <a:cubicBezTo>
                  <a:pt x="5524500" y="307788"/>
                  <a:pt x="5498913" y="333375"/>
                  <a:pt x="5467350" y="333375"/>
                </a:cubicBezTo>
                <a:lnTo>
                  <a:pt x="57150" y="333375"/>
                </a:lnTo>
                <a:cubicBezTo>
                  <a:pt x="25587" y="333375"/>
                  <a:pt x="0" y="307788"/>
                  <a:pt x="0" y="276225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E3F2FD"/>
          </a:solidFill>
          <a:ln>
            <a:noFill/>
          </a:ln>
        </p:spPr>
      </p:sp>
      <p:sp>
        <p:nvSpPr>
          <p:cNvPr id="40" name="TextBox 40"/>
          <p:cNvSpPr txBox="1"/>
          <p:nvPr/>
        </p:nvSpPr>
        <p:spPr>
          <a:xfrm>
            <a:off x="6269355" y="4369118"/>
            <a:ext cx="3287554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565C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多天线MIMO频谱图、ISAC通感一体化</a:t>
            </a:r>
            <a:endParaRPr lang="zh-CN" sz="1350" dirty="0">
              <a:solidFill>
                <a:srgbClr val="1565C0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41" name="Freeform 41"/>
          <p:cNvSpPr/>
          <p:nvPr/>
        </p:nvSpPr>
        <p:spPr>
          <a:xfrm>
            <a:off x="6096000" y="4714875"/>
            <a:ext cx="5524500" cy="333375"/>
          </a:xfrm>
          <a:custGeom>
            <a:avLst/>
            <a:gdLst/>
            <a:ahLst/>
            <a:cxnLst/>
            <a:rect l="l" t="t" r="r" b="b"/>
            <a:pathLst>
              <a:path w="5524500" h="333375">
                <a:moveTo>
                  <a:pt x="57150" y="0"/>
                </a:moveTo>
                <a:lnTo>
                  <a:pt x="5467350" y="0"/>
                </a:lnTo>
                <a:cubicBezTo>
                  <a:pt x="5498913" y="0"/>
                  <a:pt x="5524500" y="25587"/>
                  <a:pt x="5524500" y="57150"/>
                </a:cubicBezTo>
                <a:lnTo>
                  <a:pt x="5524500" y="276225"/>
                </a:lnTo>
                <a:cubicBezTo>
                  <a:pt x="5524500" y="307788"/>
                  <a:pt x="5498913" y="333375"/>
                  <a:pt x="5467350" y="333375"/>
                </a:cubicBezTo>
                <a:lnTo>
                  <a:pt x="57150" y="333375"/>
                </a:lnTo>
                <a:cubicBezTo>
                  <a:pt x="25587" y="333375"/>
                  <a:pt x="0" y="307788"/>
                  <a:pt x="0" y="276225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E3F2FD"/>
          </a:solidFill>
          <a:ln>
            <a:noFill/>
          </a:ln>
        </p:spPr>
      </p:sp>
      <p:sp>
        <p:nvSpPr>
          <p:cNvPr id="42" name="TextBox 42"/>
          <p:cNvSpPr txBox="1"/>
          <p:nvPr/>
        </p:nvSpPr>
        <p:spPr>
          <a:xfrm>
            <a:off x="6269355" y="4797742"/>
            <a:ext cx="3790331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565C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O-RAN集成 → 6G AI-native网络RF推理引擎</a:t>
            </a:r>
            <a:endParaRPr lang="zh-CN" sz="1350" dirty="0">
              <a:solidFill>
                <a:srgbClr val="1565C0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43" name="Rectangle 43"/>
          <p:cNvSpPr/>
          <p:nvPr/>
        </p:nvSpPr>
        <p:spPr>
          <a:xfrm>
            <a:off x="571500" y="6667500"/>
            <a:ext cx="11049000" cy="9525"/>
          </a:xfrm>
          <a:prstGeom prst="rect">
            <a:avLst/>
          </a:prstGeom>
          <a:solidFill>
            <a:srgbClr val="ECEFF1"/>
          </a:solidFill>
          <a:ln>
            <a:noFill/>
          </a:ln>
        </p:spPr>
      </p:sp>
      <p:sp>
        <p:nvSpPr>
          <p:cNvPr id="44" name="TextBox 44"/>
          <p:cNvSpPr txBox="1"/>
          <p:nvPr/>
        </p:nvSpPr>
        <p:spPr>
          <a:xfrm>
            <a:off x="560070" y="6703695"/>
            <a:ext cx="133073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0A4A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RF-GPT Presentation</a:t>
            </a:r>
            <a:endParaRPr lang="zh-CN" sz="900" dirty="0">
              <a:solidFill>
                <a:srgbClr val="90A4A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45" name="TextBox 45"/>
          <p:cNvSpPr txBox="1"/>
          <p:nvPr/>
        </p:nvSpPr>
        <p:spPr>
          <a:xfrm>
            <a:off x="11615452" y="6703695"/>
            <a:ext cx="39747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90A4A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14 / 15</a:t>
            </a:r>
            <a:endParaRPr lang="zh-CN" sz="900" dirty="0">
              <a:solidFill>
                <a:srgbClr val="90A4A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D47A1"/>
              </a:gs>
              <a:gs pos="100000">
                <a:srgbClr val="1565C0"/>
              </a:gs>
            </a:gsLst>
            <a:lin ang="2700000" scaled="1"/>
          </a:gradFill>
          <a:ln>
            <a:noFill/>
          </a:ln>
        </p:spPr>
      </p:sp>
      <p:sp>
        <p:nvSpPr>
          <p:cNvPr id="3" name="Ellipse 3"/>
          <p:cNvSpPr/>
          <p:nvPr/>
        </p:nvSpPr>
        <p:spPr>
          <a:xfrm>
            <a:off x="8572500" y="-952500"/>
            <a:ext cx="3810000" cy="3810000"/>
          </a:xfrm>
          <a:prstGeom prst="ellipse">
            <a:avLst/>
          </a:prstGeom>
          <a:noFill/>
          <a:ln w="9525">
            <a:solidFill>
              <a:srgbClr val="FFFFFF">
                <a:alpha val="5000"/>
              </a:srgbClr>
            </a:solidFill>
          </a:ln>
        </p:spPr>
      </p:sp>
      <p:sp>
        <p:nvSpPr>
          <p:cNvPr id="4" name="Ellipse 4"/>
          <p:cNvSpPr/>
          <p:nvPr/>
        </p:nvSpPr>
        <p:spPr>
          <a:xfrm>
            <a:off x="9144000" y="-381000"/>
            <a:ext cx="2667000" cy="2667000"/>
          </a:xfrm>
          <a:prstGeom prst="ellipse">
            <a:avLst/>
          </a:prstGeom>
          <a:noFill/>
          <a:ln w="9525">
            <a:solidFill>
              <a:srgbClr val="FFFFFF">
                <a:alpha val="8000"/>
              </a:srgbClr>
            </a:solidFill>
          </a:ln>
        </p:spPr>
      </p:sp>
      <p:sp>
        <p:nvSpPr>
          <p:cNvPr id="5" name="Ellipse 5"/>
          <p:cNvSpPr/>
          <p:nvPr/>
        </p:nvSpPr>
        <p:spPr>
          <a:xfrm>
            <a:off x="762000" y="4762500"/>
            <a:ext cx="2286000" cy="2286000"/>
          </a:xfrm>
          <a:prstGeom prst="ellipse">
            <a:avLst/>
          </a:prstGeom>
          <a:noFill/>
          <a:ln w="9525">
            <a:solidFill>
              <a:srgbClr val="FFFFFF">
                <a:alpha val="5000"/>
              </a:srgbClr>
            </a:solidFill>
          </a:ln>
        </p:spPr>
      </p:sp>
      <p:sp>
        <p:nvSpPr>
          <p:cNvPr id="6" name="TextBox 6"/>
          <p:cNvSpPr txBox="1"/>
          <p:nvPr/>
        </p:nvSpPr>
        <p:spPr>
          <a:xfrm>
            <a:off x="5602153" y="1314450"/>
            <a:ext cx="987695" cy="1828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0" b="1" dirty="0">
                <a:solidFill>
                  <a:srgbClr val="FFFFFF">
                    <a:alpha val="15000"/>
                  </a:srgbClr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?</a:t>
            </a:r>
            <a:endParaRPr lang="zh-CN" sz="9000" b="1" dirty="0">
              <a:solidFill>
                <a:srgbClr val="FFFFFF">
                  <a:alpha val="15000"/>
                </a:srgbClr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4557052" y="2793206"/>
            <a:ext cx="3077897" cy="838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4125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Thank You</a:t>
            </a:r>
            <a:endParaRPr lang="zh-CN" sz="4125" b="1" dirty="0">
              <a:solidFill>
                <a:srgbClr val="FFFFFF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5578650" y="3518535"/>
            <a:ext cx="1034701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700" dirty="0">
                <a:solidFill>
                  <a:srgbClr val="BBDEFB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Q &amp; A</a:t>
            </a:r>
            <a:endParaRPr lang="zh-CN" sz="2700" dirty="0">
              <a:solidFill>
                <a:srgbClr val="BBDEFB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9" name="Rectangle 9"/>
          <p:cNvSpPr/>
          <p:nvPr/>
        </p:nvSpPr>
        <p:spPr>
          <a:xfrm>
            <a:off x="5143500" y="4048125"/>
            <a:ext cx="1905000" cy="28575"/>
          </a:xfrm>
          <a:prstGeom prst="rect">
            <a:avLst/>
          </a:prstGeom>
          <a:solidFill>
            <a:srgbClr val="FF6F00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650694" y="4410075"/>
            <a:ext cx="4890611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dirty="0">
                <a:solidFill>
                  <a:srgbClr val="90CAF9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RF-GPT: Teaching AI to See the Wireless World</a:t>
            </a:r>
            <a:endParaRPr lang="zh-CN" sz="1500" dirty="0">
              <a:solidFill>
                <a:srgbClr val="90CAF9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4151543" y="4759642"/>
            <a:ext cx="388891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dirty="0">
                <a:solidFill>
                  <a:srgbClr val="64B5F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Hang Zou et al. | arXiv:2602.14833 | 2026</a:t>
            </a:r>
            <a:endParaRPr lang="zh-CN" sz="1350" dirty="0">
              <a:solidFill>
                <a:srgbClr val="64B5F6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4775073" y="5585460"/>
            <a:ext cx="2641854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64B5F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github.com / arXiv:2602.14833</a:t>
            </a:r>
            <a:endParaRPr lang="zh-CN" sz="1200" dirty="0">
              <a:solidFill>
                <a:srgbClr val="64B5F6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tags/tag1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613d8a3f2dab1ec15ccc8775c899b4b0fe0bffad"/>
  <p:tag name="KSO_WM_NEWLAYOUT_GROUP_ID" val="layout_10004"/>
  <p:tag name="KSO_WM_NEWLAYOUT_ID" val="slide_5590a1d109e7c98d"/>
</p:tagLst>
</file>

<file path=ppt/tags/tag2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</p:tagLst>
</file>

<file path=ppt/tags/tag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5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2_1"/>
  <p:tag name="KSO_WM_UNIT_TYPE" val="l_h_i"/>
</p:tagLst>
</file>

<file path=ppt/tags/tag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8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3_1"/>
  <p:tag name="KSO_WM_UNIT_TYPE" val="l_h_i"/>
</p:tagLst>
</file>

<file path=ppt/tags/tag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1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11.xml><?xml version="1.0" encoding="utf-8"?>
<p:tagLst xmlns:p="http://schemas.openxmlformats.org/presentationml/2006/main">
  <p:tag name="KSO_WM_DIAGRAM_VIRTUALLY_FRAME" val="{&quot;height&quot;:169.07503937007874,&quot;left&quot;:80.85,&quot;top&quot;:300.97496062992127,&quot;width&quot;:651.75}"/>
</p:tagLst>
</file>

<file path=ppt/tags/tag12.xml><?xml version="1.0" encoding="utf-8"?>
<p:tagLst xmlns:p="http://schemas.openxmlformats.org/presentationml/2006/main">
  <p:tag name="KSO_WM_DIAGRAM_VIRTUALLY_FRAME" val="{&quot;height&quot;:169.07503937007874,&quot;left&quot;:80.85,&quot;top&quot;:300.97496062992127,&quot;width&quot;:651.75}"/>
</p:tagLst>
</file>

<file path=ppt/tags/tag13.xml><?xml version="1.0" encoding="utf-8"?>
<p:tagLst xmlns:p="http://schemas.openxmlformats.org/presentationml/2006/main">
  <p:tag name="KSO_WM_DIAGRAM_VIRTUALLY_FRAME" val="{&quot;height&quot;:225,&quot;left&quot;:45,&quot;top&quot;:105,&quot;width&quot;:468}"/>
</p:tagLst>
</file>

<file path=ppt/tags/tag14.xml><?xml version="1.0" encoding="utf-8"?>
<p:tagLst xmlns:p="http://schemas.openxmlformats.org/presentationml/2006/main">
  <p:tag name="KSO_WM_DIAGRAM_VIRTUALLY_FRAME" val="{&quot;height&quot;:225,&quot;left&quot;:45,&quot;top&quot;:105,&quot;width&quot;:468}"/>
</p:tagLst>
</file>

<file path=ppt/tags/tag15.xml><?xml version="1.0" encoding="utf-8"?>
<p:tagLst xmlns:p="http://schemas.openxmlformats.org/presentationml/2006/main">
  <p:tag name="KSO_WM_DIAGRAM_VIRTUALLY_FRAME" val="{&quot;height&quot;:225,&quot;left&quot;:45,&quot;top&quot;:105,&quot;width&quot;:468}"/>
</p:tagLst>
</file>

<file path=ppt/tags/tag16.xml><?xml version="1.0" encoding="utf-8"?>
<p:tagLst xmlns:p="http://schemas.openxmlformats.org/presentationml/2006/main">
  <p:tag name="KSO_WM_DIAGRAM_VIRTUALLY_FRAME" val="{&quot;height&quot;:225,&quot;left&quot;:45,&quot;top&quot;:105,&quot;width&quot;:468}"/>
</p:tagLst>
</file>

<file path=ppt/tags/tag17.xml><?xml version="1.0" encoding="utf-8"?>
<p:tagLst xmlns:p="http://schemas.openxmlformats.org/presentationml/2006/main">
  <p:tag name="KSO_WM_DIAGRAM_VIRTUALLY_FRAME" val="{&quot;height&quot;:225,&quot;left&quot;:45,&quot;top&quot;:105,&quot;width&quot;:468}"/>
</p:tagLst>
</file>

<file path=ppt/tags/tag18.xml><?xml version="1.0" encoding="utf-8"?>
<p:tagLst xmlns:p="http://schemas.openxmlformats.org/presentationml/2006/main">
  <p:tag name="KSO_WM_DIAGRAM_VIRTUALLY_FRAME" val="{&quot;height&quot;:225,&quot;left&quot;:45,&quot;top&quot;:105,&quot;width&quot;:468}"/>
</p:tagLst>
</file>

<file path=ppt/tags/tag19.xml><?xml version="1.0" encoding="utf-8"?>
<p:tagLst xmlns:p="http://schemas.openxmlformats.org/presentationml/2006/main">
  <p:tag name="KSO_WM_DIAGRAM_VIRTUALLY_FRAME" val="{&quot;height&quot;:225,&quot;left&quot;:45,&quot;top&quot;:105,&quot;width&quot;:468}"/>
</p:tagLst>
</file>

<file path=ppt/tags/tag20.xml><?xml version="1.0" encoding="utf-8"?>
<p:tagLst xmlns:p="http://schemas.openxmlformats.org/presentationml/2006/main">
  <p:tag name="KSO_WM_DIAGRAM_VIRTUALLY_FRAME" val="{&quot;height&quot;:225,&quot;left&quot;:45,&quot;top&quot;:105,&quot;width&quot;:468}"/>
</p:tagLst>
</file>

<file path=ppt/tags/tag21.xml><?xml version="1.0" encoding="utf-8"?>
<p:tagLst xmlns:p="http://schemas.openxmlformats.org/presentationml/2006/main">
  <p:tag name="KSO_WM_DIAGRAM_VIRTUALLY_FRAME" val="{&quot;height&quot;:225,&quot;left&quot;:45,&quot;top&quot;:105,&quot;width&quot;:468}"/>
</p:tagLst>
</file>

<file path=ppt/tags/tag22.xml><?xml version="1.0" encoding="utf-8"?>
<p:tagLst xmlns:p="http://schemas.openxmlformats.org/presentationml/2006/main">
  <p:tag name="KSO_WM_DIAGRAM_VIRTUALLY_FRAME" val="{&quot;height&quot;:225,&quot;left&quot;:45,&quot;top&quot;:105,&quot;width&quot;:468}"/>
</p:tagLst>
</file>

<file path=ppt/tags/tag23.xml><?xml version="1.0" encoding="utf-8"?>
<p:tagLst xmlns:p="http://schemas.openxmlformats.org/presentationml/2006/main">
  <p:tag name="KSO_WM_DIAGRAM_VIRTUALLY_FRAME" val="{&quot;height&quot;:225,&quot;left&quot;:45,&quot;top&quot;:105,&quot;width&quot;:468}"/>
</p:tagLst>
</file>

<file path=ppt/tags/tag24.xml><?xml version="1.0" encoding="utf-8"?>
<p:tagLst xmlns:p="http://schemas.openxmlformats.org/presentationml/2006/main">
  <p:tag name="KSO_WM_DIAGRAM_VIRTUALLY_FRAME" val="{&quot;height&quot;:225,&quot;left&quot;:45,&quot;top&quot;:105,&quot;width&quot;:468}"/>
</p:tagLst>
</file>

<file path=ppt/tags/tag25.xml><?xml version="1.0" encoding="utf-8"?>
<p:tagLst xmlns:p="http://schemas.openxmlformats.org/presentationml/2006/main">
  <p:tag name="KSO_WM_DIAGRAM_VIRTUALLY_FRAME" val="{&quot;height&quot;:225,&quot;left&quot;:45,&quot;top&quot;:105,&quot;width&quot;:468}"/>
</p:tagLst>
</file>

<file path=ppt/tags/tag26.xml><?xml version="1.0" encoding="utf-8"?>
<p:tagLst xmlns:p="http://schemas.openxmlformats.org/presentationml/2006/main">
  <p:tag name="KSO_WM_DIAGRAM_VIRTUALLY_FRAME" val="{&quot;height&quot;:225,&quot;left&quot;:45,&quot;top&quot;:105,&quot;width&quot;:468}"/>
</p:tagLst>
</file>

<file path=ppt/tags/tag27.xml><?xml version="1.0" encoding="utf-8"?>
<p:tagLst xmlns:p="http://schemas.openxmlformats.org/presentationml/2006/main">
  <p:tag name="KSO_WM_DIAGRAM_VIRTUALLY_FRAME" val="{&quot;height&quot;:225,&quot;left&quot;:45,&quot;top&quot;:105,&quot;width&quot;:468}"/>
</p:tagLst>
</file>

<file path=ppt/tags/tag28.xml><?xml version="1.0" encoding="utf-8"?>
<p:tagLst xmlns:p="http://schemas.openxmlformats.org/presentationml/2006/main">
  <p:tag name="KSO_WM_DIAGRAM_VIRTUALLY_FRAME" val="{&quot;height&quot;:225,&quot;left&quot;:45,&quot;top&quot;:105,&quot;width&quot;:468}"/>
</p:tagLst>
</file>

<file path=ppt/tags/tag29.xml><?xml version="1.0" encoding="utf-8"?>
<p:tagLst xmlns:p="http://schemas.openxmlformats.org/presentationml/2006/main">
  <p:tag name="KSO_WM_DIAGRAM_VIRTUALLY_FRAME" val="{&quot;height&quot;:225,&quot;left&quot;:45,&quot;top&quot;:105,&quot;width&quot;:468}"/>
</p:tagLst>
</file>

<file path=ppt/tags/tag30.xml><?xml version="1.0" encoding="utf-8"?>
<p:tagLst xmlns:p="http://schemas.openxmlformats.org/presentationml/2006/main">
  <p:tag name="KSO_WM_DIAGRAM_VIRTUALLY_FRAME" val="{&quot;height&quot;:225,&quot;left&quot;:45,&quot;top&quot;:105,&quot;width&quot;:468}"/>
</p:tagLst>
</file>

<file path=ppt/tags/tag31.xml><?xml version="1.0" encoding="utf-8"?>
<p:tagLst xmlns:p="http://schemas.openxmlformats.org/presentationml/2006/main">
  <p:tag name="KSO_WM_DIAGRAM_VIRTUALLY_FRAME" val="{&quot;height&quot;:150,&quot;left&quot;:45,&quot;top&quot;:300,&quot;width&quot;:870}"/>
</p:tagLst>
</file>

<file path=ppt/tags/tag32.xml><?xml version="1.0" encoding="utf-8"?>
<p:tagLst xmlns:p="http://schemas.openxmlformats.org/presentationml/2006/main">
  <p:tag name="KSO_WM_DIAGRAM_VIRTUALLY_FRAME" val="{&quot;height&quot;:150,&quot;left&quot;:45,&quot;top&quot;:300,&quot;width&quot;:870}"/>
</p:tagLst>
</file>

<file path=ppt/tags/tag33.xml><?xml version="1.0" encoding="utf-8"?>
<p:tagLst xmlns:p="http://schemas.openxmlformats.org/presentationml/2006/main">
  <p:tag name="KSO_WM_DIAGRAM_VIRTUALLY_FRAME" val="{&quot;height&quot;:150,&quot;left&quot;:45,&quot;top&quot;:300,&quot;width&quot;:870}"/>
</p:tagLst>
</file>

<file path=ppt/tags/tag34.xml><?xml version="1.0" encoding="utf-8"?>
<p:tagLst xmlns:p="http://schemas.openxmlformats.org/presentationml/2006/main">
  <p:tag name="KSO_WM_DIAGRAM_VIRTUALLY_FRAME" val="{&quot;height&quot;:150,&quot;left&quot;:45,&quot;top&quot;:300,&quot;width&quot;:870}"/>
</p:tagLst>
</file>

<file path=ppt/tags/tag35.xml><?xml version="1.0" encoding="utf-8"?>
<p:tagLst xmlns:p="http://schemas.openxmlformats.org/presentationml/2006/main">
  <p:tag name="KSO_WM_DIAGRAM_VIRTUALLY_FRAME" val="{&quot;height&quot;:150,&quot;left&quot;:45,&quot;top&quot;:300,&quot;width&quot;:870}"/>
</p:tagLst>
</file>

<file path=ppt/tags/tag36.xml><?xml version="1.0" encoding="utf-8"?>
<p:tagLst xmlns:p="http://schemas.openxmlformats.org/presentationml/2006/main">
  <p:tag name="KSO_WM_DIAGRAM_VIRTUALLY_FRAME" val="{&quot;height&quot;:150,&quot;left&quot;:45,&quot;top&quot;:300,&quot;width&quot;:870}"/>
</p:tagLst>
</file>

<file path=ppt/tags/tag37.xml><?xml version="1.0" encoding="utf-8"?>
<p:tagLst xmlns:p="http://schemas.openxmlformats.org/presentationml/2006/main">
  <p:tag name="KSO_WM_DIAGRAM_VIRTUALLY_FRAME" val="{&quot;height&quot;:150,&quot;left&quot;:45,&quot;top&quot;:300,&quot;width&quot;:870}"/>
</p:tagLst>
</file>

<file path=ppt/tags/tag38.xml><?xml version="1.0" encoding="utf-8"?>
<p:tagLst xmlns:p="http://schemas.openxmlformats.org/presentationml/2006/main">
  <p:tag name="KSO_WM_DIAGRAM_VIRTUALLY_FRAME" val="{&quot;height&quot;:150,&quot;left&quot;:45,&quot;top&quot;:300,&quot;width&quot;:870}"/>
</p:tagLst>
</file>

<file path=ppt/tags/tag39.xml><?xml version="1.0" encoding="utf-8"?>
<p:tagLst xmlns:p="http://schemas.openxmlformats.org/presentationml/2006/main">
  <p:tag name="KSO_WM_DIAGRAM_VIRTUALLY_FRAME" val="{&quot;height&quot;:150,&quot;left&quot;:45,&quot;top&quot;:300,&quot;width&quot;:870}"/>
</p:tagLst>
</file>

<file path=ppt/tags/tag40.xml><?xml version="1.0" encoding="utf-8"?>
<p:tagLst xmlns:p="http://schemas.openxmlformats.org/presentationml/2006/main">
  <p:tag name="KSO_WM_DIAGRAM_VIRTUALLY_FRAME" val="{&quot;height&quot;:150,&quot;left&quot;:45,&quot;top&quot;:300,&quot;width&quot;:870}"/>
</p:tagLst>
</file>

<file path=ppt/tags/tag41.xml><?xml version="1.0" encoding="utf-8"?>
<p:tagLst xmlns:p="http://schemas.openxmlformats.org/presentationml/2006/main">
  <p:tag name="KSO_WM_DIAGRAM_VIRTUALLY_FRAME" val="{&quot;height&quot;:150,&quot;left&quot;:45,&quot;top&quot;:300,&quot;width&quot;:870}"/>
</p:tagLst>
</file>

<file path=ppt/tags/tag42.xml><?xml version="1.0" encoding="utf-8"?>
<p:tagLst xmlns:p="http://schemas.openxmlformats.org/presentationml/2006/main">
  <p:tag name="KSO_WM_DIAGRAM_VIRTUALLY_FRAME" val="{&quot;height&quot;:150,&quot;left&quot;:45,&quot;top&quot;:300,&quot;width&quot;:870}"/>
</p:tagLst>
</file>

<file path=ppt/tags/tag43.xml><?xml version="1.0" encoding="utf-8"?>
<p:tagLst xmlns:p="http://schemas.openxmlformats.org/presentationml/2006/main">
  <p:tag name="KSO_WM_DIAGRAM_VIRTUALLY_FRAME" val="{&quot;height&quot;:150,&quot;left&quot;:45,&quot;top&quot;:300,&quot;width&quot;:870}"/>
</p:tagLst>
</file>

<file path=ppt/tags/tag44.xml><?xml version="1.0" encoding="utf-8"?>
<p:tagLst xmlns:p="http://schemas.openxmlformats.org/presentationml/2006/main">
  <p:tag name="KSO_WM_DIAGRAM_VIRTUALLY_FRAME" val="{&quot;height&quot;:150,&quot;left&quot;:45,&quot;top&quot;:300,&quot;width&quot;:870}"/>
</p:tagLst>
</file>

<file path=ppt/tags/tag45.xml><?xml version="1.0" encoding="utf-8"?>
<p:tagLst xmlns:p="http://schemas.openxmlformats.org/presentationml/2006/main">
  <p:tag name="KSO_WM_DIAGRAM_VIRTUALLY_FRAME" val="{&quot;height&quot;:150,&quot;left&quot;:45,&quot;top&quot;:300,&quot;width&quot;:870}"/>
</p:tagLst>
</file>

<file path=ppt/tags/tag46.xml><?xml version="1.0" encoding="utf-8"?>
<p:tagLst xmlns:p="http://schemas.openxmlformats.org/presentationml/2006/main">
  <p:tag name="KSO_WM_DIAGRAM_VIRTUALLY_FRAME" val="{&quot;height&quot;:150,&quot;left&quot;:45,&quot;top&quot;:300,&quot;width&quot;:870}"/>
</p:tagLst>
</file>

<file path=ppt/tags/tag47.xml><?xml version="1.0" encoding="utf-8"?>
<p:tagLst xmlns:p="http://schemas.openxmlformats.org/presentationml/2006/main">
  <p:tag name="KSO_WM_DIAGRAM_VIRTUALLY_FRAME" val="{&quot;height&quot;:150,&quot;left&quot;:45,&quot;top&quot;:300,&quot;width&quot;:870}"/>
</p:tagLst>
</file>

<file path=ppt/tags/tag48.xml><?xml version="1.0" encoding="utf-8"?>
<p:tagLst xmlns:p="http://schemas.openxmlformats.org/presentationml/2006/main">
  <p:tag name="KSO_WM_DIAGRAM_VIRTUALLY_FRAME" val="{&quot;height&quot;:150,&quot;left&quot;:45,&quot;top&quot;:300,&quot;width&quot;:870}"/>
</p:tagLst>
</file>

<file path=ppt/tags/tag49.xml><?xml version="1.0" encoding="utf-8"?>
<p:tagLst xmlns:p="http://schemas.openxmlformats.org/presentationml/2006/main">
  <p:tag name="KSO_WM_DIAGRAM_VIRTUALLY_FRAME" val="{&quot;height&quot;:150,&quot;left&quot;:45,&quot;top&quot;:300,&quot;width&quot;:870}"/>
</p:tagLst>
</file>

<file path=ppt/tags/tag50.xml><?xml version="1.0" encoding="utf-8"?>
<p:tagLst xmlns:p="http://schemas.openxmlformats.org/presentationml/2006/main">
  <p:tag name="KSO_WM_DIAGRAM_VIRTUALLY_FRAME" val="{&quot;height&quot;:150,&quot;left&quot;:45,&quot;top&quot;:300,&quot;width&quot;:870}"/>
</p:tagLst>
</file>

<file path=ppt/tags/tag51.xml><?xml version="1.0" encoding="utf-8"?>
<p:tagLst xmlns:p="http://schemas.openxmlformats.org/presentationml/2006/main">
  <p:tag name="KSO_WM_DIAGRAM_VIRTUALLY_FRAME" val="{&quot;height&quot;:150,&quot;left&quot;:45,&quot;top&quot;:300,&quot;width&quot;:870}"/>
</p:tagLst>
</file>

<file path=ppt/tags/tag52.xml><?xml version="1.0" encoding="utf-8"?>
<p:tagLst xmlns:p="http://schemas.openxmlformats.org/presentationml/2006/main">
  <p:tag name="KSO_WM_DIAGRAM_VIRTUALLY_FRAME" val="{&quot;height&quot;:150,&quot;left&quot;:45,&quot;top&quot;:300,&quot;width&quot;:870}"/>
</p:tagLst>
</file>

<file path=ppt/tags/tag53.xml><?xml version="1.0" encoding="utf-8"?>
<p:tagLst xmlns:p="http://schemas.openxmlformats.org/presentationml/2006/main">
  <p:tag name="KSO_WM_DIAGRAM_VIRTUALLY_FRAME" val="{&quot;height&quot;:150,&quot;left&quot;:45,&quot;top&quot;:300,&quot;width&quot;:870}"/>
</p:tagLst>
</file>

<file path=ppt/tags/tag54.xml><?xml version="1.0" encoding="utf-8"?>
<p:tagLst xmlns:p="http://schemas.openxmlformats.org/presentationml/2006/main">
  <p:tag name="KSO_WM_DIAGRAM_VIRTUALLY_FRAME" val="{&quot;height&quot;:150,&quot;left&quot;:45,&quot;top&quot;:300,&quot;width&quot;:870}"/>
</p:tagLst>
</file>

<file path=ppt/tags/tag55.xml><?xml version="1.0" encoding="utf-8"?>
<p:tagLst xmlns:p="http://schemas.openxmlformats.org/presentationml/2006/main">
  <p:tag name="KSO_WM_DIAGRAM_VIRTUALLY_FRAME" val="{&quot;height&quot;:150,&quot;left&quot;:45,&quot;top&quot;:300,&quot;width&quot;:870}"/>
</p:tagLst>
</file>

<file path=ppt/tags/tag56.xml><?xml version="1.0" encoding="utf-8"?>
<p:tagLst xmlns:p="http://schemas.openxmlformats.org/presentationml/2006/main">
  <p:tag name="TABLE_ENDDRAG_ORIGIN_RECT" val="267*140"/>
  <p:tag name="TABLE_ENDDRAG_RECT" val="341*330*267*140"/>
</p:tagLst>
</file>

<file path=ppt/tags/tag57.xml><?xml version="1.0" encoding="utf-8"?>
<p:tagLst xmlns:p="http://schemas.openxmlformats.org/presentationml/2006/main">
  <p:tag name="resource_record_key" val="{&quot;10&quot;:[50059164]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4311</Words>
  <Application>WPS 演示</Application>
  <PresentationFormat>On-screen Show (4:3)</PresentationFormat>
  <Paragraphs>727</Paragraphs>
  <Slides>15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24" baseType="lpstr">
      <vt:lpstr>Arial</vt:lpstr>
      <vt:lpstr>宋体</vt:lpstr>
      <vt:lpstr>Wingdings</vt:lpstr>
      <vt:lpstr>Arial</vt:lpstr>
      <vt:lpstr>微软雅黑</vt:lpstr>
      <vt:lpstr>黑体</vt:lpstr>
      <vt:lpstr>Arial Unicode MS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/>
  <cp:revision>8</cp:revision>
  <dcterms:created xsi:type="dcterms:W3CDTF">2013-01-27T09:14:00Z</dcterms:created>
  <dcterms:modified xsi:type="dcterms:W3CDTF">2026-05-12T04:48:36Z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2052-12.1.0.24034</vt:lpwstr>
  </property>
  <property fmtid="{D5CDD505-2E9C-101B-9397-08002B2CF9AE}" pid="3" name="ICV">
    <vt:lpwstr>8837FC326063447D8E6C3DD9CE96A50D_13</vt:lpwstr>
  </property>
</Properties>
</file>