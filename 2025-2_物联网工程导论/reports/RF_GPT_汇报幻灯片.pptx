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03"/>
        <p:guide pos="28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  <a:endParaRPr lang="zh-CN" dirty="0"/>
          </a:p>
          <a:p>
            <a:r>
              <a:rPr lang="zh-CN" dirty="0"/>
              <a:t>• Hook: 大模型能看文字、看图片、听声音，但还不能"看"无线电波。这篇工作填补了这个空白</a:t>
            </a:r>
            <a:endParaRPr lang="zh-CN" dirty="0"/>
          </a:p>
          <a:p>
            <a:r>
              <a:rPr lang="zh-CN" dirty="0"/>
              <a:t>• Transition: 先来看看为什么要做这件事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  <a:endParaRPr lang="zh-CN" dirty="0"/>
          </a:p>
          <a:p>
            <a:r>
              <a:rPr lang="zh-CN" dirty="0"/>
              <a:t>• Timing: 大约 20 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  <a:endParaRPr lang="zh-CN" dirty="0"/>
          </a:p>
          <a:p>
            <a:r>
              <a:rPr lang="zh-CN" dirty="0"/>
              <a:t>• Problem: 但无线通信的物理层信号——RF——还没有被任何主流大模型支持</a:t>
            </a:r>
            <a:endParaRPr lang="zh-CN" dirty="0"/>
          </a:p>
          <a:p>
            <a:r>
              <a:rPr lang="zh-CN" dirty="0"/>
              <a:t>• Question: 有人可能会问，那传统的 RF 机器学习方法不行吗？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  <a:endParaRPr lang="zh-CN" dirty="0"/>
          </a:p>
          <a:p>
            <a:r>
              <a:rPr lang="zh-CN" dirty="0"/>
              <a:t>• Emphasize: 尤其"每任务一个模型"和"没有交互界面"这两点，是促使这篇工作诞生的核心驱动力</a:t>
            </a:r>
            <a:endParaRPr lang="zh-CN" dirty="0"/>
          </a:p>
          <a:p>
            <a:r>
              <a:rPr lang="zh-CN" dirty="0"/>
              <a:t>• Transition: RF-GPT 就是为了解决这些问题提出的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  <a:endParaRPr lang="zh-CN" dirty="0"/>
          </a:p>
          <a:p>
            <a:r>
              <a:rPr lang="zh-CN" dirty="0"/>
              <a:t>• Analogy: 医生看心电图这个类比可以帮助非 RF 专业的听众理解</a:t>
            </a:r>
            <a:endParaRPr lang="zh-CN" dirty="0"/>
          </a:p>
          <a:p>
            <a:r>
              <a:rPr lang="zh-CN" dirty="0"/>
              <a:t>• Key insight: 核心创新点在于"复用"——不重新训练视觉编码器，而是用现成的 VLM 底座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  <a:endParaRPr lang="zh-CN" dirty="0"/>
          </a:p>
          <a:p>
            <a:r>
              <a:rPr lang="zh-CN" dirty="0"/>
              <a:t>• Note limitation: 丢失相位信息——但本文的感知任务不依赖相位</a:t>
            </a:r>
            <a:endParaRPr lang="zh-CN" dirty="0"/>
          </a:p>
          <a:p>
            <a:r>
              <a:rPr lang="zh-CN" dirty="0"/>
              <a:t>• Show gallery: 这六种技术各有不同的频谱图特征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  <a:endParaRPr lang="zh-CN" dirty="0"/>
          </a:p>
          <a:p>
            <a:r>
              <a:rPr lang="zh-CN" dirty="0"/>
              <a:t>• Why synthetic: 真实数据太贵、太不平衡、标注太难</a:t>
            </a:r>
            <a:endParaRPr lang="zh-CN" dirty="0"/>
          </a:p>
          <a:p>
            <a:r>
              <a:rPr lang="zh-CN" dirty="0"/>
              <a:t>• Transition: 有了数据，怎么变成训练用的指令？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  <a:endParaRPr lang="zh-CN" dirty="0"/>
          </a:p>
          <a:p>
            <a:r>
              <a:rPr lang="zh-CN" dirty="0"/>
              <a:t>• 5 levels: 注意他们设计了 5 个信息层级，当前只用了前 3 个</a:t>
            </a:r>
            <a:endParaRPr lang="zh-CN" dirty="0"/>
          </a:p>
          <a:p>
            <a:r>
              <a:rPr lang="zh-CN" dirty="0"/>
              <a:t>• Key point: 整个流程不需要人工介入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  <a:endParaRPr lang="zh-CN" dirty="0"/>
          </a:p>
          <a:p>
            <a:r>
              <a:rPr lang="zh-CN" dirty="0"/>
              <a:t>• Key finding: 通用 VLM 在 RF 任务上≈随机猜测</a:t>
            </a:r>
            <a:endParaRPr lang="zh-CN" dirty="0"/>
          </a:p>
          <a:p>
            <a:r>
              <a:rPr lang="zh-CN" dirty="0"/>
              <a:t>• Five benchmarks: 然后进入正式评测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  <a:endParaRPr lang="zh-CN" dirty="0"/>
          </a:p>
          <a:p>
            <a:r>
              <a:rPr lang="zh-CN" dirty="0"/>
              <a:t>• Emphasize: 尤其是信号数量识别 98% vs &lt;5%，说明 RF grounding 确实学到了时频结构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  <a:endParaRPr lang="zh-CN" dirty="0"/>
          </a:p>
          <a:p>
            <a:r>
              <a:rPr lang="zh-CN" dirty="0"/>
              <a:t>• WNUC: 11be 优于 11ax 的原因很有意思——MU-MIMO 造成视觉重叠</a:t>
            </a:r>
            <a:endParaRPr lang="zh-CN" dirty="0"/>
          </a:p>
          <a:p>
            <a:r>
              <a:rPr lang="zh-CN" dirty="0"/>
              <a:t>• NRIE: SCS 和 SSB 接近完美，计数类任务还有提升空间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  <a:endParaRPr lang="zh-CN" dirty="0"/>
          </a:p>
          <a:p>
            <a:r>
              <a:rPr lang="zh-CN" dirty="0"/>
              <a:t>• vs CNN/Transformer: RF-GPT 3 epoch 超越 ViT-H 30 epoch——数据效率是亮点</a:t>
            </a:r>
            <a:endParaRPr lang="zh-CN" dirty="0"/>
          </a:p>
          <a:p>
            <a:r>
              <a:rPr lang="zh-CN" dirty="0"/>
              <a:t>• Resolution: 512 最佳但有成本权衡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  <a:endParaRPr lang="zh-CN" dirty="0"/>
          </a:p>
          <a:p>
            <a:r>
              <a:rPr lang="zh-CN" dirty="0"/>
              <a:t>• Telecom LLMs: 文本中心，看不到物理层</a:t>
            </a:r>
            <a:endParaRPr lang="zh-CN" dirty="0"/>
          </a:p>
          <a:p>
            <a:r>
              <a:rPr lang="zh-CN" dirty="0"/>
              <a:t>• VLA parallels: 思想一脉相承——VLM + 适配器 + 新模态</a:t>
            </a:r>
            <a:endParaRPr lang="zh-CN" dirty="0"/>
          </a:p>
          <a:p>
            <a:r>
              <a:rPr lang="zh-CN" dirty="0"/>
              <a:t>• Table: RF-GPT 是唯一同时具备 RF感知 + 语言交互 + 统一架构 + 多任务的方案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  <a:endParaRPr lang="zh-CN" dirty="0"/>
          </a:p>
          <a:p>
            <a:r>
              <a:rPr lang="zh-CN" dirty="0"/>
              <a:t>• Limitations: 坦诚地说——合成数据、单输入、粗粒度</a:t>
            </a:r>
            <a:endParaRPr lang="zh-CN" dirty="0"/>
          </a:p>
          <a:p>
            <a:r>
              <a:rPr lang="zh-CN" dirty="0"/>
              <a:t>• Future: 真实数据、MIMO、6G 集成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  <a:endParaRPr lang="zh-CN" dirty="0"/>
          </a:p>
          <a:p>
            <a:r>
              <a:rPr lang="zh-CN" dirty="0"/>
              <a:t>• Paper reference: 论文在 arXiv 上可查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15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6223000"/>
            <a:ext cx="12192000" cy="666750"/>
          </a:xfrm>
          <a:custGeom>
            <a:avLst/>
            <a:gdLst/>
            <a:ahLst/>
            <a:cxnLst/>
            <a:rect l="l" t="t" r="r" b="b"/>
            <a:pathLst>
              <a:path w="12192000" h="666750">
                <a:moveTo>
                  <a:pt x="0" y="254000"/>
                </a:moveTo>
                <a:cubicBezTo>
                  <a:pt x="2032000" y="0"/>
                  <a:pt x="4064000" y="31750"/>
                  <a:pt x="6096000" y="349250"/>
                </a:cubicBezTo>
                <a:cubicBezTo>
                  <a:pt x="8128000" y="666750"/>
                  <a:pt x="10160000" y="603250"/>
                  <a:pt x="12192000" y="158750"/>
                </a:cubicBez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4749" y="2329339"/>
            <a:ext cx="1148250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15269" y="3138964"/>
            <a:ext cx="816146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the Wireless World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143500" y="4095750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41527" y="4241959"/>
            <a:ext cx="470894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射频大模型 —— 让AI"看懂"无线电</a:t>
            </a:r>
            <a:endParaRPr lang="zh-CN" sz="2175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30631" y="5569268"/>
            <a:ext cx="9330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Zou, Yu Tian, Bohao Wang, Lina Bariah, Samson Lasaulce, Chongwen Huang, Merouane Debbah</a:t>
            </a:r>
            <a:endParaRPr lang="zh-CN" sz="135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558034" y="5918835"/>
            <a:ext cx="70759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arXiv:2602.14833 | Khalifa University / Zhejiang University / Universite de Lorraine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87974" y="6252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汇报提纲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6760" y="822960"/>
            <a:ext cx="6964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OUTLINE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8670" y="18697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背景与动机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2187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大模型的成功与射频缺席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426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传统射频智能的四重困境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2480" y="2664142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RFLM愿景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98670" y="1869758"/>
            <a:ext cx="19649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核心思路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02480" y="2187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三大组件架构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02480" y="24260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为何选择频谱图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02480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类比：RF全科医生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08670" y="1869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数据合成管线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412480" y="2187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六种无线技术波形生成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12480" y="2426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12480" y="2664142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零人工标注：62.5万指令对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88670" y="4441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实验评估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92480" y="475964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五大基准任务全面评测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92480" y="49977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 vs RF-GPT对比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92480" y="52358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消融与鲁棒性分析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598670" y="4441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相关工作对比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602480" y="4759642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RF基础模型对比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602480" y="49977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02480" y="5235892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与VLA模型的联系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408670" y="4441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412480" y="4759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三大贡献总结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412480" y="4997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412480" y="5235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1565C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大模型的成功与缺失的一环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30480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9434" y="25841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9622" y="3354229"/>
            <a:ext cx="26278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GPT-4o、Gemini、LLaMA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9622" y="36399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文本生成、代码合成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9622" y="39257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多步推理、工具使用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9622" y="43067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自然语言交互界面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8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3048000"/>
            <a:ext cx="342900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5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31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99622" y="3354229"/>
            <a:ext cx="258182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Qwen2.5-VL、InternVL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99622" y="3639979"/>
            <a:ext cx="19032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"看懂"图像与视频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99622" y="3925729"/>
            <a:ext cx="20872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Whisper"听懂"音频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99622" y="43067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多模态推理能力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19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19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91500" y="3048000"/>
            <a:ext cx="34290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05694" y="1554956"/>
            <a:ext cx="800612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2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射频信号缺席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409622" y="33542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无线通信物理层信号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09622" y="3639979"/>
            <a:ext cx="23402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尚未被大模型原生支持</a:t>
            </a:r>
            <a:endParaRPr lang="zh-CN" sz="1575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412480" y="4045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现有方法：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412480" y="4283392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 + 领域专用模型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412480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缺少统一框架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传统射频智能的困境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6200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0128" y="1670209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114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任务特定模型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076450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每种RF任务各自独立架构、独立数据集、独立训练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362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调制识别、信道估计、波束选择各需不同模型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64795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跨任务复用几乎为零，重复建设严重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251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代码复用率低，维护成本高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38175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38175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39878" y="16702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2089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数据标注昂贵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48450" y="2076450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RF数据集需专家标注 + 专用硬件 + 长时间采集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48450" y="23622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真实环境类别高度不平衡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48450" y="2647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罕见干扰模式几乎无法采集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522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大规模监督学习难以实现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76200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012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0114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缺乏泛化能力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4552950"/>
            <a:ext cx="4463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一种SNR/信道条件下训练，换环境就性能骤降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8700" y="48387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硬件差异、信道变化直接影响模型准确率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512445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实际部署需反复重新训练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2510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换场景即失效，鲁棒性差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38175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38175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987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2089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缺乏交互界面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648450" y="4552950"/>
            <a:ext cx="29079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传统RF模型只输出标签或数值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48450" y="4838700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无法解释"为什么"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648450" y="51244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无法回答后续问题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652260" y="5585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人机交互体验差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35726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核心架构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6536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编码器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8977" y="2092642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 信号 → 频谱图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24134" y="2330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↓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9402" y="2568892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视觉编码器 (ViT)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2723" y="282321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RF Tokens (1369个)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342900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09575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28625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28625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8961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适配器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109686" y="2140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线性投影层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28723" y="2426018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 → dLM 维度映射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85170" y="28232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类似 LLaVA 投影模块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695325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762000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810500" y="152400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810500" y="15240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28993" y="1758315"/>
            <a:ext cx="23920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Decoder-only LLM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620601" y="21402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Tokens 作为前缀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029724" y="2378392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文本指令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403717" y="2616518"/>
            <a:ext cx="22425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RF-grounded 文本输出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576500" y="2870835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 (3B / 7B)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762000" y="36195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857250"/>
                </a:lnTo>
                <a:cubicBezTo>
                  <a:pt x="10668000" y="909855"/>
                  <a:pt x="10625355" y="952500"/>
                  <a:pt x="10572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26795" y="3822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关键洞察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4143375"/>
            <a:ext cx="690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RF信号 → 频谱图(图像) → 复用VLM视觉编码能力 → 轻量适配器注入LLM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047750"/>
                </a:lnTo>
                <a:cubicBezTo>
                  <a:pt x="10668000" y="1100355"/>
                  <a:pt x="10625355" y="1143000"/>
                  <a:pt x="10572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6795" y="5041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类比理解</a:t>
            </a:r>
            <a:endParaRPr lang="zh-CN" sz="165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28700" y="5362575"/>
            <a:ext cx="8275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就像医生看心电图（将心脏电信号转为二维图）来诊断病情，RF-GPT 将无线电波转为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5629275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频谱图来"诊断"无线环境。传统方法好比每个病都要重新学一套诊断工具。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0799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为什么选频谱图而非原始IQ？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85800" y="159067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09051" y="16640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70622" y="154447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计算可行性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3480" y="185451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IQ采样率过高，直接输入Transformer计算不可行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1500" y="2333625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3173" y="2664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0622" y="2544604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天然时频表示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3480" y="2854642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调制方式、带宽、重叠呈现为几何特征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1500" y="33337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85800" y="35909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3173" y="36642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70622" y="3544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复用预训练能力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73480" y="3854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视觉编码器可提取频谱图的通用语义结构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4429125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0105" y="4569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局限性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2010" y="4842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丢失绝对相位信息；本文感知任务不依赖相位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6286500" y="1333500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93903" y="1517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六种无线技术频谱图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286500" y="1809750"/>
            <a:ext cx="5334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5722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08664" y="2295525"/>
            <a:ext cx="6131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90487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982926" y="22955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5722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01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90487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966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65722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16653" y="4200525"/>
            <a:ext cx="797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90487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632132" y="4200525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277671" y="5109210"/>
            <a:ext cx="3351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STFT变换 → 512×512像素 → 1369个RF token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合成数据：六种无线技术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5722" y="152019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8940" y="18707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蜂窝通信 · 子载波间隔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59611" y="210883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资源块分配 · SSB模式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3993" y="23469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/ SRS / PDCCH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845412" y="15201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31524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4G 蜂窝 · 带宽配置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66576" y="2108835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帧结构 · 参考信号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67350" y="2346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物理层完整实现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4274" y="1520190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93898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 蜂窝 · 码分多址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65552" y="210883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WCDMA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3540" y="2346960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3GPP 标准符合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979524" y="3187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34097" y="353758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802.11ax / 802.11be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65542" y="377571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OFDMA 资源单元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31264" y="4013835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MU-MIMO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7683" y="318706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730240" y="3537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卫星通信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379720" y="3775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调制编码方案配置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541835" y="401383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DVB-S2X 标准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809625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86834" y="318706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404985" y="35375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短距离通信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492615" y="3775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跳频模式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317355" y="4013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BR/EDR 与 LE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571500" y="4762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904970" y="4679156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645087" y="537876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场景数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651939" y="4679156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~625,000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198715" y="537876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指令-答案对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869653" y="4679156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017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人工标注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自动化标注与指令合成管线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8053" y="1521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波形生成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8511" y="1791652"/>
            <a:ext cx="11614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MATLAB Toolbox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0362" y="19821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6种无线技术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5858" y="2172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标准符合验证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2667000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143250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3286125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99165" y="1521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确定性标注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37159" y="1791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元数据提取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10964" y="19821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SNR / 带宽 / 调制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657290" y="2172652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完美 ground truth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5381625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5857875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6000750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13790" y="1521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结构化描述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09612" y="17916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5个信息层级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22076" y="1982152"/>
            <a:ext cx="1452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摘要 / 视觉 / 上下文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75108" y="2172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密集技术描述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096250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572500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715375" y="1333500"/>
            <a:ext cx="2286000" cy="1143000"/>
          </a:xfrm>
          <a:custGeom>
            <a:avLst/>
            <a:gdLst/>
            <a:ahLst/>
            <a:cxnLst/>
            <a:rect l="l" t="t" r="r" b="b"/>
            <a:pathLst>
              <a:path w="2286000" h="1143000">
                <a:moveTo>
                  <a:pt x="95250" y="0"/>
                </a:moveTo>
                <a:lnTo>
                  <a:pt x="2190750" y="0"/>
                </a:lnTo>
                <a:cubicBezTo>
                  <a:pt x="2243355" y="0"/>
                  <a:pt x="2286000" y="42645"/>
                  <a:pt x="2286000" y="95250"/>
                </a:cubicBezTo>
                <a:lnTo>
                  <a:pt x="2286000" y="1047750"/>
                </a:lnTo>
                <a:cubicBezTo>
                  <a:pt x="2286000" y="1100355"/>
                  <a:pt x="2243355" y="1143000"/>
                  <a:pt x="2190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204625" y="1521142"/>
            <a:ext cx="13074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 指令合成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42811" y="17916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GPT-OSS-120B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92650" y="1982152"/>
            <a:ext cx="9314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多样化 QA 对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074444" y="217265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计数/分类/重叠/JSON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1045" y="277463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个信息层级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57150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370171" y="3267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摘要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69181" y="3553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场景级高层描述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81004" y="374427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"5G NR下行链路…"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2809875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378518" y="3267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全局视觉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54204" y="3553778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SSB / CSI-RS / 占用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504825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501878" y="3267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全局上下文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473089" y="3553778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带宽 / SCS / 时长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7286625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855268" y="3267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信号视觉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799642" y="3553778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SNR / 时频占用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952500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978628" y="3267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信号上下文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976675" y="355377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DM-RS / PTRS 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571500" y="4381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0050"/>
                </a:lnTo>
                <a:cubicBezTo>
                  <a:pt x="11049000" y="442134"/>
                  <a:pt x="11014884" y="476250"/>
                  <a:pt x="10972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44855" y="4521518"/>
            <a:ext cx="9922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* 本文主要使用摘要、全局视觉、信号视觉三个层级；细粒度信号上下文（DM-RS/PTRS/CORESET）留待未来工作</a:t>
            </a:r>
            <a:endParaRPr lang="zh-CN" sz="13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1937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通用VLM毫无RF先验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78257" y="1504950"/>
            <a:ext cx="3120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Qwen2.5-VL-7B（通用VLM）</a:t>
            </a:r>
            <a:endParaRPr lang="zh-CN" sz="150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760" y="1823085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"这个频谱图显示了多种射频信号。中央区域有几条突出的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6760" y="2013585"/>
            <a:ext cx="42542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垂直线…可能是业余电台或雷达系统的窄带传输…右侧有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6760" y="2204085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较弱的弥散线条…"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4855" y="2521268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输出笼统、无RF具体信息</a:t>
            </a:r>
            <a:endParaRPr lang="zh-CN" sz="13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37330" y="200358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vs</a:t>
            </a:r>
            <a:endParaRPr lang="zh-CN" sz="2175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286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6286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5129" y="1504950"/>
            <a:ext cx="1176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461760" y="1823085"/>
            <a:ext cx="4306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"该频谱图为5G NR下行链路，FR2频段。SSB采用Case D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61760" y="2013585"/>
            <a:ext cx="43769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传输模式，PDCCH活跃。未检测到CSI-RS。数据载荷占用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461760" y="2204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一个连续的PRB块，占用的带宽中等…"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459855" y="2521268"/>
            <a:ext cx="24978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准确的RF-grounded回答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1045" y="3441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五大基准任务概览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7150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0485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4407" y="415671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5855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29665" y="4220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宽带调制分类（Easy/Medium/Hard）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333875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467225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53779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888230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892040" y="42205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宽带重叠检测（时域/频域）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809625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822960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6154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650605" y="3950018"/>
            <a:ext cx="417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654415" y="42205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无线技术识别（6种技术）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04850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1404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25855" y="4997768"/>
            <a:ext cx="5311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29665" y="5268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433387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4467225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553779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888230" y="4997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892040" y="5268278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09625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235679" y="504539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通用VLM表现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795956" y="5347335"/>
            <a:ext cx="2124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全部接近随机猜测（&lt;10%）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调制分类与重叠检测结果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 — 宽带调制分类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83410" y="1729740"/>
            <a:ext cx="448310" cy="2749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5115" y="173005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06981" y="179228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1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16355" y="21783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Easy（识别调制族）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50739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34074" y="21783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71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16355" y="2578418"/>
            <a:ext cx="20946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Medium（精确调制类）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08026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5.3%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34074" y="259238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74.2%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71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16355" y="29784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Hard（全列表识别）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508661" y="29784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834074" y="2978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47.8%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8665" y="33632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RF-GPT识别信号数量准确率 ≈ 98%，通用VLM几乎全部失败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6096000" y="1333500"/>
            <a:ext cx="9525" cy="4857750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54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 — 宽带重叠检测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6286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98394" y="1729423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46490" y="173005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379766" y="1729423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6286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31355" y="21783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Easy（全局重叠类别）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428766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~25%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633373" y="21783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91.5%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6286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31355" y="2578418"/>
            <a:ext cx="2291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Medium（成对重叠类别）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42940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~30%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6328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87.6%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286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31355" y="29784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Hard（重叠程度量化）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478812" y="2978468"/>
            <a:ext cx="41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633373" y="29784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71.7%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63665" y="3363278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通用VLM倾向于预测"无重叠"造成偏低分数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599134" y="5886450"/>
            <a:ext cx="6993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在两大基准上全面超越通用 VLM，且在信号数量识别上近乎完美</a:t>
            </a:r>
            <a:endParaRPr lang="zh-CN" sz="150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1610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技术识别 / 用户计数 / NR信息提取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905125"/>
            <a:ext cx="3524250" cy="952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55433" y="1663065"/>
            <a:ext cx="556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4978" y="1997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7482" y="2221706"/>
            <a:ext cx="219228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99.64%</a:t>
            </a:r>
            <a:endParaRPr lang="zh-CN" sz="4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314039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+ 上下行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385" y="3442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 / LTE / UMTS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661410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 / DVB-S2 / Bluetooth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4385" y="40138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混淆矩阵近乎完美对角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94385" y="4232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各类别间几乎无混淆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6290" y="46015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仅 ~5% 准确率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6290" y="47920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（严重偏向 LTE DL 预测）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333875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2905125"/>
            <a:ext cx="3524250" cy="9525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41899" y="1663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49335" y="1997392"/>
            <a:ext cx="14933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078929" y="2221706"/>
            <a:ext cx="203414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70.17%</a:t>
            </a:r>
            <a:endParaRPr lang="zh-CN" sz="4125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4855" y="3140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11be 优于 11ax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556760" y="3442335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11ax 使用 MU-MIMO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556760" y="3661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用户视觉重叠严重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56760" y="4013835"/>
            <a:ext cx="15464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Easy: 88.1% (11be)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556760" y="42329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Hard: 74.3% (11be)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58665" y="4601528"/>
            <a:ext cx="12841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仅 ~23%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5866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（依赖简单启发式）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09625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2905125"/>
            <a:ext cx="3524250" cy="9525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66381" y="1663065"/>
            <a:ext cx="583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200436" y="1997392"/>
            <a:ext cx="13158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317230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关键指标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833437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62010" y="3528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SCS 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514290" y="35118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99.1%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833437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2010" y="39090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SSB 模式识别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462534" y="38928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98.2%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833437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010" y="42900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UE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538936" y="4273868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69.1%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334375" y="4572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2010" y="46710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489644" y="4654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57.2%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4953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62010" y="5052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9644" y="5035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59.2%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321040" y="54587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平均 ~20%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消融实验要点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428875"/>
            <a:ext cx="3524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2067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鲁棒性分析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33322" y="194691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对常见RF损伤的抵抗力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66414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 4 种损伤类型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09625" y="3048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260" y="31470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CFO（载波频偏）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27960" y="31470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几乎无影响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0962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7260" y="35280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PA（功放非线性）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253740" y="35280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0962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390906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TDL（多径信道）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03220" y="3909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中等下降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42900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 不平衡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47544" y="42900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最严重 (-6pp)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6290" y="474440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IQ不平衡产生镜像频率成分，直接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6290" y="49158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干扰视觉结构计数能力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333875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428875"/>
            <a:ext cx="352425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13670" y="1567815"/>
            <a:ext cx="2764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vs CNN/Transformer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305234" y="19469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与非LLM基线的对比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7200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32557" y="2771775"/>
            <a:ext cx="23268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(3 epoch)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04358" y="30737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76.96% NRIE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4572000" y="3476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85256" y="35975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753529" y="3788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76.39%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4572000" y="40481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285256" y="41690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ViT-B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753529" y="43595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72.34%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4572000" y="4619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930354" y="4740592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EfficientNet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753529" y="4931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70.85%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58665" y="5411152"/>
            <a:ext cx="22426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仅用 3 epoch 即超越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58665" y="558260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30 epoch，数据效率极高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09625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96250" y="2428875"/>
            <a:ext cx="352425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4542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分辨率影响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142095" y="1946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8E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频谱图分辨率实验</a:t>
            </a:r>
            <a:endParaRPr lang="zh-CN" sz="1200" dirty="0">
              <a:solidFill>
                <a:srgbClr val="FFF8E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266700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0105" y="2759392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224 × 224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584894" y="275939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8334375" y="319087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460105" y="328326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384 × 384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584894" y="32832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78.7%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8334375" y="371475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60105" y="3807142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512 × 512（选用）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557784" y="3807142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338653" y="4282440"/>
            <a:ext cx="1039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+9.5 pp</a:t>
            </a:r>
            <a:endParaRPr lang="zh-CN" sz="18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9144000" y="4429125"/>
            <a:ext cx="1428750" cy="142875"/>
          </a:xfrm>
          <a:custGeom>
            <a:avLst/>
            <a:gdLst/>
            <a:ahLst/>
            <a:cxnLst/>
            <a:rect l="l" t="t" r="r" b="b"/>
            <a:pathLst>
              <a:path w="1428750" h="142875">
                <a:moveTo>
                  <a:pt x="0" y="142875"/>
                </a:moveTo>
                <a:lnTo>
                  <a:pt x="714375" y="0"/>
                </a:lnTo>
                <a:lnTo>
                  <a:pt x="1428750" y="142875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10572750" y="4543425"/>
            <a:ext cx="95250" cy="57150"/>
          </a:xfrm>
          <a:custGeom>
            <a:avLst/>
            <a:gdLst/>
            <a:ahLst/>
            <a:cxnLst/>
            <a:rect l="l" t="t" r="r" b="b"/>
            <a:pathLst>
              <a:path w="95250" h="57150">
                <a:moveTo>
                  <a:pt x="0" y="0"/>
                </a:moveTo>
                <a:lnTo>
                  <a:pt x="9525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1040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更高分辨率保留更多判别性时频细节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8321040" y="51254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 token 数增加，推理成本更高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与相关工作对比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29485" y="1488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基础模型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2480" y="1806892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WFM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4385" y="20421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通用RF表征 + 任务特定头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311718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LWM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4385" y="25469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信道建模基础模型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8165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WirelessGPT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051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多任务学习框架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6290" y="3315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每任务仍需单独微调或输出头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33875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33875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2692" y="1488758"/>
            <a:ext cx="16866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</a:t>
            </a:r>
            <a:endParaRPr lang="zh-CN" sz="16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4855" y="1806892"/>
            <a:ext cx="1162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56760" y="204216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告警、KPI、日志、配置表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54855" y="2311718"/>
            <a:ext cx="17940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LLM4Telecom 系列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56760" y="2546985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OSS/BSS 数据、网络管理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58665" y="2934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文本中心，无法处理物理层RF信号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58665" y="3144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与RF-GPT形成互补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09625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58135" y="148875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VLA 模型的启示</a:t>
            </a:r>
            <a:endParaRPr lang="zh-CN" sz="16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17230" y="180689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RT-2 / PaLM-E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319135" y="20421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将VLM扩展到机器人控制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19135" y="23279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核心理念一致：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19135" y="25469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预训练VLM + 轻量适配器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19135" y="276606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注入新模态（动作/RF）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21040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借鉴了 VLA 范式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571500" y="3905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62226" y="409194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的突破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297906" y="4457700"/>
            <a:ext cx="75961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首个通过语言指令统一多种 RF 任务的模型，无需修改架构，只需改变 prompt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1045" y="510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对比总结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571500" y="5476875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705737" y="5604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方法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323850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766699" y="5604510"/>
            <a:ext cx="60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RF感知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490537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350764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语言交互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657225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017639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统一架构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823912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776526" y="5604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571500" y="5857875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42847" y="5956935"/>
            <a:ext cx="9243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传统RF模型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323850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00373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490537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67061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657225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33748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823912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0436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571500" y="6191250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600581" y="62903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323850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00373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490537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7061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Freeform 65"/>
          <p:cNvSpPr/>
          <p:nvPr/>
        </p:nvSpPr>
        <p:spPr>
          <a:xfrm>
            <a:off x="657225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33748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823912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0436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675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696" y="19907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 概念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4385" y="2232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提出射频语言模型概念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4385" y="2461260"/>
            <a:ext cx="1537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首次实现：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385" y="26898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 + VLM → RFLM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29125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7317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8157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合成数据管线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56760" y="22326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× 自动化标注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6760" y="246126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12K场景 / 625K指令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56760" y="26898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99692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743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319135" y="2232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多任务统一架构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319135" y="24612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全面超越通用VLM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19135" y="26898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数据效率超CNN/Transformer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1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6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Ellipse 30"/>
          <p:cNvSpPr/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8547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纯合成数据，未在真实空口验证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762000" y="4191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1405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仅单输入频谱图，不支持MIMO/ISAC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426268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细粒度NR特征（PTRS/CORESET）尚未覆盖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75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6096000" y="3857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940492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真实空口数据 + 合成预训练联合训练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096000" y="428625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369118"/>
            <a:ext cx="3287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多天线MIMO频谱图、ISAC通感一体化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6096000" y="47148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977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O-RAN集成 → 6G AI-native网络RF推理引擎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44000" y="-38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762000" y="47625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?</a:t>
            </a:r>
            <a:endParaRPr lang="zh-CN" sz="9000" b="1" dirty="0">
              <a:solidFill>
                <a:srgbClr val="FFFFFF">
                  <a:alpha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Thank You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&amp; A</a:t>
            </a:r>
            <a:endParaRPr lang="zh-CN" sz="27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0694" y="441007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 the Wireless World</a:t>
            </a:r>
            <a:endParaRPr lang="zh-CN" sz="150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51543" y="4759642"/>
            <a:ext cx="3888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 et al. | arXiv:2602.14833 | 2026</a:t>
            </a:r>
            <a:endParaRPr lang="zh-CN" sz="135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75073" y="558546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github.com / arXiv:2602.14833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4397</Words>
  <Application>WPS 演示</Application>
  <PresentationFormat>On-screen Show (4:3)</PresentationFormat>
  <Paragraphs>828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/>
  <cp:revision>2</cp:revision>
  <dcterms:created xsi:type="dcterms:W3CDTF">2013-01-27T09:14:00Z</dcterms:created>
  <dcterms:modified xsi:type="dcterms:W3CDTF">2026-05-04T06:12:28Z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0AA3EAC1AE7C47BBB47F948B2896BFCA_12</vt:lpwstr>
  </property>
</Properties>
</file>