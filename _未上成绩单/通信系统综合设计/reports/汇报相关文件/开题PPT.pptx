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8.svg" ContentType="image/svg+xml"/>
  <Override PartName="/ppt/media/image20.svg" ContentType="image/svg+xml"/>
  <Override PartName="/ppt/media/image2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0"/>
  </p:notesMasterIdLst>
  <p:sldIdLst>
    <p:sldId id="260" r:id="rId4"/>
    <p:sldId id="261" r:id="rId5"/>
    <p:sldId id="262" r:id="rId6"/>
    <p:sldId id="278" r:id="rId7"/>
    <p:sldId id="286" r:id="rId8"/>
    <p:sldId id="280" r:id="rId9"/>
    <p:sldId id="267" r:id="rId10"/>
    <p:sldId id="281" r:id="rId11"/>
    <p:sldId id="282" r:id="rId12"/>
    <p:sldId id="284" r:id="rId13"/>
    <p:sldId id="272" r:id="rId14"/>
    <p:sldId id="285" r:id="rId15"/>
    <p:sldId id="274" r:id="rId16"/>
    <p:sldId id="275" r:id="rId17"/>
    <p:sldId id="287" r:id="rId18"/>
    <p:sldId id="277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34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5" Type="http://schemas.openxmlformats.org/officeDocument/2006/relationships/tags" Target="../tags/tag228.xml"/><Relationship Id="rId14" Type="http://schemas.openxmlformats.org/officeDocument/2006/relationships/tags" Target="../tags/tag227.xml"/><Relationship Id="rId13" Type="http://schemas.openxmlformats.org/officeDocument/2006/relationships/tags" Target="../tags/tag226.xml"/><Relationship Id="rId12" Type="http://schemas.openxmlformats.org/officeDocument/2006/relationships/tags" Target="../tags/tag225.xml"/><Relationship Id="rId11" Type="http://schemas.openxmlformats.org/officeDocument/2006/relationships/tags" Target="../tags/tag224.xml"/><Relationship Id="rId10" Type="http://schemas.openxmlformats.org/officeDocument/2006/relationships/tags" Target="../tags/tag22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image" Target="../media/image1.jpeg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image" Target="../media/image1.jpeg"/><Relationship Id="rId2" Type="http://schemas.openxmlformats.org/officeDocument/2006/relationships/tags" Target="../tags/tag271.xml"/><Relationship Id="rId10" Type="http://schemas.openxmlformats.org/officeDocument/2006/relationships/tags" Target="../tags/tag278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image" Target="../media/image1.jpeg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image" Target="../media/image1.jpeg"/><Relationship Id="rId2" Type="http://schemas.openxmlformats.org/officeDocument/2006/relationships/tags" Target="../tags/tag284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8" Type="http://schemas.openxmlformats.org/officeDocument/2006/relationships/tags" Target="../tags/tag307.xml"/><Relationship Id="rId17" Type="http://schemas.openxmlformats.org/officeDocument/2006/relationships/tags" Target="../tags/tag306.xml"/><Relationship Id="rId16" Type="http://schemas.openxmlformats.org/officeDocument/2006/relationships/tags" Target="../tags/tag305.xml"/><Relationship Id="rId15" Type="http://schemas.openxmlformats.org/officeDocument/2006/relationships/tags" Target="../tags/tag304.xml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4290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34290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7338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7338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2484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2484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65532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5532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90678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90678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3726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3726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2" hasCustomPrompt="1"/>
            <p:custDataLst>
              <p:tags r:id="rId7"/>
            </p:custDataLst>
          </p:nvPr>
        </p:nvSpPr>
        <p:spPr>
          <a:xfrm>
            <a:off x="15748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4" hasCustomPrompt="1"/>
            <p:custDataLst>
              <p:tags r:id="rId11"/>
            </p:custDataLst>
          </p:nvPr>
        </p:nvSpPr>
        <p:spPr>
          <a:xfrm>
            <a:off x="53340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7752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7752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6" hasCustomPrompt="1"/>
            <p:custDataLst>
              <p:tags r:id="rId15"/>
            </p:custDataLst>
          </p:nvPr>
        </p:nvSpPr>
        <p:spPr>
          <a:xfrm>
            <a:off x="9093200" y="2057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3352800" y="1739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3352800" y="22987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8991600" y="1739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8991600" y="22987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352800" y="4254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3352800" y="4813300"/>
            <a:ext cx="2590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15748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53340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7752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7752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0932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5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31"/>
          <p:cNvSpPr/>
          <p:nvPr userDrawn="1">
            <p:custDataLst>
              <p:tags r:id="rId2"/>
            </p:custDataLst>
          </p:nvPr>
        </p:nvSpPr>
        <p:spPr>
          <a:xfrm>
            <a:off x="11348290" y="5086154"/>
            <a:ext cx="843710" cy="1727100"/>
          </a:xfrm>
          <a:custGeom>
            <a:avLst/>
            <a:gdLst>
              <a:gd name="connsiteX0" fmla="*/ 1521923 w 3043846"/>
              <a:gd name="connsiteY0" fmla="*/ 0 h 3115424"/>
              <a:gd name="connsiteX1" fmla="*/ 3043846 w 3043846"/>
              <a:gd name="connsiteY1" fmla="*/ 1557712 h 3115424"/>
              <a:gd name="connsiteX2" fmla="*/ 1521923 w 3043846"/>
              <a:gd name="connsiteY2" fmla="*/ 3115424 h 3115424"/>
              <a:gd name="connsiteX3" fmla="*/ 0 w 3043846"/>
              <a:gd name="connsiteY3" fmla="*/ 1557712 h 3115424"/>
              <a:gd name="connsiteX4" fmla="*/ 1521923 w 3043846"/>
              <a:gd name="connsiteY4" fmla="*/ 0 h 3115424"/>
              <a:gd name="connsiteX5" fmla="*/ 1521923 w 3043846"/>
              <a:gd name="connsiteY5" fmla="*/ 645199 h 3115424"/>
              <a:gd name="connsiteX6" fmla="*/ 630375 w 3043846"/>
              <a:gd name="connsiteY6" fmla="*/ 1557712 h 3115424"/>
              <a:gd name="connsiteX7" fmla="*/ 1521923 w 3043846"/>
              <a:gd name="connsiteY7" fmla="*/ 2470225 h 3115424"/>
              <a:gd name="connsiteX8" fmla="*/ 2413471 w 3043846"/>
              <a:gd name="connsiteY8" fmla="*/ 1557712 h 3115424"/>
              <a:gd name="connsiteX9" fmla="*/ 1521923 w 3043846"/>
              <a:gd name="connsiteY9" fmla="*/ 645199 h 3115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9" h="2720">
                <a:moveTo>
                  <a:pt x="1329" y="0"/>
                </a:moveTo>
                <a:lnTo>
                  <a:pt x="1329" y="758"/>
                </a:lnTo>
                <a:lnTo>
                  <a:pt x="741" y="1360"/>
                </a:lnTo>
                <a:lnTo>
                  <a:pt x="1329" y="1962"/>
                </a:lnTo>
                <a:lnTo>
                  <a:pt x="1329" y="2720"/>
                </a:lnTo>
                <a:lnTo>
                  <a:pt x="0" y="1360"/>
                </a:lnTo>
                <a:lnTo>
                  <a:pt x="13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9291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阿里巴巴普惠体 R" panose="00020600040101010101" pitchFamily="18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8" r="22340"/>
          <a:stretch>
            <a:fillRect/>
          </a:stretch>
        </p:blipFill>
        <p:spPr>
          <a:xfrm>
            <a:off x="7241540" y="5080"/>
            <a:ext cx="4950460" cy="6848475"/>
          </a:xfrm>
          <a:custGeom>
            <a:avLst/>
            <a:gdLst>
              <a:gd name="connsiteX0" fmla="*/ 3396482 w 7970197"/>
              <a:gd name="connsiteY0" fmla="*/ 0 h 6848272"/>
              <a:gd name="connsiteX1" fmla="*/ 5546837 w 7970197"/>
              <a:gd name="connsiteY1" fmla="*/ 0 h 6848272"/>
              <a:gd name="connsiteX2" fmla="*/ 7970197 w 7970197"/>
              <a:gd name="connsiteY2" fmla="*/ 2480347 h 6848272"/>
              <a:gd name="connsiteX3" fmla="*/ 7970197 w 7970197"/>
              <a:gd name="connsiteY3" fmla="*/ 4472358 h 6848272"/>
              <a:gd name="connsiteX4" fmla="*/ 5648870 w 7970197"/>
              <a:gd name="connsiteY4" fmla="*/ 6848272 h 6848272"/>
              <a:gd name="connsiteX5" fmla="*/ 3294450 w 7970197"/>
              <a:gd name="connsiteY5" fmla="*/ 6848272 h 6848272"/>
              <a:gd name="connsiteX6" fmla="*/ 0 w 7970197"/>
              <a:gd name="connsiteY6" fmla="*/ 3476352 h 6848272"/>
              <a:gd name="connsiteX7" fmla="*/ 3396482 w 7970197"/>
              <a:gd name="connsiteY7" fmla="*/ 0 h 684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62" h="10785">
                <a:moveTo>
                  <a:pt x="5349" y="0"/>
                </a:moveTo>
                <a:lnTo>
                  <a:pt x="8262" y="0"/>
                </a:lnTo>
                <a:lnTo>
                  <a:pt x="8262" y="10785"/>
                </a:lnTo>
                <a:lnTo>
                  <a:pt x="5188" y="10785"/>
                </a:lnTo>
                <a:lnTo>
                  <a:pt x="0" y="5475"/>
                </a:lnTo>
                <a:lnTo>
                  <a:pt x="5349" y="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6"/>
            </p:custDataLst>
          </p:nvPr>
        </p:nvSpPr>
        <p:spPr>
          <a:xfrm>
            <a:off x="7527551" y="0"/>
            <a:ext cx="4023804" cy="6858000"/>
          </a:xfrm>
          <a:custGeom>
            <a:avLst/>
            <a:gdLst>
              <a:gd name="connsiteX0" fmla="*/ 4471659 w 4782944"/>
              <a:gd name="connsiteY0" fmla="*/ 0 h 9153626"/>
              <a:gd name="connsiteX1" fmla="*/ 4782944 w 4782944"/>
              <a:gd name="connsiteY1" fmla="*/ 318605 h 9153626"/>
              <a:gd name="connsiteX2" fmla="*/ 622570 w 4782944"/>
              <a:gd name="connsiteY2" fmla="*/ 4576813 h 9153626"/>
              <a:gd name="connsiteX3" fmla="*/ 4782944 w 4782944"/>
              <a:gd name="connsiteY3" fmla="*/ 8835021 h 9153626"/>
              <a:gd name="connsiteX4" fmla="*/ 4471659 w 4782944"/>
              <a:gd name="connsiteY4" fmla="*/ 9153626 h 9153626"/>
              <a:gd name="connsiteX5" fmla="*/ 0 w 4782944"/>
              <a:gd name="connsiteY5" fmla="*/ 4576813 h 9153626"/>
              <a:gd name="connsiteX6" fmla="*/ 4471659 w 4782944"/>
              <a:gd name="connsiteY6" fmla="*/ 0 h 915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7" h="10800">
                <a:moveTo>
                  <a:pt x="5356" y="0"/>
                </a:moveTo>
                <a:lnTo>
                  <a:pt x="6337" y="0"/>
                </a:lnTo>
                <a:lnTo>
                  <a:pt x="980" y="5482"/>
                </a:lnTo>
                <a:lnTo>
                  <a:pt x="6176" y="10800"/>
                </a:lnTo>
                <a:lnTo>
                  <a:pt x="5196" y="10800"/>
                </a:lnTo>
                <a:lnTo>
                  <a:pt x="0" y="5482"/>
                </a:lnTo>
                <a:lnTo>
                  <a:pt x="5356" y="0"/>
                </a:lnTo>
                <a:close/>
              </a:path>
            </a:pathLst>
          </a:cu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7"/>
            </p:custDataLst>
          </p:nvPr>
        </p:nvSpPr>
        <p:spPr>
          <a:xfrm>
            <a:off x="10914319" y="2173490"/>
            <a:ext cx="1277681" cy="2615453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4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  <p:sp>
        <p:nvSpPr>
          <p:cNvPr id="12" name="任意多边形: 形状 11"/>
          <p:cNvSpPr/>
          <p:nvPr userDrawn="1">
            <p:custDataLst>
              <p:tags r:id="rId5"/>
            </p:custDataLst>
          </p:nvPr>
        </p:nvSpPr>
        <p:spPr>
          <a:xfrm>
            <a:off x="11348290" y="5086154"/>
            <a:ext cx="843710" cy="1727100"/>
          </a:xfrm>
          <a:custGeom>
            <a:avLst/>
            <a:gdLst>
              <a:gd name="connsiteX0" fmla="*/ 1521923 w 3043846"/>
              <a:gd name="connsiteY0" fmla="*/ 0 h 3115424"/>
              <a:gd name="connsiteX1" fmla="*/ 3043846 w 3043846"/>
              <a:gd name="connsiteY1" fmla="*/ 1557712 h 3115424"/>
              <a:gd name="connsiteX2" fmla="*/ 1521923 w 3043846"/>
              <a:gd name="connsiteY2" fmla="*/ 3115424 h 3115424"/>
              <a:gd name="connsiteX3" fmla="*/ 0 w 3043846"/>
              <a:gd name="connsiteY3" fmla="*/ 1557712 h 3115424"/>
              <a:gd name="connsiteX4" fmla="*/ 1521923 w 3043846"/>
              <a:gd name="connsiteY4" fmla="*/ 0 h 3115424"/>
              <a:gd name="connsiteX5" fmla="*/ 1521923 w 3043846"/>
              <a:gd name="connsiteY5" fmla="*/ 645199 h 3115424"/>
              <a:gd name="connsiteX6" fmla="*/ 630375 w 3043846"/>
              <a:gd name="connsiteY6" fmla="*/ 1557712 h 3115424"/>
              <a:gd name="connsiteX7" fmla="*/ 1521923 w 3043846"/>
              <a:gd name="connsiteY7" fmla="*/ 2470225 h 3115424"/>
              <a:gd name="connsiteX8" fmla="*/ 2413471 w 3043846"/>
              <a:gd name="connsiteY8" fmla="*/ 1557712 h 3115424"/>
              <a:gd name="connsiteX9" fmla="*/ 1521923 w 3043846"/>
              <a:gd name="connsiteY9" fmla="*/ 645199 h 3115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29" h="2720">
                <a:moveTo>
                  <a:pt x="1329" y="0"/>
                </a:moveTo>
                <a:lnTo>
                  <a:pt x="1329" y="758"/>
                </a:lnTo>
                <a:lnTo>
                  <a:pt x="741" y="1360"/>
                </a:lnTo>
                <a:lnTo>
                  <a:pt x="1329" y="1962"/>
                </a:lnTo>
                <a:lnTo>
                  <a:pt x="1329" y="2720"/>
                </a:lnTo>
                <a:lnTo>
                  <a:pt x="0" y="1360"/>
                </a:lnTo>
                <a:lnTo>
                  <a:pt x="13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idx="16385" hasCustomPrompt="1"/>
            <p:custDataLst>
              <p:tags r:id="rId6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23" b="63781"/>
          <a:stretch>
            <a:fillRect/>
          </a:stretch>
        </p:blipFill>
        <p:spPr>
          <a:xfrm flipH="1">
            <a:off x="0" y="0"/>
            <a:ext cx="948176" cy="970472"/>
          </a:xfrm>
          <a:custGeom>
            <a:avLst/>
            <a:gdLst>
              <a:gd name="connsiteX0" fmla="*/ 0 w 2423360"/>
              <a:gd name="connsiteY0" fmla="*/ 0 h 2480347"/>
              <a:gd name="connsiteX1" fmla="*/ 2423360 w 2423360"/>
              <a:gd name="connsiteY1" fmla="*/ 0 h 2480347"/>
              <a:gd name="connsiteX2" fmla="*/ 2423360 w 2423360"/>
              <a:gd name="connsiteY2" fmla="*/ 2480347 h 2480347"/>
              <a:gd name="connsiteX3" fmla="*/ 0 w 2423360"/>
              <a:gd name="connsiteY3" fmla="*/ 0 h 248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360" h="2480347">
                <a:moveTo>
                  <a:pt x="0" y="0"/>
                </a:moveTo>
                <a:lnTo>
                  <a:pt x="2423360" y="0"/>
                </a:lnTo>
                <a:lnTo>
                  <a:pt x="2423360" y="248034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60" t="65306"/>
          <a:stretch>
            <a:fillRect/>
          </a:stretch>
        </p:blipFill>
        <p:spPr>
          <a:xfrm flipH="1">
            <a:off x="0" y="5928388"/>
            <a:ext cx="908254" cy="929612"/>
          </a:xfrm>
          <a:custGeom>
            <a:avLst/>
            <a:gdLst>
              <a:gd name="connsiteX0" fmla="*/ 2321327 w 2321327"/>
              <a:gd name="connsiteY0" fmla="*/ 0 h 2375914"/>
              <a:gd name="connsiteX1" fmla="*/ 2321327 w 2321327"/>
              <a:gd name="connsiteY1" fmla="*/ 2375914 h 2375914"/>
              <a:gd name="connsiteX2" fmla="*/ 0 w 2321327"/>
              <a:gd name="connsiteY2" fmla="*/ 2375914 h 2375914"/>
              <a:gd name="connsiteX3" fmla="*/ 2321327 w 2321327"/>
              <a:gd name="connsiteY3" fmla="*/ 0 h 237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27" h="2375914">
                <a:moveTo>
                  <a:pt x="2321327" y="0"/>
                </a:moveTo>
                <a:lnTo>
                  <a:pt x="2321327" y="2375914"/>
                </a:lnTo>
                <a:lnTo>
                  <a:pt x="0" y="2375914"/>
                </a:lnTo>
                <a:lnTo>
                  <a:pt x="2321327" y="0"/>
                </a:lnTo>
                <a:close/>
              </a:path>
            </a:pathLst>
          </a:custGeom>
        </p:spPr>
      </p:pic>
      <p:pic>
        <p:nvPicPr>
          <p:cNvPr id="6" name="图片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8" r="22340"/>
          <a:stretch>
            <a:fillRect/>
          </a:stretch>
        </p:blipFill>
        <p:spPr>
          <a:xfrm>
            <a:off x="7241540" y="5080"/>
            <a:ext cx="4950460" cy="6848475"/>
          </a:xfrm>
          <a:custGeom>
            <a:avLst/>
            <a:gdLst>
              <a:gd name="connsiteX0" fmla="*/ 3396482 w 7970197"/>
              <a:gd name="connsiteY0" fmla="*/ 0 h 6848272"/>
              <a:gd name="connsiteX1" fmla="*/ 5546837 w 7970197"/>
              <a:gd name="connsiteY1" fmla="*/ 0 h 6848272"/>
              <a:gd name="connsiteX2" fmla="*/ 7970197 w 7970197"/>
              <a:gd name="connsiteY2" fmla="*/ 2480347 h 6848272"/>
              <a:gd name="connsiteX3" fmla="*/ 7970197 w 7970197"/>
              <a:gd name="connsiteY3" fmla="*/ 4472358 h 6848272"/>
              <a:gd name="connsiteX4" fmla="*/ 5648870 w 7970197"/>
              <a:gd name="connsiteY4" fmla="*/ 6848272 h 6848272"/>
              <a:gd name="connsiteX5" fmla="*/ 3294450 w 7970197"/>
              <a:gd name="connsiteY5" fmla="*/ 6848272 h 6848272"/>
              <a:gd name="connsiteX6" fmla="*/ 0 w 7970197"/>
              <a:gd name="connsiteY6" fmla="*/ 3476352 h 6848272"/>
              <a:gd name="connsiteX7" fmla="*/ 3396482 w 7970197"/>
              <a:gd name="connsiteY7" fmla="*/ 0 h 684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62" h="10785">
                <a:moveTo>
                  <a:pt x="5349" y="0"/>
                </a:moveTo>
                <a:lnTo>
                  <a:pt x="8262" y="0"/>
                </a:lnTo>
                <a:lnTo>
                  <a:pt x="8262" y="10785"/>
                </a:lnTo>
                <a:lnTo>
                  <a:pt x="5188" y="10785"/>
                </a:lnTo>
                <a:lnTo>
                  <a:pt x="0" y="5475"/>
                </a:lnTo>
                <a:lnTo>
                  <a:pt x="5349" y="0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 userDrawn="1">
            <p:custDataLst>
              <p:tags r:id="rId6"/>
            </p:custDataLst>
          </p:nvPr>
        </p:nvSpPr>
        <p:spPr>
          <a:xfrm>
            <a:off x="7527551" y="0"/>
            <a:ext cx="4023804" cy="6858000"/>
          </a:xfrm>
          <a:custGeom>
            <a:avLst/>
            <a:gdLst>
              <a:gd name="connsiteX0" fmla="*/ 4471659 w 4782944"/>
              <a:gd name="connsiteY0" fmla="*/ 0 h 9153626"/>
              <a:gd name="connsiteX1" fmla="*/ 4782944 w 4782944"/>
              <a:gd name="connsiteY1" fmla="*/ 318605 h 9153626"/>
              <a:gd name="connsiteX2" fmla="*/ 622570 w 4782944"/>
              <a:gd name="connsiteY2" fmla="*/ 4576813 h 9153626"/>
              <a:gd name="connsiteX3" fmla="*/ 4782944 w 4782944"/>
              <a:gd name="connsiteY3" fmla="*/ 8835021 h 9153626"/>
              <a:gd name="connsiteX4" fmla="*/ 4471659 w 4782944"/>
              <a:gd name="connsiteY4" fmla="*/ 9153626 h 9153626"/>
              <a:gd name="connsiteX5" fmla="*/ 0 w 4782944"/>
              <a:gd name="connsiteY5" fmla="*/ 4576813 h 9153626"/>
              <a:gd name="connsiteX6" fmla="*/ 4471659 w 4782944"/>
              <a:gd name="connsiteY6" fmla="*/ 0 h 915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37" h="10800">
                <a:moveTo>
                  <a:pt x="5356" y="0"/>
                </a:moveTo>
                <a:lnTo>
                  <a:pt x="6337" y="0"/>
                </a:lnTo>
                <a:lnTo>
                  <a:pt x="980" y="5482"/>
                </a:lnTo>
                <a:lnTo>
                  <a:pt x="6176" y="10800"/>
                </a:lnTo>
                <a:lnTo>
                  <a:pt x="5196" y="10800"/>
                </a:lnTo>
                <a:lnTo>
                  <a:pt x="0" y="5482"/>
                </a:lnTo>
                <a:lnTo>
                  <a:pt x="5356" y="0"/>
                </a:lnTo>
                <a:close/>
              </a:path>
            </a:pathLst>
          </a:custGeom>
          <a:solidFill>
            <a:schemeClr val="accent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7"/>
            </p:custDataLst>
          </p:nvPr>
        </p:nvSpPr>
        <p:spPr>
          <a:xfrm>
            <a:off x="10914319" y="2173490"/>
            <a:ext cx="1277681" cy="2615453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Subtitle 7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0" spc="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1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Subtitle 9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Text Placeholder 22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35" Type="http://schemas.openxmlformats.org/officeDocument/2006/relationships/tags" Target="../tags/tag317.xml"/><Relationship Id="rId34" Type="http://schemas.openxmlformats.org/officeDocument/2006/relationships/tags" Target="../tags/tag316.xml"/><Relationship Id="rId33" Type="http://schemas.openxmlformats.org/officeDocument/2006/relationships/tags" Target="../tags/tag315.xml"/><Relationship Id="rId32" Type="http://schemas.openxmlformats.org/officeDocument/2006/relationships/tags" Target="../tags/tag314.xml"/><Relationship Id="rId31" Type="http://schemas.openxmlformats.org/officeDocument/2006/relationships/tags" Target="../tags/tag313.xml"/><Relationship Id="rId30" Type="http://schemas.openxmlformats.org/officeDocument/2006/relationships/tags" Target="../tags/tag312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311.xml"/><Relationship Id="rId28" Type="http://schemas.openxmlformats.org/officeDocument/2006/relationships/tags" Target="../tags/tag310.xml"/><Relationship Id="rId27" Type="http://schemas.openxmlformats.org/officeDocument/2006/relationships/tags" Target="../tags/tag309.xml"/><Relationship Id="rId26" Type="http://schemas.openxmlformats.org/officeDocument/2006/relationships/tags" Target="../tags/tag308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 userDrawn="1">
            <p:custDataLst>
              <p:tags r:id="rId26"/>
            </p:custDataLst>
          </p:nvPr>
        </p:nvSpPr>
        <p:spPr>
          <a:xfrm>
            <a:off x="9199880" y="428625"/>
            <a:ext cx="2992120" cy="5833745"/>
          </a:xfrm>
          <a:custGeom>
            <a:avLst/>
            <a:gdLst>
              <a:gd name="connsiteX0" fmla="*/ 4697 w 4712"/>
              <a:gd name="connsiteY0" fmla="*/ 0 h 10758"/>
              <a:gd name="connsiteX1" fmla="*/ 4682 w 4712"/>
              <a:gd name="connsiteY1" fmla="*/ 947 h 10758"/>
              <a:gd name="connsiteX2" fmla="*/ 727 w 4712"/>
              <a:gd name="connsiteY2" fmla="*/ 5212 h 10758"/>
              <a:gd name="connsiteX3" fmla="*/ 4697 w 4712"/>
              <a:gd name="connsiteY3" fmla="*/ 9795 h 10758"/>
              <a:gd name="connsiteX4" fmla="*/ 4712 w 4712"/>
              <a:gd name="connsiteY4" fmla="*/ 10758 h 10758"/>
              <a:gd name="connsiteX5" fmla="*/ 0 w 4712"/>
              <a:gd name="connsiteY5" fmla="*/ 5212 h 10758"/>
              <a:gd name="connsiteX6" fmla="*/ 4697 w 4712"/>
              <a:gd name="connsiteY6" fmla="*/ 0 h 1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" h="10758">
                <a:moveTo>
                  <a:pt x="4697" y="0"/>
                </a:moveTo>
                <a:lnTo>
                  <a:pt x="4682" y="947"/>
                </a:lnTo>
                <a:lnTo>
                  <a:pt x="727" y="5212"/>
                </a:lnTo>
                <a:lnTo>
                  <a:pt x="4697" y="9795"/>
                </a:lnTo>
                <a:lnTo>
                  <a:pt x="4712" y="10758"/>
                </a:lnTo>
                <a:lnTo>
                  <a:pt x="0" y="5212"/>
                </a:lnTo>
                <a:lnTo>
                  <a:pt x="4697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27"/>
            </p:custDataLst>
          </p:nvPr>
        </p:nvSpPr>
        <p:spPr>
          <a:xfrm>
            <a:off x="10914319" y="1953780"/>
            <a:ext cx="1277681" cy="2615453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28"/>
            </p:custDataLst>
          </p:nvPr>
        </p:nvSpPr>
        <p:spPr>
          <a:xfrm flipH="1">
            <a:off x="0" y="5054600"/>
            <a:ext cx="789940" cy="1803400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3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tx1">
              <a:lumMod val="65000"/>
              <a:lumOff val="35000"/>
            </a:schemeClr>
          </a:solidFill>
          <a:effectLst>
            <a:outerShdw>
              <a:srgbClr val="FFFFFF"/>
            </a:outerShdw>
          </a:effectLst>
          <a:uFill>
            <a:solidFill>
              <a:schemeClr val="tx1">
                <a:lumMod val="65000"/>
                <a:lumOff val="3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tags" Target="../tags/tag31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30.xml"/><Relationship Id="rId8" Type="http://schemas.openxmlformats.org/officeDocument/2006/relationships/tags" Target="../tags/tag329.xml"/><Relationship Id="rId7" Type="http://schemas.openxmlformats.org/officeDocument/2006/relationships/tags" Target="../tags/tag328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333.xml"/><Relationship Id="rId11" Type="http://schemas.openxmlformats.org/officeDocument/2006/relationships/tags" Target="../tags/tag332.xml"/><Relationship Id="rId10" Type="http://schemas.openxmlformats.org/officeDocument/2006/relationships/tags" Target="../tags/tag331.xml"/><Relationship Id="rId1" Type="http://schemas.openxmlformats.org/officeDocument/2006/relationships/tags" Target="../tags/tag32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4" Type="http://schemas.openxmlformats.org/officeDocument/2006/relationships/slideLayout" Target="../slideLayouts/slideLayout22.xml"/><Relationship Id="rId13" Type="http://schemas.openxmlformats.org/officeDocument/2006/relationships/tags" Target="../tags/tag348.xml"/><Relationship Id="rId12" Type="http://schemas.openxmlformats.org/officeDocument/2006/relationships/image" Target="../media/image2.jpeg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tags" Target="../tags/tag3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image" Target="../media/image4.jpeg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image" Target="../media/image3.jpeg"/><Relationship Id="rId2" Type="http://schemas.openxmlformats.org/officeDocument/2006/relationships/tags" Target="../tags/tag350.xml"/><Relationship Id="rId15" Type="http://schemas.openxmlformats.org/officeDocument/2006/relationships/slideLayout" Target="../slideLayouts/slideLayout21.xml"/><Relationship Id="rId14" Type="http://schemas.openxmlformats.org/officeDocument/2006/relationships/tags" Target="../tags/tag359.xml"/><Relationship Id="rId13" Type="http://schemas.openxmlformats.org/officeDocument/2006/relationships/tags" Target="../tags/tag358.xml"/><Relationship Id="rId12" Type="http://schemas.openxmlformats.org/officeDocument/2006/relationships/tags" Target="../tags/tag357.xml"/><Relationship Id="rId11" Type="http://schemas.openxmlformats.org/officeDocument/2006/relationships/image" Target="../media/image5.jpeg"/><Relationship Id="rId10" Type="http://schemas.openxmlformats.org/officeDocument/2006/relationships/tags" Target="../tags/tag356.xml"/><Relationship Id="rId1" Type="http://schemas.openxmlformats.org/officeDocument/2006/relationships/tags" Target="../tags/tag34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jpeg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image" Target="../media/image6.jpeg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8" Type="http://schemas.openxmlformats.org/officeDocument/2006/relationships/slideLayout" Target="../slideLayouts/slideLayout19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tags" Target="../tags/tag371.xml"/><Relationship Id="rId14" Type="http://schemas.openxmlformats.org/officeDocument/2006/relationships/image" Target="../media/image8.jpeg"/><Relationship Id="rId13" Type="http://schemas.openxmlformats.org/officeDocument/2006/relationships/tags" Target="../tags/tag370.xml"/><Relationship Id="rId12" Type="http://schemas.openxmlformats.org/officeDocument/2006/relationships/tags" Target="../tags/tag369.xml"/><Relationship Id="rId11" Type="http://schemas.openxmlformats.org/officeDocument/2006/relationships/tags" Target="../tags/tag368.xml"/><Relationship Id="rId10" Type="http://schemas.openxmlformats.org/officeDocument/2006/relationships/tags" Target="../tags/tag367.xml"/><Relationship Id="rId1" Type="http://schemas.openxmlformats.org/officeDocument/2006/relationships/tags" Target="../tags/tag36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tags" Target="../tags/tag37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image" Target="../media/image9.jpeg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390.xml"/><Relationship Id="rId16" Type="http://schemas.openxmlformats.org/officeDocument/2006/relationships/tags" Target="../tags/tag389.xml"/><Relationship Id="rId15" Type="http://schemas.openxmlformats.org/officeDocument/2006/relationships/tags" Target="../tags/tag388.xml"/><Relationship Id="rId14" Type="http://schemas.openxmlformats.org/officeDocument/2006/relationships/image" Target="../media/image11.jpeg"/><Relationship Id="rId13" Type="http://schemas.openxmlformats.org/officeDocument/2006/relationships/tags" Target="../tags/tag387.xml"/><Relationship Id="rId12" Type="http://schemas.openxmlformats.org/officeDocument/2006/relationships/tags" Target="../tags/tag386.xml"/><Relationship Id="rId11" Type="http://schemas.openxmlformats.org/officeDocument/2006/relationships/tags" Target="../tags/tag385.xml"/><Relationship Id="rId10" Type="http://schemas.openxmlformats.org/officeDocument/2006/relationships/tags" Target="../tags/tag384.xml"/><Relationship Id="rId1" Type="http://schemas.openxmlformats.org/officeDocument/2006/relationships/tags" Target="../tags/tag37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image" Target="../media/image12.jpeg"/><Relationship Id="rId2" Type="http://schemas.openxmlformats.org/officeDocument/2006/relationships/tags" Target="../tags/tag392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402.xml"/><Relationship Id="rId12" Type="http://schemas.openxmlformats.org/officeDocument/2006/relationships/tags" Target="../tags/tag401.xml"/><Relationship Id="rId11" Type="http://schemas.openxmlformats.org/officeDocument/2006/relationships/tags" Target="../tags/tag400.xml"/><Relationship Id="rId10" Type="http://schemas.openxmlformats.org/officeDocument/2006/relationships/tags" Target="../tags/tag399.xml"/><Relationship Id="rId1" Type="http://schemas.openxmlformats.org/officeDocument/2006/relationships/tags" Target="../tags/tag39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10.xml"/><Relationship Id="rId8" Type="http://schemas.openxmlformats.org/officeDocument/2006/relationships/tags" Target="../tags/tag409.xml"/><Relationship Id="rId7" Type="http://schemas.openxmlformats.org/officeDocument/2006/relationships/tags" Target="../tags/tag408.xml"/><Relationship Id="rId6" Type="http://schemas.openxmlformats.org/officeDocument/2006/relationships/tags" Target="../tags/tag407.xml"/><Relationship Id="rId5" Type="http://schemas.openxmlformats.org/officeDocument/2006/relationships/tags" Target="../tags/tag406.xml"/><Relationship Id="rId4" Type="http://schemas.openxmlformats.org/officeDocument/2006/relationships/tags" Target="../tags/tag405.xml"/><Relationship Id="rId3" Type="http://schemas.openxmlformats.org/officeDocument/2006/relationships/image" Target="../media/image13.jpeg"/><Relationship Id="rId2" Type="http://schemas.openxmlformats.org/officeDocument/2006/relationships/tags" Target="../tags/tag404.xml"/><Relationship Id="rId14" Type="http://schemas.openxmlformats.org/officeDocument/2006/relationships/slideLayout" Target="../slideLayouts/slideLayout15.xml"/><Relationship Id="rId13" Type="http://schemas.openxmlformats.org/officeDocument/2006/relationships/tags" Target="../tags/tag414.xml"/><Relationship Id="rId12" Type="http://schemas.openxmlformats.org/officeDocument/2006/relationships/tags" Target="../tags/tag413.xml"/><Relationship Id="rId11" Type="http://schemas.openxmlformats.org/officeDocument/2006/relationships/tags" Target="../tags/tag412.xml"/><Relationship Id="rId10" Type="http://schemas.openxmlformats.org/officeDocument/2006/relationships/tags" Target="../tags/tag411.xml"/><Relationship Id="rId1" Type="http://schemas.openxmlformats.org/officeDocument/2006/relationships/tags" Target="../tags/tag40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tags" Target="../tags/tag41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24.xml"/><Relationship Id="rId8" Type="http://schemas.openxmlformats.org/officeDocument/2006/relationships/tags" Target="../tags/tag423.xml"/><Relationship Id="rId7" Type="http://schemas.openxmlformats.org/officeDocument/2006/relationships/image" Target="../media/image15.jpeg"/><Relationship Id="rId6" Type="http://schemas.openxmlformats.org/officeDocument/2006/relationships/tags" Target="../tags/tag422.xml"/><Relationship Id="rId5" Type="http://schemas.openxmlformats.org/officeDocument/2006/relationships/tags" Target="../tags/tag421.xml"/><Relationship Id="rId4" Type="http://schemas.openxmlformats.org/officeDocument/2006/relationships/tags" Target="../tags/tag420.xml"/><Relationship Id="rId3" Type="http://schemas.openxmlformats.org/officeDocument/2006/relationships/image" Target="../media/image14.jpeg"/><Relationship Id="rId2" Type="http://schemas.openxmlformats.org/officeDocument/2006/relationships/tags" Target="../tags/tag419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428.xml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image" Target="../media/image16.jpeg"/><Relationship Id="rId10" Type="http://schemas.openxmlformats.org/officeDocument/2006/relationships/tags" Target="../tags/tag425.xml"/><Relationship Id="rId1" Type="http://schemas.openxmlformats.org/officeDocument/2006/relationships/tags" Target="../tags/tag41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37.xml"/><Relationship Id="rId8" Type="http://schemas.openxmlformats.org/officeDocument/2006/relationships/tags" Target="../tags/tag436.xml"/><Relationship Id="rId7" Type="http://schemas.openxmlformats.org/officeDocument/2006/relationships/tags" Target="../tags/tag435.xml"/><Relationship Id="rId6" Type="http://schemas.openxmlformats.org/officeDocument/2006/relationships/tags" Target="../tags/tag434.xml"/><Relationship Id="rId5" Type="http://schemas.openxmlformats.org/officeDocument/2006/relationships/tags" Target="../tags/tag433.xml"/><Relationship Id="rId4" Type="http://schemas.openxmlformats.org/officeDocument/2006/relationships/tags" Target="../tags/tag432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439.xml"/><Relationship Id="rId10" Type="http://schemas.openxmlformats.org/officeDocument/2006/relationships/tags" Target="../tags/tag438.xml"/><Relationship Id="rId1" Type="http://schemas.openxmlformats.org/officeDocument/2006/relationships/tags" Target="../tags/tag42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tags" Target="../tags/tag445.xml"/><Relationship Id="rId7" Type="http://schemas.openxmlformats.org/officeDocument/2006/relationships/tags" Target="../tags/tag444.xml"/><Relationship Id="rId6" Type="http://schemas.openxmlformats.org/officeDocument/2006/relationships/tags" Target="../tags/tag443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tags" Target="../tags/tag442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453.xml"/><Relationship Id="rId2" Type="http://schemas.openxmlformats.org/officeDocument/2006/relationships/tags" Target="../tags/tag441.xml"/><Relationship Id="rId19" Type="http://schemas.openxmlformats.org/officeDocument/2006/relationships/tags" Target="../tags/tag452.xml"/><Relationship Id="rId18" Type="http://schemas.openxmlformats.org/officeDocument/2006/relationships/tags" Target="../tags/tag451.xml"/><Relationship Id="rId17" Type="http://schemas.openxmlformats.org/officeDocument/2006/relationships/image" Target="../media/image22.svg"/><Relationship Id="rId16" Type="http://schemas.openxmlformats.org/officeDocument/2006/relationships/image" Target="../media/image21.png"/><Relationship Id="rId15" Type="http://schemas.openxmlformats.org/officeDocument/2006/relationships/tags" Target="../tags/tag450.xml"/><Relationship Id="rId14" Type="http://schemas.openxmlformats.org/officeDocument/2006/relationships/tags" Target="../tags/tag449.xml"/><Relationship Id="rId13" Type="http://schemas.openxmlformats.org/officeDocument/2006/relationships/tags" Target="../tags/tag448.xml"/><Relationship Id="rId12" Type="http://schemas.openxmlformats.org/officeDocument/2006/relationships/tags" Target="../tags/tag447.xml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tags" Target="../tags/tag44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jpeg"/><Relationship Id="rId8" Type="http://schemas.openxmlformats.org/officeDocument/2006/relationships/tags" Target="../tags/tag460.xml"/><Relationship Id="rId7" Type="http://schemas.openxmlformats.org/officeDocument/2006/relationships/tags" Target="../tags/tag459.xml"/><Relationship Id="rId6" Type="http://schemas.openxmlformats.org/officeDocument/2006/relationships/tags" Target="../tags/tag458.xml"/><Relationship Id="rId5" Type="http://schemas.openxmlformats.org/officeDocument/2006/relationships/tags" Target="../tags/tag457.xml"/><Relationship Id="rId4" Type="http://schemas.openxmlformats.org/officeDocument/2006/relationships/image" Target="../media/image23.jpeg"/><Relationship Id="rId3" Type="http://schemas.openxmlformats.org/officeDocument/2006/relationships/tags" Target="../tags/tag456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471.xml"/><Relationship Id="rId21" Type="http://schemas.openxmlformats.org/officeDocument/2006/relationships/tags" Target="../tags/tag470.xml"/><Relationship Id="rId20" Type="http://schemas.openxmlformats.org/officeDocument/2006/relationships/tags" Target="../tags/tag469.xml"/><Relationship Id="rId2" Type="http://schemas.openxmlformats.org/officeDocument/2006/relationships/tags" Target="../tags/tag455.xml"/><Relationship Id="rId19" Type="http://schemas.openxmlformats.org/officeDocument/2006/relationships/image" Target="../media/image26.jpeg"/><Relationship Id="rId18" Type="http://schemas.openxmlformats.org/officeDocument/2006/relationships/tags" Target="../tags/tag468.xml"/><Relationship Id="rId17" Type="http://schemas.openxmlformats.org/officeDocument/2006/relationships/tags" Target="../tags/tag467.xml"/><Relationship Id="rId16" Type="http://schemas.openxmlformats.org/officeDocument/2006/relationships/tags" Target="../tags/tag466.xml"/><Relationship Id="rId15" Type="http://schemas.openxmlformats.org/officeDocument/2006/relationships/tags" Target="../tags/tag465.xml"/><Relationship Id="rId14" Type="http://schemas.openxmlformats.org/officeDocument/2006/relationships/image" Target="../media/image25.jpeg"/><Relationship Id="rId13" Type="http://schemas.openxmlformats.org/officeDocument/2006/relationships/tags" Target="../tags/tag464.xml"/><Relationship Id="rId12" Type="http://schemas.openxmlformats.org/officeDocument/2006/relationships/tags" Target="../tags/tag463.xml"/><Relationship Id="rId11" Type="http://schemas.openxmlformats.org/officeDocument/2006/relationships/tags" Target="../tags/tag462.xml"/><Relationship Id="rId10" Type="http://schemas.openxmlformats.org/officeDocument/2006/relationships/tags" Target="../tags/tag461.xml"/><Relationship Id="rId1" Type="http://schemas.openxmlformats.org/officeDocument/2006/relationships/tags" Target="../tags/tag45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" Type="http://schemas.openxmlformats.org/officeDocument/2006/relationships/tags" Target="../tags/tag4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2026/03/12</a:t>
            </a:r>
            <a:endParaRPr lang="en-US" altLang="en-US"/>
          </a:p>
        </p:txBody>
      </p:sp>
      <p:sp>
        <p:nvSpPr>
          <p:cNvPr id="3" name="标题 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基于图像识别的猪肉新鲜度检测系统课设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 b="0"/>
              <a:t>汇报人: </a:t>
            </a:r>
            <a:endParaRPr lang="zh-CN" altLang="en-US" b="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1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背景引入与问题分析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系统方案设计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系统实现流程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背景引入与问题分析</a:t>
            </a:r>
            <a:endParaRPr lang="zh-CN" altLang="en-US"/>
          </a:p>
        </p:txBody>
      </p:sp>
      <p:sp>
        <p:nvSpPr>
          <p:cNvPr id="3" name="文本占位符 7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猪肉新鲜度检测的重要性</a:t>
            </a:r>
            <a:endParaRPr lang="zh-CN" altLang="en-US"/>
          </a:p>
        </p:txBody>
      </p:sp>
      <p:sp>
        <p:nvSpPr>
          <p:cNvPr id="4" name="装饰  0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保障消费者健康安全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检测新鲜度可预防食源性疾病，如沙门氏菌感染事件，确保猪肉食用安全，保护公众健康。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减少商家经济损失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及时识别变质猪肉避免销售损失，减少退货和品牌信誉损害，提升经济效益。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促进智能技术应用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图像识别检测系统已在部分超市试点，提高检测效率，推动食品行业技术创新。</a:t>
            </a:r>
            <a:endParaRPr lang="zh-CN" altLang="en-US"/>
          </a:p>
        </p:txBody>
      </p:sp>
      <p:pic>
        <p:nvPicPr>
          <p:cNvPr id="14" name="内容占位符 13" descr="2505.jpg_wh860"/>
          <p:cNvPicPr>
            <a:picLocks noChangeAspect="1"/>
          </p:cNvPicPr>
          <p:nvPr>
            <p:ph idx="16392"/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0010" y="1997075"/>
            <a:ext cx="4831715" cy="321945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当前检测方法的局限性</a:t>
            </a:r>
            <a:endParaRPr lang="zh-CN" altLang="en-US"/>
          </a:p>
        </p:txBody>
      </p:sp>
      <p:pic>
        <p:nvPicPr>
          <p:cNvPr id="3" name="内容占位符 2" descr="0212727c-1dd0-11f1-bcad-f6b5cbcc0b1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471" b="1471"/>
          <a:stretch>
            <a:fillRect/>
          </a:stretch>
        </p:blipFill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主观检测的不可靠性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人工视觉检测易受经验差异和疲劳影响，导致误判，如某屠宰场曾因操作员视觉疲劳造成批次新鲜度误检。</a:t>
            </a:r>
            <a:endParaRPr lang="zh-CN" altLang="en-US"/>
          </a:p>
        </p:txBody>
      </p:sp>
      <p:pic>
        <p:nvPicPr>
          <p:cNvPr id="6" name="内容占位符 5" descr="021272a1-1dd0-11f1-bcad-f6b5cbcc0b13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t="1471" b="1471"/>
          <a:stretch>
            <a:fillRect/>
          </a:stretch>
        </p:blipFill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高成本设备的普及障碍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专业检测设备如近红外光谱仪价格昂贵，小规模企业难以承担，限制了方法的广泛推广和应用。</a:t>
            </a:r>
            <a:endParaRPr lang="zh-CN" altLang="en-US"/>
          </a:p>
        </p:txBody>
      </p:sp>
      <p:pic>
        <p:nvPicPr>
          <p:cNvPr id="9" name="内容占位符 8" descr="0212729a-1dd0-11f1-bcad-f6b5cbcc0b13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t="1471" b="1471"/>
          <a:stretch>
            <a:fillRect/>
          </a:stretch>
        </p:blipFill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环境敏感性的影响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光照、角度等环境因素易干扰图像采集，导致检测精度下降，例如阴天条件下猪肉颜色识别常出现偏差。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研究意义与应用价值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019f7283-1dd0-11f1-8725-9a91e9b4086f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68" b="368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提升食品安全水平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通过图像识别技术实时检测猪肉新鲜度，预防变质产品上市，保障消费者健康，如某大型超市应用类似系统减少投诉。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019f7231-1dd0-11f1-8725-9a91e9b4086f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68" b="368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减少食品浪费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准确识别新鲜度可优化库存管理，降低丢弃率，例如生鲜电商平台使用后浪费减少15%，提升可持续性。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019f70c0-1dd0-11f1-8725-9a91e9b4086f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368" b="368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促进智能农业发展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集成AI推动农业技术创新，支持精准养殖和物流监控，如某农业科技公司试点项目提高效率20%。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系统方案设计</a:t>
            </a:r>
            <a:endParaRPr lang="zh-CN" altLang="en-US"/>
          </a:p>
        </p:txBody>
      </p:sp>
      <p:sp>
        <p:nvSpPr>
          <p:cNvPr id="3" name="文本占位符 7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系统总体设计思路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01bf8d10-1dd0-11f1-897e-a67cff01fb99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867" b="1867"/>
          <a:stretch>
            <a:fillRect/>
          </a:stretch>
        </p:blipFill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总体架构设计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采用分层架构，模块化设计，确保系统稳定性和可维护性，类似工业检测系统如水果分拣机。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01bf8c9c-1dd0-11f1-897e-a67cff01fb99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1867" b="1867"/>
          <a:stretch>
            <a:fillRect/>
          </a:stretch>
        </p:blipFill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图像处理流程设计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集成深度学习算法进行特征提取和分类，参考食品安全领域的肉类质量检测应用。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01bf8d3c-1dd0-11f1-897e-a67cff01fb99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725" r="725"/>
          <a:stretch>
            <a:fillRect/>
          </a:stretch>
        </p:blipFill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用户交互设计原则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设计直观界面，提供实时结果反馈，提升用户体验，借鉴医疗影像软件的设计理念。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硬件环境选择</a:t>
            </a:r>
            <a:endParaRPr lang="zh-CN" altLang="en-US"/>
          </a:p>
        </p:txBody>
      </p:sp>
      <p:pic>
        <p:nvPicPr>
          <p:cNvPr id="3" name="内容占位符 2" descr="01e91e46-1dd0-11f1-bcad-f6b5cbcc0b1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271" b="271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图像采集设备选择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采用高分辨率CMOS工业相机，如Basler ace系列，确保图像清晰，提升猪肉表面特征识别精度。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处理单元配置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选用嵌入式系统如树莓派4B，支持实时图像处理，降低成本并提高效率，适用于教育项目。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照明系统设计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配置LED环形光源，如Phlox品牌，提供均匀照明，减少阴影干扰，保证图像一致性。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算法模型选取</a:t>
            </a:r>
            <a:endParaRPr lang="zh-CN" altLang="en-US"/>
          </a:p>
        </p:txBody>
      </p:sp>
      <p:pic>
        <p:nvPicPr>
          <p:cNvPr id="3" name="内容占位符 2" descr="01366c5a-1dd0-11f1-be6d-2ec237e8548a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389" b="1389"/>
          <a:stretch>
            <a:fillRect/>
          </a:stretch>
        </p:blipFill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0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卷积神经网络的应用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CNN在图像识别中表现卓越，常用于食品新鲜度检测，如苹果腐烂识别，准确率高，适合猪肉分析。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支持向量机的分类方法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SVM适用于小样本分类，在工业检测中广泛应用，如肉类质量评估，计算高效，提升可靠性。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颜色直方图特征提取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基于颜色特征的方法简单有效，常用于农产品新鲜度检测，如香蕉变色分析，易于实现和优化。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系统实现流程</a:t>
            </a:r>
            <a:endParaRPr lang="zh-CN" altLang="en-US"/>
          </a:p>
        </p:txBody>
      </p:sp>
      <p:sp>
        <p:nvSpPr>
          <p:cNvPr id="3" name="文本占位符 7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图像采集环节</a:t>
            </a:r>
            <a:endParaRPr lang="zh-CN" altLang="en-US"/>
          </a:p>
        </p:txBody>
      </p:sp>
      <p:pic>
        <p:nvPicPr>
          <p:cNvPr id="3" name="内容占位符 2" descr="01ff1e48-1dd0-11f1-838a-56d5485ade1e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79" b="79"/>
          <a:stretch>
            <a:fillRect/>
          </a:stretch>
        </p:blipFill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相机设备选型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选择高分辨率工业相机，类似安防监控设备，确保图像清晰，支持猪肉表面细节捕获。</a:t>
            </a:r>
            <a:endParaRPr lang="zh-CN" altLang="en-US"/>
          </a:p>
        </p:txBody>
      </p:sp>
      <p:pic>
        <p:nvPicPr>
          <p:cNvPr id="6" name="内容占位符 5" descr="01ff1fa9-1dd0-11f1-838a-56d5485ade1e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t="79" b="79"/>
          <a:stretch>
            <a:fillRect/>
          </a:stretch>
        </p:blipFill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光照环境配置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采用均匀LED照明，避免反光阴影，借鉴食品检测标准，如肉类加工厂的光照设置。</a:t>
            </a:r>
            <a:endParaRPr lang="zh-CN" altLang="en-US"/>
          </a:p>
        </p:txBody>
      </p:sp>
      <p:pic>
        <p:nvPicPr>
          <p:cNvPr id="9" name="内容占位符 8" descr="01ff1e52-1dd0-11f1-838a-56d5485ade1e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t="79" b="79"/>
          <a:stretch>
            <a:fillRect/>
          </a:stretch>
        </p:blipFill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采集参数设置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调整曝光和白平衡，参考智能手机摄影优化，保证图像色彩真实，便于新鲜度分析。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图像预处理步骤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图像去噪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应用高斯滤波去除图像噪声，提升图像质量，确保检测准确性，类似在医学影像中用于减少伪影。</a:t>
            </a:r>
            <a:endParaRPr lang="zh-CN" altLang="en-US"/>
          </a:p>
        </p:txBody>
      </p:sp>
      <p:sp>
        <p:nvSpPr>
          <p:cNvPr id="6" name="装饰  2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图像增强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通过直方图均衡化调整对比度，使猪肉纹理更清晰，常用于安防监控图像优化。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颜色空间转换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将RGB转换为HSV空间，便于分析颜色特征，应用于农产品质量检测如苹果成熟度判断。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特征提取过程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/>
          <p:cNvPicPr/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4800" y="2057400"/>
            <a:ext cx="1524000" cy="15240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颜色特征提取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使用HSV颜色模型提取猪肉图像的色调和饱和度特征，通过颜色变化判断新鲜度，类似苹果成熟度检测应用。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5" name="图片占位符 14"/>
          <p:cNvPicPr/>
          <p:nvPr>
            <p:ph type="pic" idx="16394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34000" y="2057400"/>
            <a:ext cx="1524000" cy="15240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纹理特征提取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应用灰度共生矩阵(GLCM)计算纹理参数如对比度，用于评估猪肉表面状态，借鉴工业质检案例。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/>
          <p:cNvPicPr/>
          <p:nvPr>
            <p:ph type="pic" idx="16396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93200" y="2057400"/>
            <a:ext cx="1524000" cy="15240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深度学习特征提取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采用卷积神经网络(CNN)自动学习特征，如ResNet在图像分类中的成功，提升检测准确率。</a:t>
            </a:r>
            <a:endParaRPr lang="zh-CN" altLang="en-US"/>
          </a:p>
        </p:txBody>
      </p:sp>
    </p:spTree>
    <p:custDataLst>
      <p:tags r:id="rId2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新鲜度识别流程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017d2720-1dd0-11f1-838a-56d5485ade1e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2940" r="2940"/>
          <a:stretch>
            <a:fillRect/>
          </a:stretch>
        </p:blipFill>
        <p:spPr>
          <a:xfrm>
            <a:off x="6096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图像预处理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采用高斯滤波和直方图均衡化技术，去除图像噪声并增强对比度，提高后续分析精度，参考医学影像处理案例。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017d2684-1dd0-11f1-838a-56d5485ade1e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l="2940" r="2940"/>
          <a:stretch>
            <a:fillRect/>
          </a:stretch>
        </p:blipFill>
        <p:spPr>
          <a:xfrm>
            <a:off x="34290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特征提取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提取猪肉图像的HSV颜色特征和纹理信息，分析色泽变化趋势，为分类提供数据支持，类似工业检测应用。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017d2716-1dd0-11f1-838a-56d5485ade1e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940" r="2940"/>
          <a:stretch>
            <a:fillRect/>
          </a:stretch>
        </p:blipFill>
        <p:spPr>
          <a:xfrm>
            <a:off x="62484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新鲜度分类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应用机器学习算法如CNN模型，对特征数据进行分类，判断猪肉新鲜度等级，实现自动化智能检测。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017d29a1-1dd0-11f1-838a-56d5485ade1e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2940" r="2940"/>
          <a:stretch>
            <a:fillRect/>
          </a:stretch>
        </p:blipFill>
        <p:spPr>
          <a:xfrm>
            <a:off x="90678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结果输出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将识别结果以可视化界面显示，包括新鲜度指数和置信度，便于用户快速理解，参考智能家居设备。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7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9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d4023403d282afe59a10828d65082b17869814"/>
  <p:tag name="KSO_WM_NEWLAYOUT_GROUP_ID" val="layout_53"/>
  <p:tag name="KSO_WM_NEWLAYOUT_ID" val="slide_4708abd0320f88fa"/>
</p:tagLst>
</file>

<file path=ppt/tags/tag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fc38ad12dcd632349e84dc0d58a902b0fe91c1"/>
  <p:tag name="KSO_WM_NEWLAYOUT_GROUP_ID" val="layout_39"/>
  <p:tag name="KSO_WM_NEWLAYOUT_ID" val="slide_865fe7baa74391ac"/>
</p:tagLst>
</file>

<file path=ppt/tags/tag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9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3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7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9c65d742e6f1a9a5f25b1379fcc87ae015d9660"/>
  <p:tag name="KSO_WM_NEWLAYOUT_GROUP_ID" val="layout_10004"/>
  <p:tag name="KSO_WM_NEWLAYOUT_ID" val="slide_2b12ff2c745fcd2e"/>
</p:tagLst>
</file>

<file path=ppt/tags/tag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b3155d369e7b590d6be348414e4ad0f22857eb"/>
  <p:tag name="KSO_WM_NEWLAYOUT_GROUP_ID" val="layout_10014"/>
  <p:tag name="KSO_WM_NEWLAYOUT_ID" val="slide_6c0f7288bd5956db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6dc6949b978651cff95eab1587fefbf0cdac75"/>
  <p:tag name="KSO_WM_NEWLAYOUT_GROUP_ID" val="layout_59"/>
  <p:tag name="KSO_WM_NEWLAYOUT_ID" val="slide_20c1f52a92422207"/>
</p:tagLst>
</file>

<file path=ppt/tags/tag1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7ea5c21f8763c838da1a8b1586e52d25054dee3"/>
  <p:tag name="KSO_WM_NEWLAYOUT_GROUP_ID" val="layout_48"/>
  <p:tag name="KSO_WM_NEWLAYOUT_ID" val="slide_f40f4095b76ee3a8"/>
</p:tagLst>
</file>

<file path=ppt/tags/tag1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d21b90c5fb33a1e7ae56e248ca3a6c2d31f2cae"/>
  <p:tag name="KSO_WM_NEWLAYOUT_GROUP_ID" val="layout_6"/>
  <p:tag name="KSO_WM_NEWLAYOUT_ID" val="slide_a9b8dd85d7f4ac41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8d8f40cb552371367c61b29f276cdd2f8c653f"/>
  <p:tag name="KSO_WM_NEWLAYOUT_GROUP_ID" val="layout_26"/>
  <p:tag name="KSO_WM_NEWLAYOUT_ID" val="slide_4e8a2b389c8bbf30"/>
</p:tagLst>
</file>

<file path=ppt/tags/tag1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43e9c246b5748221a29869fbd9f616d0c8412e"/>
  <p:tag name="KSO_WM_NEWLAYOUT_GROUP_ID" val="layout_2"/>
  <p:tag name="KSO_WM_NEWLAYOUT_ID" val="slide_dbd12360534da726"/>
</p:tagLst>
</file>

<file path=ppt/tags/tag1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d219caafa139afa4d6bc8dace5d1695eac26b42"/>
  <p:tag name="KSO_WM_NEWLAYOUT_GROUP_ID" val="layout_31"/>
  <p:tag name="KSO_WM_NEWLAYOUT_ID" val="slide_150ad48e54a51861"/>
</p:tagLst>
</file>

<file path=ppt/tags/tag1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61e1ac6bb87ee52e89a9c9533e8ea8a9e9db90"/>
  <p:tag name="KSO_WM_NEWLAYOUT_GROUP_ID" val="layout_10009"/>
  <p:tag name="KSO_WM_NEWLAYOUT_ID" val="slide_a9f218f13f497792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3123866536adae7b74e11934fd0ce4bf30cf96"/>
  <p:tag name="KSO_WM_NEWLAYOUT_GROUP_ID" val="layout_30"/>
  <p:tag name="KSO_WM_NEWLAYOUT_ID" val="slide_97e71a9c1fd50a82"/>
</p:tagLst>
</file>

<file path=ppt/tags/tag2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9e446524b0977d8ce9cef3a250d7d270b62a1907"/>
  <p:tag name="KSO_WM_NEWLAYOUT_GROUP_ID" val="layout_1-5"/>
  <p:tag name="KSO_WM_NEWLAYOUT_ID" val="slide_063b19861dc0a508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2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761"/>
  <p:tag name="KSO_WM_TEMPLATE_CATEGORY" val="custom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761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3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SCONTENTSTITLE" val="1"/>
  <p:tag name="LayoutZOrder" val="17"/>
  <p:tag name="KSO_WM_UNIT_ID" val="_2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76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76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76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761"/>
</p:tagLst>
</file>

<file path=ppt/tags/tag23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4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41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2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6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7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8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49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0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4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8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5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2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69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0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2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5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76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7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7cc047cad036965ca62ed0d51e9ade3ddbe8aa1"/>
  <p:tag name="KSO_WM_NEWLAYOUT_ID" val="94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7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7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5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6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7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8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8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5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2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8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9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5922c044143079d835b09c02cf8a6c59502ca17"/>
  <p:tag name="KSO_WM_NEWLAYOUT_ID" val="106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b1fe8a4a0a7b658a0785c4cf6806a50338dafa2"/>
  <p:tag name="KSO_WM_NEWLAYOUT_ID" val="1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"/>
  <p:tag name="KSO_WM_UNIT_ID" val="_1**"/>
  <p:tag name="KSO_WM_UNIT_LAYERLEVEL" val="1"/>
  <p:tag name="KSO_WM_TEMPLATE_CATEGORY" val="custom"/>
  <p:tag name="KSO_WM_TEMPLATE_USER_THEME" val="1"/>
</p:tagLst>
</file>

<file path=ppt/tags/tag30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**"/>
  <p:tag name="KSO_WM_UNIT_LAYERLEVEL" val="1"/>
  <p:tag name="KSO_WM_TEMPLATE_CATEGORY" val="custom"/>
  <p:tag name="KSO_WM_TEMPLATE_USER_THEME" val="1"/>
</p:tagLst>
</file>

<file path=ppt/tags/tag3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**"/>
  <p:tag name="KSO_WM_UNIT_LAYERLEVEL" val="1"/>
  <p:tag name="KSO_WM_TEMPLATE_CATEGORY" val="custom"/>
  <p:tag name="KSO_WM_TEMPLATE_USER_THEME" val="1"/>
</p:tagLst>
</file>

<file path=ppt/tags/tag31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4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5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1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1"/>
  <p:tag name="KSO_WM_TEMPLATE_CATEGORY" val="custom"/>
  <p:tag name="KSO_WM_TEMPLATE_MASTER_TYPE" val="0"/>
  <p:tag name="KSO_WM_TAG_VERSION" val="3.0"/>
</p:tagLst>
</file>

<file path=ppt/tags/tag317.xml><?xml version="1.0" encoding="utf-8"?>
<p:tagLst xmlns:p="http://schemas.openxmlformats.org/presentationml/2006/main">
  <p:tag name="KSO_WM_AITEMPLATE_STYLE_ID" val="69796636307"/>
</p:tagLst>
</file>

<file path=ppt/tags/tag31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31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7cc047cad036965ca62ed0d51e9ade3ddbe8aa1"/>
  <p:tag name="KSO_WM_NEWLAYOUT_ID" val="94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32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32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1"/>
  <p:tag name="KSO_WM_TEMPLATE_CATEGORY" val="custom"/>
  <p:tag name="KSO_WM_SLIDE_INDEX" val="1"/>
  <p:tag name="KSO_WM_SLIDE_ID" val="custom40480761_1"/>
  <p:tag name="KSO_WM_TEMPLATE_MASTER_TYPE" val="0"/>
  <p:tag name="KSO_WM_SLIDE_LAYOUT" val="a_f"/>
  <p:tag name="KSO_WM_SLIDE_LAYOUT_CNT" val="1_2"/>
  <p:tag name="KSO_WM_TAG_VERSION" val="3.0"/>
</p:tagLst>
</file>

<file path=ppt/tags/tag3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9e446524b0977d8ce9cef3a250d7d270b62a1907"/>
  <p:tag name="KSO_WM_NEWLAYOUT_GROUP_ID" val="layout_1-5"/>
  <p:tag name="KSO_WM_NEWLAYOUT_ID" val="slide_063b19861dc0a508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BEAUTIFY_FLAG" val="#wm#"/>
  <p:tag name="KSO_WM_TEMPLATE_FIGMA_ID" val="69796636307"/>
  <p:tag name="KSO_WM_TEMPLATE_SLIDE_ID" val="slide_063b19861dc0a508"/>
</p:tagLst>
</file>

<file path=ppt/tags/tag33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33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33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61"/>
  <p:tag name="KSO_WM_TEMPLATE_CATEGORY" val="custom"/>
  <p:tag name="KSO_WM_SLIDE_INDEX" val="3"/>
  <p:tag name="KSO_WM_SLIDE_ID" val="custom40480761_7"/>
  <p:tag name="KSO_WM_TEMPLATE_MASTER_TYPE" val="0"/>
  <p:tag name="KSO_WM_SLIDE_LAYOUT" val="a_e"/>
  <p:tag name="KSO_WM_SLIDE_LAYOUT_CNT" val="1_1"/>
  <p:tag name="KSO_WM_TAG_VERSION" val="3.0"/>
</p:tagLst>
</file>

<file path=ppt/tags/tag3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3123866536adae7b74e11934fd0ce4bf30cf96"/>
  <p:tag name="KSO_WM_NEWLAYOUT_GROUP_ID" val="layout_30"/>
  <p:tag name="KSO_WM_NEWLAYOUT_ID" val="slide_97e71a9c1fd50a82"/>
  <p:tag name="KSO_WM_UNIT_PRESET_TEXT" val="单击此处添加标题"/>
</p:tagLst>
</file>

<file path=ppt/tags/tag3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97e71a9c1fd50a82"/>
</p:tagLst>
</file>

<file path=ppt/tags/tag3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61e1ac6bb87ee52e89a9c9533e8ea8a9e9db90"/>
  <p:tag name="KSO_WM_NEWLAYOUT_GROUP_ID" val="layout_10009"/>
  <p:tag name="KSO_WM_NEWLAYOUT_ID" val="slide_a9f218f13f497792"/>
  <p:tag name="KSO_WM_UNIT_PRESET_TEXT" val="单击此处添加标题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059a04f8-49b3-4529-bd52-a3888fa0dd2c.jpg?Expires=1804827463\u0026AWSAccessKeyId=AKLT9NSy7kh8TIS1UzNqLRY2\u0026Signature=9s8L48V6icqp8w%2BCXf136yVYsZY%3D&quot;,&quot;product_name&quot;:&quot;wps-wpp-pc&quot;,&quot;intention_code&quot;:&quot;wps_wpp_generate_theme_pay&quot;}*auto_qingqiu_3.0.6_prod*1773291458168_fe7c11_e81fa03f6aa2-slide-4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53b7698a-b27e-4b1b-a61f-bef160487000.jpg?Expires=1804827464\u0026AWSAccessKeyId=AKLT9NSy7kh8TIS1UzNqLRY2\u0026Signature=ftomp0DImYtk4kBiRYm%2Fnzc0ZPI%3D&quot;,&quot;product_name&quot;:&quot;wps-wpp-pc&quot;,&quot;intention_code&quot;:&quot;wps_wpp_generate_theme_pay&quot;}*auto_qingqiu_3.0.6_prod*1773291458168_fe7c11_e81fa03f6aa2-slide-4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cde27425-cf06-4b62-9615-b308558ef9fb.jpg?Expires=1804827463\u0026AWSAccessKeyId=AKLT9NSy7kh8TIS1UzNqLRY2\u0026Signature=TDF6CVOyBaT%2BDLH4Q99dvZ3Ac8w%3D&quot;,&quot;product_name&quot;:&quot;wps-wpp-pc&quot;,&quot;intention_code&quot;:&quot;wps_wpp_generate_theme_pay&quot;}*auto_qingqiu_3.0.6_prod*1773291458168_fe7c11_e81fa03f6aa2-slide-4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a9f218f13f497792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43e9c246b5748221a29869fbd9f616d0c8412e"/>
  <p:tag name="KSO_WM_NEWLAYOUT_GROUP_ID" val="layout_2"/>
  <p:tag name="KSO_WM_NEWLAYOUT_ID" val="slide_dbd12360534da726"/>
  <p:tag name="KSO_WM_UNIT_PRESET_TEXT" val="单击此处添加标题"/>
</p:tagLst>
</file>

<file path=ppt/tags/tag3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33351511-6290-43f8-8b77-84d74ddaa668.jpg?Expires=1804827463\u0026AWSAccessKeyId=AKLT9NSy7kh8TIS1UzNqLRY2\u0026Signature=cBRKQX5kkCuGc26248T1mIAHuuo%3D&quot;,&quot;product_name&quot;:&quot;wps-wpp-pc&quot;,&quot;intention_code&quot;:&quot;wps_wpp_generate_theme_pay&quot;}*auto_qingqiu_3.0.6_prod*1773291458168_fe7c11_e81fa03f6aa2-slide-6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4492181f-9faf-4ae1-946f-b1350ac637a2.jpg?Expires=1804827463\u0026AWSAccessKeyId=AKLT9NSy7kh8TIS1UzNqLRY2\u0026Signature=fjeElMiAQCt7If4QwlSo886j%2BmU%3D&quot;,&quot;product_name&quot;:&quot;wps-wpp-pc&quot;,&quot;intention_code&quot;:&quot;wps_wpp_generate_theme_pay&quot;}*auto_qingqiu_3.0.6_prod*1773291458168_fe7c11_e81fa03f6aa2-slide-6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685fa8a7-2c2d-4b35-aca5-64b53625ab00.jpg?Expires=1804827462\u0026AWSAccessKeyId=AKLT9NSy7kh8TIS1UzNqLRY2\u0026Signature=sNS6XF0eKZo2b0VHXwOC8Hw0%2BVQ%3D&quot;,&quot;product_name&quot;:&quot;wps-wpp-pc&quot;,&quot;intention_code&quot;:&quot;wps_wpp_generate_theme_pay&quot;}*auto_qingqiu_3.0.6_prod*1773291458168_fe7c11_e81fa03f6aa2-slide-6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dbd12360534da726"/>
</p:tagLst>
</file>

<file path=ppt/tags/tag37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37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37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61"/>
  <p:tag name="KSO_WM_TEMPLATE_CATEGORY" val="custom"/>
  <p:tag name="KSO_WM_SLIDE_INDEX" val="3"/>
  <p:tag name="KSO_WM_SLIDE_ID" val="custom40480761_7"/>
  <p:tag name="KSO_WM_TEMPLATE_MASTER_TYPE" val="0"/>
  <p:tag name="KSO_WM_SLIDE_LAYOUT" val="a_e"/>
  <p:tag name="KSO_WM_SLIDE_LAYOUT_CNT" val="1_1"/>
  <p:tag name="KSO_WM_TAG_VERSION" val="3.0"/>
</p:tagLst>
</file>

<file path=ppt/tags/tag3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8d8f40cb552371367c61b29f276cdd2f8c653f"/>
  <p:tag name="KSO_WM_NEWLAYOUT_GROUP_ID" val="layout_26"/>
  <p:tag name="KSO_WM_NEWLAYOUT_ID" val="slide_4e8a2b389c8bbf30"/>
  <p:tag name="KSO_WM_UNIT_PRESET_TEXT" val="单击此处添加标题"/>
</p:tagLst>
</file>

<file path=ppt/tags/tag37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a8cff2f0-d52c-4cd7-82df-b8d4f57f3a47.jpg?Expires=1804827463\u0026AWSAccessKeyId=AKLT9NSy7kh8TIS1UzNqLRY2\u0026Signature=F8esFWWuoSCweZ7K0OUOxzfAv8c%3D&quot;,&quot;product_name&quot;:&quot;wps-wpp-pc&quot;,&quot;intention_code&quot;:&quot;wps_wpp_generate_theme_pay&quot;}*auto_qingqiu_3.0.6_prod*1773291458168_fe7c11_e81fa03f6aa2-slide-8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434b3511-22af-493d-91af-38e1748d8ad1.jpg?Expires=1804827463\u0026AWSAccessKeyId=AKLT9NSy7kh8TIS1UzNqLRY2\u0026Signature=SsGLW4ge5WfA4cmif3cplCqRlxE%3D&quot;,&quot;product_name&quot;:&quot;wps-wpp-pc&quot;,&quot;intention_code&quot;:&quot;wps_wpp_generate_theme_pay&quot;}*auto_qingqiu_3.0.6_prod*1773291458168_fe7c11_e81fa03f6aa2-slide-8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264280047&quot;,&quot;product_name&quot;:&quot;wps-wpp-pc&quot;,&quot;intention_code&quot;:&quot;wps_wpp_generate_theme_pay&quot;}*auto_gallery_3.0.6_prod*1773291458168_fe7c11_e81fa03f6aa2-slide-8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4e8a2b389c8bbf30"/>
</p:tagLst>
</file>

<file path=ppt/tags/tag3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d21b90c5fb33a1e7ae56e248ca3a6c2d31f2cae"/>
  <p:tag name="KSO_WM_NEWLAYOUT_GROUP_ID" val="layout_6"/>
  <p:tag name="KSO_WM_NEWLAYOUT_ID" val="slide_a9b8dd85d7f4ac41"/>
  <p:tag name="KSO_WM_UNIT_PRESET_TEXT" val="单击此处添加标题"/>
</p:tagLst>
</file>

<file path=ppt/tags/tag3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3/00d28d2e-94e7-4377-9ff6-ee2b61403b06.jpg?Expires=1804827464\u0026AWSAccessKeyId=AKLT9NSy7kh8TIS1UzNqLRY2\u0026Signature=Iqz2jbUozJ2kYPfbe0bIbIGGKdc%3D&quot;,&quot;product_name&quot;:&quot;wps-wpp-pc&quot;,&quot;intention_code&quot;:&quot;wps_wpp_generate_theme_pay&quot;}*auto_qingqiu_3.0.6_prod*1773291458168_fe7c11_e81fa03f6aa2-slide-9"/>
</p:tagLst>
</file>

<file path=ppt/tags/tag3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0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a9b8dd85d7f4ac41"/>
</p:tagLst>
</file>

<file path=ppt/tags/tag4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6dc6949b978651cff95eab1587fefbf0cdac75"/>
  <p:tag name="KSO_WM_NEWLAYOUT_GROUP_ID" val="layout_59"/>
  <p:tag name="KSO_WM_NEWLAYOUT_ID" val="slide_20c1f52a92422207"/>
  <p:tag name="KSO_WM_UNIT_PRESET_TEXT" val="单击此处添加标题"/>
</p:tagLst>
</file>

<file path=ppt/tags/tag4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3/ede407dd-69fa-4b3b-8d3c-b13ae4350839.jpg?Expires=1804827463\u0026AWSAccessKeyId=AKLT9NSy7kh8TIS1UzNqLRY2\u0026Signature=WVRaG%2Bo11eIEhQpqp2H6%2BKiyTTM%3D&quot;,&quot;product_name&quot;:&quot;wps-wpp-pc&quot;,&quot;intention_code&quot;:&quot;wps_wpp_generate_theme_pay&quot;}*auto_qingqiu_3.0.6_prod*1773291458168_fe7c11_e81fa03f6aa2-slide-11"/>
</p:tagLst>
</file>

<file path=ppt/tags/tag40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1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20c1f52a92422207"/>
</p:tagLst>
</file>

<file path=ppt/tags/tag41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1e44e8bb292a8a2579e815081bb7495d134c50d"/>
  <p:tag name="KSO_WM_NEWLAYOUT_ID" val="10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1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1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61"/>
  <p:tag name="KSO_WM_TEMPLATE_CATEGORY" val="custom"/>
  <p:tag name="KSO_WM_SLIDE_INDEX" val="3"/>
  <p:tag name="KSO_WM_SLIDE_ID" val="custom40480761_7"/>
  <p:tag name="KSO_WM_TEMPLATE_MASTER_TYPE" val="0"/>
  <p:tag name="KSO_WM_SLIDE_LAYOUT" val="a_e"/>
  <p:tag name="KSO_WM_SLIDE_LAYOUT_CNT" val="1_1"/>
  <p:tag name="KSO_WM_TAG_VERSION" val="3.0"/>
</p:tagLst>
</file>

<file path=ppt/tags/tag4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fb3155d369e7b590d6be348414e4ad0f22857eb"/>
  <p:tag name="KSO_WM_NEWLAYOUT_GROUP_ID" val="layout_10014"/>
  <p:tag name="KSO_WM_NEWLAYOUT_ID" val="slide_6c0f7288bd5956db"/>
  <p:tag name="KSO_WM_UNIT_PRESET_TEXT" val="单击此处添加标题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8b95f30f-cf43-418f-b531-770895da242c.jpg?Expires=1804827463\u0026AWSAccessKeyId=AKLT9NSy7kh8TIS1UzNqLRY2\u0026Signature=VN3ybYh6WMEjXlPxbQwMXK%2Fc1kY%3D&quot;,&quot;product_name&quot;:&quot;wps-wpp-pc&quot;,&quot;intention_code&quot;:&quot;wps_wpp_generate_theme_pay&quot;}*auto_qingqiu_3.0.6_prod*1773291458168_fe7c11_e81fa03f6aa2-slide-13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3c88b5dc-5d05-4ecf-a622-83cc23dd31c6.jpg?Expires=1804827464\u0026AWSAccessKeyId=AKLT9NSy7kh8TIS1UzNqLRY2\u0026Signature=6E%2BSz8BYblqmfnCAbUSr3RU%2F4hM%3D&quot;,&quot;product_name&quot;:&quot;wps-wpp-pc&quot;,&quot;intention_code&quot;:&quot;wps_wpp_generate_theme_pay&quot;}*auto_qingqiu_3.0.6_prod*1773291458168_fe7c11_e81fa03f6aa2-slide-13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8d5bceb3-b67f-443d-9136-09f6859601ad.jpg?Expires=1804827462\u0026AWSAccessKeyId=AKLT9NSy7kh8TIS1UzNqLRY2\u0026Signature=BYpQiiOrQv7vsO%2Bs1SDPAWEQXrA%3D&quot;,&quot;product_name&quot;:&quot;wps-wpp-pc&quot;,&quot;intention_code&quot;:&quot;wps_wpp_generate_theme_pay&quot;}*auto_qingqiu_3.0.6_prod*1773291458168_fe7c11_e81fa03f6aa2-slide-13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6c0f7288bd5956db"/>
</p:tagLst>
</file>

<file path=ppt/tags/tag4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9c65d742e6f1a9a5f25b1379fcc87ae015d9660"/>
  <p:tag name="KSO_WM_NEWLAYOUT_GROUP_ID" val="layout_10004"/>
  <p:tag name="KSO_WM_NEWLAYOUT_ID" val="slide_2b12ff2c745fcd2e"/>
  <p:tag name="KSO_WM_UNIT_PRESET_TEXT" val="单击此处添加标题"/>
</p:tagLst>
</file>

<file path=ppt/tags/tag4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3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2b12ff2c745fcd2e"/>
</p:tagLst>
</file>

<file path=ppt/tags/tag4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fc38ad12dcd632349e84dc0d58a902b0fe91c1"/>
  <p:tag name="KSO_WM_NEWLAYOUT_GROUP_ID" val="layout_39"/>
  <p:tag name="KSO_WM_NEWLAYOUT_ID" val="slide_865fe7baa74391ac"/>
  <p:tag name="KSO_WM_UNIT_PRESET_TEXT" val="单击此处添加标题"/>
</p:tagLst>
</file>

<file path=ppt/tags/tag4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4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4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50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5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865fe7baa74391ac"/>
</p:tagLst>
</file>

<file path=ppt/tags/tag4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d4023403d282afe59a10828d65082b17869814"/>
  <p:tag name="KSO_WM_NEWLAYOUT_GROUP_ID" val="layout_53"/>
  <p:tag name="KSO_WM_NEWLAYOUT_ID" val="slide_4708abd0320f88fa"/>
  <p:tag name="KSO_WM_UNIT_PRESET_TEXT" val="单击此处添加标题"/>
</p:tagLst>
</file>

<file path=ppt/tags/tag4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3/4815c2b2-f727-4d7a-8dd4-e88d24aa54ed.jpg?Expires=1804827463\u0026AWSAccessKeyId=AKLT9NSy7kh8TIS1UzNqLRY2\u0026Signature=%2Fb7wcPIshG84TOyFMrtpa8SPkzM%3D&quot;,&quot;product_name&quot;:&quot;wps-wpp-pc&quot;,&quot;intention_code&quot;:&quot;wps_wpp_generate_theme_pay&quot;}*auto_qingqiu_3.0.6_prod*1773291458168_fe7c11_e81fa03f6aa2-slide-16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3/d18110e1-82cb-4482-8af8-b79dbd98d5c3.jpg?Expires=1804827463\u0026AWSAccessKeyId=AKLT9NSy7kh8TIS1UzNqLRY2\u0026Signature=c%2FrTAHNfbb%2BdAg7AHxRi3Yo%2BNyc%3D&quot;,&quot;product_name&quot;:&quot;wps-wpp-pc&quot;,&quot;intention_code&quot;:&quot;wps_wpp_generate_theme_pay&quot;}*auto_qingqiu_3.0.6_prod*1773291458168_fe7c11_e81fa03f6aa2-slide-16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3/956abf02-3247-4b2a-bd73-f90c0589855e.jpg?Expires=1804827463\u0026AWSAccessKeyId=AKLT9NSy7kh8TIS1UzNqLRY2\u0026Signature=B1bJrmr5diwyHAT6LdEICjuGm3M%3D&quot;,&quot;product_name&quot;:&quot;wps-wpp-pc&quot;,&quot;intention_code&quot;:&quot;wps_wpp_generate_theme_pay&quot;}*auto_qingqiu_3.0.6_prod*1773291458168_fe7c11_e81fa03f6aa2-slide-16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http://zh-ai-group.ks3-cn-beijing-internal.ksyun.com/image_generate/image_process/production/202603/fc8aaf37-b194-4441-95f6-af68d22b2257.jpg?Expires=1804827462\u0026AWSAccessKeyId=AKLT9NSy7kh8TIS1UzNqLRY2\u0026Signature=YIV3JUOLNepY3uQd3yyJCfl97Wk%3D&quot;,&quot;product_name&quot;:&quot;wps-wpp-pc&quot;,&quot;intention_code&quot;:&quot;wps_wpp_generate_theme_pay&quot;}*auto_qingqiu_3.0.6_prod*1773291458168_fe7c11_e81fa03f6aa2-slide-16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71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6307"/>
  <p:tag name="KSO_WM_TEMPLATE_SLIDE_ID" val="slide_4708abd0320f88fa"/>
</p:tagLst>
</file>

<file path=ppt/tags/tag47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7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a5922c044143079d835b09c02cf8a6c59502ca17"/>
  <p:tag name="KSO_WM_NEWLAYOUT_ID" val="106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1"/>
  <p:tag name="KSO_WM_TEMPLATE_CATEGORY" val="custom"/>
</p:tagLst>
</file>

<file path=ppt/tags/tag47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80761"/>
  <p:tag name="KSO_WM_TEMPLATE_CATEGORY" val="custom"/>
  <p:tag name="KSO_WM_SLIDE_INDEX" val="5"/>
  <p:tag name="KSO_WM_SLIDE_ID" val="custom40480761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203214"/>
      </a:dk2>
      <a:lt2>
        <a:srgbClr val="F8FBF6"/>
      </a:lt2>
      <a:accent1>
        <a:srgbClr val="70AD47"/>
      </a:accent1>
      <a:accent2>
        <a:srgbClr val="00AB68"/>
      </a:accent2>
      <a:accent3>
        <a:srgbClr val="00A689"/>
      </a:accent3>
      <a:accent4>
        <a:srgbClr val="009BA6"/>
      </a:accent4>
      <a:accent5>
        <a:srgbClr val="008BBB"/>
      </a:accent5>
      <a:accent6>
        <a:srgbClr val="4472C4"/>
      </a:accent6>
      <a:hlink>
        <a:srgbClr val="0026E5"/>
      </a:hlink>
      <a:folHlink>
        <a:srgbClr val="7E1FAD"/>
      </a:folHlink>
    </a:clrScheme>
    <a:fontScheme name="自定义 9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1745</Words>
  <Application>WPS 演示</Application>
  <PresentationFormat>宽屏</PresentationFormat>
  <Paragraphs>238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阿里巴巴普惠体 R</vt:lpstr>
      <vt:lpstr>Arial Unicode MS</vt:lpstr>
      <vt:lpstr>Calibri</vt:lpstr>
      <vt:lpstr>Office 主题</vt:lpstr>
      <vt:lpstr>1_Office 主题</vt:lpstr>
      <vt:lpstr>基于图像识别的猪肉新鲜度检测系统课设</vt:lpstr>
      <vt:lpstr>目录</vt:lpstr>
      <vt:lpstr>背景引入与问题分析</vt:lpstr>
      <vt:lpstr>猪肉新鲜度检测的重要性</vt:lpstr>
      <vt:lpstr>当前检测方法的局限性</vt:lpstr>
      <vt:lpstr>研究意义与应用价值</vt:lpstr>
      <vt:lpstr>系统方案设计</vt:lpstr>
      <vt:lpstr>系统总体设计思路</vt:lpstr>
      <vt:lpstr>硬件环境选择</vt:lpstr>
      <vt:lpstr>算法模型选取</vt:lpstr>
      <vt:lpstr>系统实现流程</vt:lpstr>
      <vt:lpstr>图像采集环节</vt:lpstr>
      <vt:lpstr>图像预处理步骤</vt:lpstr>
      <vt:lpstr>特征提取过程</vt:lpstr>
      <vt:lpstr>新鲜度识别流程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基于图像识别的猪肉新鲜度检测系统课设</dc:title>
  <dc:creator/>
  <cp:lastModifiedBy/>
  <cp:revision>1</cp:revision>
  <dcterms:created xsi:type="dcterms:W3CDTF">2026-03-17T02:51:18Z</dcterms:created>
  <dcterms:modified xsi:type="dcterms:W3CDTF">2026-03-17T02:51:18Z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KSOTemplateUUID">
    <vt:lpwstr>v1.0_ai_69796636307</vt:lpwstr>
  </property>
  <property fmtid="{D5CDD505-2E9C-101B-9397-08002B2CF9AE}" pid="4" name="ICV">
    <vt:lpwstr>328D4FC2004E415AE447B2693FBA10DC_42</vt:lpwstr>
  </property>
</Properties>
</file>