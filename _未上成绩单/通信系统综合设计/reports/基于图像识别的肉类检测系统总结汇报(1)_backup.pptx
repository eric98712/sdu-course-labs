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.svg" ContentType="image/svg+xml"/>
  <Override PartName="/ppt/media/image30.svg" ContentType="image/svg+xml"/>
  <Override PartName="/ppt/media/image34.svg" ContentType="image/svg+xml"/>
  <Override PartName="/ppt/media/image41.svg" ContentType="image/svg+xml"/>
  <Override PartName="/ppt/media/image43.svg" ContentType="image/svg+xml"/>
  <Override PartName="/ppt/media/image47.svg" ContentType="image/svg+xml"/>
  <Override PartName="/ppt/media/image5.svg" ContentType="image/svg+xml"/>
  <Override PartName="/ppt/media/image50.svg" ContentType="image/svg+xml"/>
  <Override PartName="/ppt/media/image53.svg" ContentType="image/svg+xml"/>
  <Override PartName="/ppt/media/image56.svg" ContentType="image/svg+xml"/>
  <Override PartName="/ppt/media/image59.svg" ContentType="image/svg+xml"/>
  <Override PartName="/ppt/media/image61.svg" ContentType="image/svg+xml"/>
  <Override PartName="/ppt/media/image63.svg" ContentType="image/svg+xml"/>
  <Override PartName="/ppt/media/image65.svg" ContentType="image/svg+xml"/>
  <Override PartName="/ppt/media/image67.svg" ContentType="image/svg+xml"/>
  <Override PartName="/ppt/media/image69.svg" ContentType="image/svg+xml"/>
  <Override PartName="/ppt/media/image7.svg" ContentType="image/svg+xml"/>
  <Override PartName="/ppt/media/image71.svg" ContentType="image/svg+xml"/>
  <Override PartName="/ppt/media/image73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  <p:sldMasterId id="2147483663" r:id="rId4"/>
    <p:sldMasterId id="2147483665" r:id="rId5"/>
  </p:sldMasterIdLst>
  <p:notesMasterIdLst>
    <p:notesMasterId r:id="rId7"/>
  </p:notesMasterIdLst>
  <p:sldIdLst>
    <p:sldId id="256" r:id="rId6"/>
    <p:sldId id="257" r:id="rId8"/>
    <p:sldId id="258" r:id="rId9"/>
    <p:sldId id="272" r:id="rId10"/>
    <p:sldId id="261" r:id="rId11"/>
    <p:sldId id="262" r:id="rId12"/>
    <p:sldId id="263" r:id="rId13"/>
    <p:sldId id="265" r:id="rId14"/>
    <p:sldId id="266" r:id="rId15"/>
    <p:sldId id="267" r:id="rId16"/>
    <p:sldId id="273" r:id="rId17"/>
    <p:sldId id="268" r:id="rId18"/>
    <p:sldId id="269" r:id="rId19"/>
    <p:sldId id="270" r:id="rId20"/>
    <p:sldId id="271" r:id="rId2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533" userDrawn="1">
          <p15:clr>
            <a:srgbClr val="747775"/>
          </p15:clr>
        </p15:guide>
        <p15:guide id="2" pos="2945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533"/>
        <p:guide pos="2945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3.xml"/><Relationship Id="rId8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5.xml"/><Relationship Id="rId20" Type="http://schemas.openxmlformats.org/officeDocument/2006/relationships/slide" Target="slides/slide14.xml"/><Relationship Id="rId2" Type="http://schemas.openxmlformats.org/officeDocument/2006/relationships/theme" Target="theme/theme1.xml"/><Relationship Id="rId19" Type="http://schemas.openxmlformats.org/officeDocument/2006/relationships/slide" Target="slides/slide13.xml"/><Relationship Id="rId18" Type="http://schemas.openxmlformats.org/officeDocument/2006/relationships/slide" Target="slides/slide1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今天我将为大家汇报我们的课题——“基于图像识别的肉类检测系统”。本次汇报将围绕我们系统的设计方案、核心创新、实验结果以及未来展望展开。希望通过这次分享，能让大家对我们的工作有一个全面的了解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汇报将分为六个部分。首先，我会介绍课题的背景和目标。接着，阐述我们设计的系统总体方案。第三部分是本次研究的核心创新点。第四部分将展示详尽的性能与实验结果。最后，进行总结与展望，并对所有支持我们的人表示感谢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我们来看课题的背景。当前肉类消费市场存在诸多痛点。首先是“生鲜灯”的滥用，它严重误导了消费者对肉品新鲜度的判断。其次，普通人的肉眼判断非常主观，缺乏准确性。而专业的检测方法又过于昂贵和复杂。更重要的是，在用户实际拍摄时，杂乱的背景会严重干扰检测效果。这些问题都亟待解决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我们来看课题的背景。当前肉类消费市场存在诸多痛点。首先是“生鲜灯”的滥用，它严重误导了消费者对肉品新鲜度的判断。其次，普通人的肉眼判断非常主观，缺乏准确性。而专业的检测方法又过于昂贵和复杂。更重要的是，在用户实际拍摄时，杂乱的背景会严重干扰检测效果。这些问题都亟待解决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系统的核心工作流程分为五步。首先用户拍摄照片，然后图像上传到云端进行YOLO目标分割。接着，对分割出的肉品进行快速预处理。之后，送入我们的MTxNet模型进行分类。最后，结果返回给用户并存储。我们为每一步都设定了严格的耗时目标，确保端到端总耗时在200毫秒以内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是我们的核心创新点。第一个创新是采用了“YOLO分割+分类”的两阶段架构。传统方法容易受背景干扰，且需要用户手动对准。我们通过引入YOLO模型，实现了对肉品的自动定位和分割，有效排除了背景干扰，让用户可以任意角度、任意背景拍摄，极大地提升了用户体验和检测准确率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个创新点是针对生鲜灯干扰的物理仿真数据增强方法。生鲜灯是模型在真实场景中遇到的最大挑战之一。我们基于光谱原理，设计了一套色彩偏移公式，能够低成本、大规模地生成模拟生鲜灯效果的训练样本。这极大地提升了我们模型的鲁棒性，使其在各种光照条件下都能保持稳定的性能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第四个创新点在于模型的轻量化和多模型部署。为了满足云端部署对速度和体积的严苛要求，我们复现并优化了MTxNet模型，将其参数量压缩到了1M左右，模型大小不到2MB。同时，我们采用ONNX Runtime进行高效推理，并部署了5个针对不同肉类和任务的专用模型，实现了高效、精准的多任务检测。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我们来看实验结果。首先是模型的轻量化和推理速度。通过对比ResNet18和MobileNetV2等经典模型，我们可以看到，我们的MTxNet在保持90%以上准确率的同时，参数量和模型体积都做到了极致压缩，并且推理时间最短，完全满足了实时性要求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验证模型的鲁棒性，我们进行了生鲜灯干扰测试。通过消融实验可以看到，在没有经过生鲜灯仿真增强训练的情况下，模型在生鲜灯下的评分偏差超过15%；而经过增强后，偏差被控制在5%以内。这证明了我们的数据增强方法非常有效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验证模型的鲁棒性，我们进行了生鲜灯干扰测试。通过消融实验可以看到，在没有经过生鲜灯仿真增强训练的情况下，模型在生鲜灯下的评分偏差超过15%；而经过增强后，偏差被控制在5%以内。这证明了我们的数据增强方法非常有效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分类准确率方面，我们的五个专用模型在各自的验证集上都达到了90%以上的准确率。特别是牛肉掺假识别模型，准确率高达95.6%。这张混淆矩阵展示了新鲜度三分类的详细结果，可以看到各类别的识别都非常精准。这充分证明了我们模型的有效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我们在真实场景中进行了测试。数据显示，加入YOLO分割模块后，系统的准确率从75%提升到了88%。更重要的是，用户不再需要手动对准，即使在旋转小火锅这样的动态复杂场景下，拍摄成功率也超过了90%。这充分证明了我们两阶段架构的实用性和优越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进行总结与展望。本次工作，我们成功构建了一套完整的肉类检测系统，并实现了四大创新点，所有性能指标均达到预期。展望未来，我们计划进一步扩充真实世界的数据，尝试模型的端侧部署，并扩展更多的检测功能和优化用户体验，让系统更加完善和实用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最后，我要诚挚地感谢我们的指导老师，感谢实验室提供的支持，感谢所有公开数据集的提供者，以及感谢团队每一位成员的辛勤付出。没有你们，就没有这个项目的成功。我的汇报到此结束，谢谢大家！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4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4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6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4.png"/><Relationship Id="rId8" Type="http://schemas.openxmlformats.org/officeDocument/2006/relationships/tags" Target="../tags/tag5.xml"/><Relationship Id="rId7" Type="http://schemas.openxmlformats.org/officeDocument/2006/relationships/tags" Target="../tags/tag4.xml"/><Relationship Id="rId6" Type="http://schemas.openxmlformats.org/officeDocument/2006/relationships/tags" Target="../tags/tag3.xml"/><Relationship Id="rId5" Type="http://schemas.openxmlformats.org/officeDocument/2006/relationships/image" Target="../media/image3.svg"/><Relationship Id="rId4" Type="http://schemas.openxmlformats.org/officeDocument/2006/relationships/image" Target="../media/image2.png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5" Type="http://schemas.openxmlformats.org/officeDocument/2006/relationships/notesSlide" Target="../notesSlides/notesSlide1.xml"/><Relationship Id="rId14" Type="http://schemas.openxmlformats.org/officeDocument/2006/relationships/slideLayout" Target="../slideLayouts/slideLayout12.xml"/><Relationship Id="rId13" Type="http://schemas.openxmlformats.org/officeDocument/2006/relationships/image" Target="../media/image7.svg"/><Relationship Id="rId12" Type="http://schemas.openxmlformats.org/officeDocument/2006/relationships/image" Target="../media/image6.png"/><Relationship Id="rId11" Type="http://schemas.openxmlformats.org/officeDocument/2006/relationships/tags" Target="../tags/tag6.xml"/><Relationship Id="rId10" Type="http://schemas.openxmlformats.org/officeDocument/2006/relationships/image" Target="../media/image5.sv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4.xml"/><Relationship Id="rId8" Type="http://schemas.openxmlformats.org/officeDocument/2006/relationships/tags" Target="../tags/tag13.xml"/><Relationship Id="rId7" Type="http://schemas.openxmlformats.org/officeDocument/2006/relationships/tags" Target="../tags/tag12.xml"/><Relationship Id="rId6" Type="http://schemas.openxmlformats.org/officeDocument/2006/relationships/tags" Target="../tags/tag11.xml"/><Relationship Id="rId5" Type="http://schemas.openxmlformats.org/officeDocument/2006/relationships/tags" Target="../tags/tag10.xml"/><Relationship Id="rId4" Type="http://schemas.openxmlformats.org/officeDocument/2006/relationships/tags" Target="../tags/tag9.xml"/><Relationship Id="rId33" Type="http://schemas.openxmlformats.org/officeDocument/2006/relationships/notesSlide" Target="../notesSlides/notesSlide2.xml"/><Relationship Id="rId32" Type="http://schemas.openxmlformats.org/officeDocument/2006/relationships/slideLayout" Target="../slideLayouts/slideLayout12.xml"/><Relationship Id="rId31" Type="http://schemas.openxmlformats.org/officeDocument/2006/relationships/tags" Target="../tags/tag36.xml"/><Relationship Id="rId30" Type="http://schemas.openxmlformats.org/officeDocument/2006/relationships/tags" Target="../tags/tag35.xml"/><Relationship Id="rId3" Type="http://schemas.openxmlformats.org/officeDocument/2006/relationships/tags" Target="../tags/tag8.xml"/><Relationship Id="rId29" Type="http://schemas.openxmlformats.org/officeDocument/2006/relationships/tags" Target="../tags/tag34.xml"/><Relationship Id="rId28" Type="http://schemas.openxmlformats.org/officeDocument/2006/relationships/tags" Target="../tags/tag33.xml"/><Relationship Id="rId27" Type="http://schemas.openxmlformats.org/officeDocument/2006/relationships/tags" Target="../tags/tag32.xml"/><Relationship Id="rId26" Type="http://schemas.openxmlformats.org/officeDocument/2006/relationships/tags" Target="../tags/tag31.xml"/><Relationship Id="rId25" Type="http://schemas.openxmlformats.org/officeDocument/2006/relationships/tags" Target="../tags/tag30.xml"/><Relationship Id="rId24" Type="http://schemas.openxmlformats.org/officeDocument/2006/relationships/tags" Target="../tags/tag29.xml"/><Relationship Id="rId23" Type="http://schemas.openxmlformats.org/officeDocument/2006/relationships/tags" Target="../tags/tag28.xml"/><Relationship Id="rId22" Type="http://schemas.openxmlformats.org/officeDocument/2006/relationships/tags" Target="../tags/tag27.xml"/><Relationship Id="rId21" Type="http://schemas.openxmlformats.org/officeDocument/2006/relationships/tags" Target="../tags/tag26.xml"/><Relationship Id="rId20" Type="http://schemas.openxmlformats.org/officeDocument/2006/relationships/tags" Target="../tags/tag25.xml"/><Relationship Id="rId2" Type="http://schemas.openxmlformats.org/officeDocument/2006/relationships/tags" Target="../tags/tag7.xml"/><Relationship Id="rId19" Type="http://schemas.openxmlformats.org/officeDocument/2006/relationships/tags" Target="../tags/tag24.xml"/><Relationship Id="rId18" Type="http://schemas.openxmlformats.org/officeDocument/2006/relationships/tags" Target="../tags/tag23.xml"/><Relationship Id="rId17" Type="http://schemas.openxmlformats.org/officeDocument/2006/relationships/tags" Target="../tags/tag22.xml"/><Relationship Id="rId16" Type="http://schemas.openxmlformats.org/officeDocument/2006/relationships/tags" Target="../tags/tag21.xml"/><Relationship Id="rId15" Type="http://schemas.openxmlformats.org/officeDocument/2006/relationships/tags" Target="../tags/tag20.xml"/><Relationship Id="rId14" Type="http://schemas.openxmlformats.org/officeDocument/2006/relationships/tags" Target="../tags/tag19.xml"/><Relationship Id="rId13" Type="http://schemas.openxmlformats.org/officeDocument/2006/relationships/tags" Target="../tags/tag18.xml"/><Relationship Id="rId12" Type="http://schemas.openxmlformats.org/officeDocument/2006/relationships/tags" Target="../tags/tag17.xml"/><Relationship Id="rId11" Type="http://schemas.openxmlformats.org/officeDocument/2006/relationships/tags" Target="../tags/tag16.xml"/><Relationship Id="rId10" Type="http://schemas.openxmlformats.org/officeDocument/2006/relationships/tags" Target="../tags/tag15.xml"/><Relationship Id="rId1" Type="http://schemas.openxmlformats.org/officeDocument/2006/relationships/image" Target="../media/image8.jpe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6.svg"/><Relationship Id="rId8" Type="http://schemas.openxmlformats.org/officeDocument/2006/relationships/image" Target="../media/image15.png"/><Relationship Id="rId7" Type="http://schemas.openxmlformats.org/officeDocument/2006/relationships/image" Target="../media/image14.svg"/><Relationship Id="rId6" Type="http://schemas.openxmlformats.org/officeDocument/2006/relationships/image" Target="../media/image13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3" Type="http://schemas.openxmlformats.org/officeDocument/2006/relationships/notesSlide" Target="../notesSlides/notesSlide3.xml"/><Relationship Id="rId12" Type="http://schemas.openxmlformats.org/officeDocument/2006/relationships/slideLayout" Target="../slideLayouts/slideLayout12.xml"/><Relationship Id="rId11" Type="http://schemas.openxmlformats.org/officeDocument/2006/relationships/image" Target="../media/image18.svg"/><Relationship Id="rId10" Type="http://schemas.openxmlformats.org/officeDocument/2006/relationships/image" Target="../media/image17.png"/><Relationship Id="rId1" Type="http://schemas.openxmlformats.org/officeDocument/2006/relationships/image" Target="../media/image8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42.xml"/><Relationship Id="rId8" Type="http://schemas.openxmlformats.org/officeDocument/2006/relationships/tags" Target="../tags/tag41.xml"/><Relationship Id="rId7" Type="http://schemas.openxmlformats.org/officeDocument/2006/relationships/tags" Target="../tags/tag40.xml"/><Relationship Id="rId6" Type="http://schemas.openxmlformats.org/officeDocument/2006/relationships/tags" Target="../tags/tag39.xml"/><Relationship Id="rId5" Type="http://schemas.openxmlformats.org/officeDocument/2006/relationships/image" Target="../media/image20.svg"/><Relationship Id="rId4" Type="http://schemas.openxmlformats.org/officeDocument/2006/relationships/image" Target="../media/image19.png"/><Relationship Id="rId30" Type="http://schemas.openxmlformats.org/officeDocument/2006/relationships/notesSlide" Target="../notesSlides/notesSlide5.xml"/><Relationship Id="rId3" Type="http://schemas.openxmlformats.org/officeDocument/2006/relationships/tags" Target="../tags/tag38.xml"/><Relationship Id="rId29" Type="http://schemas.openxmlformats.org/officeDocument/2006/relationships/slideLayout" Target="../slideLayouts/slideLayout12.xml"/><Relationship Id="rId28" Type="http://schemas.openxmlformats.org/officeDocument/2006/relationships/image" Target="../media/image30.svg"/><Relationship Id="rId27" Type="http://schemas.openxmlformats.org/officeDocument/2006/relationships/image" Target="../media/image29.png"/><Relationship Id="rId26" Type="http://schemas.openxmlformats.org/officeDocument/2006/relationships/image" Target="../media/image28.svg"/><Relationship Id="rId25" Type="http://schemas.openxmlformats.org/officeDocument/2006/relationships/image" Target="../media/image27.png"/><Relationship Id="rId24" Type="http://schemas.openxmlformats.org/officeDocument/2006/relationships/image" Target="../media/image26.svg"/><Relationship Id="rId23" Type="http://schemas.openxmlformats.org/officeDocument/2006/relationships/image" Target="../media/image25.png"/><Relationship Id="rId22" Type="http://schemas.openxmlformats.org/officeDocument/2006/relationships/tags" Target="../tags/tag51.xml"/><Relationship Id="rId21" Type="http://schemas.openxmlformats.org/officeDocument/2006/relationships/tags" Target="../tags/tag50.xml"/><Relationship Id="rId20" Type="http://schemas.openxmlformats.org/officeDocument/2006/relationships/tags" Target="../tags/tag49.xml"/><Relationship Id="rId2" Type="http://schemas.openxmlformats.org/officeDocument/2006/relationships/tags" Target="../tags/tag37.xml"/><Relationship Id="rId19" Type="http://schemas.openxmlformats.org/officeDocument/2006/relationships/image" Target="../media/image24.svg"/><Relationship Id="rId18" Type="http://schemas.openxmlformats.org/officeDocument/2006/relationships/image" Target="../media/image23.png"/><Relationship Id="rId17" Type="http://schemas.openxmlformats.org/officeDocument/2006/relationships/tags" Target="../tags/tag48.xml"/><Relationship Id="rId16" Type="http://schemas.openxmlformats.org/officeDocument/2006/relationships/tags" Target="../tags/tag47.xml"/><Relationship Id="rId15" Type="http://schemas.openxmlformats.org/officeDocument/2006/relationships/tags" Target="../tags/tag46.xml"/><Relationship Id="rId14" Type="http://schemas.openxmlformats.org/officeDocument/2006/relationships/tags" Target="../tags/tag45.xml"/><Relationship Id="rId13" Type="http://schemas.openxmlformats.org/officeDocument/2006/relationships/tags" Target="../tags/tag44.xml"/><Relationship Id="rId12" Type="http://schemas.openxmlformats.org/officeDocument/2006/relationships/image" Target="../media/image22.svg"/><Relationship Id="rId11" Type="http://schemas.openxmlformats.org/officeDocument/2006/relationships/image" Target="../media/image21.png"/><Relationship Id="rId10" Type="http://schemas.openxmlformats.org/officeDocument/2006/relationships/tags" Target="../tags/tag43.xml"/><Relationship Id="rId1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32.jpeg"/><Relationship Id="rId2" Type="http://schemas.openxmlformats.org/officeDocument/2006/relationships/image" Target="../media/image31.png"/><Relationship Id="rId1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35.jpeg"/><Relationship Id="rId8" Type="http://schemas.openxmlformats.org/officeDocument/2006/relationships/tags" Target="../tags/tag56.xml"/><Relationship Id="rId7" Type="http://schemas.openxmlformats.org/officeDocument/2006/relationships/image" Target="../media/image34.svg"/><Relationship Id="rId6" Type="http://schemas.openxmlformats.org/officeDocument/2006/relationships/image" Target="../media/image33.png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5" Type="http://schemas.openxmlformats.org/officeDocument/2006/relationships/notesSlide" Target="../notesSlides/notesSlide7.xml"/><Relationship Id="rId14" Type="http://schemas.openxmlformats.org/officeDocument/2006/relationships/slideLayout" Target="../slideLayouts/slideLayout12.xml"/><Relationship Id="rId13" Type="http://schemas.openxmlformats.org/officeDocument/2006/relationships/image" Target="../media/image39.png"/><Relationship Id="rId12" Type="http://schemas.openxmlformats.org/officeDocument/2006/relationships/image" Target="../media/image38.png"/><Relationship Id="rId11" Type="http://schemas.openxmlformats.org/officeDocument/2006/relationships/image" Target="../media/image37.png"/><Relationship Id="rId10" Type="http://schemas.openxmlformats.org/officeDocument/2006/relationships/image" Target="../media/image36.jpeg"/><Relationship Id="rId1" Type="http://schemas.openxmlformats.org/officeDocument/2006/relationships/image" Target="../media/image8.jpe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8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45.png"/><Relationship Id="rId6" Type="http://schemas.openxmlformats.org/officeDocument/2006/relationships/image" Target="../media/image44.png"/><Relationship Id="rId5" Type="http://schemas.openxmlformats.org/officeDocument/2006/relationships/image" Target="../media/image43.svg"/><Relationship Id="rId4" Type="http://schemas.openxmlformats.org/officeDocument/2006/relationships/image" Target="../media/image42.png"/><Relationship Id="rId3" Type="http://schemas.openxmlformats.org/officeDocument/2006/relationships/image" Target="../media/image41.svg"/><Relationship Id="rId2" Type="http://schemas.openxmlformats.org/officeDocument/2006/relationships/image" Target="../media/image40.png"/><Relationship Id="rId1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64.xml"/><Relationship Id="rId8" Type="http://schemas.openxmlformats.org/officeDocument/2006/relationships/tags" Target="../tags/tag63.xml"/><Relationship Id="rId7" Type="http://schemas.openxmlformats.org/officeDocument/2006/relationships/tags" Target="../tags/tag62.xml"/><Relationship Id="rId6" Type="http://schemas.openxmlformats.org/officeDocument/2006/relationships/tags" Target="../tags/tag61.xml"/><Relationship Id="rId5" Type="http://schemas.openxmlformats.org/officeDocument/2006/relationships/tags" Target="../tags/tag60.xml"/><Relationship Id="rId4" Type="http://schemas.openxmlformats.org/officeDocument/2006/relationships/tags" Target="../tags/tag59.xml"/><Relationship Id="rId3" Type="http://schemas.openxmlformats.org/officeDocument/2006/relationships/tags" Target="../tags/tag58.xml"/><Relationship Id="rId27" Type="http://schemas.openxmlformats.org/officeDocument/2006/relationships/notesSlide" Target="../notesSlides/notesSlide9.xml"/><Relationship Id="rId26" Type="http://schemas.openxmlformats.org/officeDocument/2006/relationships/slideLayout" Target="../slideLayouts/slideLayout12.xml"/><Relationship Id="rId25" Type="http://schemas.openxmlformats.org/officeDocument/2006/relationships/image" Target="../media/image48.png"/><Relationship Id="rId24" Type="http://schemas.openxmlformats.org/officeDocument/2006/relationships/image" Target="../media/image47.svg"/><Relationship Id="rId23" Type="http://schemas.openxmlformats.org/officeDocument/2006/relationships/image" Target="../media/image46.png"/><Relationship Id="rId22" Type="http://schemas.openxmlformats.org/officeDocument/2006/relationships/tags" Target="../tags/tag77.xml"/><Relationship Id="rId21" Type="http://schemas.openxmlformats.org/officeDocument/2006/relationships/tags" Target="../tags/tag76.xml"/><Relationship Id="rId20" Type="http://schemas.openxmlformats.org/officeDocument/2006/relationships/tags" Target="../tags/tag75.xml"/><Relationship Id="rId2" Type="http://schemas.openxmlformats.org/officeDocument/2006/relationships/tags" Target="../tags/tag57.xml"/><Relationship Id="rId19" Type="http://schemas.openxmlformats.org/officeDocument/2006/relationships/tags" Target="../tags/tag74.xml"/><Relationship Id="rId18" Type="http://schemas.openxmlformats.org/officeDocument/2006/relationships/tags" Target="../tags/tag73.xml"/><Relationship Id="rId17" Type="http://schemas.openxmlformats.org/officeDocument/2006/relationships/tags" Target="../tags/tag72.xml"/><Relationship Id="rId16" Type="http://schemas.openxmlformats.org/officeDocument/2006/relationships/tags" Target="../tags/tag71.xml"/><Relationship Id="rId15" Type="http://schemas.openxmlformats.org/officeDocument/2006/relationships/tags" Target="../tags/tag70.xml"/><Relationship Id="rId14" Type="http://schemas.openxmlformats.org/officeDocument/2006/relationships/tags" Target="../tags/tag69.xml"/><Relationship Id="rId13" Type="http://schemas.openxmlformats.org/officeDocument/2006/relationships/tags" Target="../tags/tag68.xml"/><Relationship Id="rId12" Type="http://schemas.openxmlformats.org/officeDocument/2006/relationships/tags" Target="../tags/tag67.xml"/><Relationship Id="rId11" Type="http://schemas.openxmlformats.org/officeDocument/2006/relationships/tags" Target="../tags/tag66.xml"/><Relationship Id="rId10" Type="http://schemas.openxmlformats.org/officeDocument/2006/relationships/tags" Target="../tags/tag65.xml"/><Relationship Id="rId1" Type="http://schemas.openxmlformats.org/officeDocument/2006/relationships/image" Target="../media/image8.jpe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83.xml"/><Relationship Id="rId8" Type="http://schemas.openxmlformats.org/officeDocument/2006/relationships/tags" Target="../tags/tag82.xml"/><Relationship Id="rId7" Type="http://schemas.openxmlformats.org/officeDocument/2006/relationships/tags" Target="../tags/tag81.xml"/><Relationship Id="rId6" Type="http://schemas.openxmlformats.org/officeDocument/2006/relationships/image" Target="../media/image50.svg"/><Relationship Id="rId5" Type="http://schemas.openxmlformats.org/officeDocument/2006/relationships/image" Target="../media/image49.png"/><Relationship Id="rId4" Type="http://schemas.openxmlformats.org/officeDocument/2006/relationships/tags" Target="../tags/tag80.xml"/><Relationship Id="rId3" Type="http://schemas.openxmlformats.org/officeDocument/2006/relationships/tags" Target="../tags/tag79.xml"/><Relationship Id="rId2" Type="http://schemas.openxmlformats.org/officeDocument/2006/relationships/tags" Target="../tags/tag78.xml"/><Relationship Id="rId13" Type="http://schemas.openxmlformats.org/officeDocument/2006/relationships/notesSlide" Target="../notesSlides/notesSlide10.xml"/><Relationship Id="rId12" Type="http://schemas.openxmlformats.org/officeDocument/2006/relationships/slideLayout" Target="../slideLayouts/slideLayout12.xml"/><Relationship Id="rId11" Type="http://schemas.openxmlformats.org/officeDocument/2006/relationships/image" Target="../media/image51.png"/><Relationship Id="rId10" Type="http://schemas.openxmlformats.org/officeDocument/2006/relationships/tags" Target="../tags/tag84.xml"/><Relationship Id="rId1" Type="http://schemas.openxmlformats.org/officeDocument/2006/relationships/image" Target="../media/image8.jpe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90.xml"/><Relationship Id="rId8" Type="http://schemas.openxmlformats.org/officeDocument/2006/relationships/tags" Target="../tags/tag89.xml"/><Relationship Id="rId7" Type="http://schemas.openxmlformats.org/officeDocument/2006/relationships/tags" Target="../tags/tag88.xml"/><Relationship Id="rId6" Type="http://schemas.openxmlformats.org/officeDocument/2006/relationships/tags" Target="../tags/tag87.xml"/><Relationship Id="rId5" Type="http://schemas.openxmlformats.org/officeDocument/2006/relationships/image" Target="../media/image53.svg"/><Relationship Id="rId4" Type="http://schemas.openxmlformats.org/officeDocument/2006/relationships/image" Target="../media/image52.png"/><Relationship Id="rId3" Type="http://schemas.openxmlformats.org/officeDocument/2006/relationships/tags" Target="../tags/tag86.xml"/><Relationship Id="rId2" Type="http://schemas.openxmlformats.org/officeDocument/2006/relationships/tags" Target="../tags/tag85.xml"/><Relationship Id="rId12" Type="http://schemas.openxmlformats.org/officeDocument/2006/relationships/notesSlide" Target="../notesSlides/notesSlide11.xml"/><Relationship Id="rId11" Type="http://schemas.openxmlformats.org/officeDocument/2006/relationships/slideLayout" Target="../slideLayouts/slideLayout15.xml"/><Relationship Id="rId10" Type="http://schemas.openxmlformats.org/officeDocument/2006/relationships/image" Target="../media/image54.png"/><Relationship Id="rId1" Type="http://schemas.openxmlformats.org/officeDocument/2006/relationships/image" Target="../media/image8.jpe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98.xml"/><Relationship Id="rId8" Type="http://schemas.openxmlformats.org/officeDocument/2006/relationships/tags" Target="../tags/tag97.xml"/><Relationship Id="rId7" Type="http://schemas.openxmlformats.org/officeDocument/2006/relationships/tags" Target="../tags/tag96.xml"/><Relationship Id="rId6" Type="http://schemas.openxmlformats.org/officeDocument/2006/relationships/tags" Target="../tags/tag95.xml"/><Relationship Id="rId5" Type="http://schemas.openxmlformats.org/officeDocument/2006/relationships/tags" Target="../tags/tag94.xml"/><Relationship Id="rId4" Type="http://schemas.openxmlformats.org/officeDocument/2006/relationships/tags" Target="../tags/tag93.xml"/><Relationship Id="rId3" Type="http://schemas.openxmlformats.org/officeDocument/2006/relationships/tags" Target="../tags/tag92.xml"/><Relationship Id="rId25" Type="http://schemas.openxmlformats.org/officeDocument/2006/relationships/notesSlide" Target="../notesSlides/notesSlide12.xml"/><Relationship Id="rId24" Type="http://schemas.openxmlformats.org/officeDocument/2006/relationships/slideLayout" Target="../slideLayouts/slideLayout12.xml"/><Relationship Id="rId23" Type="http://schemas.openxmlformats.org/officeDocument/2006/relationships/image" Target="../media/image56.svg"/><Relationship Id="rId22" Type="http://schemas.openxmlformats.org/officeDocument/2006/relationships/image" Target="../media/image55.png"/><Relationship Id="rId21" Type="http://schemas.openxmlformats.org/officeDocument/2006/relationships/tags" Target="../tags/tag110.xml"/><Relationship Id="rId20" Type="http://schemas.openxmlformats.org/officeDocument/2006/relationships/tags" Target="../tags/tag109.xml"/><Relationship Id="rId2" Type="http://schemas.openxmlformats.org/officeDocument/2006/relationships/tags" Target="../tags/tag91.xml"/><Relationship Id="rId19" Type="http://schemas.openxmlformats.org/officeDocument/2006/relationships/tags" Target="../tags/tag108.xml"/><Relationship Id="rId18" Type="http://schemas.openxmlformats.org/officeDocument/2006/relationships/tags" Target="../tags/tag107.xml"/><Relationship Id="rId17" Type="http://schemas.openxmlformats.org/officeDocument/2006/relationships/tags" Target="../tags/tag106.xml"/><Relationship Id="rId16" Type="http://schemas.openxmlformats.org/officeDocument/2006/relationships/tags" Target="../tags/tag105.xml"/><Relationship Id="rId15" Type="http://schemas.openxmlformats.org/officeDocument/2006/relationships/tags" Target="../tags/tag104.xml"/><Relationship Id="rId14" Type="http://schemas.openxmlformats.org/officeDocument/2006/relationships/tags" Target="../tags/tag103.xml"/><Relationship Id="rId13" Type="http://schemas.openxmlformats.org/officeDocument/2006/relationships/tags" Target="../tags/tag102.xml"/><Relationship Id="rId12" Type="http://schemas.openxmlformats.org/officeDocument/2006/relationships/tags" Target="../tags/tag101.xml"/><Relationship Id="rId11" Type="http://schemas.openxmlformats.org/officeDocument/2006/relationships/tags" Target="../tags/tag100.xml"/><Relationship Id="rId10" Type="http://schemas.openxmlformats.org/officeDocument/2006/relationships/tags" Target="../tags/tag99.xml"/><Relationship Id="rId1" Type="http://schemas.openxmlformats.org/officeDocument/2006/relationships/image" Target="../media/image8.jpe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118.xml"/><Relationship Id="rId8" Type="http://schemas.openxmlformats.org/officeDocument/2006/relationships/tags" Target="../tags/tag117.xml"/><Relationship Id="rId7" Type="http://schemas.openxmlformats.org/officeDocument/2006/relationships/tags" Target="../tags/tag116.xml"/><Relationship Id="rId6" Type="http://schemas.openxmlformats.org/officeDocument/2006/relationships/tags" Target="../tags/tag115.xml"/><Relationship Id="rId5" Type="http://schemas.openxmlformats.org/officeDocument/2006/relationships/tags" Target="../tags/tag114.xml"/><Relationship Id="rId4" Type="http://schemas.openxmlformats.org/officeDocument/2006/relationships/tags" Target="../tags/tag113.xml"/><Relationship Id="rId3" Type="http://schemas.openxmlformats.org/officeDocument/2006/relationships/tags" Target="../tags/tag112.xml"/><Relationship Id="rId2" Type="http://schemas.openxmlformats.org/officeDocument/2006/relationships/tags" Target="../tags/tag111.xml"/><Relationship Id="rId14" Type="http://schemas.openxmlformats.org/officeDocument/2006/relationships/notesSlide" Target="../notesSlides/notesSlide13.xml"/><Relationship Id="rId13" Type="http://schemas.openxmlformats.org/officeDocument/2006/relationships/slideLayout" Target="../slideLayouts/slideLayout12.xml"/><Relationship Id="rId12" Type="http://schemas.openxmlformats.org/officeDocument/2006/relationships/image" Target="../media/image57.png"/><Relationship Id="rId11" Type="http://schemas.openxmlformats.org/officeDocument/2006/relationships/image" Target="../media/image31.png"/><Relationship Id="rId10" Type="http://schemas.openxmlformats.org/officeDocument/2006/relationships/tags" Target="../tags/tag119.xml"/><Relationship Id="rId1" Type="http://schemas.openxmlformats.org/officeDocument/2006/relationships/image" Target="../media/image8.jpe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65.svg"/><Relationship Id="rId8" Type="http://schemas.openxmlformats.org/officeDocument/2006/relationships/image" Target="../media/image64.png"/><Relationship Id="rId7" Type="http://schemas.openxmlformats.org/officeDocument/2006/relationships/image" Target="../media/image63.svg"/><Relationship Id="rId6" Type="http://schemas.openxmlformats.org/officeDocument/2006/relationships/image" Target="../media/image62.png"/><Relationship Id="rId5" Type="http://schemas.openxmlformats.org/officeDocument/2006/relationships/image" Target="../media/image61.svg"/><Relationship Id="rId4" Type="http://schemas.openxmlformats.org/officeDocument/2006/relationships/image" Target="../media/image60.png"/><Relationship Id="rId3" Type="http://schemas.openxmlformats.org/officeDocument/2006/relationships/image" Target="../media/image59.svg"/><Relationship Id="rId21" Type="http://schemas.openxmlformats.org/officeDocument/2006/relationships/notesSlide" Target="../notesSlides/notesSlide14.xml"/><Relationship Id="rId20" Type="http://schemas.openxmlformats.org/officeDocument/2006/relationships/slideLayout" Target="../slideLayouts/slideLayout12.xml"/><Relationship Id="rId2" Type="http://schemas.openxmlformats.org/officeDocument/2006/relationships/image" Target="../media/image58.png"/><Relationship Id="rId19" Type="http://schemas.openxmlformats.org/officeDocument/2006/relationships/image" Target="../media/image73.svg"/><Relationship Id="rId18" Type="http://schemas.openxmlformats.org/officeDocument/2006/relationships/image" Target="../media/image72.png"/><Relationship Id="rId17" Type="http://schemas.openxmlformats.org/officeDocument/2006/relationships/image" Target="../media/image71.svg"/><Relationship Id="rId16" Type="http://schemas.openxmlformats.org/officeDocument/2006/relationships/image" Target="../media/image70.png"/><Relationship Id="rId15" Type="http://schemas.openxmlformats.org/officeDocument/2006/relationships/image" Target="../media/image69.svg"/><Relationship Id="rId14" Type="http://schemas.openxmlformats.org/officeDocument/2006/relationships/image" Target="../media/image68.png"/><Relationship Id="rId13" Type="http://schemas.openxmlformats.org/officeDocument/2006/relationships/image" Target="../media/image67.svg"/><Relationship Id="rId12" Type="http://schemas.openxmlformats.org/officeDocument/2006/relationships/image" Target="../media/image66.png"/><Relationship Id="rId11" Type="http://schemas.openxmlformats.org/officeDocument/2006/relationships/image" Target="../media/image43.svg"/><Relationship Id="rId10" Type="http://schemas.openxmlformats.org/officeDocument/2006/relationships/image" Target="../media/image42.png"/><Relationship Id="rId1" Type="http://schemas.openxmlformats.org/officeDocument/2006/relationships/image" Target="../media/image8.jpe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127.xml"/><Relationship Id="rId8" Type="http://schemas.openxmlformats.org/officeDocument/2006/relationships/tags" Target="../tags/tag126.xml"/><Relationship Id="rId7" Type="http://schemas.openxmlformats.org/officeDocument/2006/relationships/tags" Target="../tags/tag125.xml"/><Relationship Id="rId6" Type="http://schemas.openxmlformats.org/officeDocument/2006/relationships/tags" Target="../tags/tag124.xml"/><Relationship Id="rId5" Type="http://schemas.openxmlformats.org/officeDocument/2006/relationships/tags" Target="../tags/tag123.xml"/><Relationship Id="rId4" Type="http://schemas.openxmlformats.org/officeDocument/2006/relationships/tags" Target="../tags/tag122.xml"/><Relationship Id="rId3" Type="http://schemas.openxmlformats.org/officeDocument/2006/relationships/tags" Target="../tags/tag121.xml"/><Relationship Id="rId2" Type="http://schemas.openxmlformats.org/officeDocument/2006/relationships/tags" Target="../tags/tag120.xml"/><Relationship Id="rId15" Type="http://schemas.openxmlformats.org/officeDocument/2006/relationships/notesSlide" Target="../notesSlides/notesSlide15.xml"/><Relationship Id="rId14" Type="http://schemas.openxmlformats.org/officeDocument/2006/relationships/slideLayout" Target="../slideLayouts/slideLayout12.xml"/><Relationship Id="rId13" Type="http://schemas.openxmlformats.org/officeDocument/2006/relationships/tags" Target="../tags/tag131.xml"/><Relationship Id="rId12" Type="http://schemas.openxmlformats.org/officeDocument/2006/relationships/tags" Target="../tags/tag130.xml"/><Relationship Id="rId11" Type="http://schemas.openxmlformats.org/officeDocument/2006/relationships/tags" Target="../tags/tag129.xml"/><Relationship Id="rId10" Type="http://schemas.openxmlformats.org/officeDocument/2006/relationships/tags" Target="../tags/tag128.xml"/><Relationship Id="rId1" Type="http://schemas.openxmlformats.org/officeDocument/2006/relationships/image" Target="../media/image7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016000" y="1524000"/>
            <a:ext cx="1016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基于图像识别的肉类检测系统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2794000"/>
            <a:ext cx="1524000" cy="762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3302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总结汇报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4297">
            <a:off x="1016004" y="4692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F2937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>
            <p:custDataLst>
              <p:tags r:id="rId2"/>
            </p:custDataLst>
          </p:nvPr>
        </p:nvSpPr>
        <p:spPr>
          <a:xfrm>
            <a:off x="1016000" y="5080000"/>
            <a:ext cx="3302000" cy="1016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06500" y="52705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>
            <p:custDataLst>
              <p:tags r:id="rId6"/>
            </p:custDataLst>
          </p:nvPr>
        </p:nvSpPr>
        <p:spPr>
          <a:xfrm>
            <a:off x="1651000" y="5207000"/>
            <a:ext cx="254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课题成员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zh-CN" alt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</a:t>
            </a:r>
            <a:endParaRPr lang="zh-CN" altLang="en-US" sz="1600" b="1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8000"/>
              </a:lnSpc>
              <a:defRPr/>
            </a:pPr>
            <a:r>
              <a:rPr lang="zh-CN" alt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</a:t>
            </a:r>
            <a:endParaRPr lang="en-US" sz="1100"/>
          </a:p>
        </p:txBody>
      </p:sp>
      <p:sp>
        <p:nvSpPr>
          <p:cNvPr id="10" name="AutoShape 10"/>
          <p:cNvSpPr/>
          <p:nvPr>
            <p:custDataLst>
              <p:tags r:id="rId7"/>
            </p:custDataLst>
          </p:nvPr>
        </p:nvSpPr>
        <p:spPr>
          <a:xfrm>
            <a:off x="4572000" y="5080000"/>
            <a:ext cx="3302000" cy="1016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762500" y="52705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>
            <p:custDataLst>
              <p:tags r:id="rId11"/>
            </p:custDataLst>
          </p:nvPr>
        </p:nvSpPr>
        <p:spPr>
          <a:xfrm>
            <a:off x="5207000" y="5207000"/>
            <a:ext cx="254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指导教师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zh-CN" alt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/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001000" y="5080000"/>
            <a:ext cx="3302000" cy="1016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191500" y="52705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8636000" y="5207000"/>
            <a:ext cx="254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汇报日期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2026年06月17日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目录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270000"/>
            <a:ext cx="1016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>
            <p:custDataLst>
              <p:tags r:id="rId2"/>
            </p:custDataLst>
          </p:nvPr>
        </p:nvSpPr>
        <p:spPr>
          <a:xfrm>
            <a:off x="762000" y="1905000"/>
            <a:ext cx="5207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>
            <p:custDataLst>
              <p:tags r:id="rId3"/>
            </p:custDataLst>
          </p:nvPr>
        </p:nvSpPr>
        <p:spPr>
          <a:xfrm>
            <a:off x="762000" y="1905000"/>
            <a:ext cx="76200" cy="1333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>
            <p:custDataLst>
              <p:tags r:id="rId4"/>
            </p:custDataLst>
          </p:nvPr>
        </p:nvSpPr>
        <p:spPr>
          <a:xfrm>
            <a:off x="1016000" y="2032000"/>
            <a:ext cx="76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22C55E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cxnSp>
        <p:nvCxnSpPr>
          <p:cNvPr id="8" name="Connector 8"/>
          <p:cNvCxnSpPr/>
          <p:nvPr>
            <p:custDataLst>
              <p:tags r:id="rId5"/>
            </p:custDataLst>
          </p:nvPr>
        </p:nvCxnSpPr>
        <p:spPr>
          <a:xfrm rot="5350892">
            <a:off x="1524000" y="2533695"/>
            <a:ext cx="88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F2937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>
            <p:custDataLst>
              <p:tags r:id="rId6"/>
            </p:custDataLst>
          </p:nvPr>
        </p:nvSpPr>
        <p:spPr>
          <a:xfrm>
            <a:off x="2159000" y="2032000"/>
            <a:ext cx="3556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课题概述与目标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剖析行业现实背景与核心痛点，明确本课题的研究方向与期望达成的核心目标。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>
            <p:custDataLst>
              <p:tags r:id="rId7"/>
            </p:custDataLst>
          </p:nvPr>
        </p:nvSpPr>
        <p:spPr>
          <a:xfrm>
            <a:off x="762000" y="3492500"/>
            <a:ext cx="5207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>
            <p:custDataLst>
              <p:tags r:id="rId8"/>
            </p:custDataLst>
          </p:nvPr>
        </p:nvSpPr>
        <p:spPr>
          <a:xfrm>
            <a:off x="762000" y="3492500"/>
            <a:ext cx="76200" cy="1333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>
            <p:custDataLst>
              <p:tags r:id="rId9"/>
            </p:custDataLst>
          </p:nvPr>
        </p:nvSpPr>
        <p:spPr>
          <a:xfrm>
            <a:off x="1016000" y="3619500"/>
            <a:ext cx="76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22C55E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cxnSp>
        <p:nvCxnSpPr>
          <p:cNvPr id="13" name="Connector 13"/>
          <p:cNvCxnSpPr/>
          <p:nvPr>
            <p:custDataLst>
              <p:tags r:id="rId10"/>
            </p:custDataLst>
          </p:nvPr>
        </p:nvCxnSpPr>
        <p:spPr>
          <a:xfrm rot="5350892">
            <a:off x="1524000" y="4121195"/>
            <a:ext cx="88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F2937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>
            <p:custDataLst>
              <p:tags r:id="rId11"/>
            </p:custDataLst>
          </p:nvPr>
        </p:nvSpPr>
        <p:spPr>
          <a:xfrm>
            <a:off x="2159000" y="3619500"/>
            <a:ext cx="3556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系统总体方案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构建系统三层架构体系，深度解析从数据输入到结果输出的全链路核心工作流程。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>
            <p:custDataLst>
              <p:tags r:id="rId12"/>
            </p:custDataLst>
          </p:nvPr>
        </p:nvSpPr>
        <p:spPr>
          <a:xfrm>
            <a:off x="762000" y="5080000"/>
            <a:ext cx="5207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>
            <p:custDataLst>
              <p:tags r:id="rId13"/>
            </p:custDataLst>
          </p:nvPr>
        </p:nvSpPr>
        <p:spPr>
          <a:xfrm>
            <a:off x="762000" y="5080000"/>
            <a:ext cx="76200" cy="1333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>
            <p:custDataLst>
              <p:tags r:id="rId14"/>
            </p:custDataLst>
          </p:nvPr>
        </p:nvSpPr>
        <p:spPr>
          <a:xfrm>
            <a:off x="1016000" y="5207000"/>
            <a:ext cx="76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22C55E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cxnSp>
        <p:nvCxnSpPr>
          <p:cNvPr id="18" name="Connector 18"/>
          <p:cNvCxnSpPr/>
          <p:nvPr>
            <p:custDataLst>
              <p:tags r:id="rId15"/>
            </p:custDataLst>
          </p:nvPr>
        </p:nvCxnSpPr>
        <p:spPr>
          <a:xfrm rot="5350892">
            <a:off x="1524000" y="5708695"/>
            <a:ext cx="88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F2937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" name="AutoShape 19"/>
          <p:cNvSpPr/>
          <p:nvPr>
            <p:custDataLst>
              <p:tags r:id="rId16"/>
            </p:custDataLst>
          </p:nvPr>
        </p:nvSpPr>
        <p:spPr>
          <a:xfrm>
            <a:off x="2159000" y="5207000"/>
            <a:ext cx="3556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核心创新点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采用两阶段架构与数据增强策略，实现任务灵活扩展，并完成模型轻量化与效率优化。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0" name="AutoShape 20"/>
          <p:cNvSpPr/>
          <p:nvPr>
            <p:custDataLst>
              <p:tags r:id="rId17"/>
            </p:custDataLst>
          </p:nvPr>
        </p:nvSpPr>
        <p:spPr>
          <a:xfrm>
            <a:off x="6223000" y="1905000"/>
            <a:ext cx="5207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>
            <p:custDataLst>
              <p:tags r:id="rId18"/>
            </p:custDataLst>
          </p:nvPr>
        </p:nvSpPr>
        <p:spPr>
          <a:xfrm>
            <a:off x="6223000" y="1905000"/>
            <a:ext cx="76200" cy="1333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>
            <p:custDataLst>
              <p:tags r:id="rId19"/>
            </p:custDataLst>
          </p:nvPr>
        </p:nvSpPr>
        <p:spPr>
          <a:xfrm>
            <a:off x="6477000" y="2032000"/>
            <a:ext cx="76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22C55E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/>
          </a:p>
        </p:txBody>
      </p:sp>
      <p:cxnSp>
        <p:nvCxnSpPr>
          <p:cNvPr id="23" name="Connector 23"/>
          <p:cNvCxnSpPr/>
          <p:nvPr>
            <p:custDataLst>
              <p:tags r:id="rId20"/>
            </p:custDataLst>
          </p:nvPr>
        </p:nvCxnSpPr>
        <p:spPr>
          <a:xfrm rot="5350892">
            <a:off x="6985000" y="2533695"/>
            <a:ext cx="88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F2937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" name="AutoShape 24"/>
          <p:cNvSpPr/>
          <p:nvPr>
            <p:custDataLst>
              <p:tags r:id="rId21"/>
            </p:custDataLst>
          </p:nvPr>
        </p:nvSpPr>
        <p:spPr>
          <a:xfrm>
            <a:off x="7620000" y="2032000"/>
            <a:ext cx="3556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性能与实验结果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多维度测试系统的处理速度、识别精度与环境鲁棒性，验证在实际复杂场景中的应用效果。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5" name="AutoShape 25"/>
          <p:cNvSpPr/>
          <p:nvPr>
            <p:custDataLst>
              <p:tags r:id="rId22"/>
            </p:custDataLst>
          </p:nvPr>
        </p:nvSpPr>
        <p:spPr>
          <a:xfrm>
            <a:off x="6223000" y="3492500"/>
            <a:ext cx="5207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>
            <p:custDataLst>
              <p:tags r:id="rId23"/>
            </p:custDataLst>
          </p:nvPr>
        </p:nvSpPr>
        <p:spPr>
          <a:xfrm>
            <a:off x="6223000" y="3492500"/>
            <a:ext cx="76200" cy="1333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>
            <p:custDataLst>
              <p:tags r:id="rId24"/>
            </p:custDataLst>
          </p:nvPr>
        </p:nvSpPr>
        <p:spPr>
          <a:xfrm>
            <a:off x="6477000" y="3619500"/>
            <a:ext cx="76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22C55E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</a:t>
            </a:r>
            <a:endParaRPr lang="en-US" sz="1100"/>
          </a:p>
        </p:txBody>
      </p:sp>
      <p:cxnSp>
        <p:nvCxnSpPr>
          <p:cNvPr id="28" name="Connector 28"/>
          <p:cNvCxnSpPr/>
          <p:nvPr>
            <p:custDataLst>
              <p:tags r:id="rId25"/>
            </p:custDataLst>
          </p:nvPr>
        </p:nvCxnSpPr>
        <p:spPr>
          <a:xfrm rot="5350892">
            <a:off x="6985000" y="4121195"/>
            <a:ext cx="88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F2937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" name="AutoShape 29"/>
          <p:cNvSpPr/>
          <p:nvPr>
            <p:custDataLst>
              <p:tags r:id="rId26"/>
            </p:custDataLst>
          </p:nvPr>
        </p:nvSpPr>
        <p:spPr>
          <a:xfrm>
            <a:off x="7620000" y="3619500"/>
            <a:ext cx="3556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总结与展望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系统回顾研究工作取得的成果，分析当前存在的不足，并对未来的优化方向进行规划展望。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0" name="AutoShape 30"/>
          <p:cNvSpPr/>
          <p:nvPr>
            <p:custDataLst>
              <p:tags r:id="rId27"/>
            </p:custDataLst>
          </p:nvPr>
        </p:nvSpPr>
        <p:spPr>
          <a:xfrm>
            <a:off x="6223000" y="5080000"/>
            <a:ext cx="5207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1" name="AutoShape 31"/>
          <p:cNvSpPr/>
          <p:nvPr>
            <p:custDataLst>
              <p:tags r:id="rId28"/>
            </p:custDataLst>
          </p:nvPr>
        </p:nvSpPr>
        <p:spPr>
          <a:xfrm>
            <a:off x="6223000" y="5080000"/>
            <a:ext cx="76200" cy="1333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AutoShape 32"/>
          <p:cNvSpPr/>
          <p:nvPr>
            <p:custDataLst>
              <p:tags r:id="rId29"/>
            </p:custDataLst>
          </p:nvPr>
        </p:nvSpPr>
        <p:spPr>
          <a:xfrm>
            <a:off x="6477000" y="5207000"/>
            <a:ext cx="76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22C55E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</a:t>
            </a:r>
            <a:endParaRPr lang="en-US" sz="1100"/>
          </a:p>
        </p:txBody>
      </p:sp>
      <p:cxnSp>
        <p:nvCxnSpPr>
          <p:cNvPr id="33" name="Connector 33"/>
          <p:cNvCxnSpPr/>
          <p:nvPr>
            <p:custDataLst>
              <p:tags r:id="rId30"/>
            </p:custDataLst>
          </p:nvPr>
        </p:nvCxnSpPr>
        <p:spPr>
          <a:xfrm rot="5350892">
            <a:off x="6985000" y="5708695"/>
            <a:ext cx="88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F2937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4" name="AutoShape 34"/>
          <p:cNvSpPr/>
          <p:nvPr>
            <p:custDataLst>
              <p:tags r:id="rId31"/>
            </p:custDataLst>
          </p:nvPr>
        </p:nvSpPr>
        <p:spPr>
          <a:xfrm>
            <a:off x="7620000" y="5207000"/>
            <a:ext cx="3556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zh-CN" alt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参考文献与</a:t>
            </a: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致谢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诚挚感谢在研究过程中提供指导、支持与帮助的老师、团队成员及所有合作伙伴。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课题概述与目标：背景与痛点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 t="10271" b="10271"/>
          <a:stretch>
            <a:fillRect/>
          </a:stretch>
        </p:blipFill>
        <p:spPr>
          <a:xfrm>
            <a:off x="762000" y="1778000"/>
            <a:ext cx="3302000" cy="1968500"/>
          </a:xfrm>
          <a:prstGeom prst="rect">
            <a:avLst/>
          </a:prstGeom>
          <a:noFill/>
          <a:ln w="25400" cap="flat" cmpd="sng">
            <a:solidFill>
              <a:srgbClr val="FFFFFF">
                <a:alpha val="80000"/>
              </a:srgbClr>
            </a:solidFill>
            <a:prstDash val="solid"/>
            <a:round/>
          </a:ln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rcRect t="5310" b="5310"/>
          <a:stretch>
            <a:fillRect/>
          </a:stretch>
        </p:blipFill>
        <p:spPr>
          <a:xfrm>
            <a:off x="762000" y="4127500"/>
            <a:ext cx="3302000" cy="1968500"/>
          </a:xfrm>
          <a:prstGeom prst="rect">
            <a:avLst/>
          </a:prstGeom>
          <a:noFill/>
          <a:ln w="25400" cap="flat" cmpd="sng">
            <a:solidFill>
              <a:srgbClr val="FFFFFF">
                <a:alpha val="80000"/>
              </a:srgbClr>
            </a:solidFill>
            <a:prstDash val="solid"/>
            <a:round/>
          </a:ln>
        </p:spPr>
      </p:pic>
      <p:cxnSp>
        <p:nvCxnSpPr>
          <p:cNvPr id="6" name="Connector 6"/>
          <p:cNvCxnSpPr/>
          <p:nvPr/>
        </p:nvCxnSpPr>
        <p:spPr>
          <a:xfrm rot="5390450">
            <a:off x="2286000" y="4057659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4953000" y="1778000"/>
            <a:ext cx="33655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4953000" y="1778000"/>
            <a:ext cx="76200" cy="2095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07000" y="1968500"/>
            <a:ext cx="355600" cy="3556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5715000" y="19304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生鲜灯误导消费判断</a:t>
            </a:r>
            <a:endParaRPr lang="en-US" sz="1100"/>
          </a:p>
        </p:txBody>
      </p:sp>
      <p:cxnSp>
        <p:nvCxnSpPr>
          <p:cNvPr id="11" name="Connector 11"/>
          <p:cNvCxnSpPr/>
          <p:nvPr/>
        </p:nvCxnSpPr>
        <p:spPr>
          <a:xfrm rot="-14946">
            <a:off x="5207014" y="2533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F2937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/>
        </p:nvSpPr>
        <p:spPr>
          <a:xfrm>
            <a:off x="5207000" y="2667000"/>
            <a:ext cx="2984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超市普遍使用特定波长的生鲜灯美化肉色，掩盖肉质真实色泽与新鲜度差异，严重干扰消费者的视觉判断，使其难以分辨肉品优劣。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445500" y="1778000"/>
            <a:ext cx="33655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8445500" y="1778000"/>
            <a:ext cx="76200" cy="2095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699500" y="1968500"/>
            <a:ext cx="355600" cy="3556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9207500" y="19304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人工肉眼判断主观性强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14946">
            <a:off x="8699514" y="2533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F2937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8699500" y="2667000"/>
            <a:ext cx="2984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普通消费者缺乏专业知识，仅靠肉眼观察不仅误差极大，且高度依赖个人经验，无法形成客观、统一的新鲜度评价标准，易造成误判。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4953000" y="4127500"/>
            <a:ext cx="33655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4953000" y="4127500"/>
            <a:ext cx="76200" cy="2095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207000" y="4318000"/>
            <a:ext cx="355600" cy="3556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5715000" y="42799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专业检测设备门槛极高</a:t>
            </a:r>
            <a:endParaRPr lang="en-US" sz="1100"/>
          </a:p>
        </p:txBody>
      </p:sp>
      <p:cxnSp>
        <p:nvCxnSpPr>
          <p:cNvPr id="23" name="Connector 23"/>
          <p:cNvCxnSpPr/>
          <p:nvPr/>
        </p:nvCxnSpPr>
        <p:spPr>
          <a:xfrm rot="-14946">
            <a:off x="5207014" y="48831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F2937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" name="AutoShape 24"/>
          <p:cNvSpPr/>
          <p:nvPr/>
        </p:nvSpPr>
        <p:spPr>
          <a:xfrm>
            <a:off x="5207000" y="5016500"/>
            <a:ext cx="2984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传统pH值测试、微生物培养等专业检测手段，需要实验室环境和精密仪器支持，不仅检测周期长，且成本高昂，完全无法普及到日常消费场景中。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8445500" y="4127500"/>
            <a:ext cx="33655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8445500" y="4127500"/>
            <a:ext cx="76200" cy="2095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699500" y="4318000"/>
            <a:ext cx="355600" cy="355600"/>
          </a:xfrm>
          <a:prstGeom prst="rect">
            <a:avLst/>
          </a:prstGeom>
        </p:spPr>
      </p:pic>
      <p:sp>
        <p:nvSpPr>
          <p:cNvPr id="28" name="AutoShape 28"/>
          <p:cNvSpPr/>
          <p:nvPr/>
        </p:nvSpPr>
        <p:spPr>
          <a:xfrm>
            <a:off x="9207500" y="42799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日常拍摄背景干扰严重</a:t>
            </a:r>
            <a:endParaRPr lang="en-US" sz="1100"/>
          </a:p>
        </p:txBody>
      </p:sp>
      <p:cxnSp>
        <p:nvCxnSpPr>
          <p:cNvPr id="29" name="Connector 29"/>
          <p:cNvCxnSpPr/>
          <p:nvPr/>
        </p:nvCxnSpPr>
        <p:spPr>
          <a:xfrm rot="-14946">
            <a:off x="8699514" y="48831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F2937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0" name="AutoShape 30"/>
          <p:cNvSpPr/>
          <p:nvPr/>
        </p:nvSpPr>
        <p:spPr>
          <a:xfrm>
            <a:off x="8699500" y="5016500"/>
            <a:ext cx="2984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用户实际拍摄场景复杂，案板纹理、价格标签、保鲜膜反光等背景元素杂乱，对图像采集造成极大干扰，导致传统视觉识别算法容易失效。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207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系统总体方案：</a:t>
            </a:r>
            <a:r>
              <a:rPr lang="zh-CN" altLang="en-US" sz="3200" b="1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功能介绍</a:t>
            </a:r>
            <a:endParaRPr lang="zh-CN" altLang="en-US" sz="3200" b="1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46455" y="1619885"/>
            <a:ext cx="493395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7" name="TextBox 3"/>
          <p:cNvSpPr txBox="1"/>
          <p:nvPr/>
        </p:nvSpPr>
        <p:spPr>
          <a:xfrm>
            <a:off x="795655" y="1200150"/>
            <a:ext cx="333121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2000" b="1">
                <a:solidFill>
                  <a:srgbClr val="1F2937"/>
                </a:solidFill>
                <a:latin typeface="Noto Sans SC" panose="020B0200000000000000" charset="-122"/>
              </a:defRPr>
            </a:pPr>
            <a:r>
              <a:t>▎肉类新鲜度检测</a:t>
            </a:r>
          </a:p>
        </p:txBody>
      </p:sp>
      <p:sp>
        <p:nvSpPr>
          <p:cNvPr id="8" name="TextBox 4"/>
          <p:cNvSpPr txBox="1"/>
          <p:nvPr/>
        </p:nvSpPr>
        <p:spPr>
          <a:xfrm>
            <a:off x="2945130" y="1264920"/>
            <a:ext cx="4816475" cy="3549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300" b="0">
                <a:solidFill>
                  <a:srgbClr val="4B5563"/>
                </a:solidFill>
                <a:latin typeface="Noto Sans SC" panose="020B0200000000000000" charset="-122"/>
              </a:defRPr>
            </a:pPr>
            <a:r>
              <a:t>— 支持牛肉 / 羊肉 / 猪肉</a:t>
            </a:r>
          </a:p>
        </p:txBody>
      </p:sp>
      <p:sp>
        <p:nvSpPr>
          <p:cNvPr id="9" name="Rounded Rectangle 5"/>
          <p:cNvSpPr/>
          <p:nvPr/>
        </p:nvSpPr>
        <p:spPr>
          <a:xfrm>
            <a:off x="886000" y="1600000"/>
            <a:ext cx="3340000" cy="215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6"/>
          <p:cNvSpPr/>
          <p:nvPr/>
        </p:nvSpPr>
        <p:spPr>
          <a:xfrm>
            <a:off x="886000" y="1600000"/>
            <a:ext cx="76200" cy="2150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7"/>
          <p:cNvSpPr/>
          <p:nvPr/>
        </p:nvSpPr>
        <p:spPr>
          <a:xfrm>
            <a:off x="1086000" y="1800000"/>
            <a:ext cx="355600" cy="35560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Noto Sans SC" panose="020B0200000000000000" charset="-122"/>
              </a:defRPr>
            </a:pPr>
            <a:r>
              <a:t>🐂</a:t>
            </a:r>
          </a:p>
        </p:txBody>
      </p:sp>
      <p:sp>
        <p:nvSpPr>
          <p:cNvPr id="12" name="TextBox 8"/>
          <p:cNvSpPr txBox="1"/>
          <p:nvPr/>
        </p:nvSpPr>
        <p:spPr>
          <a:xfrm>
            <a:off x="1591600" y="1820000"/>
            <a:ext cx="25344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800" b="1">
                <a:solidFill>
                  <a:srgbClr val="1F2937"/>
                </a:solidFill>
                <a:latin typeface="Noto Sans SC" panose="020B0200000000000000" charset="-122"/>
              </a:defRPr>
            </a:pPr>
            <a:r>
              <a:t>牛肉</a:t>
            </a:r>
          </a:p>
        </p:txBody>
      </p:sp>
      <p:sp>
        <p:nvSpPr>
          <p:cNvPr id="13" name="Rectangle 9"/>
          <p:cNvSpPr/>
          <p:nvPr/>
        </p:nvSpPr>
        <p:spPr>
          <a:xfrm>
            <a:off x="1086000" y="2255600"/>
            <a:ext cx="294000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0"/>
          <p:cNvSpPr txBox="1"/>
          <p:nvPr/>
        </p:nvSpPr>
        <p:spPr>
          <a:xfrm>
            <a:off x="1136000" y="2335600"/>
            <a:ext cx="2840000" cy="13557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80000"/>
              </a:lnSpc>
              <a:spcAft>
                <a:spcPts val="400"/>
              </a:spcAft>
              <a:defRPr sz="1400" b="0">
                <a:solidFill>
                  <a:srgbClr val="22C55E"/>
                </a:solidFill>
                <a:latin typeface="Noto Sans SC" panose="020B0200000000000000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●  新鲜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80000"/>
              </a:lnSpc>
              <a:spcAft>
                <a:spcPts val="400"/>
              </a:spcAft>
              <a:defRPr sz="1400" b="0">
                <a:solidFill>
                  <a:srgbClr val="4B5563"/>
                </a:solidFill>
                <a:latin typeface="Noto Sans SC" panose="020B0200000000000000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○  次新鲜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80000"/>
              </a:lnSpc>
              <a:spcAft>
                <a:spcPts val="400"/>
              </a:spcAft>
              <a:defRPr sz="1400" b="0">
                <a:solidFill>
                  <a:srgbClr val="4B5563"/>
                </a:solidFill>
                <a:latin typeface="Noto Sans SC" panose="020B0200000000000000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○  腐败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ounded Rectangle 11"/>
          <p:cNvSpPr/>
          <p:nvPr/>
        </p:nvSpPr>
        <p:spPr>
          <a:xfrm>
            <a:off x="4426000" y="1600000"/>
            <a:ext cx="3340000" cy="215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2"/>
          <p:cNvSpPr/>
          <p:nvPr/>
        </p:nvSpPr>
        <p:spPr>
          <a:xfrm>
            <a:off x="4426000" y="1600000"/>
            <a:ext cx="76200" cy="2150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3"/>
          <p:cNvSpPr/>
          <p:nvPr/>
        </p:nvSpPr>
        <p:spPr>
          <a:xfrm>
            <a:off x="4626000" y="1800000"/>
            <a:ext cx="355600" cy="3556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Noto Sans SC" panose="020B0200000000000000" charset="-122"/>
              </a:defRPr>
            </a:pPr>
            <a:r>
              <a:t>🐑</a:t>
            </a:r>
          </a:p>
        </p:txBody>
      </p:sp>
      <p:sp>
        <p:nvSpPr>
          <p:cNvPr id="18" name="TextBox 14"/>
          <p:cNvSpPr txBox="1"/>
          <p:nvPr/>
        </p:nvSpPr>
        <p:spPr>
          <a:xfrm>
            <a:off x="5131600" y="1820000"/>
            <a:ext cx="25344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800" b="1">
                <a:solidFill>
                  <a:srgbClr val="1F2937"/>
                </a:solidFill>
                <a:latin typeface="Noto Sans SC" panose="020B0200000000000000" charset="-122"/>
              </a:defRPr>
            </a:pPr>
            <a:r>
              <a:t>羊肉</a:t>
            </a:r>
          </a:p>
        </p:txBody>
      </p:sp>
      <p:sp>
        <p:nvSpPr>
          <p:cNvPr id="19" name="Rectangle 15"/>
          <p:cNvSpPr/>
          <p:nvPr/>
        </p:nvSpPr>
        <p:spPr>
          <a:xfrm>
            <a:off x="4626000" y="2255600"/>
            <a:ext cx="294000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6"/>
          <p:cNvSpPr txBox="1"/>
          <p:nvPr/>
        </p:nvSpPr>
        <p:spPr>
          <a:xfrm>
            <a:off x="4676000" y="2335600"/>
            <a:ext cx="2840000" cy="13557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80000"/>
              </a:lnSpc>
              <a:spcAft>
                <a:spcPts val="400"/>
              </a:spcAft>
              <a:defRPr sz="1400" b="0">
                <a:solidFill>
                  <a:srgbClr val="22C55E"/>
                </a:solidFill>
                <a:latin typeface="Noto Sans SC" panose="020B0200000000000000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●  新鲜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80000"/>
              </a:lnSpc>
              <a:spcAft>
                <a:spcPts val="400"/>
              </a:spcAft>
              <a:defRPr sz="1400" b="0">
                <a:solidFill>
                  <a:srgbClr val="4B5563"/>
                </a:solidFill>
                <a:latin typeface="Noto Sans SC" panose="020B0200000000000000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○  次新鲜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80000"/>
              </a:lnSpc>
              <a:spcAft>
                <a:spcPts val="400"/>
              </a:spcAft>
              <a:defRPr sz="1400" b="0">
                <a:solidFill>
                  <a:srgbClr val="4B5563"/>
                </a:solidFill>
                <a:latin typeface="Noto Sans SC" panose="020B0200000000000000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○  腐败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ounded Rectangle 17"/>
          <p:cNvSpPr/>
          <p:nvPr/>
        </p:nvSpPr>
        <p:spPr>
          <a:xfrm>
            <a:off x="7966000" y="1600000"/>
            <a:ext cx="3340000" cy="215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18"/>
          <p:cNvSpPr/>
          <p:nvPr/>
        </p:nvSpPr>
        <p:spPr>
          <a:xfrm>
            <a:off x="7966000" y="1600000"/>
            <a:ext cx="76200" cy="2150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19"/>
          <p:cNvSpPr/>
          <p:nvPr/>
        </p:nvSpPr>
        <p:spPr>
          <a:xfrm>
            <a:off x="8166000" y="1800000"/>
            <a:ext cx="355600" cy="3556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Noto Sans SC" panose="020B0200000000000000" charset="-122"/>
              </a:defRPr>
            </a:pPr>
            <a:r>
              <a:t>🐖</a:t>
            </a:r>
          </a:p>
        </p:txBody>
      </p:sp>
      <p:sp>
        <p:nvSpPr>
          <p:cNvPr id="24" name="TextBox 20"/>
          <p:cNvSpPr txBox="1"/>
          <p:nvPr/>
        </p:nvSpPr>
        <p:spPr>
          <a:xfrm>
            <a:off x="8671600" y="1820000"/>
            <a:ext cx="25344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800" b="1">
                <a:solidFill>
                  <a:srgbClr val="1F2937"/>
                </a:solidFill>
                <a:latin typeface="Noto Sans SC" panose="020B0200000000000000" charset="-122"/>
              </a:defRPr>
            </a:pPr>
            <a:r>
              <a:t>猪肉</a:t>
            </a:r>
          </a:p>
        </p:txBody>
      </p:sp>
      <p:sp>
        <p:nvSpPr>
          <p:cNvPr id="25" name="Rectangle 21"/>
          <p:cNvSpPr/>
          <p:nvPr/>
        </p:nvSpPr>
        <p:spPr>
          <a:xfrm>
            <a:off x="8166000" y="2255600"/>
            <a:ext cx="294000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2"/>
          <p:cNvSpPr txBox="1"/>
          <p:nvPr/>
        </p:nvSpPr>
        <p:spPr>
          <a:xfrm>
            <a:off x="8216000" y="2335600"/>
            <a:ext cx="2840000" cy="13557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80000"/>
              </a:lnSpc>
              <a:spcAft>
                <a:spcPts val="400"/>
              </a:spcAft>
              <a:defRPr sz="1400" b="0">
                <a:solidFill>
                  <a:srgbClr val="22C55E"/>
                </a:solidFill>
                <a:latin typeface="Noto Sans SC" panose="020B0200000000000000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●  新鲜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80000"/>
              </a:lnSpc>
              <a:spcAft>
                <a:spcPts val="400"/>
              </a:spcAft>
              <a:defRPr sz="1400" b="0">
                <a:solidFill>
                  <a:srgbClr val="4B5563"/>
                </a:solidFill>
                <a:latin typeface="Noto Sans SC" panose="020B0200000000000000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○  次新鲜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80000"/>
              </a:lnSpc>
              <a:spcAft>
                <a:spcPts val="400"/>
              </a:spcAft>
              <a:defRPr sz="1400" b="0">
                <a:solidFill>
                  <a:srgbClr val="4B5563"/>
                </a:solidFill>
                <a:latin typeface="Noto Sans SC" panose="020B0200000000000000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○  腐败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3"/>
          <p:cNvSpPr txBox="1"/>
          <p:nvPr/>
        </p:nvSpPr>
        <p:spPr>
          <a:xfrm>
            <a:off x="713105" y="4050030"/>
            <a:ext cx="3048635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2000" b="1">
                <a:solidFill>
                  <a:srgbClr val="1F2937"/>
                </a:solidFill>
                <a:latin typeface="Noto Sans SC" panose="020B0200000000000000" charset="-122"/>
              </a:defRPr>
            </a:pPr>
            <a:r>
              <a:t>▎肉</a:t>
            </a:r>
            <a:r>
              <a:rPr lang="zh-CN"/>
              <a:t>片</a:t>
            </a:r>
            <a:r>
              <a:t>掺假检测</a:t>
            </a:r>
          </a:p>
        </p:txBody>
      </p:sp>
      <p:sp>
        <p:nvSpPr>
          <p:cNvPr id="28" name="TextBox 24"/>
          <p:cNvSpPr txBox="1"/>
          <p:nvPr/>
        </p:nvSpPr>
        <p:spPr>
          <a:xfrm>
            <a:off x="2574925" y="4100195"/>
            <a:ext cx="5186680" cy="3498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300" b="0">
                <a:solidFill>
                  <a:srgbClr val="4B5563"/>
                </a:solidFill>
                <a:latin typeface="Noto Sans SC" panose="020B0200000000000000" charset="-122"/>
              </a:defRPr>
            </a:pPr>
            <a:r>
              <a:t>— 支持牛肉 / 羊肉</a:t>
            </a:r>
          </a:p>
        </p:txBody>
      </p:sp>
      <p:sp>
        <p:nvSpPr>
          <p:cNvPr id="29" name="Rounded Rectangle 25"/>
          <p:cNvSpPr/>
          <p:nvPr/>
        </p:nvSpPr>
        <p:spPr>
          <a:xfrm>
            <a:off x="796000" y="4450000"/>
            <a:ext cx="5100000" cy="190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6"/>
          <p:cNvSpPr/>
          <p:nvPr/>
        </p:nvSpPr>
        <p:spPr>
          <a:xfrm>
            <a:off x="796000" y="4450000"/>
            <a:ext cx="76200" cy="1900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27"/>
          <p:cNvSpPr/>
          <p:nvPr/>
        </p:nvSpPr>
        <p:spPr>
          <a:xfrm>
            <a:off x="1046000" y="4700000"/>
            <a:ext cx="355600" cy="35560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Noto Sans SC" panose="020B0200000000000000" charset="-122"/>
              </a:defRPr>
            </a:pPr>
            <a:r>
              <a:t>🐂</a:t>
            </a:r>
          </a:p>
        </p:txBody>
      </p:sp>
      <p:sp>
        <p:nvSpPr>
          <p:cNvPr id="32" name="TextBox 28"/>
          <p:cNvSpPr txBox="1"/>
          <p:nvPr/>
        </p:nvSpPr>
        <p:spPr>
          <a:xfrm>
            <a:off x="1551600" y="4720000"/>
            <a:ext cx="42444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800" b="1">
                <a:solidFill>
                  <a:srgbClr val="1F2937"/>
                </a:solidFill>
                <a:latin typeface="Noto Sans SC" panose="020B0200000000000000" charset="-122"/>
              </a:defRPr>
            </a:pPr>
            <a:r>
              <a:t>牛肉掺假检测</a:t>
            </a:r>
          </a:p>
        </p:txBody>
      </p:sp>
      <p:sp>
        <p:nvSpPr>
          <p:cNvPr id="33" name="Rectangle 29"/>
          <p:cNvSpPr/>
          <p:nvPr/>
        </p:nvSpPr>
        <p:spPr>
          <a:xfrm>
            <a:off x="1046000" y="5155600"/>
            <a:ext cx="460000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0"/>
          <p:cNvSpPr txBox="1"/>
          <p:nvPr/>
        </p:nvSpPr>
        <p:spPr>
          <a:xfrm>
            <a:off x="1096000" y="5235600"/>
            <a:ext cx="4600000" cy="916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80000"/>
              </a:lnSpc>
              <a:spcAft>
                <a:spcPts val="400"/>
              </a:spcAft>
              <a:defRPr sz="1400" b="0">
                <a:solidFill>
                  <a:srgbClr val="22C55E"/>
                </a:solidFill>
                <a:latin typeface="Noto Sans SC" panose="020B0200000000000000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●  纯肉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80000"/>
              </a:lnSpc>
              <a:spcAft>
                <a:spcPts val="400"/>
              </a:spcAft>
              <a:defRPr sz="1400" b="0">
                <a:solidFill>
                  <a:srgbClr val="EF4444"/>
                </a:solidFill>
                <a:latin typeface="Noto Sans SC" panose="020B0200000000000000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○  掺假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Rounded Rectangle 31"/>
          <p:cNvSpPr/>
          <p:nvPr/>
        </p:nvSpPr>
        <p:spPr>
          <a:xfrm>
            <a:off x="6296000" y="4450000"/>
            <a:ext cx="5100000" cy="190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2"/>
          <p:cNvSpPr/>
          <p:nvPr/>
        </p:nvSpPr>
        <p:spPr>
          <a:xfrm>
            <a:off x="6296000" y="4450000"/>
            <a:ext cx="76200" cy="1900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3"/>
          <p:cNvSpPr/>
          <p:nvPr/>
        </p:nvSpPr>
        <p:spPr>
          <a:xfrm>
            <a:off x="6546000" y="4700000"/>
            <a:ext cx="355600" cy="3556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Noto Sans SC" panose="020B0200000000000000" charset="-122"/>
              </a:defRPr>
            </a:pPr>
            <a:r>
              <a:t>🐑</a:t>
            </a:r>
          </a:p>
        </p:txBody>
      </p:sp>
      <p:sp>
        <p:nvSpPr>
          <p:cNvPr id="38" name="TextBox 34"/>
          <p:cNvSpPr txBox="1"/>
          <p:nvPr/>
        </p:nvSpPr>
        <p:spPr>
          <a:xfrm>
            <a:off x="7051600" y="4720000"/>
            <a:ext cx="42444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800" b="1">
                <a:solidFill>
                  <a:srgbClr val="1F2937"/>
                </a:solidFill>
                <a:latin typeface="Noto Sans SC" panose="020B0200000000000000" charset="-122"/>
              </a:defRPr>
            </a:pPr>
            <a:r>
              <a:t>羊肉掺假检测</a:t>
            </a:r>
          </a:p>
        </p:txBody>
      </p:sp>
      <p:sp>
        <p:nvSpPr>
          <p:cNvPr id="39" name="Rectangle 35"/>
          <p:cNvSpPr/>
          <p:nvPr/>
        </p:nvSpPr>
        <p:spPr>
          <a:xfrm>
            <a:off x="6546000" y="5155600"/>
            <a:ext cx="460000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6"/>
          <p:cNvSpPr txBox="1"/>
          <p:nvPr/>
        </p:nvSpPr>
        <p:spPr>
          <a:xfrm>
            <a:off x="6596000" y="5235600"/>
            <a:ext cx="4600000" cy="916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80000"/>
              </a:lnSpc>
              <a:spcAft>
                <a:spcPts val="400"/>
              </a:spcAft>
              <a:defRPr sz="1400" b="0">
                <a:solidFill>
                  <a:srgbClr val="22C55E"/>
                </a:solidFill>
                <a:latin typeface="Noto Sans SC" panose="020B0200000000000000" charset="-122"/>
              </a:defRPr>
            </a:pPr>
            <a:r>
              <a:rPr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●  纯肉</a:t>
            </a:r>
            <a:endParaRPr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>
              <a:lnSpc>
                <a:spcPct val="180000"/>
              </a:lnSpc>
              <a:spcAft>
                <a:spcPts val="400"/>
              </a:spcAft>
              <a:defRPr sz="1400" b="0">
                <a:solidFill>
                  <a:srgbClr val="EF4444"/>
                </a:solidFill>
                <a:latin typeface="Noto Sans SC" panose="020B0200000000000000" charset="-122"/>
              </a:defRPr>
            </a:pPr>
            <a:r>
              <a:rPr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○  掺假</a:t>
            </a:r>
            <a:endParaRPr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系统总体方案：核心工作流程</a:t>
            </a:r>
            <a:endParaRPr lang="en-US" sz="1100"/>
          </a:p>
        </p:txBody>
      </p:sp>
      <p:sp>
        <p:nvSpPr>
          <p:cNvPr id="4" name="AutoShape 4"/>
          <p:cNvSpPr/>
          <p:nvPr>
            <p:custDataLst>
              <p:tags r:id="rId2"/>
            </p:custDataLst>
          </p:nvPr>
        </p:nvSpPr>
        <p:spPr>
          <a:xfrm>
            <a:off x="762000" y="1778000"/>
            <a:ext cx="34290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500" y="1968500"/>
            <a:ext cx="355600" cy="355600"/>
          </a:xfrm>
          <a:prstGeom prst="rect">
            <a:avLst/>
          </a:prstGeom>
        </p:spPr>
      </p:pic>
      <p:sp>
        <p:nvSpPr>
          <p:cNvPr id="6" name="AutoShape 6"/>
          <p:cNvSpPr/>
          <p:nvPr>
            <p:custDataLst>
              <p:tags r:id="rId6"/>
            </p:custDataLst>
          </p:nvPr>
        </p:nvSpPr>
        <p:spPr>
          <a:xfrm>
            <a:off x="1460500" y="1930400"/>
            <a:ext cx="2603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用户拍摄 </a:t>
            </a:r>
            <a:endParaRPr lang="en-US" sz="1800" b="1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(UserCapture)</a:t>
            </a:r>
            <a:endParaRPr lang="en-US" sz="1100"/>
          </a:p>
        </p:txBody>
      </p:sp>
      <p:cxnSp>
        <p:nvCxnSpPr>
          <p:cNvPr id="7" name="Connector 7"/>
          <p:cNvCxnSpPr/>
          <p:nvPr>
            <p:custDataLst>
              <p:tags r:id="rId7"/>
            </p:custDataLst>
          </p:nvPr>
        </p:nvCxnSpPr>
        <p:spPr>
          <a:xfrm rot="-14323">
            <a:off x="952513" y="2533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>
            <p:custDataLst>
              <p:tags r:id="rId8"/>
            </p:custDataLst>
          </p:nvPr>
        </p:nvSpPr>
        <p:spPr>
          <a:xfrm>
            <a:off x="952500" y="2667000"/>
            <a:ext cx="304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用户通过手机App拍摄待检测肉类的高清照片，App自动完成图像的初步采集与上传准备工作，确保画面清晰、主体突出。</a:t>
            </a:r>
            <a:endParaRPr lang="en-US" sz="1100"/>
          </a:p>
        </p:txBody>
      </p:sp>
      <p:sp>
        <p:nvSpPr>
          <p:cNvPr id="9" name="AutoShape 9"/>
          <p:cNvSpPr/>
          <p:nvPr>
            <p:custDataLst>
              <p:tags r:id="rId9"/>
            </p:custDataLst>
          </p:nvPr>
        </p:nvSpPr>
        <p:spPr>
          <a:xfrm>
            <a:off x="4381500" y="1778000"/>
            <a:ext cx="34290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572000" y="1968500"/>
            <a:ext cx="355600" cy="355600"/>
          </a:xfrm>
          <a:prstGeom prst="rect">
            <a:avLst/>
          </a:prstGeom>
        </p:spPr>
      </p:pic>
      <p:sp>
        <p:nvSpPr>
          <p:cNvPr id="11" name="AutoShape 11"/>
          <p:cNvSpPr/>
          <p:nvPr>
            <p:custDataLst>
              <p:tags r:id="rId13"/>
            </p:custDataLst>
          </p:nvPr>
        </p:nvSpPr>
        <p:spPr>
          <a:xfrm>
            <a:off x="5080000" y="1930400"/>
            <a:ext cx="2603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目标分割 (Segmentation)</a:t>
            </a:r>
            <a:endParaRPr lang="en-US" sz="1100"/>
          </a:p>
        </p:txBody>
      </p:sp>
      <p:cxnSp>
        <p:nvCxnSpPr>
          <p:cNvPr id="12" name="Connector 12"/>
          <p:cNvCxnSpPr/>
          <p:nvPr>
            <p:custDataLst>
              <p:tags r:id="rId14"/>
            </p:custDataLst>
          </p:nvPr>
        </p:nvCxnSpPr>
        <p:spPr>
          <a:xfrm rot="-14323">
            <a:off x="4572013" y="2533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>
            <p:custDataLst>
              <p:tags r:id="rId15"/>
            </p:custDataLst>
          </p:nvPr>
        </p:nvSpPr>
        <p:spPr>
          <a:xfrm>
            <a:off x="4572000" y="2667000"/>
            <a:ext cx="304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图像上传至云端，利用YOLO模型自动检测并精准分割出肉品区域，排除背景干扰，聚焦核心检测对象。</a:t>
            </a:r>
            <a:endParaRPr lang="en-US" sz="1100"/>
          </a:p>
        </p:txBody>
      </p:sp>
      <p:sp>
        <p:nvSpPr>
          <p:cNvPr id="14" name="AutoShape 14"/>
          <p:cNvSpPr/>
          <p:nvPr>
            <p:custDataLst>
              <p:tags r:id="rId16"/>
            </p:custDataLst>
          </p:nvPr>
        </p:nvSpPr>
        <p:spPr>
          <a:xfrm>
            <a:off x="8001000" y="1778000"/>
            <a:ext cx="34290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8191500" y="1968500"/>
            <a:ext cx="355600" cy="355600"/>
          </a:xfrm>
          <a:prstGeom prst="rect">
            <a:avLst/>
          </a:prstGeom>
        </p:spPr>
      </p:pic>
      <p:sp>
        <p:nvSpPr>
          <p:cNvPr id="16" name="AutoShape 16"/>
          <p:cNvSpPr/>
          <p:nvPr>
            <p:custDataLst>
              <p:tags r:id="rId20"/>
            </p:custDataLst>
          </p:nvPr>
        </p:nvSpPr>
        <p:spPr>
          <a:xfrm>
            <a:off x="8699500" y="1930400"/>
            <a:ext cx="2603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图像预处理 (Preprocessing)</a:t>
            </a:r>
            <a:endParaRPr lang="en-US" sz="1100"/>
          </a:p>
        </p:txBody>
      </p:sp>
      <p:cxnSp>
        <p:nvCxnSpPr>
          <p:cNvPr id="17" name="Connector 17"/>
          <p:cNvCxnSpPr/>
          <p:nvPr>
            <p:custDataLst>
              <p:tags r:id="rId21"/>
            </p:custDataLst>
          </p:nvPr>
        </p:nvCxnSpPr>
        <p:spPr>
          <a:xfrm rot="-14323">
            <a:off x="8191513" y="2533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>
            <p:custDataLst>
              <p:tags r:id="rId22"/>
            </p:custDataLst>
          </p:nvPr>
        </p:nvSpPr>
        <p:spPr>
          <a:xfrm>
            <a:off x="8191500" y="2667000"/>
            <a:ext cx="304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对分割出的肉品区域进行中心裁剪、缩放到128x128像素标准尺寸，并进行归一化处理，适配模型输入规范。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62000" y="4064000"/>
            <a:ext cx="52324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952500" y="4254500"/>
            <a:ext cx="355600" cy="3556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1460500" y="42164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AI分类 </a:t>
            </a:r>
            <a:endParaRPr lang="en-US" sz="1800" b="1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(AI Classification)</a:t>
            </a:r>
            <a:endParaRPr lang="en-US" sz="1100"/>
          </a:p>
        </p:txBody>
      </p:sp>
      <p:cxnSp>
        <p:nvCxnSpPr>
          <p:cNvPr id="22" name="Connector 22"/>
          <p:cNvCxnSpPr/>
          <p:nvPr/>
        </p:nvCxnSpPr>
        <p:spPr>
          <a:xfrm rot="-8999">
            <a:off x="952508" y="4756150"/>
            <a:ext cx="4851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3" name="AutoShape 23"/>
          <p:cNvSpPr/>
          <p:nvPr/>
        </p:nvSpPr>
        <p:spPr>
          <a:xfrm>
            <a:off x="952500" y="4889500"/>
            <a:ext cx="48514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将预处理后的图像送入对应的MTxNet分类模型（如猪肉新鲜度、牛肉掺假识别模型）进行特征提取与类别判断。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248400" y="4064000"/>
            <a:ext cx="52324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6438900" y="4254500"/>
            <a:ext cx="355600" cy="3556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6946900" y="42164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 结果展示与存储</a:t>
            </a:r>
            <a:endParaRPr lang="en-US" sz="1800" b="1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(Result Display)</a:t>
            </a:r>
            <a:endParaRPr lang="en-US" sz="1100"/>
          </a:p>
        </p:txBody>
      </p:sp>
      <p:cxnSp>
        <p:nvCxnSpPr>
          <p:cNvPr id="27" name="Connector 27"/>
          <p:cNvCxnSpPr/>
          <p:nvPr/>
        </p:nvCxnSpPr>
        <p:spPr>
          <a:xfrm rot="-8999">
            <a:off x="6438908" y="4756150"/>
            <a:ext cx="4851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8" name="AutoShape 28"/>
          <p:cNvSpPr/>
          <p:nvPr/>
        </p:nvSpPr>
        <p:spPr>
          <a:xfrm>
            <a:off x="6438900" y="4889500"/>
            <a:ext cx="48514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模型输出最终判定结果（如“新鲜”、“掺假”、“变质”）及置信度数值，结果实时返回App展示</a:t>
            </a:r>
            <a:r>
              <a:rPr lang="zh-CN" alt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，并存入本地历史记录。</a:t>
            </a:r>
            <a:endParaRPr lang="zh-CN" altLang="en-US" sz="13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9" name="AutoShape 29"/>
          <p:cNvSpPr/>
          <p:nvPr/>
        </p:nvSpPr>
        <p:spPr>
          <a:xfrm>
            <a:off x="762000" y="5969000"/>
            <a:ext cx="10668000" cy="584200"/>
          </a:xfrm>
          <a:prstGeom prst="roundRect">
            <a:avLst>
              <a:gd name="adj" fmla="val 0"/>
            </a:avLst>
          </a:prstGeom>
          <a:solidFill>
            <a:srgbClr val="22C55E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952500" y="6083300"/>
            <a:ext cx="304800" cy="304800"/>
          </a:xfrm>
          <a:prstGeom prst="rect">
            <a:avLst/>
          </a:prstGeom>
        </p:spPr>
      </p:pic>
      <p:sp>
        <p:nvSpPr>
          <p:cNvPr id="31" name="AutoShape 31"/>
          <p:cNvSpPr/>
          <p:nvPr/>
        </p:nvSpPr>
        <p:spPr>
          <a:xfrm>
            <a:off x="762000" y="5969000"/>
            <a:ext cx="10668635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</a:t>
            </a:r>
            <a:r>
              <a:rPr lang="zh-CN" altLang="en-US" sz="2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目标实现</a:t>
            </a:r>
            <a:r>
              <a:rPr lang="en-US" sz="2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  <a:r>
              <a:rPr lang="en-US" sz="2000" b="1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低成本</a:t>
            </a:r>
            <a:r>
              <a:rPr lang="zh-CN" altLang="en-US" sz="2000" b="1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</a:t>
            </a:r>
            <a:r>
              <a:rPr lang="en-US" sz="2000" b="1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高鲁棒</a:t>
            </a:r>
            <a:r>
              <a:rPr lang="zh-CN" altLang="en-US" sz="2000" b="1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，易操作，实时性</a:t>
            </a:r>
            <a:endParaRPr lang="zh-CN" altLang="en-US" sz="2000" b="1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51435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核心创新点：创新点一 · </a:t>
            </a:r>
            <a:r>
              <a:rPr lang="en-US" sz="3200" b="1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YOLO分割分类</a:t>
            </a:r>
            <a:endParaRPr lang="en-US" sz="3200" b="1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770890" y="1549400"/>
            <a:ext cx="4544060" cy="5309235"/>
          </a:xfrm>
          <a:prstGeom prst="roundRect">
            <a:avLst>
              <a:gd name="adj" fmla="val 0"/>
            </a:avLst>
          </a:prstGeom>
          <a:solidFill>
            <a:srgbClr val="F3F4F6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749300" y="1549400"/>
            <a:ext cx="76200" cy="1079500"/>
          </a:xfrm>
          <a:prstGeom prst="roundRect">
            <a:avLst>
              <a:gd name="adj" fmla="val 0"/>
            </a:avLst>
          </a:prstGeom>
          <a:solidFill>
            <a:srgbClr val="EF444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952500" y="1549400"/>
            <a:ext cx="4370705" cy="226314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传统痛点：背景干扰</a:t>
            </a:r>
            <a:r>
              <a:rPr lang="zh-CN" alt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与界面复杂</a:t>
            </a:r>
            <a:endParaRPr lang="zh-CN" altLang="en-US" sz="1800" b="1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0000"/>
              </a:lnSpc>
              <a:defRPr/>
            </a:pPr>
            <a:endParaRPr lang="en-US" sz="1800"/>
          </a:p>
          <a:p>
            <a:pPr marL="0" indent="0" algn="l">
              <a:lnSpc>
                <a:spcPct val="108000"/>
              </a:lnSpc>
            </a:pPr>
            <a:r>
              <a:rPr lang="en-US" sz="16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传统方法依赖用户手动对准，且模型易被</a:t>
            </a:r>
            <a:r>
              <a:rPr lang="zh-CN" altLang="en-US" sz="16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其他</a:t>
            </a:r>
            <a:r>
              <a:rPr lang="en-US" sz="16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背景特征干扰，导致</a:t>
            </a:r>
            <a:r>
              <a:rPr lang="zh-CN" altLang="en-US" sz="16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目标未被成功检测；界面需用户手动区分</a:t>
            </a:r>
            <a:r>
              <a:rPr lang="en-US" sz="16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，严重影响用户体验</a:t>
            </a:r>
            <a:endParaRPr lang="zh-CN" altLang="en-US" sz="16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9" name="Connector 9"/>
          <p:cNvCxnSpPr/>
          <p:nvPr/>
        </p:nvCxnSpPr>
        <p:spPr>
          <a:xfrm rot="5390177">
            <a:off x="3945890" y="3867159"/>
            <a:ext cx="444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F2937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6985000" y="1549400"/>
            <a:ext cx="4555490" cy="5309235"/>
          </a:xfrm>
          <a:prstGeom prst="roundRect">
            <a:avLst>
              <a:gd name="adj" fmla="val 0"/>
            </a:avLst>
          </a:prstGeom>
          <a:solidFill>
            <a:srgbClr val="22C55E">
              <a:alpha val="10000"/>
            </a:srgbClr>
          </a:solidFill>
          <a:ln w="12700" cap="flat" cmpd="sng">
            <a:solidFill>
              <a:srgbClr val="22C55E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7213600" y="1713865"/>
            <a:ext cx="4217035" cy="209931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800" b="1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方案：YOLO分割 + 分类两阶段架构</a:t>
            </a:r>
            <a:endParaRPr lang="en-US" sz="1800" b="1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</a:pPr>
            <a:endParaRPr lang="en-US" sz="16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6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引入YOLO模型自动定位并精准裁剪肉品区域，剔除无关背景后，</a:t>
            </a:r>
            <a:r>
              <a:rPr lang="en-US" sz="16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从源头解决背景干扰问题。</a:t>
            </a:r>
            <a:endParaRPr lang="en-US" sz="16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6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模型将纯净的肉品图像送入对应的分类网络，简化用户操作。</a:t>
            </a:r>
            <a:endParaRPr lang="en-US" sz="16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7214870" y="6198235"/>
            <a:ext cx="2991485" cy="4838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 b="1"/>
          </a:p>
        </p:txBody>
      </p:sp>
      <p:pic>
        <p:nvPicPr>
          <p:cNvPr id="31" name="图片 30" descr="beef_Fresh_Fresh_(1008)"/>
          <p:cNvPicPr>
            <a:picLocks noChangeAspect="1"/>
          </p:cNvPicPr>
          <p:nvPr/>
        </p:nvPicPr>
        <p:blipFill>
          <a:blip r:embed="rId2"/>
          <a:srcRect l="32849" t="-3068" r="32582"/>
          <a:stretch>
            <a:fillRect/>
          </a:stretch>
        </p:blipFill>
        <p:spPr>
          <a:xfrm>
            <a:off x="1309370" y="3387725"/>
            <a:ext cx="3467100" cy="3521710"/>
          </a:xfrm>
          <a:prstGeom prst="rect">
            <a:avLst/>
          </a:prstGeom>
        </p:spPr>
      </p:pic>
      <p:pic>
        <p:nvPicPr>
          <p:cNvPr id="34" name="图片 33" descr="3_yol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2595" y="3594100"/>
            <a:ext cx="2399665" cy="326453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核心创新点：创新点二 · 生鲜灯物理仿真数据增强</a:t>
            </a:r>
            <a:endParaRPr lang="en-US" sz="1100"/>
          </a:p>
        </p:txBody>
      </p:sp>
      <p:sp>
        <p:nvSpPr>
          <p:cNvPr id="9" name="AutoShape 9"/>
          <p:cNvSpPr/>
          <p:nvPr>
            <p:custDataLst>
              <p:tags r:id="rId2"/>
            </p:custDataLst>
          </p:nvPr>
        </p:nvSpPr>
        <p:spPr>
          <a:xfrm>
            <a:off x="815975" y="1381125"/>
            <a:ext cx="6546850" cy="416433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>
            <p:custDataLst>
              <p:tags r:id="rId3"/>
            </p:custDataLst>
          </p:nvPr>
        </p:nvSpPr>
        <p:spPr>
          <a:xfrm>
            <a:off x="8305800" y="2857500"/>
            <a:ext cx="28702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endParaRPr lang="en-US" sz="1100"/>
          </a:p>
        </p:txBody>
      </p:sp>
      <p:sp>
        <p:nvSpPr>
          <p:cNvPr id="18" name="AutoShape 18"/>
          <p:cNvSpPr/>
          <p:nvPr>
            <p:custDataLst>
              <p:tags r:id="rId4"/>
            </p:custDataLst>
          </p:nvPr>
        </p:nvSpPr>
        <p:spPr>
          <a:xfrm>
            <a:off x="8280400" y="3048000"/>
            <a:ext cx="28702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62000" y="5715000"/>
            <a:ext cx="10642600" cy="762000"/>
          </a:xfrm>
          <a:prstGeom prst="roundRect">
            <a:avLst>
              <a:gd name="adj" fmla="val 0"/>
            </a:avLst>
          </a:prstGeom>
          <a:solidFill>
            <a:srgbClr val="22C55E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1016000" y="5867400"/>
            <a:ext cx="101346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关键价值：</a:t>
            </a:r>
            <a:r>
              <a:rPr lang="en-US" sz="15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通过物理仿真技术突破了“生鲜灯干扰”这一行业共性难题，以极低的成本扩充了关键场景数据，保障了模型在复杂真实环境中的识别准确率与鲁棒性。</a:t>
            </a:r>
            <a:endParaRPr lang="en-US" sz="1100"/>
          </a:p>
        </p:txBody>
      </p:sp>
      <p:pic>
        <p:nvPicPr>
          <p:cNvPr id="21" name="Picture 10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1509395"/>
            <a:ext cx="355600" cy="355600"/>
          </a:xfrm>
          <a:prstGeom prst="rect">
            <a:avLst/>
          </a:prstGeom>
        </p:spPr>
      </p:pic>
      <p:sp>
        <p:nvSpPr>
          <p:cNvPr id="22" name="AutoShape 11"/>
          <p:cNvSpPr/>
          <p:nvPr>
            <p:custDataLst>
              <p:tags r:id="rId8"/>
            </p:custDataLst>
          </p:nvPr>
        </p:nvSpPr>
        <p:spPr>
          <a:xfrm>
            <a:off x="1428750" y="1383030"/>
            <a:ext cx="9798050" cy="60388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方案：光谱偏移仿真</a:t>
            </a:r>
            <a:endParaRPr lang="en-US" sz="1100"/>
          </a:p>
        </p:txBody>
      </p:sp>
      <p:pic>
        <p:nvPicPr>
          <p:cNvPr id="24" name="图片 23" descr="SPOILED-1-_JPG.rf.db85609c4302c4a3528ae889690aeafe_0pct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17790" y="1764030"/>
            <a:ext cx="1842135" cy="1842135"/>
          </a:xfrm>
          <a:prstGeom prst="rect">
            <a:avLst/>
          </a:prstGeom>
        </p:spPr>
      </p:pic>
      <p:pic>
        <p:nvPicPr>
          <p:cNvPr id="25" name="图片 24" descr="SPOILED-1-_JPG.rf.db85609c4302c4a3528ae889690aeafe_60pct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17790" y="3640455"/>
            <a:ext cx="1843200" cy="1843200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561195" y="3640455"/>
            <a:ext cx="1843200" cy="1843200"/>
          </a:xfrm>
          <a:prstGeom prst="rect">
            <a:avLst/>
          </a:prstGeom>
        </p:spPr>
      </p:pic>
      <p:pic>
        <p:nvPicPr>
          <p:cNvPr id="27" name="图片 26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559925" y="1762760"/>
            <a:ext cx="1843200" cy="1843200"/>
          </a:xfrm>
          <a:prstGeom prst="rect">
            <a:avLst/>
          </a:prstGeom>
        </p:spPr>
      </p:pic>
      <p:sp>
        <p:nvSpPr>
          <p:cNvPr id="28" name="文本框 27"/>
          <p:cNvSpPr txBox="1"/>
          <p:nvPr/>
        </p:nvSpPr>
        <p:spPr>
          <a:xfrm>
            <a:off x="7658735" y="1365250"/>
            <a:ext cx="373316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/>
              <a:t>模拟生鲜灯不同功率图：</a:t>
            </a:r>
            <a:endParaRPr lang="zh-CN" altLang="en-US" sz="1600" b="1"/>
          </a:p>
        </p:txBody>
      </p:sp>
      <p:sp>
        <p:nvSpPr>
          <p:cNvPr id="4" name="文本框 3"/>
          <p:cNvSpPr txBox="1"/>
          <p:nvPr/>
        </p:nvSpPr>
        <p:spPr>
          <a:xfrm>
            <a:off x="1038225" y="2071370"/>
            <a:ext cx="626237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基于物理光谱特性，设计全参数联动线性插值的色彩偏移仿真算法。设原始图像在</a:t>
            </a:r>
            <a:r>
              <a:rPr lang="en-US" altLang="zh-CN"/>
              <a:t>RGB</a:t>
            </a:r>
            <a:r>
              <a:rPr lang="zh-CN" altLang="en-US"/>
              <a:t>色彩空间的像素值为</a:t>
            </a:r>
            <a:r>
              <a:rPr lang="en-US" altLang="zh-CN"/>
              <a:t>(R, G, B)</a:t>
            </a:r>
            <a:r>
              <a:rPr lang="zh-CN" altLang="en-US"/>
              <a:t>，模拟生鲜灯效果后的像素值</a:t>
            </a:r>
            <a:r>
              <a:rPr lang="en-US" altLang="zh-CN"/>
              <a:t>(R', G', B')</a:t>
            </a:r>
            <a:r>
              <a:rPr lang="zh-CN" altLang="en-US"/>
              <a:t>由下式生成：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15975" y="2827655"/>
            <a:ext cx="6546215" cy="123063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007110" y="4291330"/>
            <a:ext cx="5217795" cy="8413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 sz="1600"/>
              <a:t>每张原图随机生成</a:t>
            </a:r>
            <a:r>
              <a:rPr lang="en-US" altLang="zh-CN" sz="1600"/>
              <a:t> 20%-80% </a:t>
            </a:r>
            <a:r>
              <a:rPr lang="zh-CN" altLang="en-US" sz="1600"/>
              <a:t>功率的生鲜灯版本</a:t>
            </a:r>
            <a:endParaRPr lang="zh-CN" altLang="en-US" sz="1600"/>
          </a:p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 sz="1600"/>
              <a:t>训练集中生鲜灯增强图与原图合并（</a:t>
            </a:r>
            <a:r>
              <a:rPr lang="en-US" altLang="zh-CN" sz="1600"/>
              <a:t>3630</a:t>
            </a:r>
            <a:r>
              <a:rPr lang="zh-CN" altLang="en-US" sz="1600"/>
              <a:t>张）</a:t>
            </a:r>
            <a:endParaRPr lang="zh-CN" altLang="en-US" sz="1600"/>
          </a:p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 sz="1600"/>
              <a:t>同时引入</a:t>
            </a:r>
            <a:r>
              <a:rPr lang="en-US" altLang="zh-CN" sz="1600"/>
              <a:t> 4</a:t>
            </a:r>
            <a:r>
              <a:rPr lang="en-US" altLang="en-US" sz="1600"/>
              <a:t>×</a:t>
            </a:r>
            <a:r>
              <a:rPr lang="en-US" altLang="zh-CN" sz="1600"/>
              <a:t>4 </a:t>
            </a:r>
            <a:r>
              <a:rPr lang="zh-CN" altLang="en-US" sz="1600"/>
              <a:t>分块空间扰动</a:t>
            </a:r>
            <a:r>
              <a:rPr lang="en-US" altLang="zh-CN" sz="1600"/>
              <a:t> + </a:t>
            </a:r>
            <a:r>
              <a:rPr lang="zh-CN" altLang="en-US" sz="1600"/>
              <a:t>高斯噪声</a:t>
            </a:r>
            <a:endParaRPr lang="zh-CN" altLang="en-US" sz="16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核心创新点：创新点</a:t>
            </a:r>
            <a:r>
              <a:rPr lang="zh-CN" alt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三</a:t>
            </a: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· 轻量化模型与多模型部署</a:t>
            </a:r>
            <a:endParaRPr lang="en-US" sz="1100"/>
          </a:p>
        </p:txBody>
      </p:sp>
      <p:cxnSp>
        <p:nvCxnSpPr>
          <p:cNvPr id="11" name="Connector 11"/>
          <p:cNvCxnSpPr/>
          <p:nvPr/>
        </p:nvCxnSpPr>
        <p:spPr>
          <a:xfrm flipV="1">
            <a:off x="215900" y="1718944"/>
            <a:ext cx="4840605" cy="4318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B5563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6" name="组合 5"/>
          <p:cNvGrpSpPr/>
          <p:nvPr/>
        </p:nvGrpSpPr>
        <p:grpSpPr>
          <a:xfrm>
            <a:off x="176530" y="1174750"/>
            <a:ext cx="5060950" cy="1918335"/>
            <a:chOff x="478" y="2800"/>
            <a:chExt cx="10600" cy="2903"/>
          </a:xfrm>
        </p:grpSpPr>
        <p:sp>
          <p:nvSpPr>
            <p:cNvPr id="7" name="AutoShape 7"/>
            <p:cNvSpPr/>
            <p:nvPr/>
          </p:nvSpPr>
          <p:spPr>
            <a:xfrm>
              <a:off x="478" y="2800"/>
              <a:ext cx="10600" cy="2903"/>
            </a:xfrm>
            <a:prstGeom prst="roundRect">
              <a:avLst>
                <a:gd name="adj" fmla="val 0"/>
              </a:avLst>
            </a:prstGeom>
            <a:solidFill>
              <a:srgbClr val="FFFFFF">
                <a:alpha val="65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8" name="AutoShape 8"/>
            <p:cNvSpPr/>
            <p:nvPr/>
          </p:nvSpPr>
          <p:spPr>
            <a:xfrm>
              <a:off x="478" y="2800"/>
              <a:ext cx="164" cy="2903"/>
            </a:xfrm>
            <a:prstGeom prst="roundRect">
              <a:avLst>
                <a:gd name="adj" fmla="val 0"/>
              </a:avLst>
            </a:prstGeom>
            <a:solidFill>
              <a:srgbClr val="22C55E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pic>
          <p:nvPicPr>
            <p:cNvPr id="9" name="Picture 9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78" y="3000"/>
              <a:ext cx="560" cy="560"/>
            </a:xfrm>
            <a:prstGeom prst="rect">
              <a:avLst/>
            </a:prstGeom>
          </p:spPr>
        </p:pic>
        <p:sp>
          <p:nvSpPr>
            <p:cNvPr id="10" name="AutoShape 10"/>
            <p:cNvSpPr/>
            <p:nvPr/>
          </p:nvSpPr>
          <p:spPr>
            <a:xfrm>
              <a:off x="1678" y="2960"/>
              <a:ext cx="9000" cy="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zh-CN" altLang="en-US" sz="1800" b="1" i="0" u="none" strike="noStrike">
                  <a:solidFill>
                    <a:srgbClr val="1F2937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核心痛点</a:t>
              </a:r>
              <a:endParaRPr lang="zh-CN" alt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  <p:sp>
          <p:nvSpPr>
            <p:cNvPr id="12" name="AutoShape 12"/>
            <p:cNvSpPr/>
            <p:nvPr/>
          </p:nvSpPr>
          <p:spPr>
            <a:xfrm>
              <a:off x="878" y="3561"/>
              <a:ext cx="10000" cy="1984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08000"/>
                </a:lnSpc>
                <a:defRPr/>
              </a:pPr>
              <a:r>
                <a:rPr lang="en-US" sz="1300">
                  <a:solidFill>
                    <a:srgbClr val="4B556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传统ResNet18网络结构，参数量大、推理耗时</a:t>
              </a:r>
              <a:r>
                <a:rPr lang="zh-CN" altLang="en-US" sz="1300">
                  <a:solidFill>
                    <a:srgbClr val="4B556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，</a:t>
              </a:r>
              <a:r>
                <a:rPr lang="en-US" sz="1300" b="0" i="0" u="none" strike="noStrike">
                  <a:solidFill>
                    <a:srgbClr val="37415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针对云端</a:t>
              </a:r>
              <a:r>
                <a:rPr lang="zh-CN" altLang="en-US" sz="1300" b="0" i="0" u="none" strike="noStrike">
                  <a:solidFill>
                    <a:srgbClr val="37415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资源受限且需要</a:t>
              </a:r>
              <a:r>
                <a:rPr lang="en-US" sz="1300" b="0" i="0" u="none" strike="noStrike">
                  <a:solidFill>
                    <a:srgbClr val="37415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高频调用</a:t>
              </a:r>
              <a:r>
                <a:rPr lang="zh-CN" altLang="en-US" sz="1300" b="0" i="0" u="none" strike="noStrike">
                  <a:solidFill>
                    <a:srgbClr val="37415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（本次云端为</a:t>
              </a:r>
              <a:r>
                <a:rPr lang="en-US" altLang="zh-CN" sz="1300" b="0" i="0" u="none" strike="noStrike">
                  <a:solidFill>
                    <a:srgbClr val="37415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1</a:t>
              </a:r>
              <a:r>
                <a:rPr lang="zh-CN" altLang="en-US" sz="1300" b="0" i="0" u="none" strike="noStrike">
                  <a:solidFill>
                    <a:srgbClr val="37415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核</a:t>
              </a:r>
              <a:r>
                <a:rPr lang="en-US" altLang="zh-CN" sz="1300" b="0" i="0" u="none" strike="noStrike">
                  <a:solidFill>
                    <a:srgbClr val="37415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CPU</a:t>
              </a:r>
              <a:r>
                <a:rPr lang="zh-CN" altLang="en-US" sz="1300" b="0" i="0" u="none" strike="noStrike">
                  <a:solidFill>
                    <a:srgbClr val="37415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）</a:t>
              </a:r>
              <a:r>
                <a:rPr lang="en-US" sz="1300" b="0" i="0" u="none" strike="noStrike">
                  <a:solidFill>
                    <a:srgbClr val="37415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，需要模型体积足够小以减少传输与存储成本，推理速度足够快以支撑高并发，同时需兼容新鲜度、掺假检测等多个专用任务。</a:t>
              </a:r>
              <a:endParaRPr lang="en-US" sz="1100"/>
            </a:p>
          </p:txBody>
        </p:sp>
      </p:grpSp>
      <p:sp>
        <p:nvSpPr>
          <p:cNvPr id="13" name="AutoShape 13"/>
          <p:cNvSpPr/>
          <p:nvPr/>
        </p:nvSpPr>
        <p:spPr>
          <a:xfrm>
            <a:off x="4699000" y="4978400"/>
            <a:ext cx="6731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4699000" y="4978400"/>
            <a:ext cx="76200" cy="1460500"/>
          </a:xfrm>
          <a:prstGeom prst="roundRect">
            <a:avLst>
              <a:gd name="adj" fmla="val 0"/>
            </a:avLst>
          </a:prstGeom>
          <a:solidFill>
            <a:srgbClr val="22C55E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53000" y="5105400"/>
            <a:ext cx="355600" cy="3556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5461000" y="5080000"/>
            <a:ext cx="571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技术突破：MTxNet 复现重构与极致参数量压缩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7015">
            <a:off x="4953006" y="5607050"/>
            <a:ext cx="622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B5563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4953000" y="5740400"/>
            <a:ext cx="3111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将论文MTxNet从TensorFlow重写为PyTorch框架，深度优化网络层结构，适配端云协同场景。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5318164">
            <a:off x="7893050" y="6102426"/>
            <a:ext cx="533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B5563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/>
        </p:nvSpPr>
        <p:spPr>
          <a:xfrm>
            <a:off x="8255000" y="5740400"/>
            <a:ext cx="304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参数量从4-5M压缩至</a:t>
            </a:r>
            <a:r>
              <a:rPr lang="en-US" sz="14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1.2M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，最终模型文件体积控制在</a:t>
            </a:r>
            <a:r>
              <a:rPr lang="en-US" sz="14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≤ 2MB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1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1060" y="3327400"/>
            <a:ext cx="3409950" cy="34036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88610" y="1901190"/>
            <a:ext cx="6078220" cy="2420620"/>
          </a:xfrm>
          <a:prstGeom prst="rect">
            <a:avLst/>
          </a:prstGeom>
        </p:spPr>
      </p:pic>
      <p:cxnSp>
        <p:nvCxnSpPr>
          <p:cNvPr id="24" name="曲线连接符 23"/>
          <p:cNvCxnSpPr/>
          <p:nvPr/>
        </p:nvCxnSpPr>
        <p:spPr>
          <a:xfrm rot="5400000">
            <a:off x="2055495" y="3509010"/>
            <a:ext cx="5706110" cy="976630"/>
          </a:xfrm>
          <a:prstGeom prst="curvedConnector3">
            <a:avLst>
              <a:gd name="adj1" fmla="val 50011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性能与实验结果：模型轻量化与推理速度</a:t>
            </a:r>
            <a:r>
              <a:rPr lang="zh-CN" alt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（</a:t>
            </a:r>
            <a:r>
              <a:rPr lang="en-US" altLang="zh-CN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CPU</a:t>
            </a:r>
            <a:r>
              <a:rPr lang="zh-CN" alt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）</a:t>
            </a:r>
            <a:endParaRPr lang="zh-CN" altLang="en-US" sz="3200" b="1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grpSp>
        <p:nvGrpSpPr>
          <p:cNvPr id="34" name="组合 33"/>
          <p:cNvGrpSpPr/>
          <p:nvPr>
            <p:custDataLst>
              <p:tags r:id="rId2"/>
            </p:custDataLst>
          </p:nvPr>
        </p:nvGrpSpPr>
        <p:grpSpPr>
          <a:xfrm>
            <a:off x="465455" y="1370330"/>
            <a:ext cx="2880000" cy="1620000"/>
            <a:chOff x="1200" y="4642"/>
            <a:chExt cx="5320" cy="3136"/>
          </a:xfrm>
        </p:grpSpPr>
        <p:sp>
          <p:nvSpPr>
            <p:cNvPr id="4" name="AutoShape 4"/>
            <p:cNvSpPr/>
            <p:nvPr>
              <p:custDataLst>
                <p:tags r:id="rId3"/>
              </p:custDataLst>
            </p:nvPr>
          </p:nvSpPr>
          <p:spPr>
            <a:xfrm>
              <a:off x="1200" y="4642"/>
              <a:ext cx="5320" cy="3136"/>
            </a:xfrm>
            <a:prstGeom prst="roundRect">
              <a:avLst>
                <a:gd name="adj" fmla="val 0"/>
              </a:avLst>
            </a:prstGeom>
            <a:solidFill>
              <a:srgbClr val="FFFFFF">
                <a:alpha val="70000"/>
              </a:srgbClr>
            </a:solidFill>
            <a:ln w="12700" cap="flat" cmpd="sng">
              <a:solidFill>
                <a:srgbClr val="D1D5DB">
                  <a:alpha val="10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5" name="AutoShape 5"/>
            <p:cNvSpPr/>
            <p:nvPr>
              <p:custDataLst>
                <p:tags r:id="rId4"/>
              </p:custDataLst>
            </p:nvPr>
          </p:nvSpPr>
          <p:spPr>
            <a:xfrm>
              <a:off x="1500" y="4942"/>
              <a:ext cx="4720" cy="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en-US" sz="1800" b="1" i="0" u="none" strike="noStrike">
                  <a:solidFill>
                    <a:srgbClr val="37415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ResNet18 (基准模型)</a:t>
              </a:r>
              <a:endParaRPr lang="en-US" sz="1100"/>
            </a:p>
          </p:txBody>
        </p:sp>
        <p:cxnSp>
          <p:nvCxnSpPr>
            <p:cNvPr id="6" name="Connector 6"/>
            <p:cNvCxnSpPr/>
            <p:nvPr>
              <p:custDataLst>
                <p:tags r:id="rId5"/>
              </p:custDataLst>
            </p:nvPr>
          </p:nvCxnSpPr>
          <p:spPr>
            <a:xfrm rot="-14566">
              <a:off x="1500" y="5732"/>
              <a:ext cx="4720" cy="2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E5E7EB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7" name="AutoShape 7"/>
            <p:cNvSpPr/>
            <p:nvPr>
              <p:custDataLst>
                <p:tags r:id="rId6"/>
              </p:custDataLst>
            </p:nvPr>
          </p:nvSpPr>
          <p:spPr>
            <a:xfrm>
              <a:off x="1500" y="6042"/>
              <a:ext cx="2300" cy="1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08000"/>
                </a:lnSpc>
                <a:defRPr/>
              </a:pPr>
              <a:r>
                <a:rPr lang="en-US" sz="1200" b="0" i="0" u="none" strike="noStrike">
                  <a:solidFill>
                    <a:srgbClr val="6B7280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参数量 / 模型大小</a:t>
              </a:r>
              <a:endParaRPr lang="en-US" sz="1100"/>
            </a:p>
            <a:p>
              <a:pPr marL="0" indent="0" algn="l">
                <a:lnSpc>
                  <a:spcPct val="125000"/>
                </a:lnSpc>
              </a:pPr>
              <a:r>
                <a:rPr lang="en-US" sz="1600" b="1" i="0" u="none" strike="noStrike">
                  <a:solidFill>
                    <a:srgbClr val="1F2937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11.7M / 45MB</a:t>
              </a:r>
              <a:endPara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  <p:cxnSp>
          <p:nvCxnSpPr>
            <p:cNvPr id="8" name="Connector 8"/>
            <p:cNvCxnSpPr/>
            <p:nvPr>
              <p:custDataLst>
                <p:tags r:id="rId7"/>
              </p:custDataLst>
            </p:nvPr>
          </p:nvCxnSpPr>
          <p:spPr>
            <a:xfrm rot="5337502">
              <a:off x="3310" y="6682"/>
              <a:ext cx="1100" cy="2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E5E7EB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9" name="AutoShape 9"/>
            <p:cNvSpPr/>
            <p:nvPr>
              <p:custDataLst>
                <p:tags r:id="rId8"/>
              </p:custDataLst>
            </p:nvPr>
          </p:nvSpPr>
          <p:spPr>
            <a:xfrm>
              <a:off x="4060" y="6042"/>
              <a:ext cx="2300" cy="1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08000"/>
                </a:lnSpc>
                <a:defRPr/>
              </a:pPr>
              <a:r>
                <a:rPr lang="en-US" sz="1200" b="0" i="0" u="none" strike="noStrike">
                  <a:solidFill>
                    <a:srgbClr val="6B7280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推理时间 / 准确率</a:t>
              </a:r>
              <a:endParaRPr lang="en-US" sz="1100"/>
            </a:p>
            <a:p>
              <a:pPr marL="0" indent="0" algn="l">
                <a:lnSpc>
                  <a:spcPct val="125000"/>
                </a:lnSpc>
              </a:pPr>
              <a:r>
                <a:rPr lang="en-US" sz="1600" b="1" i="0" u="none" strike="noStrike">
                  <a:solidFill>
                    <a:srgbClr val="1F2937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17.28ms / ~92%</a:t>
              </a:r>
              <a:endPara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</p:grpSp>
      <p:grpSp>
        <p:nvGrpSpPr>
          <p:cNvPr id="35" name="组合 34"/>
          <p:cNvGrpSpPr/>
          <p:nvPr>
            <p:custDataLst>
              <p:tags r:id="rId9"/>
            </p:custDataLst>
          </p:nvPr>
        </p:nvGrpSpPr>
        <p:grpSpPr>
          <a:xfrm>
            <a:off x="465455" y="3113405"/>
            <a:ext cx="2880000" cy="1620000"/>
            <a:chOff x="6940" y="4642"/>
            <a:chExt cx="5320" cy="3136"/>
          </a:xfrm>
        </p:grpSpPr>
        <p:sp>
          <p:nvSpPr>
            <p:cNvPr id="11" name="AutoShape 11"/>
            <p:cNvSpPr/>
            <p:nvPr>
              <p:custDataLst>
                <p:tags r:id="rId10"/>
              </p:custDataLst>
            </p:nvPr>
          </p:nvSpPr>
          <p:spPr>
            <a:xfrm>
              <a:off x="6940" y="4642"/>
              <a:ext cx="5320" cy="3136"/>
            </a:xfrm>
            <a:prstGeom prst="roundRect">
              <a:avLst>
                <a:gd name="adj" fmla="val 0"/>
              </a:avLst>
            </a:prstGeom>
            <a:solidFill>
              <a:srgbClr val="FFFFFF">
                <a:alpha val="70000"/>
              </a:srgbClr>
            </a:solidFill>
            <a:ln w="12700" cap="flat" cmpd="sng">
              <a:solidFill>
                <a:srgbClr val="D1D5DB">
                  <a:alpha val="10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12" name="AutoShape 12"/>
            <p:cNvSpPr/>
            <p:nvPr>
              <p:custDataLst>
                <p:tags r:id="rId11"/>
              </p:custDataLst>
            </p:nvPr>
          </p:nvSpPr>
          <p:spPr>
            <a:xfrm>
              <a:off x="7240" y="4942"/>
              <a:ext cx="4720" cy="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en-US" sz="1800" b="1" i="0" u="none" strike="noStrike">
                  <a:solidFill>
                    <a:srgbClr val="37415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MobileNetV2 (轻量化模型)</a:t>
              </a:r>
              <a:endParaRPr lang="en-US" sz="1100"/>
            </a:p>
          </p:txBody>
        </p:sp>
        <p:cxnSp>
          <p:nvCxnSpPr>
            <p:cNvPr id="13" name="Connector 13"/>
            <p:cNvCxnSpPr/>
            <p:nvPr>
              <p:custDataLst>
                <p:tags r:id="rId12"/>
              </p:custDataLst>
            </p:nvPr>
          </p:nvCxnSpPr>
          <p:spPr>
            <a:xfrm rot="-14566">
              <a:off x="7240" y="5732"/>
              <a:ext cx="4720" cy="2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E5E7EB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4" name="AutoShape 14"/>
            <p:cNvSpPr/>
            <p:nvPr>
              <p:custDataLst>
                <p:tags r:id="rId13"/>
              </p:custDataLst>
            </p:nvPr>
          </p:nvSpPr>
          <p:spPr>
            <a:xfrm>
              <a:off x="7240" y="6042"/>
              <a:ext cx="2300" cy="1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08000"/>
                </a:lnSpc>
                <a:defRPr/>
              </a:pPr>
              <a:r>
                <a:rPr lang="en-US" sz="1200" b="0" i="0" u="none" strike="noStrike">
                  <a:solidFill>
                    <a:srgbClr val="6B7280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参数量 / 模型大小</a:t>
              </a:r>
              <a:endParaRPr lang="en-US" sz="1100"/>
            </a:p>
            <a:p>
              <a:pPr marL="0" indent="0" algn="l">
                <a:lnSpc>
                  <a:spcPct val="125000"/>
                </a:lnSpc>
              </a:pPr>
              <a:r>
                <a:rPr lang="en-US" sz="1600" b="1" i="0" u="none" strike="noStrike">
                  <a:solidFill>
                    <a:srgbClr val="1F2937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3.5M / 13MB</a:t>
              </a:r>
              <a:endPara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  <p:cxnSp>
          <p:nvCxnSpPr>
            <p:cNvPr id="15" name="Connector 15"/>
            <p:cNvCxnSpPr/>
            <p:nvPr>
              <p:custDataLst>
                <p:tags r:id="rId14"/>
              </p:custDataLst>
            </p:nvPr>
          </p:nvCxnSpPr>
          <p:spPr>
            <a:xfrm rot="5337502">
              <a:off x="9050" y="6682"/>
              <a:ext cx="1100" cy="2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E5E7EB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6" name="AutoShape 16"/>
            <p:cNvSpPr/>
            <p:nvPr>
              <p:custDataLst>
                <p:tags r:id="rId15"/>
              </p:custDataLst>
            </p:nvPr>
          </p:nvSpPr>
          <p:spPr>
            <a:xfrm>
              <a:off x="9800" y="6042"/>
              <a:ext cx="2300" cy="1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08000"/>
                </a:lnSpc>
                <a:defRPr/>
              </a:pPr>
              <a:r>
                <a:rPr lang="en-US" sz="1200" b="0" i="0" u="none" strike="noStrike">
                  <a:solidFill>
                    <a:srgbClr val="6B7280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推理时间 / 准确率</a:t>
              </a:r>
              <a:endParaRPr lang="en-US" sz="1100"/>
            </a:p>
            <a:p>
              <a:pPr marL="0" indent="0" algn="l">
                <a:lnSpc>
                  <a:spcPct val="125000"/>
                </a:lnSpc>
              </a:pPr>
              <a:r>
                <a:rPr lang="en-US" sz="1600" b="1" i="0" u="none" strike="noStrike">
                  <a:solidFill>
                    <a:srgbClr val="1F2937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14.08ms / ~90%</a:t>
              </a:r>
              <a:endPara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</p:grpSp>
      <p:grpSp>
        <p:nvGrpSpPr>
          <p:cNvPr id="36" name="组合 35"/>
          <p:cNvGrpSpPr/>
          <p:nvPr>
            <p:custDataLst>
              <p:tags r:id="rId16"/>
            </p:custDataLst>
          </p:nvPr>
        </p:nvGrpSpPr>
        <p:grpSpPr>
          <a:xfrm>
            <a:off x="465455" y="4856480"/>
            <a:ext cx="2880000" cy="1620000"/>
            <a:chOff x="12680" y="4642"/>
            <a:chExt cx="5320" cy="3136"/>
          </a:xfrm>
        </p:grpSpPr>
        <p:sp>
          <p:nvSpPr>
            <p:cNvPr id="18" name="AutoShape 18"/>
            <p:cNvSpPr/>
            <p:nvPr>
              <p:custDataLst>
                <p:tags r:id="rId17"/>
              </p:custDataLst>
            </p:nvPr>
          </p:nvSpPr>
          <p:spPr>
            <a:xfrm>
              <a:off x="12680" y="4642"/>
              <a:ext cx="5320" cy="3136"/>
            </a:xfrm>
            <a:prstGeom prst="roundRect">
              <a:avLst>
                <a:gd name="adj" fmla="val 0"/>
              </a:avLst>
            </a:prstGeom>
            <a:solidFill>
              <a:srgbClr val="22C55E">
                <a:alpha val="10000"/>
              </a:srgbClr>
            </a:solidFill>
            <a:ln w="25400" cap="flat" cmpd="sng">
              <a:solidFill>
                <a:srgbClr val="22C55E">
                  <a:alpha val="10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19" name="AutoShape 19"/>
            <p:cNvSpPr/>
            <p:nvPr>
              <p:custDataLst>
                <p:tags r:id="rId18"/>
              </p:custDataLst>
            </p:nvPr>
          </p:nvSpPr>
          <p:spPr>
            <a:xfrm>
              <a:off x="12980" y="4942"/>
              <a:ext cx="4720" cy="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en-US" sz="1800" b="1" i="0" u="none" strike="noStrike">
                  <a:solidFill>
                    <a:srgbClr val="166534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MTxNet (我们的模型)</a:t>
              </a:r>
              <a:endParaRPr lang="en-US" sz="1100"/>
            </a:p>
          </p:txBody>
        </p:sp>
        <p:cxnSp>
          <p:nvCxnSpPr>
            <p:cNvPr id="20" name="Connector 20"/>
            <p:cNvCxnSpPr/>
            <p:nvPr>
              <p:custDataLst>
                <p:tags r:id="rId19"/>
              </p:custDataLst>
            </p:nvPr>
          </p:nvCxnSpPr>
          <p:spPr>
            <a:xfrm rot="-14566">
              <a:off x="12980" y="5732"/>
              <a:ext cx="4720" cy="2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22C55E">
                  <a:alpha val="3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1" name="AutoShape 21"/>
            <p:cNvSpPr/>
            <p:nvPr>
              <p:custDataLst>
                <p:tags r:id="rId20"/>
              </p:custDataLst>
            </p:nvPr>
          </p:nvSpPr>
          <p:spPr>
            <a:xfrm>
              <a:off x="12980" y="6042"/>
              <a:ext cx="2300" cy="1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08000"/>
                </a:lnSpc>
                <a:defRPr/>
              </a:pPr>
              <a:r>
                <a:rPr lang="en-US" sz="1200" b="0" i="0" u="none" strike="noStrike">
                  <a:solidFill>
                    <a:srgbClr val="15803D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参数量 / 模型大小</a:t>
              </a:r>
              <a:endParaRPr lang="en-US" sz="1100"/>
            </a:p>
            <a:p>
              <a:pPr marL="0" indent="0" algn="l">
                <a:lnSpc>
                  <a:spcPct val="125000"/>
                </a:lnSpc>
              </a:pPr>
              <a:r>
                <a:rPr lang="en-US" sz="1600" b="1" i="0" u="none" strike="noStrike">
                  <a:solidFill>
                    <a:srgbClr val="166534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1.2M / ≤2MB</a:t>
              </a:r>
              <a:endParaRPr lang="en-US" sz="1600" b="1" i="0" u="none" strike="noStrike">
                <a:solidFill>
                  <a:srgbClr val="16653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  <p:cxnSp>
          <p:nvCxnSpPr>
            <p:cNvPr id="22" name="Connector 22"/>
            <p:cNvCxnSpPr/>
            <p:nvPr>
              <p:custDataLst>
                <p:tags r:id="rId21"/>
              </p:custDataLst>
            </p:nvPr>
          </p:nvCxnSpPr>
          <p:spPr>
            <a:xfrm rot="5337502">
              <a:off x="14790" y="6682"/>
              <a:ext cx="1100" cy="2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22C55E">
                  <a:alpha val="3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3" name="AutoShape 23"/>
            <p:cNvSpPr/>
            <p:nvPr>
              <p:custDataLst>
                <p:tags r:id="rId22"/>
              </p:custDataLst>
            </p:nvPr>
          </p:nvSpPr>
          <p:spPr>
            <a:xfrm>
              <a:off x="15540" y="6042"/>
              <a:ext cx="2300" cy="1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08000"/>
                </a:lnSpc>
                <a:defRPr/>
              </a:pPr>
              <a:r>
                <a:rPr lang="en-US" sz="1200" b="0" i="0" u="none" strike="noStrike">
                  <a:solidFill>
                    <a:srgbClr val="15803D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推理时间 / 准确率</a:t>
              </a:r>
              <a:endParaRPr lang="en-US" sz="1100"/>
            </a:p>
            <a:p>
              <a:pPr marL="0" indent="0" algn="l">
                <a:lnSpc>
                  <a:spcPct val="125000"/>
                </a:lnSpc>
              </a:pPr>
              <a:r>
                <a:rPr lang="en-US" sz="1600" b="1" i="0" u="none" strike="noStrike">
                  <a:solidFill>
                    <a:srgbClr val="166534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≤4.62ms / ≥90%</a:t>
              </a:r>
              <a:endParaRPr lang="en-US" sz="1600" b="1" i="0" u="none" strike="noStrike">
                <a:solidFill>
                  <a:srgbClr val="16653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3611092" y="5333365"/>
            <a:ext cx="8472782" cy="1143000"/>
            <a:chOff x="354" y="8019"/>
            <a:chExt cx="22298" cy="1800"/>
          </a:xfrm>
        </p:grpSpPr>
        <p:sp>
          <p:nvSpPr>
            <p:cNvPr id="25" name="AutoShape 25"/>
            <p:cNvSpPr/>
            <p:nvPr/>
          </p:nvSpPr>
          <p:spPr>
            <a:xfrm>
              <a:off x="354" y="8019"/>
              <a:ext cx="22298" cy="1800"/>
            </a:xfrm>
            <a:prstGeom prst="roundRect">
              <a:avLst>
                <a:gd name="adj" fmla="val 0"/>
              </a:avLst>
            </a:prstGeom>
            <a:solidFill>
              <a:srgbClr val="FFFFFF">
                <a:alpha val="6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pic>
          <p:nvPicPr>
            <p:cNvPr id="26" name="Picture 26"/>
            <p:cNvPicPr>
              <a:picLocks noChangeAspect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1145" y="8488"/>
              <a:ext cx="724" cy="480"/>
            </a:xfrm>
            <a:prstGeom prst="rect">
              <a:avLst/>
            </a:prstGeom>
          </p:spPr>
        </p:pic>
        <p:sp>
          <p:nvSpPr>
            <p:cNvPr id="27" name="AutoShape 27"/>
            <p:cNvSpPr/>
            <p:nvPr/>
          </p:nvSpPr>
          <p:spPr>
            <a:xfrm>
              <a:off x="2299" y="8300"/>
              <a:ext cx="19514" cy="1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en-US" sz="1400" b="0" i="0" u="none" strike="noStrike">
                  <a:solidFill>
                    <a:srgbClr val="37415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实验结论：在满足</a:t>
              </a:r>
              <a:r>
                <a:rPr lang="en-US" sz="1400" b="1" i="0" u="none" strike="noStrike">
                  <a:solidFill>
                    <a:srgbClr val="166534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准确率 ≥ 90%</a:t>
              </a:r>
              <a:r>
                <a:rPr lang="en-US" sz="1400" b="0" i="0" u="none" strike="noStrike">
                  <a:solidFill>
                    <a:srgbClr val="37415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的核心前提下，MTxNet模型在推理速度上较基准模型提升约43%，模型体积压缩至传统模型的5%以内，实现了性能与效率的最佳平衡。</a:t>
              </a:r>
              <a:endParaRPr lang="en-US" sz="1100"/>
            </a:p>
          </p:txBody>
        </p:sp>
      </p:grpSp>
      <p:pic>
        <p:nvPicPr>
          <p:cNvPr id="38" name="图片 37" descr="模型对比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3444240" y="1853565"/>
            <a:ext cx="8640000" cy="2880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性能与实验结果：鲁棒性测试 · 生鲜灯干扰</a:t>
            </a:r>
            <a:endParaRPr lang="zh-CN" altLang="en-US" sz="3200" b="1" i="0" u="none" strike="noStrike">
              <a:solidFill>
                <a:srgbClr val="FF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22C55E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grpSp>
        <p:nvGrpSpPr>
          <p:cNvPr id="26" name="组合 25"/>
          <p:cNvGrpSpPr/>
          <p:nvPr>
            <p:custDataLst>
              <p:tags r:id="rId2"/>
            </p:custDataLst>
          </p:nvPr>
        </p:nvGrpSpPr>
        <p:grpSpPr>
          <a:xfrm>
            <a:off x="8251825" y="2160270"/>
            <a:ext cx="3240000" cy="3060000"/>
            <a:chOff x="7400" y="3000"/>
            <a:chExt cx="5200" cy="4800"/>
          </a:xfrm>
        </p:grpSpPr>
        <p:sp>
          <p:nvSpPr>
            <p:cNvPr id="10" name="AutoShape 10"/>
            <p:cNvSpPr/>
            <p:nvPr>
              <p:custDataLst>
                <p:tags r:id="rId3"/>
              </p:custDataLst>
            </p:nvPr>
          </p:nvSpPr>
          <p:spPr>
            <a:xfrm>
              <a:off x="7400" y="3000"/>
              <a:ext cx="5200" cy="4800"/>
            </a:xfrm>
            <a:prstGeom prst="roundRect">
              <a:avLst>
                <a:gd name="adj" fmla="val 0"/>
              </a:avLst>
            </a:prstGeom>
            <a:solidFill>
              <a:srgbClr val="FFFFFF">
                <a:alpha val="60000"/>
              </a:srgbClr>
            </a:solidFill>
            <a:ln w="12700" cap="flat" cmpd="sng">
              <a:solidFill>
                <a:srgbClr val="EF4444">
                  <a:alpha val="2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pic>
          <p:nvPicPr>
            <p:cNvPr id="11" name="Picture 11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800" y="3400"/>
              <a:ext cx="640" cy="640"/>
            </a:xfrm>
            <a:prstGeom prst="rect">
              <a:avLst/>
            </a:prstGeom>
          </p:spPr>
        </p:pic>
        <p:sp>
          <p:nvSpPr>
            <p:cNvPr id="12" name="AutoShape 12"/>
            <p:cNvSpPr/>
            <p:nvPr>
              <p:custDataLst>
                <p:tags r:id="rId7"/>
              </p:custDataLst>
            </p:nvPr>
          </p:nvSpPr>
          <p:spPr>
            <a:xfrm>
              <a:off x="8600" y="3400"/>
              <a:ext cx="3800" cy="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en-US" sz="2000" b="1" i="0" u="none" strike="noStrike">
                  <a:solidFill>
                    <a:srgbClr val="1F2937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无仿真增强对照组</a:t>
              </a:r>
              <a:endParaRPr lang="en-US" sz="1100"/>
            </a:p>
          </p:txBody>
        </p:sp>
        <p:cxnSp>
          <p:nvCxnSpPr>
            <p:cNvPr id="13" name="Connector 13"/>
            <p:cNvCxnSpPr/>
            <p:nvPr>
              <p:custDataLst>
                <p:tags r:id="rId8"/>
              </p:custDataLst>
            </p:nvPr>
          </p:nvCxnSpPr>
          <p:spPr>
            <a:xfrm rot="-15626">
              <a:off x="7800" y="4390"/>
              <a:ext cx="4400" cy="2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1F2937">
                  <a:alpha val="1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4" name="AutoShape 14"/>
            <p:cNvSpPr/>
            <p:nvPr>
              <p:custDataLst>
                <p:tags r:id="rId9"/>
              </p:custDataLst>
            </p:nvPr>
          </p:nvSpPr>
          <p:spPr>
            <a:xfrm>
              <a:off x="7800" y="4800"/>
              <a:ext cx="4400" cy="1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en-US" sz="4000" b="1" i="0" u="none" strike="noStrike">
                  <a:solidFill>
                    <a:srgbClr val="EF4444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&gt; 7%</a:t>
              </a:r>
              <a:endParaRPr lang="en-US" sz="1100"/>
            </a:p>
          </p:txBody>
        </p:sp>
        <p:sp>
          <p:nvSpPr>
            <p:cNvPr id="15" name="AutoShape 15"/>
            <p:cNvSpPr/>
            <p:nvPr>
              <p:custDataLst>
                <p:tags r:id="rId10"/>
              </p:custDataLst>
            </p:nvPr>
          </p:nvSpPr>
          <p:spPr>
            <a:xfrm>
              <a:off x="7800" y="6500"/>
              <a:ext cx="4400" cy="1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17000"/>
                </a:lnSpc>
                <a:defRPr/>
              </a:pPr>
              <a:r>
                <a:rPr lang="en-US" sz="1400" b="0" i="0" u="none" strike="noStrike">
                  <a:solidFill>
                    <a:srgbClr val="4B556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模型直接在生鲜灯下预测时，新鲜度评分出现显著漂移，误差超出可接受范围，鲁棒性较弱。</a:t>
              </a:r>
              <a:endParaRPr lang="en-US" sz="1100"/>
            </a:p>
          </p:txBody>
        </p:sp>
      </p:grpSp>
      <p:sp>
        <p:nvSpPr>
          <p:cNvPr id="22" name="AutoShape 22"/>
          <p:cNvSpPr/>
          <p:nvPr/>
        </p:nvSpPr>
        <p:spPr>
          <a:xfrm>
            <a:off x="762000" y="5334000"/>
            <a:ext cx="10795000" cy="1143000"/>
          </a:xfrm>
          <a:prstGeom prst="roundRect">
            <a:avLst>
              <a:gd name="adj" fmla="val 0"/>
            </a:avLst>
          </a:prstGeom>
          <a:solidFill>
            <a:srgbClr val="22C55E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762000" y="5334000"/>
            <a:ext cx="76200" cy="1143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1079500" y="5461000"/>
            <a:ext cx="1028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实验结论：</a:t>
            </a:r>
            <a:r>
              <a:rPr lang="zh-CN" altLang="en-US" sz="15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在不进行增强策略的情况下，原先测试集受生鲜灯功率的影响明显，缺乏</a:t>
            </a:r>
            <a:r>
              <a:rPr lang="en-US" sz="15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预测稳定性与泛化能力。</a:t>
            </a:r>
            <a:endParaRPr lang="en-US" sz="1100"/>
          </a:p>
        </p:txBody>
      </p:sp>
      <p:pic>
        <p:nvPicPr>
          <p:cNvPr id="6" name="图片 5" descr="ablation_results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2000" y="2099310"/>
            <a:ext cx="7190740" cy="279019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性能与实验结果：鲁棒性测试 · 生鲜灯干扰</a:t>
            </a:r>
            <a:endParaRPr lang="zh-CN" altLang="en-US" sz="3200" b="1" i="0" u="none" strike="noStrike">
              <a:solidFill>
                <a:srgbClr val="FF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22C55E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>
            <p:custDataLst>
              <p:tags r:id="rId2"/>
            </p:custDataLst>
          </p:nvPr>
        </p:nvSpPr>
        <p:spPr>
          <a:xfrm>
            <a:off x="8255000" y="1905000"/>
            <a:ext cx="3302000" cy="3048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09000" y="2159000"/>
            <a:ext cx="406400" cy="406400"/>
          </a:xfrm>
          <a:prstGeom prst="rect">
            <a:avLst/>
          </a:prstGeom>
        </p:spPr>
      </p:pic>
      <p:sp>
        <p:nvSpPr>
          <p:cNvPr id="18" name="AutoShape 18"/>
          <p:cNvSpPr/>
          <p:nvPr>
            <p:custDataLst>
              <p:tags r:id="rId6"/>
            </p:custDataLst>
          </p:nvPr>
        </p:nvSpPr>
        <p:spPr>
          <a:xfrm>
            <a:off x="9017000" y="21590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仿真增强实验组</a:t>
            </a:r>
            <a:endParaRPr lang="en-US" sz="1100"/>
          </a:p>
        </p:txBody>
      </p:sp>
      <p:cxnSp>
        <p:nvCxnSpPr>
          <p:cNvPr id="19" name="Connector 19"/>
          <p:cNvCxnSpPr/>
          <p:nvPr>
            <p:custDataLst>
              <p:tags r:id="rId7"/>
            </p:custDataLst>
          </p:nvPr>
        </p:nvCxnSpPr>
        <p:spPr>
          <a:xfrm rot="-15626">
            <a:off x="8509014" y="27876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F2937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>
            <p:custDataLst>
              <p:tags r:id="rId8"/>
            </p:custDataLst>
          </p:nvPr>
        </p:nvSpPr>
        <p:spPr>
          <a:xfrm>
            <a:off x="8509000" y="3048000"/>
            <a:ext cx="279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≤ 5%</a:t>
            </a:r>
            <a:endParaRPr lang="en-US" sz="1100"/>
          </a:p>
        </p:txBody>
      </p:sp>
      <p:sp>
        <p:nvSpPr>
          <p:cNvPr id="21" name="AutoShape 21"/>
          <p:cNvSpPr/>
          <p:nvPr>
            <p:custDataLst>
              <p:tags r:id="rId9"/>
            </p:custDataLst>
          </p:nvPr>
        </p:nvSpPr>
        <p:spPr>
          <a:xfrm>
            <a:off x="8509000" y="4127500"/>
            <a:ext cx="279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引入物理仿真数据增强后，模型有效学习了光照特征，评分偏差被控制在极小范围内，稳定性大幅提升。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62000" y="5334000"/>
            <a:ext cx="10795000" cy="1143000"/>
          </a:xfrm>
          <a:prstGeom prst="roundRect">
            <a:avLst>
              <a:gd name="adj" fmla="val 0"/>
            </a:avLst>
          </a:prstGeom>
          <a:solidFill>
            <a:srgbClr val="22C55E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762000" y="5334000"/>
            <a:ext cx="76200" cy="1143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1079500" y="5461000"/>
            <a:ext cx="1028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实验结论：</a:t>
            </a:r>
            <a:r>
              <a:rPr lang="en-US" sz="15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生鲜灯物理仿真数据增强策略，成功让模型“免疫”了生鲜灯的视觉干扰，在保持标准白光下准确性的同时，显著提升了在特殊光照场景下的预测稳定性与泛化能力。</a:t>
            </a:r>
            <a:endParaRPr lang="en-US" sz="110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8200" y="1591310"/>
            <a:ext cx="6483985" cy="370014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性能与实验结果：分类准确率</a:t>
            </a:r>
            <a:endParaRPr lang="en-US" sz="1100"/>
          </a:p>
        </p:txBody>
      </p:sp>
      <p:sp>
        <p:nvSpPr>
          <p:cNvPr id="4" name="AutoShape 4"/>
          <p:cNvSpPr/>
          <p:nvPr>
            <p:custDataLst>
              <p:tags r:id="rId2"/>
            </p:custDataLst>
          </p:nvPr>
        </p:nvSpPr>
        <p:spPr>
          <a:xfrm>
            <a:off x="762000" y="1651000"/>
            <a:ext cx="26035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>
            <p:custDataLst>
              <p:tags r:id="rId3"/>
            </p:custDataLst>
          </p:nvPr>
        </p:nvSpPr>
        <p:spPr>
          <a:xfrm>
            <a:off x="762000" y="1651000"/>
            <a:ext cx="76200" cy="1397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>
            <p:custDataLst>
              <p:tags r:id="rId4"/>
            </p:custDataLst>
          </p:nvPr>
        </p:nvSpPr>
        <p:spPr>
          <a:xfrm>
            <a:off x="1016000" y="1778000"/>
            <a:ext cx="2222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99.20%</a:t>
            </a:r>
            <a:endParaRPr lang="en-US" sz="1100"/>
          </a:p>
        </p:txBody>
      </p:sp>
      <p:sp>
        <p:nvSpPr>
          <p:cNvPr id="7" name="AutoShape 7"/>
          <p:cNvSpPr/>
          <p:nvPr>
            <p:custDataLst>
              <p:tags r:id="rId5"/>
            </p:custDataLst>
          </p:nvPr>
        </p:nvSpPr>
        <p:spPr>
          <a:xfrm>
            <a:off x="1016000" y="2540000"/>
            <a:ext cx="2222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猪肉新鲜度识别准确率</a:t>
            </a:r>
            <a:endParaRPr lang="en-US" sz="1100"/>
          </a:p>
        </p:txBody>
      </p:sp>
      <p:sp>
        <p:nvSpPr>
          <p:cNvPr id="8" name="AutoShape 8"/>
          <p:cNvSpPr/>
          <p:nvPr>
            <p:custDataLst>
              <p:tags r:id="rId6"/>
            </p:custDataLst>
          </p:nvPr>
        </p:nvSpPr>
        <p:spPr>
          <a:xfrm>
            <a:off x="3619500" y="1651000"/>
            <a:ext cx="26035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>
            <p:custDataLst>
              <p:tags r:id="rId7"/>
            </p:custDataLst>
          </p:nvPr>
        </p:nvSpPr>
        <p:spPr>
          <a:xfrm>
            <a:off x="3619500" y="1651000"/>
            <a:ext cx="76200" cy="1397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>
            <p:custDataLst>
              <p:tags r:id="rId8"/>
            </p:custDataLst>
          </p:nvPr>
        </p:nvSpPr>
        <p:spPr>
          <a:xfrm>
            <a:off x="3873500" y="1778000"/>
            <a:ext cx="2222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95.30%</a:t>
            </a:r>
            <a:endParaRPr lang="en-US" sz="1100"/>
          </a:p>
        </p:txBody>
      </p:sp>
      <p:sp>
        <p:nvSpPr>
          <p:cNvPr id="11" name="AutoShape 11"/>
          <p:cNvSpPr/>
          <p:nvPr>
            <p:custDataLst>
              <p:tags r:id="rId9"/>
            </p:custDataLst>
          </p:nvPr>
        </p:nvSpPr>
        <p:spPr>
          <a:xfrm>
            <a:off x="3873500" y="2540000"/>
            <a:ext cx="2222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牛肉新鲜度识别准确率</a:t>
            </a:r>
            <a:endParaRPr lang="en-US" sz="1100"/>
          </a:p>
        </p:txBody>
      </p:sp>
      <p:sp>
        <p:nvSpPr>
          <p:cNvPr id="12" name="AutoShape 12"/>
          <p:cNvSpPr/>
          <p:nvPr>
            <p:custDataLst>
              <p:tags r:id="rId10"/>
            </p:custDataLst>
          </p:nvPr>
        </p:nvSpPr>
        <p:spPr>
          <a:xfrm>
            <a:off x="762000" y="3302000"/>
            <a:ext cx="26035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>
            <p:custDataLst>
              <p:tags r:id="rId11"/>
            </p:custDataLst>
          </p:nvPr>
        </p:nvSpPr>
        <p:spPr>
          <a:xfrm>
            <a:off x="762000" y="3302000"/>
            <a:ext cx="76200" cy="1397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>
            <p:custDataLst>
              <p:tags r:id="rId12"/>
            </p:custDataLst>
          </p:nvPr>
        </p:nvSpPr>
        <p:spPr>
          <a:xfrm>
            <a:off x="1016000" y="3429000"/>
            <a:ext cx="2222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91.52%</a:t>
            </a:r>
            <a:endParaRPr lang="en-US" sz="1100"/>
          </a:p>
        </p:txBody>
      </p:sp>
      <p:sp>
        <p:nvSpPr>
          <p:cNvPr id="15" name="AutoShape 15"/>
          <p:cNvSpPr/>
          <p:nvPr>
            <p:custDataLst>
              <p:tags r:id="rId13"/>
            </p:custDataLst>
          </p:nvPr>
        </p:nvSpPr>
        <p:spPr>
          <a:xfrm>
            <a:off x="1016000" y="4191000"/>
            <a:ext cx="2222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羊肉新鲜度识别准确率</a:t>
            </a:r>
            <a:endParaRPr lang="en-US" sz="1100"/>
          </a:p>
        </p:txBody>
      </p:sp>
      <p:sp>
        <p:nvSpPr>
          <p:cNvPr id="16" name="AutoShape 16"/>
          <p:cNvSpPr/>
          <p:nvPr>
            <p:custDataLst>
              <p:tags r:id="rId14"/>
            </p:custDataLst>
          </p:nvPr>
        </p:nvSpPr>
        <p:spPr>
          <a:xfrm>
            <a:off x="3567430" y="3302000"/>
            <a:ext cx="26035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>
            <p:custDataLst>
              <p:tags r:id="rId15"/>
            </p:custDataLst>
          </p:nvPr>
        </p:nvSpPr>
        <p:spPr>
          <a:xfrm>
            <a:off x="3619500" y="3302000"/>
            <a:ext cx="76200" cy="1397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>
            <p:custDataLst>
              <p:tags r:id="rId16"/>
            </p:custDataLst>
          </p:nvPr>
        </p:nvSpPr>
        <p:spPr>
          <a:xfrm>
            <a:off x="3873500" y="3429000"/>
            <a:ext cx="2222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95.34%</a:t>
            </a:r>
            <a:endParaRPr lang="en-US" sz="1100"/>
          </a:p>
        </p:txBody>
      </p:sp>
      <p:sp>
        <p:nvSpPr>
          <p:cNvPr id="19" name="AutoShape 19"/>
          <p:cNvSpPr/>
          <p:nvPr>
            <p:custDataLst>
              <p:tags r:id="rId17"/>
            </p:custDataLst>
          </p:nvPr>
        </p:nvSpPr>
        <p:spPr>
          <a:xfrm>
            <a:off x="3873500" y="4191000"/>
            <a:ext cx="2222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新鲜度识别准确率平均值</a:t>
            </a:r>
            <a:endParaRPr lang="en-US" sz="14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0" name="AutoShape 20"/>
          <p:cNvSpPr/>
          <p:nvPr>
            <p:custDataLst>
              <p:tags r:id="rId18"/>
            </p:custDataLst>
          </p:nvPr>
        </p:nvSpPr>
        <p:spPr>
          <a:xfrm>
            <a:off x="762000" y="5080000"/>
            <a:ext cx="5461000" cy="1016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>
            <p:custDataLst>
              <p:tags r:id="rId19"/>
            </p:custDataLst>
          </p:nvPr>
        </p:nvSpPr>
        <p:spPr>
          <a:xfrm>
            <a:off x="762000" y="5080000"/>
            <a:ext cx="76200" cy="1016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>
            <p:custDataLst>
              <p:tags r:id="rId20"/>
            </p:custDataLst>
          </p:nvPr>
        </p:nvSpPr>
        <p:spPr>
          <a:xfrm>
            <a:off x="1016000" y="5207000"/>
            <a:ext cx="228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/>
          </a:p>
        </p:txBody>
      </p:sp>
      <p:sp>
        <p:nvSpPr>
          <p:cNvPr id="24" name="AutoShape 24"/>
          <p:cNvSpPr/>
          <p:nvPr>
            <p:custDataLst>
              <p:tags r:id="rId21"/>
            </p:custDataLst>
          </p:nvPr>
        </p:nvSpPr>
        <p:spPr>
          <a:xfrm>
            <a:off x="1015365" y="5270500"/>
            <a:ext cx="4953635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各项指标均达到预期目标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——             </a:t>
            </a:r>
            <a:r>
              <a:rPr lang="en-US" sz="2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≥90%</a:t>
            </a:r>
            <a:endParaRPr lang="en-US" sz="2800" b="1" i="0" u="none" strike="noStrike">
              <a:solidFill>
                <a:srgbClr val="22C55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25" name="Connector 25"/>
          <p:cNvCxnSpPr/>
          <p:nvPr/>
        </p:nvCxnSpPr>
        <p:spPr>
          <a:xfrm rot="5390177">
            <a:off x="4381500" y="3867159"/>
            <a:ext cx="444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4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6" name="AutoShape 26"/>
          <p:cNvSpPr/>
          <p:nvPr/>
        </p:nvSpPr>
        <p:spPr>
          <a:xfrm>
            <a:off x="6858000" y="16510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新鲜度三分类混淆矩阵 (验证集)</a:t>
            </a:r>
            <a:endParaRPr lang="en-US" sz="1100"/>
          </a:p>
        </p:txBody>
      </p:sp>
      <p:graphicFrame>
        <p:nvGraphicFramePr>
          <p:cNvPr id="27" name="Table 27"/>
          <p:cNvGraphicFramePr>
            <a:graphicFrameLocks noGrp="1"/>
          </p:cNvGraphicFramePr>
          <p:nvPr/>
        </p:nvGraphicFramePr>
        <p:xfrm>
          <a:off x="6858000" y="2286000"/>
          <a:ext cx="4572000" cy="2667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143000"/>
                <a:gridCol w="1143000"/>
                <a:gridCol w="1143000"/>
                <a:gridCol w="1143000"/>
              </a:tblGrid>
              <a:tr h="5715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1F2937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预测\真实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C55E">
                        <a:alpha val="15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1F2937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新鲜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C55E">
                        <a:alpha val="15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1F2937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次新鲜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C55E">
                        <a:alpha val="15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1F2937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不新鲜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C55E">
                        <a:alpha val="15000"/>
                      </a:srgbClr>
                    </a:solidFill>
                  </a:tcPr>
                </a:tc>
              </a:tr>
              <a:tr h="6985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37415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新鲜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22C55E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96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4B556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4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4B556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0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</a:tr>
              <a:tr h="6985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37415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次新鲜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4B556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5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22C55E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91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4B556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4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</a:tr>
              <a:tr h="6985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37415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不新鲜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4B556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0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4B556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3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22C55E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97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8" name="AutoShape 28"/>
          <p:cNvSpPr/>
          <p:nvPr/>
        </p:nvSpPr>
        <p:spPr>
          <a:xfrm>
            <a:off x="6858000" y="5207000"/>
            <a:ext cx="4572000" cy="1016000"/>
          </a:xfrm>
          <a:prstGeom prst="roundRect">
            <a:avLst>
              <a:gd name="adj" fmla="val 0"/>
            </a:avLst>
          </a:prstGeom>
          <a:solidFill>
            <a:srgbClr val="22C55E">
              <a:alpha val="10000"/>
            </a:srgbClr>
          </a:solidFill>
          <a:ln w="12700" cap="flat" cmpd="sng">
            <a:solidFill>
              <a:srgbClr val="22C55E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9" name="Picture 29"/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6985000" y="5397500"/>
            <a:ext cx="304800" cy="304800"/>
          </a:xfrm>
          <a:prstGeom prst="rect">
            <a:avLst/>
          </a:prstGeom>
        </p:spPr>
      </p:pic>
      <p:sp>
        <p:nvSpPr>
          <p:cNvPr id="30" name="AutoShape 30"/>
          <p:cNvSpPr/>
          <p:nvPr/>
        </p:nvSpPr>
        <p:spPr>
          <a:xfrm>
            <a:off x="7429500" y="5334000"/>
            <a:ext cx="3873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所有模型在验证集上均表现出≥90%的高准确率，混淆矩阵显示各类别识别精准，充分证明了我们方法的有效性和可靠性。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性能与实验结果：实际场景测试</a:t>
            </a:r>
            <a:endParaRPr lang="en-US" sz="1100"/>
          </a:p>
        </p:txBody>
      </p:sp>
      <p:grpSp>
        <p:nvGrpSpPr>
          <p:cNvPr id="22" name="组合 21"/>
          <p:cNvGrpSpPr/>
          <p:nvPr>
            <p:custDataLst>
              <p:tags r:id="rId2"/>
            </p:custDataLst>
          </p:nvPr>
        </p:nvGrpSpPr>
        <p:grpSpPr>
          <a:xfrm>
            <a:off x="173990" y="1872615"/>
            <a:ext cx="3324860" cy="2722245"/>
            <a:chOff x="1200" y="3977"/>
            <a:chExt cx="8200" cy="3601"/>
          </a:xfrm>
        </p:grpSpPr>
        <p:sp>
          <p:nvSpPr>
            <p:cNvPr id="4" name="AutoShape 4"/>
            <p:cNvSpPr/>
            <p:nvPr>
              <p:custDataLst>
                <p:tags r:id="rId3"/>
              </p:custDataLst>
            </p:nvPr>
          </p:nvSpPr>
          <p:spPr>
            <a:xfrm>
              <a:off x="1200" y="3978"/>
              <a:ext cx="8200" cy="3600"/>
            </a:xfrm>
            <a:prstGeom prst="roundRect">
              <a:avLst>
                <a:gd name="adj" fmla="val 0"/>
              </a:avLst>
            </a:prstGeom>
            <a:solidFill>
              <a:srgbClr val="FFFFFF">
                <a:alpha val="70000"/>
              </a:srgbClr>
            </a:solidFill>
            <a:ln w="12700" cap="flat" cmpd="sng">
              <a:solidFill>
                <a:srgbClr val="E5E7EB">
                  <a:alpha val="8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cxnSp>
          <p:nvCxnSpPr>
            <p:cNvPr id="5" name="Connector 5"/>
            <p:cNvCxnSpPr/>
            <p:nvPr>
              <p:custDataLst>
                <p:tags r:id="rId4"/>
              </p:custDataLst>
            </p:nvPr>
          </p:nvCxnSpPr>
          <p:spPr>
            <a:xfrm rot="5375445">
              <a:off x="3900" y="5768"/>
              <a:ext cx="2800" cy="2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D1D5DB">
                  <a:alpha val="100000"/>
                </a:srgbClr>
              </a:solidFill>
              <a:prstDash val="dash"/>
              <a:round/>
              <a:headEnd type="none" w="med" len="med"/>
              <a:tailEnd type="none" w="med" len="med"/>
            </a:ln>
          </p:spPr>
        </p:cxnSp>
        <p:sp>
          <p:nvSpPr>
            <p:cNvPr id="6" name="AutoShape 6"/>
            <p:cNvSpPr/>
            <p:nvPr>
              <p:custDataLst>
                <p:tags r:id="rId5"/>
              </p:custDataLst>
            </p:nvPr>
          </p:nvSpPr>
          <p:spPr>
            <a:xfrm>
              <a:off x="1600" y="3978"/>
              <a:ext cx="3500" cy="1112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en-US" sz="1800" b="1" i="0" u="none" strike="noStrike">
                  <a:solidFill>
                    <a:srgbClr val="4B556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架构优化前</a:t>
              </a:r>
              <a:endParaRPr lang="en-US" sz="1100"/>
            </a:p>
          </p:txBody>
        </p:sp>
        <p:sp>
          <p:nvSpPr>
            <p:cNvPr id="7" name="AutoShape 7"/>
            <p:cNvSpPr/>
            <p:nvPr>
              <p:custDataLst>
                <p:tags r:id="rId6"/>
              </p:custDataLst>
            </p:nvPr>
          </p:nvSpPr>
          <p:spPr>
            <a:xfrm>
              <a:off x="1600" y="5203"/>
              <a:ext cx="3500" cy="1073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en-US" sz="4000" b="1" i="0" u="none" strike="noStrike">
                  <a:solidFill>
                    <a:srgbClr val="6B7280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77%</a:t>
              </a:r>
              <a:endParaRPr lang="en-US" sz="1100"/>
            </a:p>
          </p:txBody>
        </p:sp>
        <p:sp>
          <p:nvSpPr>
            <p:cNvPr id="8" name="AutoShape 8"/>
            <p:cNvSpPr/>
            <p:nvPr>
              <p:custDataLst>
                <p:tags r:id="rId7"/>
              </p:custDataLst>
            </p:nvPr>
          </p:nvSpPr>
          <p:spPr>
            <a:xfrm>
              <a:off x="1600" y="6778"/>
              <a:ext cx="3500" cy="8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00000"/>
                </a:lnSpc>
                <a:defRPr/>
              </a:pPr>
              <a:r>
                <a:rPr lang="en-US" sz="1300" b="0" i="0" u="none" strike="noStrike">
                  <a:solidFill>
                    <a:srgbClr val="6B7280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受背景干扰严重，特征提取不充分，识别稳定性差。</a:t>
              </a:r>
              <a:endParaRPr lang="en-US" sz="1100"/>
            </a:p>
          </p:txBody>
        </p:sp>
        <p:sp>
          <p:nvSpPr>
            <p:cNvPr id="9" name="AutoShape 9"/>
            <p:cNvSpPr/>
            <p:nvPr>
              <p:custDataLst>
                <p:tags r:id="rId8"/>
              </p:custDataLst>
            </p:nvPr>
          </p:nvSpPr>
          <p:spPr>
            <a:xfrm>
              <a:off x="5700" y="3977"/>
              <a:ext cx="3500" cy="1114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en-US" sz="1800" b="1" i="0" u="none" strike="noStrike">
                  <a:solidFill>
                    <a:srgbClr val="22C55E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加入 YOLO 分割后</a:t>
              </a:r>
              <a:endParaRPr lang="en-US" sz="1100"/>
            </a:p>
          </p:txBody>
        </p:sp>
        <p:sp>
          <p:nvSpPr>
            <p:cNvPr id="10" name="AutoShape 10"/>
            <p:cNvSpPr/>
            <p:nvPr>
              <p:custDataLst>
                <p:tags r:id="rId9"/>
              </p:custDataLst>
            </p:nvPr>
          </p:nvSpPr>
          <p:spPr>
            <a:xfrm>
              <a:off x="5700" y="5184"/>
              <a:ext cx="3500" cy="1087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en-US" sz="4000" b="1" i="0" u="none" strike="noStrike">
                  <a:solidFill>
                    <a:srgbClr val="22C55E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88%</a:t>
              </a:r>
              <a:endParaRPr lang="en-US" sz="1100"/>
            </a:p>
          </p:txBody>
        </p:sp>
        <p:sp>
          <p:nvSpPr>
            <p:cNvPr id="11" name="AutoShape 11"/>
            <p:cNvSpPr/>
            <p:nvPr>
              <p:custDataLst>
                <p:tags r:id="rId10"/>
              </p:custDataLst>
            </p:nvPr>
          </p:nvSpPr>
          <p:spPr>
            <a:xfrm>
              <a:off x="5700" y="6621"/>
              <a:ext cx="3500" cy="897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00000"/>
                </a:lnSpc>
                <a:defRPr/>
              </a:pPr>
              <a:r>
                <a:rPr lang="en-US" sz="1300" b="0" i="0" u="none" strike="noStrike">
                  <a:solidFill>
                    <a:srgbClr val="37415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有效剥离背景噪声，聚焦目标主体，准确率显著跃升。</a:t>
              </a:r>
              <a:endParaRPr lang="en-US" sz="1100"/>
            </a:p>
          </p:txBody>
        </p:sp>
      </p:grpSp>
      <p:sp>
        <p:nvSpPr>
          <p:cNvPr id="18" name="AutoShape 18"/>
          <p:cNvSpPr/>
          <p:nvPr/>
        </p:nvSpPr>
        <p:spPr>
          <a:xfrm>
            <a:off x="762000" y="5257800"/>
            <a:ext cx="10668000" cy="1397000"/>
          </a:xfrm>
          <a:prstGeom prst="roundRect">
            <a:avLst>
              <a:gd name="adj" fmla="val 0"/>
            </a:avLst>
          </a:prstGeom>
          <a:solidFill>
            <a:srgbClr val="22C55E">
              <a:alpha val="10000"/>
            </a:srgbClr>
          </a:solidFill>
          <a:ln w="12700" cap="flat" cmpd="sng">
            <a:solidFill>
              <a:srgbClr val="22C55E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762000" y="5257800"/>
            <a:ext cx="76200" cy="1397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1143000" y="5448300"/>
            <a:ext cx="10033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核心结论：</a:t>
            </a:r>
            <a:r>
              <a:rPr lang="en-US" sz="15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两阶段架构在真实复杂场景中展现出卓越的适应性，通过引入YOLO分割有效降低了背景误判干扰，不仅实现了技术指标的突破，更从用户实际使用角度出发，解决了操作繁琐、场景受限的痛点，全面提升了系统的实用性与用户体验。</a:t>
            </a:r>
            <a:endParaRPr lang="en-US" sz="1100"/>
          </a:p>
        </p:txBody>
      </p:sp>
      <p:pic>
        <p:nvPicPr>
          <p:cNvPr id="21" name="图片 20" descr="beef_Fresh_Fresh_(1008)"/>
          <p:cNvPicPr>
            <a:picLocks noChangeAspect="1"/>
          </p:cNvPicPr>
          <p:nvPr/>
        </p:nvPicPr>
        <p:blipFill>
          <a:blip r:embed="rId11"/>
          <a:srcRect l="69080"/>
          <a:stretch>
            <a:fillRect/>
          </a:stretch>
        </p:blipFill>
        <p:spPr>
          <a:xfrm>
            <a:off x="8246110" y="862330"/>
            <a:ext cx="3756660" cy="413893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689350" y="1737995"/>
            <a:ext cx="4284980" cy="285686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 总结与展望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092">
            <a:off x="762004" y="1390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762000" y="1778000"/>
            <a:ext cx="520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▍ 阶段工作总结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540000"/>
            <a:ext cx="5207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27305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524000" y="2667000"/>
            <a:ext cx="4254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构建全链路闭环系统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成功打通数据增强、模型设计、云端部署至手机端交互的全流程，实现了软硬件一体化的完整肉类检测系统，具备极高的实用性与落地性。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762000" y="3873500"/>
            <a:ext cx="25146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4400" y="40005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333500" y="3975100"/>
            <a:ext cx="1841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两阶段检测架构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实现任意复杂背景下的肉类区域自动定位与精准分析，提升检测稳定性。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3454400" y="3873500"/>
            <a:ext cx="25146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606800" y="40005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4025900" y="3975100"/>
            <a:ext cx="1841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生鲜灯数据仿真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模拟多种生鲜灯光照干扰，显著增强模型对复杂环境的鲁棒性与泛化能力。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762000" y="5207000"/>
            <a:ext cx="25146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14400" y="5334000"/>
            <a:ext cx="304800" cy="3048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333500" y="5308600"/>
            <a:ext cx="1841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系统任务可扩展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模块化设计验证了系统在不同检测场景下的适配性，具备灵活的功能扩展空间。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3454400" y="5207000"/>
            <a:ext cx="25146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606800" y="5334000"/>
            <a:ext cx="304800" cy="3048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4025900" y="5308600"/>
            <a:ext cx="1841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极致模型轻量化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模型体积≤2MB，推理速度≤200ms，完美适配移动端低资源、高实时性需求。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21" name="Connector 21"/>
          <p:cNvCxnSpPr/>
          <p:nvPr/>
        </p:nvCxnSpPr>
        <p:spPr>
          <a:xfrm rot="5389582">
            <a:off x="4191000" y="4121160"/>
            <a:ext cx="419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2" name="AutoShape 22"/>
          <p:cNvSpPr/>
          <p:nvPr/>
        </p:nvSpPr>
        <p:spPr>
          <a:xfrm>
            <a:off x="6540500" y="1778000"/>
            <a:ext cx="520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▍ 未来工作展望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540500" y="2540000"/>
            <a:ext cx="25146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692900" y="2692400"/>
            <a:ext cx="355600" cy="3556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7112000" y="2667000"/>
            <a:ext cx="18415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真实数据扩充</a:t>
            </a:r>
            <a:endParaRPr lang="en-US" sz="1100"/>
          </a:p>
        </p:txBody>
      </p:sp>
      <p:cxnSp>
        <p:nvCxnSpPr>
          <p:cNvPr id="26" name="Connector 26"/>
          <p:cNvCxnSpPr/>
          <p:nvPr/>
        </p:nvCxnSpPr>
        <p:spPr>
          <a:xfrm rot="-19871">
            <a:off x="6692918" y="3232150"/>
            <a:ext cx="21971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" name="AutoShape 27"/>
          <p:cNvSpPr/>
          <p:nvPr/>
        </p:nvSpPr>
        <p:spPr>
          <a:xfrm>
            <a:off x="6692900" y="3365500"/>
            <a:ext cx="2222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收集真实场景下的掺假样本与多光谱生鲜灯干扰数据，持续迭代优化模型，提升在非理想环境下的检测精度。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9169400" y="2540000"/>
            <a:ext cx="25146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9" name="Picture 29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9321800" y="2692400"/>
            <a:ext cx="355600" cy="355600"/>
          </a:xfrm>
          <a:prstGeom prst="rect">
            <a:avLst/>
          </a:prstGeom>
        </p:spPr>
      </p:pic>
      <p:sp>
        <p:nvSpPr>
          <p:cNvPr id="30" name="AutoShape 30"/>
          <p:cNvSpPr/>
          <p:nvPr/>
        </p:nvSpPr>
        <p:spPr>
          <a:xfrm>
            <a:off x="9740900" y="2667000"/>
            <a:ext cx="18415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端侧本地推理</a:t>
            </a:r>
            <a:endParaRPr lang="en-US" sz="1100"/>
          </a:p>
        </p:txBody>
      </p:sp>
      <p:cxnSp>
        <p:nvCxnSpPr>
          <p:cNvPr id="31" name="Connector 31"/>
          <p:cNvCxnSpPr/>
          <p:nvPr/>
        </p:nvCxnSpPr>
        <p:spPr>
          <a:xfrm rot="-19871">
            <a:off x="9321818" y="3232150"/>
            <a:ext cx="21971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" name="AutoShape 32"/>
          <p:cNvSpPr/>
          <p:nvPr/>
        </p:nvSpPr>
        <p:spPr>
          <a:xfrm>
            <a:off x="9321800" y="3365500"/>
            <a:ext cx="2222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进一步优化YOLO模型结构，探索纯手机端离线推理方案，摆脱网络依赖，提升用户使用的即时性与隐私安全性。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6540500" y="4572000"/>
            <a:ext cx="25146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4" name="Picture 34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692900" y="4724400"/>
            <a:ext cx="355600" cy="355600"/>
          </a:xfrm>
          <a:prstGeom prst="rect">
            <a:avLst/>
          </a:prstGeom>
        </p:spPr>
      </p:pic>
      <p:sp>
        <p:nvSpPr>
          <p:cNvPr id="35" name="AutoShape 35"/>
          <p:cNvSpPr/>
          <p:nvPr/>
        </p:nvSpPr>
        <p:spPr>
          <a:xfrm>
            <a:off x="7112000" y="4699000"/>
            <a:ext cx="18415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多维功能扩展</a:t>
            </a:r>
            <a:endParaRPr lang="en-US" sz="1100"/>
          </a:p>
        </p:txBody>
      </p:sp>
      <p:cxnSp>
        <p:nvCxnSpPr>
          <p:cNvPr id="36" name="Connector 36"/>
          <p:cNvCxnSpPr/>
          <p:nvPr/>
        </p:nvCxnSpPr>
        <p:spPr>
          <a:xfrm rot="-19871">
            <a:off x="6692918" y="5200650"/>
            <a:ext cx="21971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7" name="AutoShape 37"/>
          <p:cNvSpPr/>
          <p:nvPr/>
        </p:nvSpPr>
        <p:spPr>
          <a:xfrm>
            <a:off x="6692900" y="5334000"/>
            <a:ext cx="2222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从单一肉类检测拓展至鸡、鱼等品类，并增加水分含量、pH值等肉质指标的综合分析，丰富检测维度。</a:t>
            </a:r>
            <a:endParaRPr lang="en-US" sz="1100"/>
          </a:p>
        </p:txBody>
      </p:sp>
      <p:sp>
        <p:nvSpPr>
          <p:cNvPr id="38" name="AutoShape 38"/>
          <p:cNvSpPr/>
          <p:nvPr/>
        </p:nvSpPr>
        <p:spPr>
          <a:xfrm>
            <a:off x="9169400" y="4572000"/>
            <a:ext cx="25146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9" name="Picture 39"/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9321800" y="4724400"/>
            <a:ext cx="355600" cy="355600"/>
          </a:xfrm>
          <a:prstGeom prst="rect">
            <a:avLst/>
          </a:prstGeom>
        </p:spPr>
      </p:pic>
      <p:sp>
        <p:nvSpPr>
          <p:cNvPr id="40" name="AutoShape 40"/>
          <p:cNvSpPr/>
          <p:nvPr/>
        </p:nvSpPr>
        <p:spPr>
          <a:xfrm>
            <a:off x="9740900" y="4699000"/>
            <a:ext cx="18415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用户体验升级</a:t>
            </a:r>
            <a:endParaRPr lang="en-US" sz="1100"/>
          </a:p>
        </p:txBody>
      </p:sp>
      <p:cxnSp>
        <p:nvCxnSpPr>
          <p:cNvPr id="41" name="Connector 41"/>
          <p:cNvCxnSpPr/>
          <p:nvPr/>
        </p:nvCxnSpPr>
        <p:spPr>
          <a:xfrm rot="-19871">
            <a:off x="9321818" y="5200650"/>
            <a:ext cx="21971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2" name="AutoShape 42"/>
          <p:cNvSpPr/>
          <p:nvPr/>
        </p:nvSpPr>
        <p:spPr>
          <a:xfrm>
            <a:off x="9321800" y="5334000"/>
            <a:ext cx="2222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集成历史检测记录分析，生成新鲜度变化趋势图表，为用户提供更直观、更有价值的决策参考信息。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l">
              <a:lnSpc>
                <a:spcPct val="220000"/>
              </a:lnSpc>
              <a:spcAft>
                <a:spcPts val="400"/>
              </a:spcAft>
              <a:defRPr sz="1400" b="0">
                <a:solidFill>
                  <a:srgbClr val="2C3E50"/>
                </a:solidFill>
                <a:latin typeface="宋体" panose="02010600030101010101" pitchFamily="2" charset="-122"/>
              </a:defRPr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2540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致谢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36195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22C55E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THANKS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588000" y="4572000"/>
            <a:ext cx="10160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>
            <p:custDataLst>
              <p:tags r:id="rId2"/>
            </p:custDataLst>
          </p:nvPr>
        </p:nvSpPr>
        <p:spPr>
          <a:xfrm>
            <a:off x="762000" y="5207000"/>
            <a:ext cx="2540000" cy="1016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>
            <p:custDataLst>
              <p:tags r:id="rId3"/>
            </p:custDataLst>
          </p:nvPr>
        </p:nvSpPr>
        <p:spPr>
          <a:xfrm>
            <a:off x="762000" y="5207000"/>
            <a:ext cx="50800" cy="1016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>
            <p:custDataLst>
              <p:tags r:id="rId4"/>
            </p:custDataLst>
          </p:nvPr>
        </p:nvSpPr>
        <p:spPr>
          <a:xfrm>
            <a:off x="952500" y="5308600"/>
            <a:ext cx="2222500" cy="812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恩师指引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感谢指导老师的悉心教导与方向把控，为研究奠定坚实基础。</a:t>
            </a:r>
            <a:endParaRPr lang="en-US" sz="1100"/>
          </a:p>
        </p:txBody>
      </p:sp>
      <p:sp>
        <p:nvSpPr>
          <p:cNvPr id="9" name="AutoShape 9"/>
          <p:cNvSpPr/>
          <p:nvPr>
            <p:custDataLst>
              <p:tags r:id="rId5"/>
            </p:custDataLst>
          </p:nvPr>
        </p:nvSpPr>
        <p:spPr>
          <a:xfrm>
            <a:off x="3467100" y="5207000"/>
            <a:ext cx="2540000" cy="1016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>
            <p:custDataLst>
              <p:tags r:id="rId6"/>
            </p:custDataLst>
          </p:nvPr>
        </p:nvSpPr>
        <p:spPr>
          <a:xfrm>
            <a:off x="3467100" y="5207000"/>
            <a:ext cx="50800" cy="1016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>
            <p:custDataLst>
              <p:tags r:id="rId7"/>
            </p:custDataLst>
          </p:nvPr>
        </p:nvSpPr>
        <p:spPr>
          <a:xfrm>
            <a:off x="3657600" y="5308600"/>
            <a:ext cx="2222500" cy="812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平台支撑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感谢实验室提供的设备、场地与学术环境，保障项目顺利开展。</a:t>
            </a:r>
            <a:endParaRPr lang="en-US" sz="1100"/>
          </a:p>
        </p:txBody>
      </p:sp>
      <p:sp>
        <p:nvSpPr>
          <p:cNvPr id="12" name="AutoShape 12"/>
          <p:cNvSpPr/>
          <p:nvPr>
            <p:custDataLst>
              <p:tags r:id="rId8"/>
            </p:custDataLst>
          </p:nvPr>
        </p:nvSpPr>
        <p:spPr>
          <a:xfrm>
            <a:off x="6172200" y="5207000"/>
            <a:ext cx="2540000" cy="1016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>
            <p:custDataLst>
              <p:tags r:id="rId9"/>
            </p:custDataLst>
          </p:nvPr>
        </p:nvSpPr>
        <p:spPr>
          <a:xfrm>
            <a:off x="6172200" y="5207000"/>
            <a:ext cx="50800" cy="1016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>
            <p:custDataLst>
              <p:tags r:id="rId10"/>
            </p:custDataLst>
          </p:nvPr>
        </p:nvSpPr>
        <p:spPr>
          <a:xfrm>
            <a:off x="6362700" y="5308600"/>
            <a:ext cx="2222500" cy="812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数据基石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感谢公开数据集提供方的无私分享，为模型训练提供了关键支撑。</a:t>
            </a:r>
            <a:endParaRPr lang="en-US" sz="1100"/>
          </a:p>
        </p:txBody>
      </p:sp>
      <p:sp>
        <p:nvSpPr>
          <p:cNvPr id="15" name="AutoShape 15"/>
          <p:cNvSpPr/>
          <p:nvPr>
            <p:custDataLst>
              <p:tags r:id="rId11"/>
            </p:custDataLst>
          </p:nvPr>
        </p:nvSpPr>
        <p:spPr>
          <a:xfrm>
            <a:off x="8877300" y="5207000"/>
            <a:ext cx="2540000" cy="1016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>
            <p:custDataLst>
              <p:tags r:id="rId12"/>
            </p:custDataLst>
          </p:nvPr>
        </p:nvSpPr>
        <p:spPr>
          <a:xfrm>
            <a:off x="8877300" y="5207000"/>
            <a:ext cx="50800" cy="1016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>
            <p:custDataLst>
              <p:tags r:id="rId13"/>
            </p:custDataLst>
          </p:nvPr>
        </p:nvSpPr>
        <p:spPr>
          <a:xfrm>
            <a:off x="9067800" y="5308600"/>
            <a:ext cx="2222500" cy="812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携手共进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感谢团队伙伴的朝夕协作、思维碰撞，是集体的智慧铸就了成果。</a:t>
            </a:r>
            <a:endParaRPr lang="en-US" sz="1100"/>
          </a:p>
        </p:txBody>
      </p:sp>
      <p:sp>
        <p:nvSpPr>
          <p:cNvPr id="19" name="文本框 18"/>
          <p:cNvSpPr txBox="1"/>
          <p:nvPr/>
        </p:nvSpPr>
        <p:spPr>
          <a:xfrm>
            <a:off x="140335" y="172720"/>
            <a:ext cx="11798935" cy="55283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lnSpc>
                <a:spcPct val="220000"/>
              </a:lnSpc>
              <a:spcAft>
                <a:spcPts val="400"/>
              </a:spcAft>
              <a:defRPr sz="1400" b="0">
                <a:solidFill>
                  <a:srgbClr val="2C3E50"/>
                </a:solidFill>
                <a:latin typeface="宋体" panose="02010600030101010101" pitchFamily="2" charset="-122"/>
              </a:defRPr>
            </a:pPr>
            <a:r>
              <a:rPr lang="zh-CN" sz="2000" b="1">
                <a:ea typeface="宋体" panose="02010600030101010101" pitchFamily="2" charset="-122"/>
                <a:sym typeface="+mn-ea"/>
              </a:rPr>
              <a:t>参考文献</a:t>
            </a:r>
            <a:endParaRPr sz="2000" b="1">
              <a:sym typeface="+mn-ea"/>
            </a:endParaRPr>
          </a:p>
          <a:p>
            <a:pPr indent="0" algn="l" eaLnBrk="1" fontAlgn="auto" latinLnBrk="0" hangingPunct="1">
              <a:lnSpc>
                <a:spcPct val="100000"/>
              </a:lnSpc>
              <a:spcAft>
                <a:spcPts val="400"/>
              </a:spcAft>
              <a:defRPr sz="1400" b="0">
                <a:solidFill>
                  <a:srgbClr val="2C3E50"/>
                </a:solidFill>
                <a:latin typeface="宋体" panose="02010600030101010101" pitchFamily="2" charset="-122"/>
              </a:defRPr>
            </a:pPr>
            <a:r>
              <a:rPr lang="en-US">
                <a:sym typeface="+mn-ea"/>
              </a:rPr>
              <a:t>[1] </a:t>
            </a:r>
            <a:r>
              <a:rPr>
                <a:sym typeface="+mn-ea"/>
              </a:rPr>
              <a:t>Sandler M, Howard A, Zhu M, et al. MobileNetV2: Inverted Residuals and Linear Bottlenecks[C]. CVPR, 2018.</a:t>
            </a:r>
            <a:endParaRPr>
              <a:sym typeface="+mn-ea"/>
            </a:endParaRPr>
          </a:p>
          <a:p>
            <a:pPr indent="0" algn="l" eaLnBrk="1" fontAlgn="auto" latinLnBrk="0" hangingPunct="1">
              <a:lnSpc>
                <a:spcPct val="100000"/>
              </a:lnSpc>
              <a:spcAft>
                <a:spcPts val="400"/>
              </a:spcAft>
              <a:defRPr sz="1400" b="0">
                <a:solidFill>
                  <a:srgbClr val="2C3E50"/>
                </a:solidFill>
                <a:latin typeface="宋体" panose="02010600030101010101" pitchFamily="2" charset="-122"/>
              </a:defRPr>
            </a:pPr>
            <a:r>
              <a:rPr lang="en-US">
                <a:sym typeface="+mn-ea"/>
              </a:rPr>
              <a:t>[2] </a:t>
            </a:r>
            <a:r>
              <a:rPr>
                <a:sym typeface="+mn-ea"/>
              </a:rPr>
              <a:t>Jocher G, et al. Ultralytics YOLOv8. https://github.com/ultralytics/ultralytics, 2023.</a:t>
            </a:r>
            <a:endParaRPr>
              <a:sym typeface="+mn-ea"/>
            </a:endParaRPr>
          </a:p>
          <a:p>
            <a:pPr indent="0" algn="l" eaLnBrk="1" fontAlgn="auto" latinLnBrk="0" hangingPunct="1">
              <a:lnSpc>
                <a:spcPct val="100000"/>
              </a:lnSpc>
              <a:spcAft>
                <a:spcPts val="400"/>
              </a:spcAft>
              <a:defRPr sz="1400" b="0">
                <a:solidFill>
                  <a:srgbClr val="2C3E50"/>
                </a:solidFill>
                <a:latin typeface="宋体" panose="02010600030101010101" pitchFamily="2" charset="-122"/>
              </a:defRPr>
            </a:pPr>
            <a:r>
              <a:rPr lang="en-US">
                <a:sym typeface="+mn-ea"/>
              </a:rPr>
              <a:t>[3] </a:t>
            </a:r>
            <a:r>
              <a:rPr>
                <a:sym typeface="+mn-ea"/>
              </a:rPr>
              <a:t>Howard A, et al. Searching for MobileNetV3[C]. ICCV, 2019.</a:t>
            </a:r>
            <a:endParaRPr>
              <a:sym typeface="+mn-ea"/>
            </a:endParaRPr>
          </a:p>
          <a:p>
            <a:pPr indent="0" algn="l" eaLnBrk="1" fontAlgn="auto" latinLnBrk="0" hangingPunct="1">
              <a:lnSpc>
                <a:spcPct val="100000"/>
              </a:lnSpc>
              <a:spcAft>
                <a:spcPts val="400"/>
              </a:spcAft>
              <a:defRPr sz="1400" b="0">
                <a:solidFill>
                  <a:srgbClr val="2C3E50"/>
                </a:solidFill>
                <a:latin typeface="宋体" panose="02010600030101010101" pitchFamily="2" charset="-122"/>
              </a:defRPr>
            </a:pPr>
            <a:r>
              <a:rPr lang="en-US">
                <a:sym typeface="+mn-ea"/>
              </a:rPr>
              <a:t>[4] </a:t>
            </a:r>
            <a:r>
              <a:rPr>
                <a:sym typeface="+mn-ea"/>
              </a:rPr>
              <a:t>He K, Zhang X, Ren S, et al. Deep Residual Learning for Image Recognition[C]. CVPR, 2016.</a:t>
            </a:r>
            <a:endParaRPr>
              <a:sym typeface="+mn-ea"/>
            </a:endParaRPr>
          </a:p>
          <a:p>
            <a:pPr indent="0" algn="l" eaLnBrk="1" fontAlgn="auto" latinLnBrk="0" hangingPunct="1">
              <a:lnSpc>
                <a:spcPct val="100000"/>
              </a:lnSpc>
              <a:spcAft>
                <a:spcPts val="400"/>
              </a:spcAft>
              <a:defRPr sz="1400" b="0">
                <a:solidFill>
                  <a:srgbClr val="2C3E50"/>
                </a:solidFill>
                <a:latin typeface="宋体" panose="02010600030101010101" pitchFamily="2" charset="-122"/>
              </a:defRPr>
            </a:pPr>
            <a:r>
              <a:rPr lang="en-US">
                <a:sym typeface="+mn-ea"/>
              </a:rPr>
              <a:t>[5] </a:t>
            </a:r>
            <a:r>
              <a:rPr>
                <a:sym typeface="+mn-ea"/>
              </a:rPr>
              <a:t>ONNX Runtime. https://onnxruntime.ai/</a:t>
            </a:r>
            <a:endParaRPr>
              <a:sym typeface="+mn-ea"/>
            </a:endParaRPr>
          </a:p>
          <a:p>
            <a:pPr indent="0" algn="l" eaLnBrk="1" fontAlgn="auto" latinLnBrk="0" hangingPunct="1">
              <a:lnSpc>
                <a:spcPct val="100000"/>
              </a:lnSpc>
              <a:spcAft>
                <a:spcPts val="400"/>
              </a:spcAft>
              <a:defRPr sz="1400" b="0">
                <a:solidFill>
                  <a:srgbClr val="2C3E50"/>
                </a:solidFill>
                <a:latin typeface="宋体" panose="02010600030101010101" pitchFamily="2" charset="-122"/>
              </a:defRPr>
            </a:pPr>
            <a:r>
              <a:rPr lang="en-US">
                <a:sym typeface="+mn-ea"/>
              </a:rPr>
              <a:t>[6] </a:t>
            </a:r>
            <a:r>
              <a:rPr>
                <a:sym typeface="+mn-ea"/>
              </a:rPr>
              <a:t>肉类新鲜度检测相关标准及研究文献</a:t>
            </a:r>
            <a:endParaRPr>
              <a:sym typeface="+mn-ea"/>
            </a:endParaRPr>
          </a:p>
          <a:p>
            <a:pPr indent="0" algn="l" eaLnBrk="1" fontAlgn="auto" latinLnBrk="0" hangingPunct="1">
              <a:lnSpc>
                <a:spcPct val="100000"/>
              </a:lnSpc>
              <a:spcAft>
                <a:spcPts val="400"/>
              </a:spcAft>
              <a:defRPr sz="1400" b="0">
                <a:solidFill>
                  <a:srgbClr val="2C3E50"/>
                </a:solidFill>
                <a:latin typeface="宋体" panose="02010600030101010101" pitchFamily="2" charset="-122"/>
              </a:defRPr>
            </a:pPr>
            <a:r>
              <a:rPr lang="en-US" altLang="zh-CN">
                <a:sym typeface="+mn-ea"/>
              </a:rPr>
              <a:t>[7] Liu D, Ma Y, Yu S, et al.</a:t>
            </a:r>
            <a:r>
              <a:rPr lang="en-US" altLang="en-US">
                <a:sym typeface="+mn-ea"/>
              </a:rPr>
              <a:t> </a:t>
            </a:r>
            <a:r>
              <a:rPr lang="en-US" altLang="zh-CN">
                <a:sym typeface="+mn-ea"/>
              </a:rPr>
              <a:t>Image based beef and lamb slice authentication using convolutional neural networks[J]. Meat Science, 2023, 195: 108997.</a:t>
            </a:r>
            <a:endParaRPr lang="en-US" altLang="zh-CN">
              <a:sym typeface="+mn-ea"/>
            </a:endParaRPr>
          </a:p>
          <a:p>
            <a:pPr indent="0" algn="l" eaLnBrk="1" fontAlgn="auto" latinLnBrk="0" hangingPunct="1">
              <a:lnSpc>
                <a:spcPct val="100000"/>
              </a:lnSpc>
              <a:spcAft>
                <a:spcPts val="400"/>
              </a:spcAft>
              <a:defRPr sz="1400" b="0">
                <a:solidFill>
                  <a:srgbClr val="2C3E50"/>
                </a:solidFill>
                <a:latin typeface="宋体" panose="02010600030101010101" pitchFamily="2" charset="-122"/>
              </a:defRPr>
            </a:pPr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80,&quot;left&quot;:80,&quot;top&quot;:400,&quot;width&quot;:540}"/>
</p:tagLst>
</file>

<file path=ppt/tags/tag2.xml><?xml version="1.0" encoding="utf-8"?>
<p:tagLst xmlns:p="http://schemas.openxmlformats.org/presentationml/2006/main">
  <p:tag name="KSO_WM_DIAGRAM_VIRTUALLY_FRAME" val="{&quot;height&quot;:80,&quot;left&quot;:80,&quot;top&quot;:400,&quot;width&quot;:540}"/>
</p:tagLst>
</file>

<file path=ppt/tags/tag3.xml><?xml version="1.0" encoding="utf-8"?>
<p:tagLst xmlns:p="http://schemas.openxmlformats.org/presentationml/2006/main">
  <p:tag name="KSO_WM_DIAGRAM_VIRTUALLY_FRAME" val="{&quot;height&quot;:80,&quot;left&quot;:80,&quot;top&quot;:400,&quot;width&quot;:540}"/>
</p:tagLst>
</file>

<file path=ppt/tags/tag4.xml><?xml version="1.0" encoding="utf-8"?>
<p:tagLst xmlns:p="http://schemas.openxmlformats.org/presentationml/2006/main">
  <p:tag name="KSO_WM_DIAGRAM_VIRTUALLY_FRAME" val="{&quot;height&quot;:80,&quot;left&quot;:80,&quot;top&quot;:400,&quot;width&quot;:540}"/>
</p:tagLst>
</file>

<file path=ppt/tags/tag5.xml><?xml version="1.0" encoding="utf-8"?>
<p:tagLst xmlns:p="http://schemas.openxmlformats.org/presentationml/2006/main">
  <p:tag name="KSO_WM_DIAGRAM_VIRTUALLY_FRAME" val="{&quot;height&quot;:80,&quot;left&quot;:80,&quot;top&quot;:400,&quot;width&quot;:540}"/>
</p:tagLst>
</file>

<file path=ppt/tags/tag6.xml><?xml version="1.0" encoding="utf-8"?>
<p:tagLst xmlns:p="http://schemas.openxmlformats.org/presentationml/2006/main">
  <p:tag name="KSO_WM_DIAGRAM_VIRTUALLY_FRAME" val="{&quot;height&quot;:80,&quot;left&quot;:80,&quot;top&quot;:400,&quot;width&quot;:540}"/>
</p:tagLst>
</file>

<file path=ppt/tags/tag7.xml><?xml version="1.0" encoding="utf-8"?>
<p:tagLst xmlns:p="http://schemas.openxmlformats.org/presentationml/2006/main">
  <p:tag name="KSO_WM_DIAGRAM_VIRTUALLY_FRAME" val="{&quot;height&quot;:355,&quot;left&quot;:60,&quot;top&quot;:150,&quot;width&quot;:840}"/>
</p:tagLst>
</file>

<file path=ppt/tags/tag8.xml><?xml version="1.0" encoding="utf-8"?>
<p:tagLst xmlns:p="http://schemas.openxmlformats.org/presentationml/2006/main">
  <p:tag name="KSO_WM_DIAGRAM_VIRTUALLY_FRAME" val="{&quot;height&quot;:355,&quot;left&quot;:60,&quot;top&quot;:150,&quot;width&quot;:840}"/>
</p:tagLst>
</file>

<file path=ppt/tags/tag9.xml><?xml version="1.0" encoding="utf-8"?>
<p:tagLst xmlns:p="http://schemas.openxmlformats.org/presentationml/2006/main">
  <p:tag name="KSO_WM_DIAGRAM_VIRTUALLY_FRAME" val="{&quot;height&quot;:355,&quot;left&quot;:60,&quot;top&quot;:150,&quot;width&quot;:840}"/>
</p:tagLst>
</file>

<file path=ppt/tags/tag10.xml><?xml version="1.0" encoding="utf-8"?>
<p:tagLst xmlns:p="http://schemas.openxmlformats.org/presentationml/2006/main">
  <p:tag name="KSO_WM_DIAGRAM_VIRTUALLY_FRAME" val="{&quot;height&quot;:355,&quot;left&quot;:60,&quot;top&quot;:150,&quot;width&quot;:840}"/>
</p:tagLst>
</file>

<file path=ppt/tags/tag11.xml><?xml version="1.0" encoding="utf-8"?>
<p:tagLst xmlns:p="http://schemas.openxmlformats.org/presentationml/2006/main">
  <p:tag name="KSO_WM_DIAGRAM_VIRTUALLY_FRAME" val="{&quot;height&quot;:355,&quot;left&quot;:60,&quot;top&quot;:150,&quot;width&quot;:840}"/>
</p:tagLst>
</file>

<file path=ppt/tags/tag12.xml><?xml version="1.0" encoding="utf-8"?>
<p:tagLst xmlns:p="http://schemas.openxmlformats.org/presentationml/2006/main">
  <p:tag name="KSO_WM_DIAGRAM_VIRTUALLY_FRAME" val="{&quot;height&quot;:355,&quot;left&quot;:60,&quot;top&quot;:150,&quot;width&quot;:840}"/>
</p:tagLst>
</file>

<file path=ppt/tags/tag13.xml><?xml version="1.0" encoding="utf-8"?>
<p:tagLst xmlns:p="http://schemas.openxmlformats.org/presentationml/2006/main">
  <p:tag name="KSO_WM_DIAGRAM_VIRTUALLY_FRAME" val="{&quot;height&quot;:355,&quot;left&quot;:60,&quot;top&quot;:150,&quot;width&quot;:840}"/>
</p:tagLst>
</file>

<file path=ppt/tags/tag14.xml><?xml version="1.0" encoding="utf-8"?>
<p:tagLst xmlns:p="http://schemas.openxmlformats.org/presentationml/2006/main">
  <p:tag name="KSO_WM_DIAGRAM_VIRTUALLY_FRAME" val="{&quot;height&quot;:355,&quot;left&quot;:60,&quot;top&quot;:150,&quot;width&quot;:840}"/>
</p:tagLst>
</file>

<file path=ppt/tags/tag15.xml><?xml version="1.0" encoding="utf-8"?>
<p:tagLst xmlns:p="http://schemas.openxmlformats.org/presentationml/2006/main">
  <p:tag name="KSO_WM_DIAGRAM_VIRTUALLY_FRAME" val="{&quot;height&quot;:355,&quot;left&quot;:60,&quot;top&quot;:150,&quot;width&quot;:840}"/>
</p:tagLst>
</file>

<file path=ppt/tags/tag16.xml><?xml version="1.0" encoding="utf-8"?>
<p:tagLst xmlns:p="http://schemas.openxmlformats.org/presentationml/2006/main">
  <p:tag name="KSO_WM_DIAGRAM_VIRTUALLY_FRAME" val="{&quot;height&quot;:355,&quot;left&quot;:60,&quot;top&quot;:150,&quot;width&quot;:840}"/>
</p:tagLst>
</file>

<file path=ppt/tags/tag17.xml><?xml version="1.0" encoding="utf-8"?>
<p:tagLst xmlns:p="http://schemas.openxmlformats.org/presentationml/2006/main">
  <p:tag name="KSO_WM_DIAGRAM_VIRTUALLY_FRAME" val="{&quot;height&quot;:355,&quot;left&quot;:60,&quot;top&quot;:150,&quot;width&quot;:840}"/>
</p:tagLst>
</file>

<file path=ppt/tags/tag18.xml><?xml version="1.0" encoding="utf-8"?>
<p:tagLst xmlns:p="http://schemas.openxmlformats.org/presentationml/2006/main">
  <p:tag name="KSO_WM_DIAGRAM_VIRTUALLY_FRAME" val="{&quot;height&quot;:355,&quot;left&quot;:60,&quot;top&quot;:150,&quot;width&quot;:840}"/>
</p:tagLst>
</file>

<file path=ppt/tags/tag19.xml><?xml version="1.0" encoding="utf-8"?>
<p:tagLst xmlns:p="http://schemas.openxmlformats.org/presentationml/2006/main">
  <p:tag name="KSO_WM_DIAGRAM_VIRTUALLY_FRAME" val="{&quot;height&quot;:355,&quot;left&quot;:60,&quot;top&quot;:150,&quot;width&quot;:840}"/>
</p:tagLst>
</file>

<file path=ppt/tags/tag20.xml><?xml version="1.0" encoding="utf-8"?>
<p:tagLst xmlns:p="http://schemas.openxmlformats.org/presentationml/2006/main">
  <p:tag name="KSO_WM_DIAGRAM_VIRTUALLY_FRAME" val="{&quot;height&quot;:355,&quot;left&quot;:60,&quot;top&quot;:150,&quot;width&quot;:840}"/>
</p:tagLst>
</file>

<file path=ppt/tags/tag21.xml><?xml version="1.0" encoding="utf-8"?>
<p:tagLst xmlns:p="http://schemas.openxmlformats.org/presentationml/2006/main">
  <p:tag name="KSO_WM_DIAGRAM_VIRTUALLY_FRAME" val="{&quot;height&quot;:355,&quot;left&quot;:60,&quot;top&quot;:150,&quot;width&quot;:840}"/>
</p:tagLst>
</file>

<file path=ppt/tags/tag22.xml><?xml version="1.0" encoding="utf-8"?>
<p:tagLst xmlns:p="http://schemas.openxmlformats.org/presentationml/2006/main">
  <p:tag name="KSO_WM_DIAGRAM_VIRTUALLY_FRAME" val="{&quot;height&quot;:355,&quot;left&quot;:60,&quot;top&quot;:150,&quot;width&quot;:840}"/>
</p:tagLst>
</file>

<file path=ppt/tags/tag23.xml><?xml version="1.0" encoding="utf-8"?>
<p:tagLst xmlns:p="http://schemas.openxmlformats.org/presentationml/2006/main">
  <p:tag name="KSO_WM_DIAGRAM_VIRTUALLY_FRAME" val="{&quot;height&quot;:355,&quot;left&quot;:60,&quot;top&quot;:150,&quot;width&quot;:840}"/>
</p:tagLst>
</file>

<file path=ppt/tags/tag24.xml><?xml version="1.0" encoding="utf-8"?>
<p:tagLst xmlns:p="http://schemas.openxmlformats.org/presentationml/2006/main">
  <p:tag name="KSO_WM_DIAGRAM_VIRTUALLY_FRAME" val="{&quot;height&quot;:355,&quot;left&quot;:60,&quot;top&quot;:150,&quot;width&quot;:840}"/>
</p:tagLst>
</file>

<file path=ppt/tags/tag25.xml><?xml version="1.0" encoding="utf-8"?>
<p:tagLst xmlns:p="http://schemas.openxmlformats.org/presentationml/2006/main">
  <p:tag name="KSO_WM_DIAGRAM_VIRTUALLY_FRAME" val="{&quot;height&quot;:355,&quot;left&quot;:60,&quot;top&quot;:150,&quot;width&quot;:840}"/>
</p:tagLst>
</file>

<file path=ppt/tags/tag26.xml><?xml version="1.0" encoding="utf-8"?>
<p:tagLst xmlns:p="http://schemas.openxmlformats.org/presentationml/2006/main">
  <p:tag name="KSO_WM_DIAGRAM_VIRTUALLY_FRAME" val="{&quot;height&quot;:355,&quot;left&quot;:60,&quot;top&quot;:150,&quot;width&quot;:840}"/>
</p:tagLst>
</file>

<file path=ppt/tags/tag27.xml><?xml version="1.0" encoding="utf-8"?>
<p:tagLst xmlns:p="http://schemas.openxmlformats.org/presentationml/2006/main">
  <p:tag name="KSO_WM_DIAGRAM_VIRTUALLY_FRAME" val="{&quot;height&quot;:355,&quot;left&quot;:60,&quot;top&quot;:150,&quot;width&quot;:840}"/>
</p:tagLst>
</file>

<file path=ppt/tags/tag28.xml><?xml version="1.0" encoding="utf-8"?>
<p:tagLst xmlns:p="http://schemas.openxmlformats.org/presentationml/2006/main">
  <p:tag name="KSO_WM_DIAGRAM_VIRTUALLY_FRAME" val="{&quot;height&quot;:355,&quot;left&quot;:60,&quot;top&quot;:150,&quot;width&quot;:840}"/>
</p:tagLst>
</file>

<file path=ppt/tags/tag29.xml><?xml version="1.0" encoding="utf-8"?>
<p:tagLst xmlns:p="http://schemas.openxmlformats.org/presentationml/2006/main">
  <p:tag name="KSO_WM_DIAGRAM_VIRTUALLY_FRAME" val="{&quot;height&quot;:355,&quot;left&quot;:60,&quot;top&quot;:150,&quot;width&quot;:840}"/>
</p:tagLst>
</file>

<file path=ppt/tags/tag30.xml><?xml version="1.0" encoding="utf-8"?>
<p:tagLst xmlns:p="http://schemas.openxmlformats.org/presentationml/2006/main">
  <p:tag name="KSO_WM_DIAGRAM_VIRTUALLY_FRAME" val="{&quot;height&quot;:355,&quot;left&quot;:60,&quot;top&quot;:150,&quot;width&quot;:840}"/>
</p:tagLst>
</file>

<file path=ppt/tags/tag31.xml><?xml version="1.0" encoding="utf-8"?>
<p:tagLst xmlns:p="http://schemas.openxmlformats.org/presentationml/2006/main">
  <p:tag name="KSO_WM_DIAGRAM_VIRTUALLY_FRAME" val="{&quot;height&quot;:355,&quot;left&quot;:60,&quot;top&quot;:150,&quot;width&quot;:840}"/>
</p:tagLst>
</file>

<file path=ppt/tags/tag32.xml><?xml version="1.0" encoding="utf-8"?>
<p:tagLst xmlns:p="http://schemas.openxmlformats.org/presentationml/2006/main">
  <p:tag name="KSO_WM_DIAGRAM_VIRTUALLY_FRAME" val="{&quot;height&quot;:355,&quot;left&quot;:60,&quot;top&quot;:150,&quot;width&quot;:840}"/>
</p:tagLst>
</file>

<file path=ppt/tags/tag33.xml><?xml version="1.0" encoding="utf-8"?>
<p:tagLst xmlns:p="http://schemas.openxmlformats.org/presentationml/2006/main">
  <p:tag name="KSO_WM_DIAGRAM_VIRTUALLY_FRAME" val="{&quot;height&quot;:355,&quot;left&quot;:60,&quot;top&quot;:150,&quot;width&quot;:840}"/>
</p:tagLst>
</file>

<file path=ppt/tags/tag34.xml><?xml version="1.0" encoding="utf-8"?>
<p:tagLst xmlns:p="http://schemas.openxmlformats.org/presentationml/2006/main">
  <p:tag name="KSO_WM_DIAGRAM_VIRTUALLY_FRAME" val="{&quot;height&quot;:355,&quot;left&quot;:60,&quot;top&quot;:150,&quot;width&quot;:840}"/>
</p:tagLst>
</file>

<file path=ppt/tags/tag35.xml><?xml version="1.0" encoding="utf-8"?>
<p:tagLst xmlns:p="http://schemas.openxmlformats.org/presentationml/2006/main">
  <p:tag name="KSO_WM_DIAGRAM_VIRTUALLY_FRAME" val="{&quot;height&quot;:355,&quot;left&quot;:60,&quot;top&quot;:150,&quot;width&quot;:840}"/>
</p:tagLst>
</file>

<file path=ppt/tags/tag36.xml><?xml version="1.0" encoding="utf-8"?>
<p:tagLst xmlns:p="http://schemas.openxmlformats.org/presentationml/2006/main">
  <p:tag name="KSO_WM_DIAGRAM_VIRTUALLY_FRAME" val="{&quot;height&quot;:355,&quot;left&quot;:60,&quot;top&quot;:150,&quot;width&quot;:840}"/>
</p:tagLst>
</file>

<file path=ppt/tags/tag37.xml><?xml version="1.0" encoding="utf-8"?>
<p:tagLst xmlns:p="http://schemas.openxmlformats.org/presentationml/2006/main">
  <p:tag name="KSO_WM_DIAGRAM_VIRTUALLY_FRAME" val="{&quot;height&quot;:145,&quot;left&quot;:60,&quot;top&quot;:140,&quot;width&quot;:840}"/>
</p:tagLst>
</file>

<file path=ppt/tags/tag38.xml><?xml version="1.0" encoding="utf-8"?>
<p:tagLst xmlns:p="http://schemas.openxmlformats.org/presentationml/2006/main">
  <p:tag name="KSO_WM_DIAGRAM_VIRTUALLY_FRAME" val="{&quot;height&quot;:145,&quot;left&quot;:60,&quot;top&quot;:140,&quot;width&quot;:840}"/>
</p:tagLst>
</file>

<file path=ppt/tags/tag39.xml><?xml version="1.0" encoding="utf-8"?>
<p:tagLst xmlns:p="http://schemas.openxmlformats.org/presentationml/2006/main">
  <p:tag name="KSO_WM_DIAGRAM_VIRTUALLY_FRAME" val="{&quot;height&quot;:145,&quot;left&quot;:60,&quot;top&quot;:140,&quot;width&quot;:840}"/>
</p:tagLst>
</file>

<file path=ppt/tags/tag40.xml><?xml version="1.0" encoding="utf-8"?>
<p:tagLst xmlns:p="http://schemas.openxmlformats.org/presentationml/2006/main">
  <p:tag name="KSO_WM_DIAGRAM_VIRTUALLY_FRAME" val="{&quot;height&quot;:145,&quot;left&quot;:60,&quot;top&quot;:140,&quot;width&quot;:840}"/>
</p:tagLst>
</file>

<file path=ppt/tags/tag41.xml><?xml version="1.0" encoding="utf-8"?>
<p:tagLst xmlns:p="http://schemas.openxmlformats.org/presentationml/2006/main">
  <p:tag name="KSO_WM_DIAGRAM_VIRTUALLY_FRAME" val="{&quot;height&quot;:145,&quot;left&quot;:60,&quot;top&quot;:140,&quot;width&quot;:840}"/>
</p:tagLst>
</file>

<file path=ppt/tags/tag42.xml><?xml version="1.0" encoding="utf-8"?>
<p:tagLst xmlns:p="http://schemas.openxmlformats.org/presentationml/2006/main">
  <p:tag name="KSO_WM_DIAGRAM_VIRTUALLY_FRAME" val="{&quot;height&quot;:145,&quot;left&quot;:60,&quot;top&quot;:140,&quot;width&quot;:840}"/>
</p:tagLst>
</file>

<file path=ppt/tags/tag43.xml><?xml version="1.0" encoding="utf-8"?>
<p:tagLst xmlns:p="http://schemas.openxmlformats.org/presentationml/2006/main">
  <p:tag name="KSO_WM_DIAGRAM_VIRTUALLY_FRAME" val="{&quot;height&quot;:145,&quot;left&quot;:60,&quot;top&quot;:140,&quot;width&quot;:840}"/>
</p:tagLst>
</file>

<file path=ppt/tags/tag44.xml><?xml version="1.0" encoding="utf-8"?>
<p:tagLst xmlns:p="http://schemas.openxmlformats.org/presentationml/2006/main">
  <p:tag name="KSO_WM_DIAGRAM_VIRTUALLY_FRAME" val="{&quot;height&quot;:145,&quot;left&quot;:60,&quot;top&quot;:140,&quot;width&quot;:840}"/>
</p:tagLst>
</file>

<file path=ppt/tags/tag45.xml><?xml version="1.0" encoding="utf-8"?>
<p:tagLst xmlns:p="http://schemas.openxmlformats.org/presentationml/2006/main">
  <p:tag name="KSO_WM_DIAGRAM_VIRTUALLY_FRAME" val="{&quot;height&quot;:145,&quot;left&quot;:60,&quot;top&quot;:140,&quot;width&quot;:840}"/>
</p:tagLst>
</file>

<file path=ppt/tags/tag46.xml><?xml version="1.0" encoding="utf-8"?>
<p:tagLst xmlns:p="http://schemas.openxmlformats.org/presentationml/2006/main">
  <p:tag name="KSO_WM_DIAGRAM_VIRTUALLY_FRAME" val="{&quot;height&quot;:145,&quot;left&quot;:60,&quot;top&quot;:140,&quot;width&quot;:840}"/>
</p:tagLst>
</file>

<file path=ppt/tags/tag47.xml><?xml version="1.0" encoding="utf-8"?>
<p:tagLst xmlns:p="http://schemas.openxmlformats.org/presentationml/2006/main">
  <p:tag name="KSO_WM_DIAGRAM_VIRTUALLY_FRAME" val="{&quot;height&quot;:145,&quot;left&quot;:60,&quot;top&quot;:140,&quot;width&quot;:840}"/>
</p:tagLst>
</file>

<file path=ppt/tags/tag48.xml><?xml version="1.0" encoding="utf-8"?>
<p:tagLst xmlns:p="http://schemas.openxmlformats.org/presentationml/2006/main">
  <p:tag name="KSO_WM_DIAGRAM_VIRTUALLY_FRAME" val="{&quot;height&quot;:145,&quot;left&quot;:60,&quot;top&quot;:140,&quot;width&quot;:840}"/>
</p:tagLst>
</file>

<file path=ppt/tags/tag49.xml><?xml version="1.0" encoding="utf-8"?>
<p:tagLst xmlns:p="http://schemas.openxmlformats.org/presentationml/2006/main">
  <p:tag name="KSO_WM_DIAGRAM_VIRTUALLY_FRAME" val="{&quot;height&quot;:145,&quot;left&quot;:60,&quot;top&quot;:140,&quot;width&quot;:840}"/>
</p:tagLst>
</file>

<file path=ppt/tags/tag50.xml><?xml version="1.0" encoding="utf-8"?>
<p:tagLst xmlns:p="http://schemas.openxmlformats.org/presentationml/2006/main">
  <p:tag name="KSO_WM_DIAGRAM_VIRTUALLY_FRAME" val="{&quot;height&quot;:145,&quot;left&quot;:60,&quot;top&quot;:140,&quot;width&quot;:840}"/>
</p:tagLst>
</file>

<file path=ppt/tags/tag51.xml><?xml version="1.0" encoding="utf-8"?>
<p:tagLst xmlns:p="http://schemas.openxmlformats.org/presentationml/2006/main">
  <p:tag name="KSO_WM_DIAGRAM_VIRTUALLY_FRAME" val="{&quot;height&quot;:145,&quot;left&quot;:60,&quot;top&quot;:140,&quot;width&quot;:840}"/>
</p:tagLst>
</file>

<file path=ppt/tags/tag52.xml><?xml version="1.0" encoding="utf-8"?>
<p:tagLst xmlns:p="http://schemas.openxmlformats.org/presentationml/2006/main">
  <p:tag name="KSO_WM_DIAGRAM_VIRTUALLY_FRAME" val="{&quot;height&quot;:270,&quot;left&quot;:60,&quot;top&quot;:150,&quot;width&quot;:838}"/>
</p:tagLst>
</file>

<file path=ppt/tags/tag53.xml><?xml version="1.0" encoding="utf-8"?>
<p:tagLst xmlns:p="http://schemas.openxmlformats.org/presentationml/2006/main">
  <p:tag name="KSO_WM_DIAGRAM_VIRTUALLY_FRAME" val="{&quot;height&quot;:270,&quot;left&quot;:60,&quot;top&quot;:150,&quot;width&quot;:838}"/>
</p:tagLst>
</file>

<file path=ppt/tags/tag54.xml><?xml version="1.0" encoding="utf-8"?>
<p:tagLst xmlns:p="http://schemas.openxmlformats.org/presentationml/2006/main">
  <p:tag name="KSO_WM_DIAGRAM_VIRTUALLY_FRAME" val="{&quot;height&quot;:270,&quot;left&quot;:60,&quot;top&quot;:150,&quot;width&quot;:838}"/>
</p:tagLst>
</file>

<file path=ppt/tags/tag55.xml><?xml version="1.0" encoding="utf-8"?>
<p:tagLst xmlns:p="http://schemas.openxmlformats.org/presentationml/2006/main">
  <p:tag name="KSO_WM_DIAGRAM_VIRTUALLY_FRAME" val="{&quot;height&quot;:270,&quot;left&quot;:60,&quot;top&quot;:150,&quot;width&quot;:838}"/>
</p:tagLst>
</file>

<file path=ppt/tags/tag56.xml><?xml version="1.0" encoding="utf-8"?>
<p:tagLst xmlns:p="http://schemas.openxmlformats.org/presentationml/2006/main">
  <p:tag name="KSO_WM_DIAGRAM_VIRTUALLY_FRAME" val="{&quot;height&quot;:270,&quot;left&quot;:60,&quot;top&quot;:150,&quot;width&quot;:838}"/>
</p:tagLst>
</file>

<file path=ppt/tags/tag57.xml><?xml version="1.0" encoding="utf-8"?>
<p:tagLst xmlns:p="http://schemas.openxmlformats.org/presentationml/2006/main">
  <p:tag name="KSO_WM_DIAGRAM_VIRTUALLY_FRAME" val="{&quot;height&quot;:402.0590515136719,&quot;left&quot;:36.65,&quot;top&quot;:107.9,&quot;width&quot;:250.12165222167968}"/>
</p:tagLst>
</file>

<file path=ppt/tags/tag58.xml><?xml version="1.0" encoding="utf-8"?>
<p:tagLst xmlns:p="http://schemas.openxmlformats.org/presentationml/2006/main">
  <p:tag name="KSO_WM_DIAGRAM_VIRTUALLY_FRAME" val="{&quot;height&quot;:402.0590515136719,&quot;left&quot;:36.65,&quot;top&quot;:107.9,&quot;width&quot;:250.12165222167968}"/>
</p:tagLst>
</file>

<file path=ppt/tags/tag59.xml><?xml version="1.0" encoding="utf-8"?>
<p:tagLst xmlns:p="http://schemas.openxmlformats.org/presentationml/2006/main">
  <p:tag name="KSO_WM_DIAGRAM_VIRTUALLY_FRAME" val="{&quot;height&quot;:402.0590515136719,&quot;left&quot;:36.65,&quot;top&quot;:107.9,&quot;width&quot;:250.12165222167968}"/>
</p:tagLst>
</file>

<file path=ppt/tags/tag60.xml><?xml version="1.0" encoding="utf-8"?>
<p:tagLst xmlns:p="http://schemas.openxmlformats.org/presentationml/2006/main">
  <p:tag name="KSO_WM_DIAGRAM_VIRTUALLY_FRAME" val="{&quot;height&quot;:402.0590515136719,&quot;left&quot;:36.65,&quot;top&quot;:107.9,&quot;width&quot;:250.12165222167968}"/>
</p:tagLst>
</file>

<file path=ppt/tags/tag61.xml><?xml version="1.0" encoding="utf-8"?>
<p:tagLst xmlns:p="http://schemas.openxmlformats.org/presentationml/2006/main">
  <p:tag name="KSO_WM_DIAGRAM_VIRTUALLY_FRAME" val="{&quot;height&quot;:402.0590515136719,&quot;left&quot;:36.65,&quot;top&quot;:107.9,&quot;width&quot;:250.12165222167968}"/>
</p:tagLst>
</file>

<file path=ppt/tags/tag62.xml><?xml version="1.0" encoding="utf-8"?>
<p:tagLst xmlns:p="http://schemas.openxmlformats.org/presentationml/2006/main">
  <p:tag name="KSO_WM_DIAGRAM_VIRTUALLY_FRAME" val="{&quot;height&quot;:402.0590515136719,&quot;left&quot;:36.65,&quot;top&quot;:107.9,&quot;width&quot;:250.12165222167968}"/>
</p:tagLst>
</file>

<file path=ppt/tags/tag63.xml><?xml version="1.0" encoding="utf-8"?>
<p:tagLst xmlns:p="http://schemas.openxmlformats.org/presentationml/2006/main">
  <p:tag name="KSO_WM_DIAGRAM_VIRTUALLY_FRAME" val="{&quot;height&quot;:402.0590515136719,&quot;left&quot;:36.65,&quot;top&quot;:107.9,&quot;width&quot;:250.12165222167968}"/>
</p:tagLst>
</file>

<file path=ppt/tags/tag64.xml><?xml version="1.0" encoding="utf-8"?>
<p:tagLst xmlns:p="http://schemas.openxmlformats.org/presentationml/2006/main">
  <p:tag name="KSO_WM_DIAGRAM_VIRTUALLY_FRAME" val="{&quot;height&quot;:402.0590515136719,&quot;left&quot;:36.65,&quot;top&quot;:107.9,&quot;width&quot;:250.12165222167968}"/>
</p:tagLst>
</file>

<file path=ppt/tags/tag65.xml><?xml version="1.0" encoding="utf-8"?>
<p:tagLst xmlns:p="http://schemas.openxmlformats.org/presentationml/2006/main">
  <p:tag name="KSO_WM_DIAGRAM_VIRTUALLY_FRAME" val="{&quot;height&quot;:402.0590515136719,&quot;left&quot;:36.65,&quot;top&quot;:107.9,&quot;width&quot;:250.12165222167968}"/>
</p:tagLst>
</file>

<file path=ppt/tags/tag66.xml><?xml version="1.0" encoding="utf-8"?>
<p:tagLst xmlns:p="http://schemas.openxmlformats.org/presentationml/2006/main">
  <p:tag name="KSO_WM_DIAGRAM_VIRTUALLY_FRAME" val="{&quot;height&quot;:402.0590515136719,&quot;left&quot;:36.65,&quot;top&quot;:107.9,&quot;width&quot;:250.12165222167968}"/>
</p:tagLst>
</file>

<file path=ppt/tags/tag67.xml><?xml version="1.0" encoding="utf-8"?>
<p:tagLst xmlns:p="http://schemas.openxmlformats.org/presentationml/2006/main">
  <p:tag name="KSO_WM_DIAGRAM_VIRTUALLY_FRAME" val="{&quot;height&quot;:402.0590515136719,&quot;left&quot;:36.65,&quot;top&quot;:107.9,&quot;width&quot;:250.12165222167968}"/>
</p:tagLst>
</file>

<file path=ppt/tags/tag68.xml><?xml version="1.0" encoding="utf-8"?>
<p:tagLst xmlns:p="http://schemas.openxmlformats.org/presentationml/2006/main">
  <p:tag name="KSO_WM_DIAGRAM_VIRTUALLY_FRAME" val="{&quot;height&quot;:402.0590515136719,&quot;left&quot;:36.65,&quot;top&quot;:107.9,&quot;width&quot;:250.12165222167968}"/>
</p:tagLst>
</file>

<file path=ppt/tags/tag69.xml><?xml version="1.0" encoding="utf-8"?>
<p:tagLst xmlns:p="http://schemas.openxmlformats.org/presentationml/2006/main">
  <p:tag name="KSO_WM_DIAGRAM_VIRTUALLY_FRAME" val="{&quot;height&quot;:402.0590515136719,&quot;left&quot;:36.65,&quot;top&quot;:107.9,&quot;width&quot;:250.12165222167968}"/>
</p:tagLst>
</file>

<file path=ppt/tags/tag70.xml><?xml version="1.0" encoding="utf-8"?>
<p:tagLst xmlns:p="http://schemas.openxmlformats.org/presentationml/2006/main">
  <p:tag name="KSO_WM_DIAGRAM_VIRTUALLY_FRAME" val="{&quot;height&quot;:402.0590515136719,&quot;left&quot;:36.65,&quot;top&quot;:107.9,&quot;width&quot;:250.12165222167968}"/>
</p:tagLst>
</file>

<file path=ppt/tags/tag71.xml><?xml version="1.0" encoding="utf-8"?>
<p:tagLst xmlns:p="http://schemas.openxmlformats.org/presentationml/2006/main">
  <p:tag name="KSO_WM_DIAGRAM_VIRTUALLY_FRAME" val="{&quot;height&quot;:402.0590515136719,&quot;left&quot;:36.65,&quot;top&quot;:107.9,&quot;width&quot;:250.12165222167968}"/>
</p:tagLst>
</file>

<file path=ppt/tags/tag72.xml><?xml version="1.0" encoding="utf-8"?>
<p:tagLst xmlns:p="http://schemas.openxmlformats.org/presentationml/2006/main">
  <p:tag name="KSO_WM_DIAGRAM_VIRTUALLY_FRAME" val="{&quot;height&quot;:402.0590515136719,&quot;left&quot;:36.65,&quot;top&quot;:107.9,&quot;width&quot;:250.12165222167968}"/>
</p:tagLst>
</file>

<file path=ppt/tags/tag73.xml><?xml version="1.0" encoding="utf-8"?>
<p:tagLst xmlns:p="http://schemas.openxmlformats.org/presentationml/2006/main">
  <p:tag name="KSO_WM_DIAGRAM_VIRTUALLY_FRAME" val="{&quot;height&quot;:402.0590515136719,&quot;left&quot;:36.65,&quot;top&quot;:107.9,&quot;width&quot;:250.12165222167968}"/>
</p:tagLst>
</file>

<file path=ppt/tags/tag74.xml><?xml version="1.0" encoding="utf-8"?>
<p:tagLst xmlns:p="http://schemas.openxmlformats.org/presentationml/2006/main">
  <p:tag name="KSO_WM_DIAGRAM_VIRTUALLY_FRAME" val="{&quot;height&quot;:402.0590515136719,&quot;left&quot;:36.65,&quot;top&quot;:107.9,&quot;width&quot;:250.12165222167968}"/>
</p:tagLst>
</file>

<file path=ppt/tags/tag75.xml><?xml version="1.0" encoding="utf-8"?>
<p:tagLst xmlns:p="http://schemas.openxmlformats.org/presentationml/2006/main">
  <p:tag name="KSO_WM_DIAGRAM_VIRTUALLY_FRAME" val="{&quot;height&quot;:402.0590515136719,&quot;left&quot;:36.65,&quot;top&quot;:107.9,&quot;width&quot;:250.12165222167968}"/>
</p:tagLst>
</file>

<file path=ppt/tags/tag76.xml><?xml version="1.0" encoding="utf-8"?>
<p:tagLst xmlns:p="http://schemas.openxmlformats.org/presentationml/2006/main">
  <p:tag name="KSO_WM_DIAGRAM_VIRTUALLY_FRAME" val="{&quot;height&quot;:402.0590515136719,&quot;left&quot;:36.65,&quot;top&quot;:107.9,&quot;width&quot;:250.12165222167968}"/>
</p:tagLst>
</file>

<file path=ppt/tags/tag77.xml><?xml version="1.0" encoding="utf-8"?>
<p:tagLst xmlns:p="http://schemas.openxmlformats.org/presentationml/2006/main">
  <p:tag name="KSO_WM_DIAGRAM_VIRTUALLY_FRAME" val="{&quot;height&quot;:402.0590515136719,&quot;left&quot;:36.65,&quot;top&quot;:107.9,&quot;width&quot;:250.12165222167968}"/>
</p:tagLst>
</file>

<file path=ppt/tags/tag78.xml><?xml version="1.0" encoding="utf-8"?>
<p:tagLst xmlns:p="http://schemas.openxmlformats.org/presentationml/2006/main">
  <p:tag name="KSO_WM_DIAGRAM_VIRTUALLY_FRAME" val="{&quot;height&quot;:261.0448852539063,&quot;left&quot;:370,&quot;top&quot;:150,&quot;width&quot;:554.4181030273437}"/>
</p:tagLst>
</file>

<file path=ppt/tags/tag79.xml><?xml version="1.0" encoding="utf-8"?>
<p:tagLst xmlns:p="http://schemas.openxmlformats.org/presentationml/2006/main">
  <p:tag name="KSO_WM_DIAGRAM_VIRTUALLY_FRAME" val="{&quot;height&quot;:261.0448852539063,&quot;left&quot;:370,&quot;top&quot;:150,&quot;width&quot;:554.4181030273437}"/>
</p:tagLst>
</file>

<file path=ppt/tags/tag80.xml><?xml version="1.0" encoding="utf-8"?>
<p:tagLst xmlns:p="http://schemas.openxmlformats.org/presentationml/2006/main">
  <p:tag name="KSO_WM_DIAGRAM_VIRTUALLY_FRAME" val="{&quot;height&quot;:261.0448852539063,&quot;left&quot;:370,&quot;top&quot;:150,&quot;width&quot;:554.4181030273437}"/>
</p:tagLst>
</file>

<file path=ppt/tags/tag81.xml><?xml version="1.0" encoding="utf-8"?>
<p:tagLst xmlns:p="http://schemas.openxmlformats.org/presentationml/2006/main">
  <p:tag name="KSO_WM_DIAGRAM_VIRTUALLY_FRAME" val="{&quot;height&quot;:261.0448852539063,&quot;left&quot;:370,&quot;top&quot;:150,&quot;width&quot;:554.4181030273437}"/>
</p:tagLst>
</file>

<file path=ppt/tags/tag82.xml><?xml version="1.0" encoding="utf-8"?>
<p:tagLst xmlns:p="http://schemas.openxmlformats.org/presentationml/2006/main">
  <p:tag name="KSO_WM_DIAGRAM_VIRTUALLY_FRAME" val="{&quot;height&quot;:261.0448852539063,&quot;left&quot;:370,&quot;top&quot;:150,&quot;width&quot;:554.4181030273437}"/>
</p:tagLst>
</file>

<file path=ppt/tags/tag83.xml><?xml version="1.0" encoding="utf-8"?>
<p:tagLst xmlns:p="http://schemas.openxmlformats.org/presentationml/2006/main">
  <p:tag name="KSO_WM_DIAGRAM_VIRTUALLY_FRAME" val="{&quot;height&quot;:261.0448852539063,&quot;left&quot;:370,&quot;top&quot;:150,&quot;width&quot;:554.4181030273437}"/>
</p:tagLst>
</file>

<file path=ppt/tags/tag84.xml><?xml version="1.0" encoding="utf-8"?>
<p:tagLst xmlns:p="http://schemas.openxmlformats.org/presentationml/2006/main">
  <p:tag name="KSO_WM_DIAGRAM_VIRTUALLY_FRAME" val="{&quot;height&quot;:261.0448852539063,&quot;left&quot;:370,&quot;top&quot;:150,&quot;width&quot;:554.4181030273437}"/>
</p:tagLst>
</file>

<file path=ppt/tags/tag85.xml><?xml version="1.0" encoding="utf-8"?>
<p:tagLst xmlns:p="http://schemas.openxmlformats.org/presentationml/2006/main">
  <p:tag name="KSO_WM_DIAGRAM_VIRTUALLY_FRAME" val="{&quot;height&quot;:240,&quot;left&quot;:370,&quot;top&quot;:150,&quot;width&quot;:540}"/>
</p:tagLst>
</file>

<file path=ppt/tags/tag86.xml><?xml version="1.0" encoding="utf-8"?>
<p:tagLst xmlns:p="http://schemas.openxmlformats.org/presentationml/2006/main">
  <p:tag name="KSO_WM_DIAGRAM_VIRTUALLY_FRAME" val="{&quot;height&quot;:240,&quot;left&quot;:370,&quot;top&quot;:150,&quot;width&quot;:540}"/>
</p:tagLst>
</file>

<file path=ppt/tags/tag87.xml><?xml version="1.0" encoding="utf-8"?>
<p:tagLst xmlns:p="http://schemas.openxmlformats.org/presentationml/2006/main">
  <p:tag name="KSO_WM_DIAGRAM_VIRTUALLY_FRAME" val="{&quot;height&quot;:240,&quot;left&quot;:370,&quot;top&quot;:150,&quot;width&quot;:540}"/>
</p:tagLst>
</file>

<file path=ppt/tags/tag88.xml><?xml version="1.0" encoding="utf-8"?>
<p:tagLst xmlns:p="http://schemas.openxmlformats.org/presentationml/2006/main">
  <p:tag name="KSO_WM_DIAGRAM_VIRTUALLY_FRAME" val="{&quot;height&quot;:240,&quot;left&quot;:370,&quot;top&quot;:150,&quot;width&quot;:540}"/>
</p:tagLst>
</file>

<file path=ppt/tags/tag89.xml><?xml version="1.0" encoding="utf-8"?>
<p:tagLst xmlns:p="http://schemas.openxmlformats.org/presentationml/2006/main">
  <p:tag name="KSO_WM_DIAGRAM_VIRTUALLY_FRAME" val="{&quot;height&quot;:240,&quot;left&quot;:370,&quot;top&quot;:150,&quot;width&quot;:540}"/>
</p:tagLst>
</file>

<file path=ppt/tags/tag90.xml><?xml version="1.0" encoding="utf-8"?>
<p:tagLst xmlns:p="http://schemas.openxmlformats.org/presentationml/2006/main">
  <p:tag name="KSO_WM_DIAGRAM_VIRTUALLY_FRAME" val="{&quot;height&quot;:240,&quot;left&quot;:370,&quot;top&quot;:150,&quot;width&quot;:540}"/>
</p:tagLst>
</file>

<file path=ppt/tags/tag91.xml><?xml version="1.0" encoding="utf-8"?>
<p:tagLst xmlns:p="http://schemas.openxmlformats.org/presentationml/2006/main">
  <p:tag name="KSO_WM_DIAGRAM_VIRTUALLY_FRAME" val="{&quot;height&quot;:350,&quot;left&quot;:60,&quot;top&quot;:130,&quot;width&quot;:430}"/>
</p:tagLst>
</file>

<file path=ppt/tags/tag92.xml><?xml version="1.0" encoding="utf-8"?>
<p:tagLst xmlns:p="http://schemas.openxmlformats.org/presentationml/2006/main">
  <p:tag name="KSO_WM_DIAGRAM_VIRTUALLY_FRAME" val="{&quot;height&quot;:350,&quot;left&quot;:60,&quot;top&quot;:130,&quot;width&quot;:430}"/>
</p:tagLst>
</file>

<file path=ppt/tags/tag93.xml><?xml version="1.0" encoding="utf-8"?>
<p:tagLst xmlns:p="http://schemas.openxmlformats.org/presentationml/2006/main">
  <p:tag name="KSO_WM_DIAGRAM_VIRTUALLY_FRAME" val="{&quot;height&quot;:350,&quot;left&quot;:60,&quot;top&quot;:130,&quot;width&quot;:430}"/>
</p:tagLst>
</file>

<file path=ppt/tags/tag94.xml><?xml version="1.0" encoding="utf-8"?>
<p:tagLst xmlns:p="http://schemas.openxmlformats.org/presentationml/2006/main">
  <p:tag name="KSO_WM_DIAGRAM_VIRTUALLY_FRAME" val="{&quot;height&quot;:350,&quot;left&quot;:60,&quot;top&quot;:130,&quot;width&quot;:430}"/>
</p:tagLst>
</file>

<file path=ppt/tags/tag95.xml><?xml version="1.0" encoding="utf-8"?>
<p:tagLst xmlns:p="http://schemas.openxmlformats.org/presentationml/2006/main">
  <p:tag name="KSO_WM_DIAGRAM_VIRTUALLY_FRAME" val="{&quot;height&quot;:350,&quot;left&quot;:60,&quot;top&quot;:130,&quot;width&quot;:430}"/>
</p:tagLst>
</file>

<file path=ppt/tags/tag96.xml><?xml version="1.0" encoding="utf-8"?>
<p:tagLst xmlns:p="http://schemas.openxmlformats.org/presentationml/2006/main">
  <p:tag name="KSO_WM_DIAGRAM_VIRTUALLY_FRAME" val="{&quot;height&quot;:350,&quot;left&quot;:60,&quot;top&quot;:130,&quot;width&quot;:430}"/>
</p:tagLst>
</file>

<file path=ppt/tags/tag97.xml><?xml version="1.0" encoding="utf-8"?>
<p:tagLst xmlns:p="http://schemas.openxmlformats.org/presentationml/2006/main">
  <p:tag name="KSO_WM_DIAGRAM_VIRTUALLY_FRAME" val="{&quot;height&quot;:350,&quot;left&quot;:60,&quot;top&quot;:130,&quot;width&quot;:430}"/>
</p:tagLst>
</file>

<file path=ppt/tags/tag98.xml><?xml version="1.0" encoding="utf-8"?>
<p:tagLst xmlns:p="http://schemas.openxmlformats.org/presentationml/2006/main">
  <p:tag name="KSO_WM_DIAGRAM_VIRTUALLY_FRAME" val="{&quot;height&quot;:350,&quot;left&quot;:60,&quot;top&quot;:130,&quot;width&quot;:430}"/>
</p:tagLst>
</file>

<file path=ppt/tags/tag99.xml><?xml version="1.0" encoding="utf-8"?>
<p:tagLst xmlns:p="http://schemas.openxmlformats.org/presentationml/2006/main">
  <p:tag name="KSO_WM_DIAGRAM_VIRTUALLY_FRAME" val="{&quot;height&quot;:350,&quot;left&quot;:60,&quot;top&quot;:130,&quot;width&quot;:430}"/>
</p:tagLst>
</file>

<file path=ppt/tags/tag100.xml><?xml version="1.0" encoding="utf-8"?>
<p:tagLst xmlns:p="http://schemas.openxmlformats.org/presentationml/2006/main">
  <p:tag name="KSO_WM_DIAGRAM_VIRTUALLY_FRAME" val="{&quot;height&quot;:350,&quot;left&quot;:60,&quot;top&quot;:130,&quot;width&quot;:430}"/>
</p:tagLst>
</file>

<file path=ppt/tags/tag101.xml><?xml version="1.0" encoding="utf-8"?>
<p:tagLst xmlns:p="http://schemas.openxmlformats.org/presentationml/2006/main">
  <p:tag name="KSO_WM_DIAGRAM_VIRTUALLY_FRAME" val="{&quot;height&quot;:350,&quot;left&quot;:60,&quot;top&quot;:130,&quot;width&quot;:430}"/>
</p:tagLst>
</file>

<file path=ppt/tags/tag102.xml><?xml version="1.0" encoding="utf-8"?>
<p:tagLst xmlns:p="http://schemas.openxmlformats.org/presentationml/2006/main">
  <p:tag name="KSO_WM_DIAGRAM_VIRTUALLY_FRAME" val="{&quot;height&quot;:350,&quot;left&quot;:60,&quot;top&quot;:130,&quot;width&quot;:430}"/>
</p:tagLst>
</file>

<file path=ppt/tags/tag103.xml><?xml version="1.0" encoding="utf-8"?>
<p:tagLst xmlns:p="http://schemas.openxmlformats.org/presentationml/2006/main">
  <p:tag name="KSO_WM_DIAGRAM_VIRTUALLY_FRAME" val="{&quot;height&quot;:350,&quot;left&quot;:60,&quot;top&quot;:130,&quot;width&quot;:430}"/>
</p:tagLst>
</file>

<file path=ppt/tags/tag104.xml><?xml version="1.0" encoding="utf-8"?>
<p:tagLst xmlns:p="http://schemas.openxmlformats.org/presentationml/2006/main">
  <p:tag name="KSO_WM_DIAGRAM_VIRTUALLY_FRAME" val="{&quot;height&quot;:350,&quot;left&quot;:60,&quot;top&quot;:130,&quot;width&quot;:430}"/>
</p:tagLst>
</file>

<file path=ppt/tags/tag105.xml><?xml version="1.0" encoding="utf-8"?>
<p:tagLst xmlns:p="http://schemas.openxmlformats.org/presentationml/2006/main">
  <p:tag name="KSO_WM_DIAGRAM_VIRTUALLY_FRAME" val="{&quot;height&quot;:350,&quot;left&quot;:60,&quot;top&quot;:130,&quot;width&quot;:430}"/>
</p:tagLst>
</file>

<file path=ppt/tags/tag106.xml><?xml version="1.0" encoding="utf-8"?>
<p:tagLst xmlns:p="http://schemas.openxmlformats.org/presentationml/2006/main">
  <p:tag name="KSO_WM_DIAGRAM_VIRTUALLY_FRAME" val="{&quot;height&quot;:350,&quot;left&quot;:60,&quot;top&quot;:130,&quot;width&quot;:430}"/>
</p:tagLst>
</file>

<file path=ppt/tags/tag107.xml><?xml version="1.0" encoding="utf-8"?>
<p:tagLst xmlns:p="http://schemas.openxmlformats.org/presentationml/2006/main">
  <p:tag name="KSO_WM_DIAGRAM_VIRTUALLY_FRAME" val="{&quot;height&quot;:350,&quot;left&quot;:60,&quot;top&quot;:130,&quot;width&quot;:430}"/>
</p:tagLst>
</file>

<file path=ppt/tags/tag108.xml><?xml version="1.0" encoding="utf-8"?>
<p:tagLst xmlns:p="http://schemas.openxmlformats.org/presentationml/2006/main">
  <p:tag name="KSO_WM_DIAGRAM_VIRTUALLY_FRAME" val="{&quot;height&quot;:350,&quot;left&quot;:60,&quot;top&quot;:130,&quot;width&quot;:430}"/>
</p:tagLst>
</file>

<file path=ppt/tags/tag109.xml><?xml version="1.0" encoding="utf-8"?>
<p:tagLst xmlns:p="http://schemas.openxmlformats.org/presentationml/2006/main">
  <p:tag name="KSO_WM_DIAGRAM_VIRTUALLY_FRAME" val="{&quot;height&quot;:350,&quot;left&quot;:60,&quot;top&quot;:130,&quot;width&quot;:430}"/>
</p:tagLst>
</file>

<file path=ppt/tags/tag110.xml><?xml version="1.0" encoding="utf-8"?>
<p:tagLst xmlns:p="http://schemas.openxmlformats.org/presentationml/2006/main">
  <p:tag name="KSO_WM_DIAGRAM_VIRTUALLY_FRAME" val="{&quot;height&quot;:350,&quot;left&quot;:60,&quot;top&quot;:130,&quot;width&quot;:430}"/>
</p:tagLst>
</file>

<file path=ppt/tags/tag111.xml><?xml version="1.0" encoding="utf-8"?>
<p:tagLst xmlns:p="http://schemas.openxmlformats.org/presentationml/2006/main">
  <p:tag name="KSO_WM_DIAGRAM_VIRTUALLY_FRAME" val="{&quot;height&quot;:293.05,&quot;left&quot;:13.7,&quot;top&quot;:106.1,&quot;width&quot;:466.3}"/>
</p:tagLst>
</file>

<file path=ppt/tags/tag112.xml><?xml version="1.0" encoding="utf-8"?>
<p:tagLst xmlns:p="http://schemas.openxmlformats.org/presentationml/2006/main">
  <p:tag name="KSO_WM_DIAGRAM_VIRTUALLY_FRAME" val="{&quot;height&quot;:293.05,&quot;left&quot;:13.7,&quot;top&quot;:106.1,&quot;width&quot;:466.3}"/>
</p:tagLst>
</file>

<file path=ppt/tags/tag113.xml><?xml version="1.0" encoding="utf-8"?>
<p:tagLst xmlns:p="http://schemas.openxmlformats.org/presentationml/2006/main">
  <p:tag name="KSO_WM_DIAGRAM_VIRTUALLY_FRAME" val="{&quot;height&quot;:293.05,&quot;left&quot;:13.7,&quot;top&quot;:106.1,&quot;width&quot;:466.3}"/>
</p:tagLst>
</file>

<file path=ppt/tags/tag114.xml><?xml version="1.0" encoding="utf-8"?>
<p:tagLst xmlns:p="http://schemas.openxmlformats.org/presentationml/2006/main">
  <p:tag name="KSO_WM_DIAGRAM_VIRTUALLY_FRAME" val="{&quot;height&quot;:293.05,&quot;left&quot;:13.7,&quot;top&quot;:106.1,&quot;width&quot;:466.3}"/>
</p:tagLst>
</file>

<file path=ppt/tags/tag115.xml><?xml version="1.0" encoding="utf-8"?>
<p:tagLst xmlns:p="http://schemas.openxmlformats.org/presentationml/2006/main">
  <p:tag name="KSO_WM_DIAGRAM_VIRTUALLY_FRAME" val="{&quot;height&quot;:293.05,&quot;left&quot;:13.7,&quot;top&quot;:106.1,&quot;width&quot;:466.3}"/>
</p:tagLst>
</file>

<file path=ppt/tags/tag116.xml><?xml version="1.0" encoding="utf-8"?>
<p:tagLst xmlns:p="http://schemas.openxmlformats.org/presentationml/2006/main">
  <p:tag name="KSO_WM_DIAGRAM_VIRTUALLY_FRAME" val="{&quot;height&quot;:293.05,&quot;left&quot;:13.7,&quot;top&quot;:106.1,&quot;width&quot;:466.3}"/>
</p:tagLst>
</file>

<file path=ppt/tags/tag117.xml><?xml version="1.0" encoding="utf-8"?>
<p:tagLst xmlns:p="http://schemas.openxmlformats.org/presentationml/2006/main">
  <p:tag name="KSO_WM_DIAGRAM_VIRTUALLY_FRAME" val="{&quot;height&quot;:293.05,&quot;left&quot;:13.7,&quot;top&quot;:106.1,&quot;width&quot;:466.3}"/>
</p:tagLst>
</file>

<file path=ppt/tags/tag118.xml><?xml version="1.0" encoding="utf-8"?>
<p:tagLst xmlns:p="http://schemas.openxmlformats.org/presentationml/2006/main">
  <p:tag name="KSO_WM_DIAGRAM_VIRTUALLY_FRAME" val="{&quot;height&quot;:293.05,&quot;left&quot;:13.7,&quot;top&quot;:106.1,&quot;width&quot;:466.3}"/>
</p:tagLst>
</file>

<file path=ppt/tags/tag119.xml><?xml version="1.0" encoding="utf-8"?>
<p:tagLst xmlns:p="http://schemas.openxmlformats.org/presentationml/2006/main">
  <p:tag name="KSO_WM_DIAGRAM_VIRTUALLY_FRAME" val="{&quot;height&quot;:293.05,&quot;left&quot;:13.7,&quot;top&quot;:106.1,&quot;width&quot;:466.3}"/>
</p:tagLst>
</file>

<file path=ppt/tags/tag120.xml><?xml version="1.0" encoding="utf-8"?>
<p:tagLst xmlns:p="http://schemas.openxmlformats.org/presentationml/2006/main">
  <p:tag name="KSO_WM_DIAGRAM_VIRTUALLY_FRAME" val="{&quot;height&quot;:80,&quot;left&quot;:60,&quot;top&quot;:410,&quot;width&quot;:839}"/>
</p:tagLst>
</file>

<file path=ppt/tags/tag121.xml><?xml version="1.0" encoding="utf-8"?>
<p:tagLst xmlns:p="http://schemas.openxmlformats.org/presentationml/2006/main">
  <p:tag name="KSO_WM_DIAGRAM_VIRTUALLY_FRAME" val="{&quot;height&quot;:80,&quot;left&quot;:60,&quot;top&quot;:410,&quot;width&quot;:839}"/>
</p:tagLst>
</file>

<file path=ppt/tags/tag122.xml><?xml version="1.0" encoding="utf-8"?>
<p:tagLst xmlns:p="http://schemas.openxmlformats.org/presentationml/2006/main">
  <p:tag name="KSO_WM_DIAGRAM_VIRTUALLY_FRAME" val="{&quot;height&quot;:80,&quot;left&quot;:60,&quot;top&quot;:410,&quot;width&quot;:839}"/>
</p:tagLst>
</file>

<file path=ppt/tags/tag123.xml><?xml version="1.0" encoding="utf-8"?>
<p:tagLst xmlns:p="http://schemas.openxmlformats.org/presentationml/2006/main">
  <p:tag name="KSO_WM_DIAGRAM_VIRTUALLY_FRAME" val="{&quot;height&quot;:80,&quot;left&quot;:60,&quot;top&quot;:410,&quot;width&quot;:839}"/>
</p:tagLst>
</file>

<file path=ppt/tags/tag124.xml><?xml version="1.0" encoding="utf-8"?>
<p:tagLst xmlns:p="http://schemas.openxmlformats.org/presentationml/2006/main">
  <p:tag name="KSO_WM_DIAGRAM_VIRTUALLY_FRAME" val="{&quot;height&quot;:80,&quot;left&quot;:60,&quot;top&quot;:410,&quot;width&quot;:839}"/>
</p:tagLst>
</file>

<file path=ppt/tags/tag125.xml><?xml version="1.0" encoding="utf-8"?>
<p:tagLst xmlns:p="http://schemas.openxmlformats.org/presentationml/2006/main">
  <p:tag name="KSO_WM_DIAGRAM_VIRTUALLY_FRAME" val="{&quot;height&quot;:80,&quot;left&quot;:60,&quot;top&quot;:410,&quot;width&quot;:839}"/>
</p:tagLst>
</file>

<file path=ppt/tags/tag126.xml><?xml version="1.0" encoding="utf-8"?>
<p:tagLst xmlns:p="http://schemas.openxmlformats.org/presentationml/2006/main">
  <p:tag name="KSO_WM_DIAGRAM_VIRTUALLY_FRAME" val="{&quot;height&quot;:80,&quot;left&quot;:60,&quot;top&quot;:410,&quot;width&quot;:839}"/>
</p:tagLst>
</file>

<file path=ppt/tags/tag127.xml><?xml version="1.0" encoding="utf-8"?>
<p:tagLst xmlns:p="http://schemas.openxmlformats.org/presentationml/2006/main">
  <p:tag name="KSO_WM_DIAGRAM_VIRTUALLY_FRAME" val="{&quot;height&quot;:80,&quot;left&quot;:60,&quot;top&quot;:410,&quot;width&quot;:839}"/>
</p:tagLst>
</file>

<file path=ppt/tags/tag128.xml><?xml version="1.0" encoding="utf-8"?>
<p:tagLst xmlns:p="http://schemas.openxmlformats.org/presentationml/2006/main">
  <p:tag name="KSO_WM_DIAGRAM_VIRTUALLY_FRAME" val="{&quot;height&quot;:80,&quot;left&quot;:60,&quot;top&quot;:410,&quot;width&quot;:839}"/>
</p:tagLst>
</file>

<file path=ppt/tags/tag129.xml><?xml version="1.0" encoding="utf-8"?>
<p:tagLst xmlns:p="http://schemas.openxmlformats.org/presentationml/2006/main">
  <p:tag name="KSO_WM_DIAGRAM_VIRTUALLY_FRAME" val="{&quot;height&quot;:80,&quot;left&quot;:60,&quot;top&quot;:410,&quot;width&quot;:839}"/>
</p:tagLst>
</file>

<file path=ppt/tags/tag130.xml><?xml version="1.0" encoding="utf-8"?>
<p:tagLst xmlns:p="http://schemas.openxmlformats.org/presentationml/2006/main">
  <p:tag name="KSO_WM_DIAGRAM_VIRTUALLY_FRAME" val="{&quot;height&quot;:80,&quot;left&quot;:60,&quot;top&quot;:410,&quot;width&quot;:839}"/>
</p:tagLst>
</file>

<file path=ppt/tags/tag131.xml><?xml version="1.0" encoding="utf-8"?>
<p:tagLst xmlns:p="http://schemas.openxmlformats.org/presentationml/2006/main">
  <p:tag name="KSO_WM_DIAGRAM_VIRTUALLY_FRAME" val="{&quot;height&quot;:80,&quot;left&quot;:60,&quot;top&quot;:410,&quot;width&quot;:839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4105</Words>
  <Application>WPS 演示</Application>
  <PresentationFormat/>
  <Paragraphs>353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15</vt:i4>
      </vt:variant>
    </vt:vector>
  </HeadingPairs>
  <TitlesOfParts>
    <vt:vector size="28" baseType="lpstr">
      <vt:lpstr>Arial</vt:lpstr>
      <vt:lpstr>宋体</vt:lpstr>
      <vt:lpstr>Wingdings</vt:lpstr>
      <vt:lpstr>Arial</vt:lpstr>
      <vt:lpstr>Noto Sans SC</vt:lpstr>
      <vt:lpstr>Wingdings</vt:lpstr>
      <vt:lpstr>微软雅黑</vt:lpstr>
      <vt:lpstr>Arial Unicode MS</vt:lpstr>
      <vt:lpstr>黑体</vt:lpstr>
      <vt:lpstr>Office 主题​​</vt:lpstr>
      <vt:lpstr>默认主题</vt:lpstr>
      <vt:lpstr>1_默认主题</vt:lpstr>
      <vt:lpstr>2_默认主题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7</cp:revision>
  <dcterms:created xsi:type="dcterms:W3CDTF">2026-06-15T08:30:00Z</dcterms:created>
  <dcterms:modified xsi:type="dcterms:W3CDTF">2026-06-15T10:41:36Z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{"Label":"1","ContentProducer":"001191110102MACQD9K64010000","ProduceID":"7649655682845477867","ReservedCode1":"","ContentPropagator":"","PropagateID":"","ReservedCode2":""}</vt:lpwstr>
  </property>
  <property fmtid="{D5CDD505-2E9C-101B-9397-08002B2CF9AE}" pid="3" name="KSOProductBuildVer">
    <vt:lpwstr>2052-12.1.0.24034</vt:lpwstr>
  </property>
  <property fmtid="{D5CDD505-2E9C-101B-9397-08002B2CF9AE}" pid="4" name="ICV">
    <vt:lpwstr>1E4A96DB83D24A30811080009E9BD2D6_13</vt:lpwstr>
  </property>
</Properties>
</file>