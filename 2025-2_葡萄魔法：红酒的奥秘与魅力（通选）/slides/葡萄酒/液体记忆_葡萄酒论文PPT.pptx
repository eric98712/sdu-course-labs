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E2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C8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7020"/>
              </a:lnSpc>
              <a:spcBef>
                <a:spcPts val="0"/>
              </a:spcBef>
              <a:spcAft>
                <a:spcPts val="0"/>
              </a:spcAft>
              <a:defRPr sz="5400" b="1">
                <a:solidFill>
                  <a:srgbClr val="C8A25C"/>
                </a:solidFill>
                <a:latin typeface="Microsoft YaHei"/>
              </a:defRPr>
            </a:pPr>
            <a:r>
              <a:t>液体记忆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1089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C8A25C"/>
                </a:solidFill>
                <a:latin typeface="Arial"/>
              </a:defRPr>
            </a:pPr>
            <a:r>
              <a:t>LUQUID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5EEE0"/>
                </a:solidFill>
                <a:latin typeface="Microsoft YaHei"/>
              </a:defRPr>
            </a:pPr>
            <a:r>
              <a:t>论葡萄酒作为历史、风土与情感的复合载体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846320"/>
            <a:ext cx="2743200" cy="25400"/>
          </a:xfrm>
          <a:prstGeom prst="rect">
            <a:avLst/>
          </a:prstGeom>
          <a:solidFill>
            <a:srgbClr val="C8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5120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887772"/>
                </a:solidFill>
                <a:latin typeface="Microsoft YaHei"/>
              </a:defRPr>
            </a:pPr>
            <a:r>
              <a:t>跨学科研究 · 文化哲学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577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87772"/>
                </a:solidFill>
                <a:latin typeface="Microsoft YaHei"/>
              </a:defRPr>
            </a:pPr>
            <a:r>
              <a:t>基于同名学术论文改编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20095" y="6537960"/>
            <a:ext cx="109728" cy="109728"/>
          </a:xfrm>
          <a:prstGeom prst="rect">
            <a:avLst/>
          </a:prstGeom>
          <a:solidFill>
            <a:srgbClr val="C8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84687" y="6537960"/>
            <a:ext cx="109728" cy="109728"/>
          </a:xfrm>
          <a:prstGeom prst="rect">
            <a:avLst/>
          </a:prstGeom>
          <a:solidFill>
            <a:srgbClr val="887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149279" y="6537960"/>
            <a:ext cx="109728" cy="109728"/>
          </a:xfrm>
          <a:prstGeom prst="rect">
            <a:avLst/>
          </a:prstGeom>
          <a:solidFill>
            <a:srgbClr val="8877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87772"/>
                </a:solidFill>
                <a:latin typeface="Arial"/>
              </a:defRPr>
            </a:pPr>
            <a: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E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309360"/>
            <a:ext cx="10728655" cy="25400"/>
          </a:xfrm>
          <a:prstGeom prst="rect">
            <a:avLst/>
          </a:prstGeom>
          <a:solidFill>
            <a:srgbClr val="C8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548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8A25C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72242F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C8A25C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2103120" y="2062480"/>
            <a:ext cx="38100" cy="411480"/>
          </a:xfrm>
          <a:prstGeom prst="rect">
            <a:avLst/>
          </a:prstGeom>
          <a:solidFill>
            <a:srgbClr val="C8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77440" y="2037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C181C"/>
                </a:solidFill>
                <a:latin typeface="Microsoft YaHei"/>
              </a:defRPr>
            </a:pPr>
            <a:r>
              <a:t>引言：被忽视的叙事维度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8346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C8A25C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2885440"/>
            <a:ext cx="38100" cy="411480"/>
          </a:xfrm>
          <a:prstGeom prst="rect">
            <a:avLst/>
          </a:prstGeom>
          <a:solidFill>
            <a:srgbClr val="C8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2860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C181C"/>
                </a:solidFill>
                <a:latin typeface="Microsoft YaHei"/>
              </a:defRPr>
            </a:pPr>
            <a:r>
              <a:t>自然的档案：葡萄酒作为风土的精确记录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6576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C8A25C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03120" y="3708400"/>
            <a:ext cx="38100" cy="411480"/>
          </a:xfrm>
          <a:prstGeom prst="rect">
            <a:avLst/>
          </a:prstGeom>
          <a:solidFill>
            <a:srgbClr val="C8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7440" y="3683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C181C"/>
                </a:solidFill>
                <a:latin typeface="Microsoft YaHei"/>
              </a:defRPr>
            </a:pPr>
            <a:r>
              <a:t>文化的化石：传统与技艺的非物质遗产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4805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C8A25C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3120" y="4531360"/>
            <a:ext cx="38100" cy="411480"/>
          </a:xfrm>
          <a:prstGeom prst="rect">
            <a:avLst/>
          </a:prstGeom>
          <a:solidFill>
            <a:srgbClr val="C8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40" y="4505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C181C"/>
                </a:solidFill>
                <a:latin typeface="Microsoft YaHei"/>
              </a:defRPr>
            </a:pPr>
            <a:r>
              <a:t>情感的载体：从个人记忆到集体无意识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3035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C8A25C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03120" y="5354320"/>
            <a:ext cx="38100" cy="411480"/>
          </a:xfrm>
          <a:prstGeom prst="rect">
            <a:avLst/>
          </a:prstGeom>
          <a:solidFill>
            <a:srgbClr val="C8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77440" y="5328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C181C"/>
                </a:solidFill>
                <a:latin typeface="Microsoft YaHei"/>
              </a:defRPr>
            </a:pPr>
            <a:r>
              <a:t>结论：一种新的阅读方式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87772"/>
                </a:solidFill>
                <a:latin typeface="Arial"/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E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309360"/>
            <a:ext cx="10728655" cy="25400"/>
          </a:xfrm>
          <a:prstGeom prst="rect">
            <a:avLst/>
          </a:prstGeom>
          <a:solidFill>
            <a:srgbClr val="C8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8A25C"/>
                </a:solidFill>
                <a:latin typeface="Arial"/>
              </a:defRPr>
            </a:pPr>
            <a:r>
              <a:t>01 ·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72242F"/>
                </a:solidFill>
                <a:latin typeface="Microsoft YaHei"/>
              </a:defRPr>
            </a:pPr>
            <a:r>
              <a:t>引言：被忽视的叙事维度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828800"/>
            <a:ext cx="50800" cy="2011680"/>
          </a:xfrm>
          <a:prstGeom prst="rect">
            <a:avLst/>
          </a:prstGeom>
          <a:solidFill>
            <a:srgbClr val="722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0" y="1828800"/>
            <a:ext cx="4114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C181C"/>
                </a:solidFill>
                <a:latin typeface="Microsoft YaHei"/>
              </a:defRPr>
            </a:pPr>
            <a:r>
              <a:t>当我们谈论一瓶1982年的拉菲时，谈论的远不止是赤霞珠的单宁结构和橡木桶带来的香草气息。我们实际上是在尝试触碰一个特定的时空节点。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C181C"/>
                </a:solidFill>
                <a:latin typeface="Microsoft YaHei"/>
              </a:defRPr>
            </a:pPr>
          </a:p>
          <a:p>
            <a:pPr algn="l">
              <a:spcBef>
                <a:spcPts val="0"/>
              </a:spcBef>
              <a:spcAft>
                <a:spcPts val="800"/>
              </a:spcAft>
              <a:defRPr sz="1300" b="1">
                <a:solidFill>
                  <a:srgbClr val="C8A25C"/>
                </a:solidFill>
                <a:latin typeface="Arial"/>
              </a:defRPr>
            </a:pPr>
            <a:r>
              <a:t>核心论点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600" b="0">
                <a:solidFill>
                  <a:srgbClr val="2C181C"/>
                </a:solidFill>
                <a:latin typeface="Microsoft YaHei"/>
              </a:defRPr>
            </a:pPr>
            <a:r>
              <a:t>葡萄酒的本质是一种“液体记忆”——一种能够同时记录自然环境信息、保存人类文化技艺、并激活情感体验的复合载体。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300" b="1">
                <a:solidFill>
                  <a:srgbClr val="C8A25C"/>
                </a:solidFill>
                <a:latin typeface="Arial"/>
              </a:defRPr>
            </a:pPr>
            <a:r>
              <a:t>研究维度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800"/>
              </a:spcAft>
              <a:defRPr sz="1600" b="0">
                <a:solidFill>
                  <a:srgbClr val="2C181C"/>
                </a:solidFill>
                <a:latin typeface="Microsoft YaHei"/>
              </a:defRPr>
            </a:pPr>
            <a:r>
              <a:t>自然的档案（风土）</a:t>
            </a:r>
            <a:br/>
            <a:r>
              <a:t>文化的化石（传统）</a:t>
            </a:r>
            <a:br/>
            <a:r>
              <a:t>情感的载体（记忆）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760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87772"/>
                </a:solidFill>
                <a:latin typeface="Microsoft YaHei"/>
              </a:defRPr>
            </a:pPr>
            <a:r>
              <a:t>关键词：葡萄酒 | 风土 | 液体记忆 | 文化载体 | 历史文献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87772"/>
                </a:solidFill>
                <a:latin typeface="Arial"/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E2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C8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8A25C"/>
                </a:solidFill>
                <a:latin typeface="Arial"/>
              </a:defRPr>
            </a:pPr>
            <a:r>
              <a:t>02 · TERROR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C8A25C"/>
                </a:solidFill>
                <a:latin typeface="Microsoft YaHei"/>
              </a:defRPr>
            </a:pPr>
            <a:r>
              <a:t>自然的档案：葡萄酒作为风土的精确记录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5EEE0"/>
                </a:solidFill>
                <a:latin typeface="Microsoft YaHei"/>
              </a:defRPr>
            </a:pPr>
          </a:p>
          <a:p>
            <a:pPr algn="l">
              <a:spcBef>
                <a:spcPts val="0"/>
              </a:spcBef>
              <a:spcAft>
                <a:spcPts val="1000"/>
              </a:spcAft>
              <a:defRPr sz="2200" b="1">
                <a:solidFill>
                  <a:srgbClr val="C8A25C"/>
                </a:solidFill>
                <a:latin typeface="Microsoft YaHei"/>
              </a:defRPr>
            </a:pPr>
            <a:r>
              <a:t>年份：气候的气象报告</a:t>
            </a:r>
          </a:p>
          <a:p>
            <a:pPr algn="l">
              <a:lnSpc>
                <a:spcPts val="2720"/>
              </a:lnSpc>
              <a:spcBef>
                <a:spcPts val="0"/>
              </a:spcBef>
              <a:spcAft>
                <a:spcPts val="1200"/>
              </a:spcAft>
              <a:defRPr sz="1700" b="0">
                <a:solidFill>
                  <a:srgbClr val="F5EEE0"/>
                </a:solidFill>
                <a:latin typeface="Microsoft YaHei"/>
              </a:defRPr>
            </a:pPr>
            <a:r>
              <a:t>凉爽多雨的年份→酸度更高、酒体更轻盈</a:t>
            </a:r>
            <a:br/>
            <a:r>
              <a:t>炎热干旱的年份→更成熟、更浓郁</a:t>
            </a:r>
          </a:p>
          <a:p>
            <a:pPr algn="l">
              <a:lnSpc>
                <a:spcPts val="2250"/>
              </a:lnSpc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F5EEE0"/>
                </a:solidFill>
                <a:latin typeface="Microsoft YaHei"/>
              </a:defRPr>
            </a:pPr>
            <a:r>
              <a:t>2003年欧洲热浪期间，波尔多葡萄成熟速度空前加快，当年葡萄酒的潜在酒精度比长期平均值高出2-3个百分点。</a:t>
            </a:r>
          </a:p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5EEE0"/>
                </a:solidFill>
                <a:latin typeface="Microsoft YaHei"/>
              </a:defRPr>
            </a:pPr>
            <a:r>
              <a:t>通过分析葡萄酒中稳定同位素比值，科学家可以反推当年产区的气候特征。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82880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5EEE0"/>
                </a:solidFill>
                <a:latin typeface="Microsoft YaHei"/>
              </a:defRPr>
            </a:pPr>
          </a:p>
          <a:p>
            <a:pPr algn="l">
              <a:spcBef>
                <a:spcPts val="0"/>
              </a:spcBef>
              <a:spcAft>
                <a:spcPts val="1000"/>
              </a:spcAft>
              <a:defRPr sz="2200" b="1">
                <a:solidFill>
                  <a:srgbClr val="C8A25C"/>
                </a:solidFill>
                <a:latin typeface="Microsoft YaHei"/>
              </a:defRPr>
            </a:pPr>
            <a:r>
              <a:t>土壤：可品尝的地质学</a:t>
            </a:r>
          </a:p>
          <a:p>
            <a:pPr algn="l">
              <a:lnSpc>
                <a:spcPts val="2720"/>
              </a:lnSpc>
              <a:spcBef>
                <a:spcPts val="0"/>
              </a:spcBef>
              <a:spcAft>
                <a:spcPts val="1200"/>
              </a:spcAft>
              <a:defRPr sz="1700" b="0">
                <a:solidFill>
                  <a:srgbClr val="F5EEE0"/>
                </a:solidFill>
                <a:latin typeface="Microsoft YaHei"/>
              </a:defRPr>
            </a:pPr>
            <a:r>
              <a:t>勃艮第特级园系统建立在对侏罗纪海洋沉积物分布的精细理解之上。</a:t>
            </a:r>
          </a:p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5EEE0"/>
                </a:solidFill>
                <a:latin typeface="Microsoft YaHei"/>
              </a:defRPr>
            </a:pPr>
            <a:r>
              <a:t>石灰岩  →  勃艮第 · 结构感</a:t>
            </a:r>
          </a:p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5EEE0"/>
                </a:solidFill>
                <a:latin typeface="Microsoft YaHei"/>
              </a:defRPr>
            </a:pPr>
            <a:r>
              <a:t>板  岩  →  摩泽尔 · 矿物感</a:t>
            </a:r>
          </a:p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5EEE0"/>
                </a:solidFill>
                <a:latin typeface="Microsoft YaHei"/>
              </a:defRPr>
            </a:pPr>
            <a:r>
              <a:t>黏  土  →  波尔多右岸 · 饱满</a:t>
            </a:r>
          </a:p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5EEE0"/>
                </a:solidFill>
                <a:latin typeface="Microsoft YaHei"/>
              </a:defRPr>
            </a:pPr>
            <a:r>
              <a:t>花岗岩  →  博若莱 · 芳香</a:t>
            </a:r>
          </a:p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5EEE0"/>
                </a:solidFill>
                <a:latin typeface="Microsoft YaHei"/>
              </a:defRPr>
            </a:pPr>
            <a:r>
              <a:t>火山岩  →  西西里 · 烟熏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09360"/>
            <a:ext cx="10728655" cy="25400"/>
          </a:xfrm>
          <a:prstGeom prst="rect">
            <a:avLst/>
          </a:prstGeom>
          <a:solidFill>
            <a:srgbClr val="C8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87772"/>
                </a:solidFill>
                <a:latin typeface="Arial"/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E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309360"/>
            <a:ext cx="10728655" cy="25400"/>
          </a:xfrm>
          <a:prstGeom prst="rect">
            <a:avLst/>
          </a:prstGeom>
          <a:solidFill>
            <a:srgbClr val="C8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8A25C"/>
                </a:solidFill>
                <a:latin typeface="Arial"/>
              </a:defRPr>
            </a:pPr>
            <a:r>
              <a:t>02 · TERROIR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72242F"/>
                </a:solidFill>
                <a:latin typeface="Microsoft YaHei"/>
              </a:defRPr>
            </a:pPr>
            <a:r>
              <a:t>风土关键词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2011680"/>
            <a:ext cx="54864" cy="1097280"/>
          </a:xfrm>
          <a:prstGeom prst="rect">
            <a:avLst/>
          </a:prstGeom>
          <a:solidFill>
            <a:srgbClr val="722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9202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72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72242F"/>
                </a:solidFill>
                <a:latin typeface="Arial"/>
              </a:defRPr>
            </a:pPr>
            <a:r>
              <a:t>8000+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651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887772"/>
                </a:solidFill>
                <a:latin typeface="Microsoft YaHei"/>
              </a:defRPr>
            </a:pPr>
            <a:r>
              <a:t>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C181C"/>
                </a:solidFill>
                <a:latin typeface="Microsoft YaHei"/>
              </a:defRPr>
            </a:pPr>
            <a:r>
              <a:t>葡萄栽培历史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2011680"/>
            <a:ext cx="54864" cy="1097280"/>
          </a:xfrm>
          <a:prstGeom prst="rect">
            <a:avLst/>
          </a:prstGeom>
          <a:solidFill>
            <a:srgbClr val="722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9202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72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72242F"/>
                </a:solidFill>
                <a:latin typeface="Arial"/>
              </a:defRPr>
            </a:pPr>
            <a:r>
              <a:t>1368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651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887772"/>
                </a:solidFill>
                <a:latin typeface="Microsoft YaHei"/>
              </a:defRPr>
            </a:pPr>
            <a:r>
              <a:t>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C181C"/>
                </a:solidFill>
                <a:latin typeface="Microsoft YaHei"/>
              </a:defRPr>
            </a:pPr>
            <a:r>
              <a:t>商用酿酒葡萄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2011680"/>
            <a:ext cx="54864" cy="1097280"/>
          </a:xfrm>
          <a:prstGeom prst="rect">
            <a:avLst/>
          </a:prstGeom>
          <a:solidFill>
            <a:srgbClr val="722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19202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72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72242F"/>
                </a:solidFill>
                <a:latin typeface="Arial"/>
              </a:defRPr>
            </a:pPr>
            <a:r>
              <a:t>77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651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887772"/>
                </a:solidFill>
                <a:latin typeface="Microsoft YaHei"/>
              </a:defRPr>
            </a:pPr>
            <a:r>
              <a:t>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C181C"/>
                </a:solidFill>
                <a:latin typeface="Microsoft YaHei"/>
              </a:defRPr>
            </a:pPr>
            <a:r>
              <a:t>葡萄酒产国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18320" y="2011680"/>
            <a:ext cx="54864" cy="1097280"/>
          </a:xfrm>
          <a:prstGeom prst="rect">
            <a:avLst/>
          </a:prstGeom>
          <a:solidFill>
            <a:srgbClr val="722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19202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72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72242F"/>
                </a:solidFill>
                <a:latin typeface="Arial"/>
              </a:defRPr>
            </a:pPr>
            <a:r>
              <a:t>800+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2651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887772"/>
                </a:solidFill>
                <a:latin typeface="Microsoft YaHei"/>
              </a:defRPr>
            </a:pPr>
            <a:r>
              <a:t>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C181C"/>
                </a:solidFill>
                <a:latin typeface="Microsoft YaHei"/>
              </a:defRPr>
            </a:pPr>
            <a:r>
              <a:t>芳香化合物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84048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C181C"/>
                </a:solidFill>
                <a:latin typeface="Microsoft YaHei"/>
              </a:defRPr>
            </a:pPr>
          </a:p>
          <a:p>
            <a:pPr algn="l">
              <a:spcBef>
                <a:spcPts val="0"/>
              </a:spcBef>
              <a:spcAft>
                <a:spcPts val="600"/>
              </a:spcAft>
              <a:defRPr sz="1700" b="0">
                <a:solidFill>
                  <a:srgbClr val="2C181C"/>
                </a:solidFill>
                <a:latin typeface="Microsoft YaHei"/>
              </a:defRPr>
            </a:pPr>
            <a:r>
              <a:t>·   风土不应神秘化——它是可测量、可验证的环境变量在葡萄酒中的综合表达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700" b="0">
                <a:solidFill>
                  <a:srgbClr val="2C181C"/>
                </a:solidFill>
                <a:latin typeface="Microsoft YaHei"/>
              </a:defRPr>
            </a:pPr>
            <a:r>
              <a:t>·   葡萄对环境极为敏感，果实化学成分精确反映生长季节的环境条件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C181C"/>
                </a:solidFill>
                <a:latin typeface="Microsoft YaHei"/>
              </a:defRPr>
            </a:pPr>
            <a:r>
              <a:t>·   品鉴一款特定产区的葡萄酒，是一次跨越时空的地质考察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87772"/>
                </a:solidFill>
                <a:latin typeface="Arial"/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E2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C8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8A25C"/>
                </a:solidFill>
                <a:latin typeface="Arial"/>
              </a:defRPr>
            </a:pPr>
            <a:r>
              <a:t>03 · CULTURAL FOSSIL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C8A25C"/>
                </a:solidFill>
                <a:latin typeface="Microsoft YaHei"/>
              </a:defRPr>
            </a:pPr>
            <a:r>
              <a:t>文化的化石：传统与技艺的非物质遗产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5EEE0"/>
                </a:solidFill>
                <a:latin typeface="Microsoft YaHei"/>
              </a:defRPr>
            </a:pPr>
          </a:p>
          <a:p>
            <a:pPr algn="l">
              <a:lnSpc>
                <a:spcPts val="3000"/>
              </a:lnSpc>
              <a:spcBef>
                <a:spcPts val="0"/>
              </a:spcBef>
              <a:spcAft>
                <a:spcPts val="1600"/>
              </a:spcAft>
              <a:defRPr sz="2000" b="0">
                <a:solidFill>
                  <a:srgbClr val="C8A25C"/>
                </a:solidFill>
                <a:latin typeface="Microsoft YaHei"/>
              </a:defRPr>
            </a:pPr>
            <a:r>
              <a:t>在许多葡萄酒产区，酿造方法本身就是活着的传统，是代代相传的非物质文化遗产。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657600"/>
            <a:ext cx="50800" cy="1645920"/>
          </a:xfrm>
          <a:prstGeom prst="rect">
            <a:avLst/>
          </a:prstGeom>
          <a:solidFill>
            <a:srgbClr val="C8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7360" y="36576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5EEE0"/>
                </a:solidFill>
                <a:latin typeface="Microsoft YaHei"/>
              </a:defRPr>
            </a:pPr>
          </a:p>
          <a:p>
            <a:pPr algn="l">
              <a:spcBef>
                <a:spcPts val="0"/>
              </a:spcBef>
              <a:spcAft>
                <a:spcPts val="800"/>
              </a:spcAft>
              <a:defRPr sz="2000" b="1">
                <a:solidFill>
                  <a:srgbClr val="C8A25C"/>
                </a:solidFill>
                <a:latin typeface="Microsoft YaHei"/>
              </a:defRPr>
            </a:pPr>
            <a:r>
              <a:t>格鲁吉亚 · Qvevri 陶罐法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5EEE0"/>
                </a:solidFill>
                <a:latin typeface="Microsoft YaHei"/>
              </a:defRPr>
            </a:pPr>
            <a:r>
              <a:t>8000年来使用埋入地下的巨型陶罐自然发酵。品尝这样一款酒，品尝的是人类早期文明的智慧样本。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3657600"/>
            <a:ext cx="50800" cy="1645920"/>
          </a:xfrm>
          <a:prstGeom prst="rect">
            <a:avLst/>
          </a:prstGeom>
          <a:solidFill>
            <a:srgbClr val="C8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0" y="36576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5EEE0"/>
                </a:solidFill>
                <a:latin typeface="Microsoft YaHei"/>
              </a:defRPr>
            </a:pPr>
          </a:p>
          <a:p>
            <a:pPr algn="l">
              <a:spcBef>
                <a:spcPts val="0"/>
              </a:spcBef>
              <a:spcAft>
                <a:spcPts val="800"/>
              </a:spcAft>
              <a:defRPr sz="2000" b="1">
                <a:solidFill>
                  <a:srgbClr val="C8A25C"/>
                </a:solidFill>
                <a:latin typeface="Microsoft YaHei"/>
              </a:defRPr>
            </a:pPr>
            <a:r>
              <a:t>香槟 · 意外演变为文化符号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5EEE0"/>
                </a:solidFill>
                <a:latin typeface="Microsoft YaHei"/>
              </a:defRPr>
            </a:pPr>
            <a:r>
              <a:t>17世纪末瓶内二次发酵的气泡曾被视作缺陷，如今成为全球庆祝仪式的代名词。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309360"/>
            <a:ext cx="10728655" cy="25400"/>
          </a:xfrm>
          <a:prstGeom prst="rect">
            <a:avLst/>
          </a:prstGeom>
          <a:solidFill>
            <a:srgbClr val="C8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87772"/>
                </a:solidFill>
                <a:latin typeface="Arial"/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E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309360"/>
            <a:ext cx="10728655" cy="25400"/>
          </a:xfrm>
          <a:prstGeom prst="rect">
            <a:avLst/>
          </a:prstGeom>
          <a:solidFill>
            <a:srgbClr val="C8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8A25C"/>
                </a:solidFill>
                <a:latin typeface="Arial"/>
              </a:defRPr>
            </a:pPr>
            <a:r>
              <a:t>03 · TRADITION VS MODERN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72242F"/>
                </a:solidFill>
                <a:latin typeface="Microsoft YaHei"/>
              </a:defRPr>
            </a:pPr>
            <a:r>
              <a:t>现代性与传统的辩证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011680"/>
            <a:ext cx="4572000" cy="3840480"/>
          </a:xfrm>
          <a:prstGeom prst="roundRect">
            <a:avLst/>
          </a:prstGeom>
          <a:solidFill>
            <a:srgbClr val="F5EEE0"/>
          </a:solidFill>
          <a:ln w="19050">
            <a:solidFill>
              <a:srgbClr val="7224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45920" y="2286000"/>
            <a:ext cx="50800" cy="914400"/>
          </a:xfrm>
          <a:prstGeom prst="rect">
            <a:avLst/>
          </a:prstGeom>
          <a:solidFill>
            <a:srgbClr val="722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72242F"/>
                </a:solidFill>
                <a:latin typeface="Microsoft YaHei"/>
              </a:defRPr>
            </a:pPr>
            <a:r>
              <a:t>传统派 · 自然酒运动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301752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C181C"/>
                </a:solidFill>
                <a:latin typeface="Microsoft YaHei"/>
              </a:defRPr>
            </a:pPr>
          </a:p>
          <a:p>
            <a:pPr algn="l">
              <a:lnSpc>
                <a:spcPts val="256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C181C"/>
                </a:solidFill>
                <a:latin typeface="Microsoft YaHei"/>
              </a:defRPr>
            </a:pPr>
            <a:r>
              <a:t>·  最小干预酿造</a:t>
            </a:r>
          </a:p>
          <a:p>
            <a:pPr algn="l">
              <a:lnSpc>
                <a:spcPts val="256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C181C"/>
                </a:solidFill>
                <a:latin typeface="Microsoft YaHei"/>
              </a:defRPr>
            </a:pPr>
            <a:r>
              <a:t>·  本地酵母自然发酵</a:t>
            </a:r>
          </a:p>
          <a:p>
            <a:pPr algn="l">
              <a:lnSpc>
                <a:spcPts val="256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C181C"/>
                </a:solidFill>
                <a:latin typeface="Microsoft YaHei"/>
              </a:defRPr>
            </a:pPr>
            <a:r>
              <a:t>·  低二氧化硫使用</a:t>
            </a:r>
          </a:p>
          <a:p>
            <a:pPr algn="l">
              <a:lnSpc>
                <a:spcPts val="256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C181C"/>
                </a:solidFill>
                <a:latin typeface="Microsoft YaHei"/>
              </a:defRPr>
            </a:pPr>
            <a:r>
              <a:t>·  强调风土表达</a:t>
            </a:r>
          </a:p>
          <a:p>
            <a:pPr algn="l">
              <a:lnSpc>
                <a:spcPts val="256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C181C"/>
                </a:solidFill>
                <a:latin typeface="Microsoft YaHei"/>
              </a:defRPr>
            </a:pPr>
            <a:r>
              <a:t>·  反对技术标准化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011680"/>
            <a:ext cx="4572000" cy="3840480"/>
          </a:xfrm>
          <a:prstGeom prst="roundRect">
            <a:avLst/>
          </a:prstGeom>
          <a:solidFill>
            <a:srgbClr val="722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2286000"/>
            <a:ext cx="50800" cy="914400"/>
          </a:xfrm>
          <a:prstGeom prst="rect">
            <a:avLst/>
          </a:prstGeom>
          <a:solidFill>
            <a:srgbClr val="C8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C8A25C"/>
                </a:solidFill>
                <a:latin typeface="Microsoft YaHei"/>
              </a:defRPr>
            </a:pPr>
            <a:r>
              <a:t>现代派 · 技术酿酒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301752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ts val="256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·  筛选酵母精确控制</a:t>
            </a:r>
          </a:p>
          <a:p>
            <a:pPr algn="l">
              <a:lnSpc>
                <a:spcPts val="256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·  温控不锈钢罐</a:t>
            </a:r>
          </a:p>
          <a:p>
            <a:pPr algn="l">
              <a:lnSpc>
                <a:spcPts val="256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·  反渗透微氧技术</a:t>
            </a:r>
          </a:p>
          <a:p>
            <a:pPr algn="l">
              <a:lnSpc>
                <a:spcPts val="256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·  稳定的国际化风格</a:t>
            </a:r>
          </a:p>
          <a:p>
            <a:pPr algn="l">
              <a:lnSpc>
                <a:spcPts val="256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·  大规模标准化生产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943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887772"/>
                </a:solidFill>
                <a:latin typeface="Microsoft YaHei"/>
              </a:defRPr>
            </a:pPr>
            <a:r>
              <a:t>两种方法之间的张力，本身就是一部人类技术哲学的变迁史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87772"/>
                </a:solidFill>
                <a:latin typeface="Arial"/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E2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C8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8A25C"/>
                </a:solidFill>
                <a:latin typeface="Arial"/>
              </a:defRPr>
            </a:pPr>
            <a:r>
              <a:t>04 · EMOTIONAL VESSEL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C8A25C"/>
                </a:solidFill>
                <a:latin typeface="Microsoft YaHei"/>
              </a:defRPr>
            </a:pPr>
            <a:r>
              <a:t>情感的载体：从个人记忆到集体无意识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828800"/>
            <a:ext cx="9144000" cy="1828800"/>
          </a:xfrm>
          <a:prstGeom prst="roundRect">
            <a:avLst/>
          </a:prstGeom>
          <a:solidFill>
            <a:srgbClr val="722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0116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C8A25C"/>
                </a:solidFill>
                <a:latin typeface="Microsoft YaHei"/>
              </a:defRPr>
            </a:pPr>
            <a:r>
              <a:t>"带着点心渣的那一勺茶碰到我的上颚，</a:t>
            </a:r>
            <a:br/>
            <a:r>
              <a:t>顿时使我浑身一震……一种舒坦的快感传遍全身。"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200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5EEE0"/>
                </a:solidFill>
                <a:latin typeface="Microsoft YaHei"/>
              </a:defRPr>
            </a:pPr>
            <a:r>
              <a:t>— 马塞尔·普鲁斯特《追忆似水年华》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4114800"/>
            <a:ext cx="50800" cy="1828800"/>
          </a:xfrm>
          <a:prstGeom prst="rect">
            <a:avLst/>
          </a:prstGeom>
          <a:solidFill>
            <a:srgbClr val="C8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411480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5EEE0"/>
                </a:solidFill>
                <a:latin typeface="Microsoft YaHei"/>
              </a:defRPr>
            </a:pPr>
          </a:p>
          <a:p>
            <a:pPr algn="l">
              <a:spcBef>
                <a:spcPts val="0"/>
              </a:spcBef>
              <a:spcAft>
                <a:spcPts val="800"/>
              </a:spcAft>
              <a:defRPr sz="2000" b="1">
                <a:solidFill>
                  <a:srgbClr val="C8A25C"/>
                </a:solidFill>
                <a:latin typeface="Microsoft YaHei"/>
              </a:defRPr>
            </a:pPr>
            <a:r>
              <a:t>普鲁斯特效应</a:t>
            </a:r>
          </a:p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5EEE0"/>
                </a:solidFill>
                <a:latin typeface="Microsoft YaHei"/>
              </a:defRPr>
            </a:pPr>
            <a:r>
              <a:t>嗅球与杏仁核、海马体之间存在直接神经连接，使气味能最直接地触发情感记忆。葡萄酒的数百种芳香化合物是普鲁斯特效应的绝佳媒介。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4114800"/>
            <a:ext cx="50800" cy="1828800"/>
          </a:xfrm>
          <a:prstGeom prst="rect">
            <a:avLst/>
          </a:prstGeom>
          <a:solidFill>
            <a:srgbClr val="C8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411480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5EEE0"/>
                </a:solidFill>
                <a:latin typeface="Microsoft YaHei"/>
              </a:defRPr>
            </a:pPr>
          </a:p>
          <a:p>
            <a:pPr algn="l">
              <a:spcBef>
                <a:spcPts val="0"/>
              </a:spcBef>
              <a:spcAft>
                <a:spcPts val="800"/>
              </a:spcAft>
              <a:defRPr sz="2000" b="1">
                <a:solidFill>
                  <a:srgbClr val="C8A25C"/>
                </a:solidFill>
                <a:latin typeface="Microsoft YaHei"/>
              </a:defRPr>
            </a:pPr>
            <a:r>
              <a:t>集体记忆之场</a:t>
            </a:r>
          </a:p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5EEE0"/>
                </a:solidFill>
                <a:latin typeface="Microsoft YaHei"/>
              </a:defRPr>
            </a:pPr>
            <a:r>
              <a:t>香槟在庆祝活动中的符号化存在，使其超越饮料本身，成为胜利、喜悦与仪式的代名词——一种文化共识中的情感信号。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309360"/>
            <a:ext cx="10728655" cy="25400"/>
          </a:xfrm>
          <a:prstGeom prst="rect">
            <a:avLst/>
          </a:prstGeom>
          <a:solidFill>
            <a:srgbClr val="C8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87772"/>
                </a:solidFill>
                <a:latin typeface="Arial"/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E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309360"/>
            <a:ext cx="10728655" cy="25400"/>
          </a:xfrm>
          <a:prstGeom prst="rect">
            <a:avLst/>
          </a:prstGeom>
          <a:solidFill>
            <a:srgbClr val="C8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8A25C"/>
                </a:solidFill>
                <a:latin typeface="Arial"/>
              </a:defRPr>
            </a:pPr>
            <a:r>
              <a:t>05 ·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72242F"/>
                </a:solidFill>
                <a:latin typeface="Microsoft YaHei"/>
              </a:defRPr>
            </a:pPr>
            <a:r>
              <a:t>结论：一种新的阅读方式</a:t>
            </a:r>
          </a:p>
        </p:txBody>
      </p:sp>
      <p:sp>
        <p:nvSpPr>
          <p:cNvPr id="5" name="Oval 4"/>
          <p:cNvSpPr/>
          <p:nvPr/>
        </p:nvSpPr>
        <p:spPr>
          <a:xfrm>
            <a:off x="1371600" y="1854200"/>
            <a:ext cx="411480" cy="411480"/>
          </a:xfrm>
          <a:prstGeom prst="ellipse">
            <a:avLst/>
          </a:prstGeom>
          <a:solidFill>
            <a:srgbClr val="722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2242F"/>
                </a:solidFill>
                <a:latin typeface="Microsoft YaHei"/>
              </a:defRPr>
            </a:pPr>
            <a:r>
              <a:t>认识论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2402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C181C"/>
                </a:solidFill>
                <a:latin typeface="Microsoft YaHei"/>
              </a:defRPr>
            </a:pPr>
            <a:r>
              <a:t>挑战感官品鉴的霸权地位，将葡萄酒的理解从主观体验拓展为跨学科的知识实践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3225800"/>
            <a:ext cx="411480" cy="411480"/>
          </a:xfrm>
          <a:prstGeom prst="ellipse">
            <a:avLst/>
          </a:prstGeom>
          <a:solidFill>
            <a:srgbClr val="722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2242F"/>
                </a:solidFill>
                <a:latin typeface="Microsoft YaHei"/>
              </a:defRPr>
            </a:pPr>
            <a:r>
              <a:t>方法论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36118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C181C"/>
                </a:solidFill>
                <a:latin typeface="Microsoft YaHei"/>
              </a:defRPr>
            </a:pPr>
            <a:r>
              <a:t>提供整合自然科学（气候学、地质学）与人文科学（历史学、文化研究）的分析路径</a:t>
            </a:r>
          </a:p>
        </p:txBody>
      </p:sp>
      <p:sp>
        <p:nvSpPr>
          <p:cNvPr id="11" name="Oval 10"/>
          <p:cNvSpPr/>
          <p:nvPr/>
        </p:nvSpPr>
        <p:spPr>
          <a:xfrm>
            <a:off x="1371600" y="4597400"/>
            <a:ext cx="411480" cy="411480"/>
          </a:xfrm>
          <a:prstGeom prst="ellipse">
            <a:avLst/>
          </a:prstGeom>
          <a:solidFill>
            <a:srgbClr val="722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2242F"/>
                </a:solidFill>
                <a:latin typeface="Microsoft YaHei"/>
              </a:defRPr>
            </a:pPr>
            <a:r>
              <a:t>实践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49834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C181C"/>
                </a:solidFill>
                <a:latin typeface="Microsoft YaHei"/>
              </a:defRPr>
            </a:pPr>
            <a:r>
              <a:t>赋予品酒行为新意义——每一次品鉴都是一次"阅读"，每一次阅读都是对过去的一次叩问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6692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72242F"/>
                </a:solidFill>
                <a:latin typeface="Microsoft YaHei"/>
              </a:defRPr>
            </a:pPr>
            <a:r>
              <a:t>历史不仅写在书本里，躺在博物馆中，它还可以被种植、被酿造、被开启，最终被我们咽下。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87772"/>
                </a:solidFill>
                <a:latin typeface="Arial"/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E2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C8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24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C8A25C"/>
                </a:solidFill>
                <a:latin typeface="Microsoft YaHei"/>
              </a:defRPr>
            </a:pPr>
            <a: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C8A25C"/>
                </a:solidFill>
                <a:latin typeface="Arial"/>
              </a:defRPr>
            </a:pPr>
            <a:r>
              <a:t>LIQUID MEMORY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931920"/>
            <a:ext cx="2103120" cy="25400"/>
          </a:xfrm>
          <a:prstGeom prst="rect">
            <a:avLst/>
          </a:prstGeom>
          <a:solidFill>
            <a:srgbClr val="C8A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297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5EEE0"/>
                </a:solidFill>
                <a:latin typeface="Microsoft YaHei"/>
              </a:defRPr>
            </a:pPr>
            <a:r>
              <a:t>液体记忆：论葡萄酒作为历史、风土与情感的复合载体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87772"/>
                </a:solidFill>
                <a:latin typeface="Microsoft YaHei"/>
              </a:defRPr>
            </a:pPr>
            <a:r>
              <a:t>完整论文阅读 · 论文.docx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760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87772"/>
                </a:solidFill>
                <a:latin typeface="Arial"/>
              </a:defRPr>
            </a:pPr>
            <a:r>
              <a:t>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87772"/>
                </a:solidFill>
                <a:latin typeface="Arial"/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